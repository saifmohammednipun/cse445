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sat Khan" userId="826ac62dfbb52e43" providerId="LiveId" clId="{2149DB8C-6FD0-40D6-BA53-5BB043B16500}"/>
    <pc:docChg chg="modSld">
      <pc:chgData name="Riasat Khan" userId="826ac62dfbb52e43" providerId="LiveId" clId="{2149DB8C-6FD0-40D6-BA53-5BB043B16500}" dt="2023-05-03T07:53:00.993" v="1" actId="20577"/>
      <pc:docMkLst>
        <pc:docMk/>
      </pc:docMkLst>
      <pc:sldChg chg="modSp mod">
        <pc:chgData name="Riasat Khan" userId="826ac62dfbb52e43" providerId="LiveId" clId="{2149DB8C-6FD0-40D6-BA53-5BB043B16500}" dt="2023-05-03T07:53:00.993" v="1" actId="20577"/>
        <pc:sldMkLst>
          <pc:docMk/>
          <pc:sldMk cId="0" sldId="263"/>
        </pc:sldMkLst>
        <pc:spChg chg="mod">
          <ac:chgData name="Riasat Khan" userId="826ac62dfbb52e43" providerId="LiveId" clId="{2149DB8C-6FD0-40D6-BA53-5BB043B16500}" dt="2023-05-03T07:53:00.993" v="1" actId="20577"/>
          <ac:spMkLst>
            <pc:docMk/>
            <pc:sldMk cId="0" sldId="263"/>
            <ac:spMk id="3" creationId="{00000000-0000-0000-0000-000000000000}"/>
          </ac:spMkLst>
        </pc:spChg>
      </pc:sldChg>
    </pc:docChg>
  </pc:docChgLst>
  <pc:docChgLst>
    <pc:chgData name="Riasat Khan" userId="826ac62dfbb52e43" providerId="LiveId" clId="{608F9B54-695E-4341-BC95-89AE4A2EABF3}"/>
    <pc:docChg chg="undo custSel addSld modSld">
      <pc:chgData name="Riasat Khan" userId="826ac62dfbb52e43" providerId="LiveId" clId="{608F9B54-695E-4341-BC95-89AE4A2EABF3}" dt="2024-04-24T13:06:08.190" v="1417" actId="207"/>
      <pc:docMkLst>
        <pc:docMk/>
      </pc:docMkLst>
      <pc:sldChg chg="modSp mod">
        <pc:chgData name="Riasat Khan" userId="826ac62dfbb52e43" providerId="LiveId" clId="{608F9B54-695E-4341-BC95-89AE4A2EABF3}" dt="2023-06-12T07:08:21.493" v="1274" actId="20577"/>
        <pc:sldMkLst>
          <pc:docMk/>
          <pc:sldMk cId="0" sldId="257"/>
        </pc:sldMkLst>
        <pc:spChg chg="mod">
          <ac:chgData name="Riasat Khan" userId="826ac62dfbb52e43" providerId="LiveId" clId="{608F9B54-695E-4341-BC95-89AE4A2EABF3}" dt="2023-06-12T07:08:21.493" v="1274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iasat Khan" userId="826ac62dfbb52e43" providerId="LiveId" clId="{608F9B54-695E-4341-BC95-89AE4A2EABF3}" dt="2023-04-26T10:26:22.077" v="18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Riasat Khan" userId="826ac62dfbb52e43" providerId="LiveId" clId="{608F9B54-695E-4341-BC95-89AE4A2EABF3}" dt="2024-04-24T13:06:08.190" v="1417" actId="207"/>
        <pc:sldMkLst>
          <pc:docMk/>
          <pc:sldMk cId="0" sldId="258"/>
        </pc:sldMkLst>
        <pc:spChg chg="mod">
          <ac:chgData name="Riasat Khan" userId="826ac62dfbb52e43" providerId="LiveId" clId="{608F9B54-695E-4341-BC95-89AE4A2EABF3}" dt="2023-06-12T07:08:11.032" v="1261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Riasat Khan" userId="826ac62dfbb52e43" providerId="LiveId" clId="{608F9B54-695E-4341-BC95-89AE4A2EABF3}" dt="2024-04-24T13:06:08.190" v="1417" actId="20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Riasat Khan" userId="826ac62dfbb52e43" providerId="LiveId" clId="{608F9B54-695E-4341-BC95-89AE4A2EABF3}" dt="2023-06-12T07:08:00.213" v="1242" actId="20577"/>
        <pc:sldMkLst>
          <pc:docMk/>
          <pc:sldMk cId="0" sldId="259"/>
        </pc:sldMkLst>
        <pc:spChg chg="mod">
          <ac:chgData name="Riasat Khan" userId="826ac62dfbb52e43" providerId="LiveId" clId="{608F9B54-695E-4341-BC95-89AE4A2EABF3}" dt="2023-06-12T07:08:00.213" v="1242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Riasat Khan" userId="826ac62dfbb52e43" providerId="LiveId" clId="{608F9B54-695E-4341-BC95-89AE4A2EABF3}" dt="2023-04-26T10:33:06.614" v="299" actId="33524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Riasat Khan" userId="826ac62dfbb52e43" providerId="LiveId" clId="{608F9B54-695E-4341-BC95-89AE4A2EABF3}" dt="2023-06-12T07:07:33.622" v="1215" actId="20577"/>
        <pc:sldMkLst>
          <pc:docMk/>
          <pc:sldMk cId="0" sldId="260"/>
        </pc:sldMkLst>
        <pc:spChg chg="mod">
          <ac:chgData name="Riasat Khan" userId="826ac62dfbb52e43" providerId="LiveId" clId="{608F9B54-695E-4341-BC95-89AE4A2EABF3}" dt="2023-06-12T07:07:33.622" v="1215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Riasat Khan" userId="826ac62dfbb52e43" providerId="LiveId" clId="{608F9B54-695E-4341-BC95-89AE4A2EABF3}" dt="2023-04-26T10:34:34.922" v="330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Riasat Khan" userId="826ac62dfbb52e43" providerId="LiveId" clId="{608F9B54-695E-4341-BC95-89AE4A2EABF3}" dt="2023-06-12T07:07:21.013" v="1196" actId="20577"/>
        <pc:sldMkLst>
          <pc:docMk/>
          <pc:sldMk cId="0" sldId="261"/>
        </pc:sldMkLst>
        <pc:spChg chg="mod">
          <ac:chgData name="Riasat Khan" userId="826ac62dfbb52e43" providerId="LiveId" clId="{608F9B54-695E-4341-BC95-89AE4A2EABF3}" dt="2023-06-12T07:07:02.453" v="1185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Riasat Khan" userId="826ac62dfbb52e43" providerId="LiveId" clId="{608F9B54-695E-4341-BC95-89AE4A2EABF3}" dt="2023-06-12T07:07:21.013" v="1196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Riasat Khan" userId="826ac62dfbb52e43" providerId="LiveId" clId="{608F9B54-695E-4341-BC95-89AE4A2EABF3}" dt="2023-06-12T07:06:45.883" v="1177" actId="20577"/>
        <pc:sldMkLst>
          <pc:docMk/>
          <pc:sldMk cId="0" sldId="262"/>
        </pc:sldMkLst>
        <pc:spChg chg="mod">
          <ac:chgData name="Riasat Khan" userId="826ac62dfbb52e43" providerId="LiveId" clId="{608F9B54-695E-4341-BC95-89AE4A2EABF3}" dt="2023-06-12T07:06:45.883" v="1177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Riasat Khan" userId="826ac62dfbb52e43" providerId="LiveId" clId="{608F9B54-695E-4341-BC95-89AE4A2EABF3}" dt="2023-04-26T10:42:48.168" v="456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Riasat Khan" userId="826ac62dfbb52e43" providerId="LiveId" clId="{608F9B54-695E-4341-BC95-89AE4A2EABF3}" dt="2023-06-12T07:06:52.402" v="1178"/>
        <pc:sldMkLst>
          <pc:docMk/>
          <pc:sldMk cId="0" sldId="263"/>
        </pc:sldMkLst>
        <pc:spChg chg="mod">
          <ac:chgData name="Riasat Khan" userId="826ac62dfbb52e43" providerId="LiveId" clId="{608F9B54-695E-4341-BC95-89AE4A2EABF3}" dt="2023-06-12T07:06:52.402" v="11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Riasat Khan" userId="826ac62dfbb52e43" providerId="LiveId" clId="{608F9B54-695E-4341-BC95-89AE4A2EABF3}" dt="2023-04-26T10:45:56.278" v="636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Riasat Khan" userId="826ac62dfbb52e43" providerId="LiveId" clId="{608F9B54-695E-4341-BC95-89AE4A2EABF3}" dt="2023-06-12T07:06:33.662" v="1158" actId="20577"/>
        <pc:sldMkLst>
          <pc:docMk/>
          <pc:sldMk cId="0" sldId="264"/>
        </pc:sldMkLst>
        <pc:spChg chg="mod">
          <ac:chgData name="Riasat Khan" userId="826ac62dfbb52e43" providerId="LiveId" clId="{608F9B54-695E-4341-BC95-89AE4A2EABF3}" dt="2023-06-12T07:06:33.662" v="1158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Riasat Khan" userId="826ac62dfbb52e43" providerId="LiveId" clId="{608F9B54-695E-4341-BC95-89AE4A2EABF3}" dt="2023-06-12T06:57:51.519" v="807" actId="20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Riasat Khan" userId="826ac62dfbb52e43" providerId="LiveId" clId="{608F9B54-695E-4341-BC95-89AE4A2EABF3}" dt="2023-06-12T07:06:20.583" v="1135" actId="20577"/>
        <pc:sldMkLst>
          <pc:docMk/>
          <pc:sldMk cId="0" sldId="265"/>
        </pc:sldMkLst>
        <pc:spChg chg="mod">
          <ac:chgData name="Riasat Khan" userId="826ac62dfbb52e43" providerId="LiveId" clId="{608F9B54-695E-4341-BC95-89AE4A2EABF3}" dt="2023-06-12T07:06:20.583" v="1135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Riasat Khan" userId="826ac62dfbb52e43" providerId="LiveId" clId="{608F9B54-695E-4341-BC95-89AE4A2EABF3}" dt="2023-06-12T06:58:52.959" v="883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Riasat Khan" userId="826ac62dfbb52e43" providerId="LiveId" clId="{608F9B54-695E-4341-BC95-89AE4A2EABF3}" dt="2023-06-12T07:06:15.612" v="1130" actId="20577"/>
        <pc:sldMkLst>
          <pc:docMk/>
          <pc:sldMk cId="0" sldId="266"/>
        </pc:sldMkLst>
        <pc:spChg chg="mod">
          <ac:chgData name="Riasat Khan" userId="826ac62dfbb52e43" providerId="LiveId" clId="{608F9B54-695E-4341-BC95-89AE4A2EABF3}" dt="2023-06-12T07:06:15.612" v="1130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Riasat Khan" userId="826ac62dfbb52e43" providerId="LiveId" clId="{608F9B54-695E-4341-BC95-89AE4A2EABF3}" dt="2023-06-12T07:02:07.211" v="953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Riasat Khan" userId="826ac62dfbb52e43" providerId="LiveId" clId="{608F9B54-695E-4341-BC95-89AE4A2EABF3}" dt="2023-06-12T07:06:08.042" v="1116" actId="20577"/>
        <pc:sldMkLst>
          <pc:docMk/>
          <pc:sldMk cId="0" sldId="267"/>
        </pc:sldMkLst>
        <pc:spChg chg="mod">
          <ac:chgData name="Riasat Khan" userId="826ac62dfbb52e43" providerId="LiveId" clId="{608F9B54-695E-4341-BC95-89AE4A2EABF3}" dt="2023-06-12T07:06:08.042" v="1116" actId="20577"/>
          <ac:spMkLst>
            <pc:docMk/>
            <pc:sldMk cId="0" sldId="267"/>
            <ac:spMk id="2" creationId="{00000000-0000-0000-0000-000000000000}"/>
          </ac:spMkLst>
        </pc:spChg>
      </pc:sldChg>
      <pc:sldChg chg="modSp mod">
        <pc:chgData name="Riasat Khan" userId="826ac62dfbb52e43" providerId="LiveId" clId="{608F9B54-695E-4341-BC95-89AE4A2EABF3}" dt="2023-06-12T07:11:27.244" v="1416" actId="20577"/>
        <pc:sldMkLst>
          <pc:docMk/>
          <pc:sldMk cId="0" sldId="268"/>
        </pc:sldMkLst>
        <pc:spChg chg="mod">
          <ac:chgData name="Riasat Khan" userId="826ac62dfbb52e43" providerId="LiveId" clId="{608F9B54-695E-4341-BC95-89AE4A2EABF3}" dt="2023-06-12T07:11:27.244" v="1416" actId="20577"/>
          <ac:spMkLst>
            <pc:docMk/>
            <pc:sldMk cId="0" sldId="268"/>
            <ac:spMk id="2" creationId="{00000000-0000-0000-0000-000000000000}"/>
          </ac:spMkLst>
        </pc:spChg>
        <pc:spChg chg="mod">
          <ac:chgData name="Riasat Khan" userId="826ac62dfbb52e43" providerId="LiveId" clId="{608F9B54-695E-4341-BC95-89AE4A2EABF3}" dt="2023-06-12T07:10:53.224" v="1394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add mod">
        <pc:chgData name="Riasat Khan" userId="826ac62dfbb52e43" providerId="LiveId" clId="{608F9B54-695E-4341-BC95-89AE4A2EABF3}" dt="2023-06-12T07:05:57.833" v="1093" actId="20577"/>
        <pc:sldMkLst>
          <pc:docMk/>
          <pc:sldMk cId="3052668723" sldId="269"/>
        </pc:sldMkLst>
        <pc:spChg chg="mod">
          <ac:chgData name="Riasat Khan" userId="826ac62dfbb52e43" providerId="LiveId" clId="{608F9B54-695E-4341-BC95-89AE4A2EABF3}" dt="2023-06-12T07:05:57.833" v="1093" actId="20577"/>
          <ac:spMkLst>
            <pc:docMk/>
            <pc:sldMk cId="3052668723" sldId="269"/>
            <ac:spMk id="2" creationId="{00000000-0000-0000-0000-000000000000}"/>
          </ac:spMkLst>
        </pc:spChg>
        <pc:spChg chg="mod">
          <ac:chgData name="Riasat Khan" userId="826ac62dfbb52e43" providerId="LiveId" clId="{608F9B54-695E-4341-BC95-89AE4A2EABF3}" dt="2023-06-12T07:05:18.587" v="1064" actId="207"/>
          <ac:spMkLst>
            <pc:docMk/>
            <pc:sldMk cId="3052668723" sldId="269"/>
            <ac:spMk id="3" creationId="{00000000-0000-0000-0000-000000000000}"/>
          </ac:spMkLst>
        </pc:spChg>
      </pc:sldChg>
      <pc:sldChg chg="modSp add mod">
        <pc:chgData name="Riasat Khan" userId="826ac62dfbb52e43" providerId="LiveId" clId="{608F9B54-695E-4341-BC95-89AE4A2EABF3}" dt="2023-06-12T07:10:06.389" v="1384" actId="33524"/>
        <pc:sldMkLst>
          <pc:docMk/>
          <pc:sldMk cId="1306661684" sldId="270"/>
        </pc:sldMkLst>
        <pc:spChg chg="mod">
          <ac:chgData name="Riasat Khan" userId="826ac62dfbb52e43" providerId="LiveId" clId="{608F9B54-695E-4341-BC95-89AE4A2EABF3}" dt="2023-06-12T07:05:49.253" v="1074" actId="20577"/>
          <ac:spMkLst>
            <pc:docMk/>
            <pc:sldMk cId="1306661684" sldId="270"/>
            <ac:spMk id="2" creationId="{00000000-0000-0000-0000-000000000000}"/>
          </ac:spMkLst>
        </pc:spChg>
        <pc:spChg chg="mod">
          <ac:chgData name="Riasat Khan" userId="826ac62dfbb52e43" providerId="LiveId" clId="{608F9B54-695E-4341-BC95-89AE4A2EABF3}" dt="2023-06-12T07:10:06.389" v="1384" actId="33524"/>
          <ac:spMkLst>
            <pc:docMk/>
            <pc:sldMk cId="1306661684" sldId="270"/>
            <ac:spMk id="3" creationId="{00000000-0000-0000-0000-000000000000}"/>
          </ac:spMkLst>
        </pc:spChg>
      </pc:sldChg>
    </pc:docChg>
  </pc:docChgLst>
  <pc:docChgLst>
    <pc:chgData name="Riasat Khan" userId="826ac62dfbb52e43" providerId="LiveId" clId="{D906B40F-7C0C-402A-8172-C9070CD97FF3}"/>
    <pc:docChg chg="undo custSel modSld">
      <pc:chgData name="Riasat Khan" userId="826ac62dfbb52e43" providerId="LiveId" clId="{D906B40F-7C0C-402A-8172-C9070CD97FF3}" dt="2024-12-03T14:23:49.328" v="86" actId="20577"/>
      <pc:docMkLst>
        <pc:docMk/>
      </pc:docMkLst>
      <pc:sldChg chg="modSp mod">
        <pc:chgData name="Riasat Khan" userId="826ac62dfbb52e43" providerId="LiveId" clId="{D906B40F-7C0C-402A-8172-C9070CD97FF3}" dt="2024-12-03T14:23:49.328" v="86" actId="20577"/>
        <pc:sldMkLst>
          <pc:docMk/>
          <pc:sldMk cId="0" sldId="267"/>
        </pc:sldMkLst>
        <pc:spChg chg="mod">
          <ac:chgData name="Riasat Khan" userId="826ac62dfbb52e43" providerId="LiveId" clId="{D906B40F-7C0C-402A-8172-C9070CD97FF3}" dt="2024-12-03T14:23:49.328" v="86" actId="20577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268C7-852D-4501-B565-0F4774D4359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F5168-CE9C-4E2A-AF59-280302E5C20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CSE445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563" y="1"/>
            <a:ext cx="10515600" cy="1026366"/>
          </a:xfrm>
        </p:spPr>
        <p:txBody>
          <a:bodyPr/>
          <a:lstStyle/>
          <a:p>
            <a:r>
              <a:rPr lang="en-US" dirty="0"/>
              <a:t>Slide 1 (Week 1): Intro to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6366"/>
            <a:ext cx="12192000" cy="583163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do you mean by supervised/unsupervised/semi-supervised/reinforcement learning? Give examples.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do you mean by classification/regression problem? Give examples.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do you mean by input/independent variable/attributes/features? Give examples.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do you mean by output/target/dependent variable/label/class? Give examples.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do you mean by hypothesis? Give examples.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do you mean by qualitative and quantitative data? Give examples.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do you mean by binary/multi classification/multi-label problems? Give examples.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do you mean by nominal and ordinal variables? Give examples.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563" y="1"/>
            <a:ext cx="10515600" cy="1026366"/>
          </a:xfrm>
        </p:spPr>
        <p:txBody>
          <a:bodyPr/>
          <a:lstStyle/>
          <a:p>
            <a:r>
              <a:rPr lang="en-US" dirty="0"/>
              <a:t>Slide 2 (Week 2): Dummy Classifiers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6366"/>
            <a:ext cx="12192000" cy="583163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</a:t>
            </a:r>
            <a:r>
              <a:rPr lang="en-US" dirty="0" err="1"/>
              <a:t>ZeroR</a:t>
            </a:r>
            <a:r>
              <a:rPr lang="en-US" dirty="0"/>
              <a:t> classifier works? Give examples.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Why </a:t>
            </a:r>
            <a:r>
              <a:rPr lang="en-US" dirty="0" err="1"/>
              <a:t>ZeroR</a:t>
            </a:r>
            <a:r>
              <a:rPr lang="en-US" dirty="0"/>
              <a:t> classifier is used?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What do you mean by precision, recall, TPR, FPR, ROC, AUC, F1 score? Find its values from a given confusion matrix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do you mean by EDA/dataset preprocessing? Briefly explain its steps.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do you mean by outliers? Give examples.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the use of Pandas, Matplotlib, </a:t>
            </a:r>
            <a:r>
              <a:rPr lang="en-US" dirty="0" err="1"/>
              <a:t>sklearn</a:t>
            </a:r>
            <a:r>
              <a:rPr lang="en-US" dirty="0"/>
              <a:t>, </a:t>
            </a:r>
            <a:r>
              <a:rPr lang="en-US" dirty="0" err="1"/>
              <a:t>numpy</a:t>
            </a:r>
            <a:r>
              <a:rPr lang="en-US" dirty="0"/>
              <a:t>, seaborn, etc.?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</a:t>
            </a:r>
            <a:r>
              <a:rPr lang="en-US" dirty="0" err="1"/>
              <a:t>OneR</a:t>
            </a:r>
            <a:r>
              <a:rPr lang="en-US" dirty="0"/>
              <a:t> classifier works? Give examples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563" y="1"/>
            <a:ext cx="10515600" cy="1026366"/>
          </a:xfrm>
        </p:spPr>
        <p:txBody>
          <a:bodyPr/>
          <a:lstStyle/>
          <a:p>
            <a:r>
              <a:rPr lang="en-US" dirty="0"/>
              <a:t>Slide 3 (Week 3): Dataset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6366"/>
            <a:ext cx="12192000" cy="5831633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Important for MCQ/True-False.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we execute a </a:t>
            </a:r>
            <a:r>
              <a:rPr lang="en-US" dirty="0" err="1"/>
              <a:t>Jupyter</a:t>
            </a:r>
            <a:r>
              <a:rPr lang="en-US" dirty="0"/>
              <a:t> Notebook cell?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we read a CSV/Excel file in Python?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we print first/last 5/X rows in Python?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attribute and method/function in Python? Give examples.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Briefly describe the data cleaning techniques in ML/ How missing values are handled?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Briefly describe the data imputation techniques in ML.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an outlier? How are outliers detected in a dataset? Give examples.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box and whisker plot? Draw box plot for some numbers.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skewness/symmetric/unsymmetric/positive/negative skewness distribution?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are outliers handled in ML?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563" y="1"/>
            <a:ext cx="10515600" cy="1026366"/>
          </a:xfrm>
        </p:spPr>
        <p:txBody>
          <a:bodyPr/>
          <a:lstStyle/>
          <a:p>
            <a:r>
              <a:rPr lang="en-US" dirty="0"/>
              <a:t>Slide 4 (Week 4): 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6366"/>
            <a:ext cx="12192000" cy="58316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do you mean by induction and deduction in ML? Give examples.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do you mean by root/parent/leaf/branch node in DT? Give examples.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Find root/parent node of a dataset (only categorical features) using Gini index or impurity.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do you mean by pruning/early termination in DT? Give examples.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are the hyperparameters in DT? Briefly explain.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do you mean overfit and underfit? Give examples.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are bias and variance?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do you mean by bias-variance tradeoff? Give examples.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overfit and underfit problem is solved in decision tree model?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 panose="020F0502020204030204"/>
              </a:rPr>
              <a:t>What is class-imbalance and what would you do for an imbalanced dataset?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563" y="1"/>
            <a:ext cx="10515600" cy="1026366"/>
          </a:xfrm>
        </p:spPr>
        <p:txBody>
          <a:bodyPr/>
          <a:lstStyle/>
          <a:p>
            <a:r>
              <a:rPr lang="en-US" dirty="0"/>
              <a:t>Slide 5 (Week 5): </a:t>
            </a:r>
            <a:r>
              <a:rPr lang="en-US" dirty="0" err="1"/>
              <a:t>kNN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6366"/>
            <a:ext cx="12192000" cy="58316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Find the nearest neighbors using Euclidean or Manhattan distance?</a:t>
            </a: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How </a:t>
            </a:r>
            <a:r>
              <a:rPr lang="en-US" dirty="0" err="1">
                <a:ea typeface="+mn-lt"/>
                <a:cs typeface="+mn-lt"/>
              </a:rPr>
              <a:t>kNN</a:t>
            </a:r>
            <a:r>
              <a:rPr lang="en-US" dirty="0">
                <a:ea typeface="+mn-lt"/>
                <a:cs typeface="+mn-lt"/>
              </a:rPr>
              <a:t> classifier works? Give examples.</a:t>
            </a: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What do you mean by feature scaling? Give examples.</a:t>
            </a: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Why feature scaling is important for </a:t>
            </a:r>
            <a:r>
              <a:rPr lang="en-US" dirty="0" err="1">
                <a:ea typeface="+mn-lt"/>
                <a:cs typeface="+mn-lt"/>
              </a:rPr>
              <a:t>kNN</a:t>
            </a:r>
            <a:r>
              <a:rPr lang="en-US" dirty="0">
                <a:ea typeface="+mn-lt"/>
                <a:cs typeface="+mn-lt"/>
              </a:rPr>
              <a:t> classifier ? Give examples.</a:t>
            </a: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What do you mean by min-max scaling/standardization feature scaling? Explain with equations.</a:t>
            </a: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What are the hyperparameters in </a:t>
            </a:r>
            <a:r>
              <a:rPr lang="en-US" dirty="0" err="1">
                <a:ea typeface="+mn-lt"/>
                <a:cs typeface="+mn-lt"/>
              </a:rPr>
              <a:t>kNN</a:t>
            </a:r>
            <a:r>
              <a:rPr lang="en-US" dirty="0">
                <a:ea typeface="+mn-lt"/>
                <a:cs typeface="+mn-lt"/>
              </a:rPr>
              <a:t>? Briefly explain.</a:t>
            </a: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Why is the KNN algorithm called “lazy”?</a:t>
            </a:r>
          </a:p>
          <a:p>
            <a:pPr marL="514350" indent="-51435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563" y="1"/>
            <a:ext cx="10515600" cy="1026366"/>
          </a:xfrm>
        </p:spPr>
        <p:txBody>
          <a:bodyPr/>
          <a:lstStyle/>
          <a:p>
            <a:r>
              <a:rPr lang="en-US" dirty="0"/>
              <a:t>Slide 6 (Week 6):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6366"/>
            <a:ext cx="12192000" cy="58316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>
                <a:ea typeface="+mn-lt"/>
                <a:cs typeface="+mn-lt"/>
              </a:rPr>
              <a:t>How linear regression works? Give examples.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What do you mean by univariate/multivariate/polynomial linear regression? Give examples.</a:t>
            </a: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What are the hyperparameters in linear regression? Briefly explain.</a:t>
            </a: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What do you mean by parameters and hyperparameters? Give examples.</a:t>
            </a: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What do you mean by hypothesis in linear regression? Explain with equations</a:t>
            </a: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What do you mean by cost function/backward error propagation in linear regression? Explain with equations.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What do you mean by gradient descent in linear regression? Explain with equations.</a:t>
            </a: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What do you mean by learning rate in linear regression? Explain with equations.</a:t>
            </a:r>
          </a:p>
          <a:p>
            <a:pPr marL="514350" indent="-51435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563" y="1"/>
            <a:ext cx="10515600" cy="1026366"/>
          </a:xfrm>
        </p:spPr>
        <p:txBody>
          <a:bodyPr/>
          <a:lstStyle/>
          <a:p>
            <a:r>
              <a:rPr lang="en-US" dirty="0"/>
              <a:t>Slide 6 (Week 6):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6366"/>
            <a:ext cx="12192000" cy="58316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9. What do you mean by batch/mini-batch/Stochastic gradient descent/</a:t>
            </a:r>
            <a:r>
              <a:rPr lang="en-US" dirty="0" err="1">
                <a:ea typeface="+mn-lt"/>
                <a:cs typeface="+mn-lt"/>
              </a:rPr>
              <a:t>Adagrad</a:t>
            </a:r>
            <a:r>
              <a:rPr lang="en-US" dirty="0">
                <a:ea typeface="+mn-lt"/>
                <a:cs typeface="+mn-lt"/>
              </a:rPr>
              <a:t> optimizers? Explain with equations/examples.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10. What do you mean by momentum and learning rate annealing/adaptable? Explain with equations.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11. What do you mean by exploding and vanishing gradient descent? Explain with equations  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12. What do you mean by Lasso/L1 regression? Explain with equations.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13. What do you mean by Ridge/L2 regression? Explain with equations.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14. What do you mean by Elastic regression? Explain with equations.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15. Briefly explain various performance metrics for </a:t>
            </a:r>
            <a:r>
              <a:rPr lang="en-US">
                <a:ea typeface="+mn-lt"/>
                <a:cs typeface="+mn-lt"/>
              </a:rPr>
              <a:t>regression problems.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AutoNum type="arabicPeriod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563" y="1"/>
            <a:ext cx="10515600" cy="1026366"/>
          </a:xfrm>
        </p:spPr>
        <p:txBody>
          <a:bodyPr/>
          <a:lstStyle/>
          <a:p>
            <a:r>
              <a:rPr lang="en-US" dirty="0"/>
              <a:t>Slide 7 (Week 7):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6366"/>
            <a:ext cx="12192000" cy="58316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1. Why linear regression does not work well for a classification problem?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2. Write some differences between linear and logistic regression.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3. How logistic regression works? Give examples.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4.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  <a:sym typeface="+mn-ea"/>
              </a:rPr>
              <a:t>What are the hyperparameters in logistic regression? Briefly explain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5. What do you mean by multiclassification problem? Give examples.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6. What do you mean by OvR/OvA problem? Give examples.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7. What do you mean by </a:t>
            </a:r>
            <a:r>
              <a:rPr lang="en-US" dirty="0" err="1">
                <a:ea typeface="+mn-lt"/>
                <a:cs typeface="+mn-lt"/>
              </a:rPr>
              <a:t>OvO</a:t>
            </a:r>
            <a:r>
              <a:rPr lang="en-US" dirty="0">
                <a:ea typeface="+mn-lt"/>
                <a:cs typeface="+mn-lt"/>
              </a:rPr>
              <a:t> problem? Give examples</a:t>
            </a:r>
            <a:r>
              <a:rPr lang="en-US" dirty="0">
                <a:ea typeface="+mn-lt"/>
                <a:cs typeface="+mn-lt"/>
                <a:sym typeface="+mn-ea"/>
              </a:rPr>
              <a:t>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8. Briefly explain Log Loss/Binary Cross Entropy cost function with equations.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9. Why Log Loss is used for Logistic regression?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10. What do you mean by Activation/Transfer Function?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AutoNum type="arabicPeriod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563" y="1"/>
            <a:ext cx="10515600" cy="1026366"/>
          </a:xfrm>
        </p:spPr>
        <p:txBody>
          <a:bodyPr/>
          <a:lstStyle/>
          <a:p>
            <a:r>
              <a:rPr lang="en-US" dirty="0"/>
              <a:t>Slide 8 (Week 8):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6366"/>
            <a:ext cx="12192000" cy="583163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1. Write some differences between linear regression and SVM.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2. How SVM classifier works? Give examples.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3.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  <a:sym typeface="+mn-ea"/>
              </a:rPr>
              <a:t>What are the hyperparameters in SVM? Briefly explain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4. What is hyperplane/decision boundary, margin and support vectors in SVM? Explain with figures.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5. What do you mean by soft and hard margin SVM? </a:t>
            </a:r>
            <a:r>
              <a:rPr lang="en-US" dirty="0">
                <a:ea typeface="+mn-lt"/>
                <a:cs typeface="+mn-lt"/>
                <a:sym typeface="+mn-ea"/>
              </a:rPr>
              <a:t>Explain with figures.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6. </a:t>
            </a:r>
            <a:r>
              <a:rPr lang="en-US" dirty="0">
                <a:ea typeface="+mn-lt"/>
                <a:cs typeface="+mn-lt"/>
                <a:sym typeface="+mn-ea"/>
              </a:rPr>
              <a:t>What do you mean by SVM kernel/kernel trick? Explain with figures.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7. What do you mean by slack variable, regularization and penalty in SVM? Explain with figures/equations.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8. What do you mean by Gamma hyperparameter in SVM? Explain with figures.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9. How SVM regressor works? Give examples and figures.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10. Why SVM is named “Support Vector”?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11. How SVM is used for outlier/anomaly detection? Explain with figures.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563" y="1"/>
            <a:ext cx="10515600" cy="1026366"/>
          </a:xfrm>
        </p:spPr>
        <p:txBody>
          <a:bodyPr/>
          <a:lstStyle/>
          <a:p>
            <a:r>
              <a:rPr lang="en-US" dirty="0"/>
              <a:t>Slide 9 (Week 9): Naïve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6366"/>
            <a:ext cx="12192000" cy="58316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1.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  <a:sym typeface="+mn-ea"/>
              </a:rPr>
              <a:t>How Naive Bayes classifier works? Dataset will be given. Important 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2. What are various types of Naive Bayes models? Briefly explain with examples.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3. Why Naive Bayes is named “Naive” and “Bayes”?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4. Briefly explain Zero-Frequency Problem of the Naïve Bayes Classifier. How it solved? </a:t>
            </a: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AutoNum type="arabicPeriod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563" y="1"/>
            <a:ext cx="10515600" cy="1026366"/>
          </a:xfrm>
        </p:spPr>
        <p:txBody>
          <a:bodyPr/>
          <a:lstStyle/>
          <a:p>
            <a:r>
              <a:rPr lang="en-US" dirty="0"/>
              <a:t>Slide 10 (Week 10):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6366"/>
            <a:ext cx="12192000" cy="58316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1. What is clustering/unsupervised learning model? Give examples and its uses.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2. How k-means clustering model works? Briefly explain with figures.</a:t>
            </a:r>
          </a:p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3. </a:t>
            </a:r>
            <a:r>
              <a:rPr lang="en-US" dirty="0">
                <a:ea typeface="+mn-lt"/>
                <a:cs typeface="+mn-lt"/>
                <a:sym typeface="+mn-ea"/>
              </a:rPr>
              <a:t>How hierarchical clustering model works? Briefly explain with figures.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4. How k-medoids clustering model works? Briefly explain with figures.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5. How can you select the best value of k for k-mean clustering model? Briefly explain with figures/equations.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6. What is  Silhouette Score? Briefly explain with figures/equations.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7. What is dendrogram? Briefly explain with figures.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8. </a:t>
            </a:r>
            <a:r>
              <a:rPr lang="en-US" dirty="0">
                <a:ea typeface="+mn-lt"/>
                <a:cs typeface="+mn-lt"/>
              </a:rPr>
              <a:t>How k-means++ technique works? Briefly explain with figures.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9. What is PCA? Why it is used? Explain with figures.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  <a:sym typeface="+mn-ea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  <a:sym typeface="+mn-ea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AutoNum type="arabicPeriod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563" y="1"/>
            <a:ext cx="10515600" cy="1026366"/>
          </a:xfrm>
        </p:spPr>
        <p:txBody>
          <a:bodyPr/>
          <a:lstStyle/>
          <a:p>
            <a:r>
              <a:rPr lang="en-US" dirty="0"/>
              <a:t>Slide 11 (Week 11): Ensemble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6366"/>
            <a:ext cx="12192000" cy="58316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1. How random forest works? Explain with examples and figures. </a:t>
            </a:r>
          </a:p>
          <a:p>
            <a:pPr marL="0" indent="0">
              <a:buNone/>
            </a:pPr>
            <a:r>
              <a:rPr lang="en-US" dirty="0">
                <a:cs typeface="Calibri" panose="020F0502020204030204"/>
                <a:sym typeface="+mn-ea"/>
              </a:rPr>
              <a:t>2.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  <a:sym typeface="+mn-ea"/>
              </a:rPr>
              <a:t>What are the hyperparameters in random forest? Briefly explain.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3. What do you mean by ensemble learning, bagging and boosting techniques? Explain with examples and figures.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4. What do you mean soft voting and hard voting in ensemble learning? Explain with examples.  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5. What do you mean out-of-bag score in ensemble learning? Explain with examples.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6. How boosting algorithms works? Explain with examples and figures. 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7.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  <a:sym typeface="+mn-ea"/>
              </a:rPr>
              <a:t>What are the hyperparameters in boosting algorithms ? Briefly explain.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  <a:sym typeface="+mn-ea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 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  <a:sym typeface="+mn-ea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52668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563" y="1"/>
            <a:ext cx="10515600" cy="1026366"/>
          </a:xfrm>
        </p:spPr>
        <p:txBody>
          <a:bodyPr/>
          <a:lstStyle/>
          <a:p>
            <a:r>
              <a:rPr lang="en-US" dirty="0"/>
              <a:t>Slide 12 (Week 12): XAI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6366"/>
            <a:ext cx="12192000" cy="58316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  <a:sym typeface="+mn-ea"/>
              </a:rPr>
              <a:t>What do mean by XAI? Briefly explain with examples and figures.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>
                <a:ea typeface="+mn-lt"/>
                <a:cs typeface="+mn-lt"/>
                <a:sym typeface="+mn-ea"/>
              </a:rPr>
              <a:t>What do mean by LIME? Briefly explain with examples and figures.</a:t>
            </a:r>
          </a:p>
          <a:p>
            <a:pPr marL="514350" indent="-514350">
              <a:buAutoNum type="arabicPeriod"/>
            </a:pPr>
            <a:r>
              <a:rPr lang="en-US" dirty="0"/>
              <a:t>Why is LIME named “Local Interpretable” and “Model-agnostic Explanations”?</a:t>
            </a:r>
          </a:p>
          <a:p>
            <a:pPr marL="514350" indent="-514350">
              <a:buAutoNum type="arabicPeriod"/>
            </a:pPr>
            <a:endParaRPr lang="en-US" dirty="0">
              <a:ea typeface="+mn-lt"/>
              <a:cs typeface="+mn-lt"/>
              <a:sym typeface="+mn-ea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 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  <a:sym typeface="+mn-ea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06661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563" y="1"/>
            <a:ext cx="10515600" cy="1026366"/>
          </a:xfrm>
        </p:spPr>
        <p:txBody>
          <a:bodyPr/>
          <a:lstStyle/>
          <a:p>
            <a:r>
              <a:rPr lang="en-US" dirty="0" err="1"/>
              <a:t>Jupyter</a:t>
            </a:r>
            <a:r>
              <a:rPr lang="en-US"/>
              <a:t> Notebook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6366"/>
            <a:ext cx="12192000" cy="583163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1. Explain various types of validation techniques with examples.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2. Why feature selection is necessary?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3. Explain various types of feature selection techniques with examples/equations.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4. What do you mean by Pearson's correlation coefficient and heatmap of coefficients?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5. What do you mean by undersampling/oversampling for imbalanced dataset? Explain with examples.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6. </a:t>
            </a:r>
            <a:r>
              <a:rPr lang="en-US" dirty="0">
                <a:ea typeface="+mn-lt"/>
                <a:cs typeface="+mn-lt"/>
                <a:sym typeface="+mn-ea"/>
              </a:rPr>
              <a:t>What do you mean by SMOTE for imbalanced dataset? Explain with examples and figures.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7. What do you mean by GridSearchCV and RandomizedSearchCV? Explain wth examples.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sym typeface="+mn-ea"/>
              </a:rPr>
              <a:t>8. What do you mean by ADASYN for imbalanced dataset? Explain with examples and figures.</a:t>
            </a: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Calibri Light" panose="020F0302020204030204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1618</Words>
  <Application>Microsoft Office PowerPoint</Application>
  <PresentationFormat>Widescreen</PresentationFormat>
  <Paragraphs>342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1_Office Theme</vt:lpstr>
      <vt:lpstr>CSE445</vt:lpstr>
      <vt:lpstr>Slide 1 (Week 1): Intro to ML</vt:lpstr>
      <vt:lpstr>Slide 2 (Week 2): Dummy Classifiers</vt:lpstr>
      <vt:lpstr>Slide 3 (Week 3): Dataset Preprocessing</vt:lpstr>
      <vt:lpstr>Slide 4 (Week 4): Decision Tree</vt:lpstr>
      <vt:lpstr>Slide 5 (Week 5): kNN</vt:lpstr>
      <vt:lpstr>Slide 6 (Week 6): Linear Regression</vt:lpstr>
      <vt:lpstr>Slide 6 (Week 6): Linear Regression</vt:lpstr>
      <vt:lpstr>Slide 7 (Week 7): Logistic Regression</vt:lpstr>
      <vt:lpstr>Slide 8 (Week 8): SVM</vt:lpstr>
      <vt:lpstr>Slide 9 (Week 9): Naïve Bayes</vt:lpstr>
      <vt:lpstr>Slide 10 (Week 10): Unsupervised Learning</vt:lpstr>
      <vt:lpstr>Slide 11 (Week 11): Ensemble Learning</vt:lpstr>
      <vt:lpstr>Slide 12 (Week 12): XAI</vt:lpstr>
      <vt:lpstr>Jupyter Notebook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CSE445</dc:title>
  <dc:creator>Riasat Khan</dc:creator>
  <cp:lastModifiedBy>Towsif Khan, Sami</cp:lastModifiedBy>
  <cp:revision>91</cp:revision>
  <dcterms:created xsi:type="dcterms:W3CDTF">2022-11-27T14:55:00Z</dcterms:created>
  <dcterms:modified xsi:type="dcterms:W3CDTF">2024-12-03T14:23:52Z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A133B2AB73BC45DFB85DF0A11273E645</vt:lpwstr>
  </property>
  <property fmtid="{D5CDD505-2E9C-101B-9397-08002B2CF9AE}" pid="3" name="KSOProductBuildVer">
    <vt:lpwstr>1033-11.2.0.11440</vt:lpwstr>
  </property>
</Properties>
</file>