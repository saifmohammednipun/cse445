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70"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sat Khan" userId="826ac62dfbb52e43" providerId="LiveId" clId="{E74F27F5-CBF2-4461-AE5D-BF8AAC0EAA6A}"/>
    <pc:docChg chg="custSel modSld">
      <pc:chgData name="Riasat Khan" userId="826ac62dfbb52e43" providerId="LiveId" clId="{E74F27F5-CBF2-4461-AE5D-BF8AAC0EAA6A}" dt="2023-05-22T02:36:54.981" v="33" actId="207"/>
      <pc:docMkLst>
        <pc:docMk/>
      </pc:docMkLst>
      <pc:sldChg chg="modSp mod">
        <pc:chgData name="Riasat Khan" userId="826ac62dfbb52e43" providerId="LiveId" clId="{E74F27F5-CBF2-4461-AE5D-BF8AAC0EAA6A}" dt="2023-05-22T02:36:54.981" v="33" actId="207"/>
        <pc:sldMkLst>
          <pc:docMk/>
          <pc:sldMk cId="706212990" sldId="260"/>
        </pc:sldMkLst>
        <pc:spChg chg="mod">
          <ac:chgData name="Riasat Khan" userId="826ac62dfbb52e43" providerId="LiveId" clId="{E74F27F5-CBF2-4461-AE5D-BF8AAC0EAA6A}" dt="2023-05-22T02:36:54.981" v="33" actId="207"/>
          <ac:spMkLst>
            <pc:docMk/>
            <pc:sldMk cId="706212990" sldId="260"/>
            <ac:spMk id="3" creationId="{9AB4F970-B4B1-43D5-A600-F42AABA1DE44}"/>
          </ac:spMkLst>
        </pc:spChg>
        <pc:picChg chg="mod">
          <ac:chgData name="Riasat Khan" userId="826ac62dfbb52e43" providerId="LiveId" clId="{E74F27F5-CBF2-4461-AE5D-BF8AAC0EAA6A}" dt="2023-05-22T02:36:51.708" v="32" actId="14100"/>
          <ac:picMkLst>
            <pc:docMk/>
            <pc:sldMk cId="706212990" sldId="260"/>
            <ac:picMk id="5" creationId="{62409F58-DF0F-47F0-AD7F-45804A59C244}"/>
          </ac:picMkLst>
        </pc:picChg>
      </pc:sldChg>
      <pc:sldChg chg="modSp mod">
        <pc:chgData name="Riasat Khan" userId="826ac62dfbb52e43" providerId="LiveId" clId="{E74F27F5-CBF2-4461-AE5D-BF8AAC0EAA6A}" dt="2023-05-22T02:29:49.792" v="31" actId="14100"/>
        <pc:sldMkLst>
          <pc:docMk/>
          <pc:sldMk cId="3193866825" sldId="262"/>
        </pc:sldMkLst>
        <pc:spChg chg="mod">
          <ac:chgData name="Riasat Khan" userId="826ac62dfbb52e43" providerId="LiveId" clId="{E74F27F5-CBF2-4461-AE5D-BF8AAC0EAA6A}" dt="2023-05-22T02:08:08.138" v="28" actId="20577"/>
          <ac:spMkLst>
            <pc:docMk/>
            <pc:sldMk cId="3193866825" sldId="262"/>
            <ac:spMk id="3" creationId="{9AB4F970-B4B1-43D5-A600-F42AABA1DE44}"/>
          </ac:spMkLst>
        </pc:spChg>
        <pc:picChg chg="mod">
          <ac:chgData name="Riasat Khan" userId="826ac62dfbb52e43" providerId="LiveId" clId="{E74F27F5-CBF2-4461-AE5D-BF8AAC0EAA6A}" dt="2023-05-22T02:29:49.792" v="31" actId="14100"/>
          <ac:picMkLst>
            <pc:docMk/>
            <pc:sldMk cId="3193866825" sldId="262"/>
            <ac:picMk id="5" creationId="{62409F58-DF0F-47F0-AD7F-45804A59C244}"/>
          </ac:picMkLst>
        </pc:picChg>
      </pc:sldChg>
    </pc:docChg>
  </pc:docChgLst>
  <pc:docChgLst>
    <pc:chgData name="Riasat Khan" userId="826ac62dfbb52e43" providerId="LiveId" clId="{9D3A6E61-4F54-49F7-99F0-5ED4B573DDC5}"/>
    <pc:docChg chg="custSel addSld modSld">
      <pc:chgData name="Riasat Khan" userId="826ac62dfbb52e43" providerId="LiveId" clId="{9D3A6E61-4F54-49F7-99F0-5ED4B573DDC5}" dt="2024-11-09T13:19:21.429" v="237" actId="27636"/>
      <pc:docMkLst>
        <pc:docMk/>
      </pc:docMkLst>
      <pc:sldChg chg="modSp mod">
        <pc:chgData name="Riasat Khan" userId="826ac62dfbb52e43" providerId="LiveId" clId="{9D3A6E61-4F54-49F7-99F0-5ED4B573DDC5}" dt="2024-11-09T13:09:49.473" v="35" actId="20577"/>
        <pc:sldMkLst>
          <pc:docMk/>
          <pc:sldMk cId="1073168917" sldId="256"/>
        </pc:sldMkLst>
        <pc:spChg chg="mod">
          <ac:chgData name="Riasat Khan" userId="826ac62dfbb52e43" providerId="LiveId" clId="{9D3A6E61-4F54-49F7-99F0-5ED4B573DDC5}" dt="2024-11-09T13:09:49.473" v="35" actId="20577"/>
          <ac:spMkLst>
            <pc:docMk/>
            <pc:sldMk cId="1073168917" sldId="256"/>
            <ac:spMk id="2" creationId="{BF152D7D-0CAE-4258-8B38-C45C9C421EFF}"/>
          </ac:spMkLst>
        </pc:spChg>
      </pc:sldChg>
      <pc:sldChg chg="modSp mod">
        <pc:chgData name="Riasat Khan" userId="826ac62dfbb52e43" providerId="LiveId" clId="{9D3A6E61-4F54-49F7-99F0-5ED4B573DDC5}" dt="2024-11-09T12:59:01.842" v="14" actId="20577"/>
        <pc:sldMkLst>
          <pc:docMk/>
          <pc:sldMk cId="3151985986" sldId="258"/>
        </pc:sldMkLst>
        <pc:spChg chg="mod">
          <ac:chgData name="Riasat Khan" userId="826ac62dfbb52e43" providerId="LiveId" clId="{9D3A6E61-4F54-49F7-99F0-5ED4B573DDC5}" dt="2024-11-09T12:59:01.842" v="14" actId="20577"/>
          <ac:spMkLst>
            <pc:docMk/>
            <pc:sldMk cId="3151985986" sldId="258"/>
            <ac:spMk id="3" creationId="{9AB4F970-B4B1-43D5-A600-F42AABA1DE44}"/>
          </ac:spMkLst>
        </pc:spChg>
      </pc:sldChg>
      <pc:sldChg chg="modSp mod">
        <pc:chgData name="Riasat Khan" userId="826ac62dfbb52e43" providerId="LiveId" clId="{9D3A6E61-4F54-49F7-99F0-5ED4B573DDC5}" dt="2024-11-09T12:57:51.146" v="4" actId="14100"/>
        <pc:sldMkLst>
          <pc:docMk/>
          <pc:sldMk cId="273599522" sldId="259"/>
        </pc:sldMkLst>
        <pc:spChg chg="mod">
          <ac:chgData name="Riasat Khan" userId="826ac62dfbb52e43" providerId="LiveId" clId="{9D3A6E61-4F54-49F7-99F0-5ED4B573DDC5}" dt="2024-11-09T12:57:46.049" v="3"/>
          <ac:spMkLst>
            <pc:docMk/>
            <pc:sldMk cId="273599522" sldId="259"/>
            <ac:spMk id="3" creationId="{9AB4F970-B4B1-43D5-A600-F42AABA1DE44}"/>
          </ac:spMkLst>
        </pc:spChg>
        <pc:picChg chg="mod">
          <ac:chgData name="Riasat Khan" userId="826ac62dfbb52e43" providerId="LiveId" clId="{9D3A6E61-4F54-49F7-99F0-5ED4B573DDC5}" dt="2024-11-09T12:57:51.146" v="4" actId="14100"/>
          <ac:picMkLst>
            <pc:docMk/>
            <pc:sldMk cId="273599522" sldId="259"/>
            <ac:picMk id="5" creationId="{716A50F4-79B6-431D-B2EF-285B8DA89412}"/>
          </ac:picMkLst>
        </pc:picChg>
      </pc:sldChg>
      <pc:sldChg chg="delSp modSp add mod">
        <pc:chgData name="Riasat Khan" userId="826ac62dfbb52e43" providerId="LiveId" clId="{9D3A6E61-4F54-49F7-99F0-5ED4B573DDC5}" dt="2024-11-09T13:17:42.955" v="204"/>
        <pc:sldMkLst>
          <pc:docMk/>
          <pc:sldMk cId="2786550299" sldId="263"/>
        </pc:sldMkLst>
        <pc:spChg chg="mod">
          <ac:chgData name="Riasat Khan" userId="826ac62dfbb52e43" providerId="LiveId" clId="{9D3A6E61-4F54-49F7-99F0-5ED4B573DDC5}" dt="2024-11-09T13:10:09.553" v="58" actId="20577"/>
          <ac:spMkLst>
            <pc:docMk/>
            <pc:sldMk cId="2786550299" sldId="263"/>
            <ac:spMk id="2" creationId="{9226D9C8-0B7F-248B-FE81-72A17256FCD7}"/>
          </ac:spMkLst>
        </pc:spChg>
        <pc:spChg chg="mod">
          <ac:chgData name="Riasat Khan" userId="826ac62dfbb52e43" providerId="LiveId" clId="{9D3A6E61-4F54-49F7-99F0-5ED4B573DDC5}" dt="2024-11-09T13:17:42.955" v="204"/>
          <ac:spMkLst>
            <pc:docMk/>
            <pc:sldMk cId="2786550299" sldId="263"/>
            <ac:spMk id="3" creationId="{A23D6EEA-11B5-5A26-9CAF-B7676B14E432}"/>
          </ac:spMkLst>
        </pc:spChg>
        <pc:picChg chg="del">
          <ac:chgData name="Riasat Khan" userId="826ac62dfbb52e43" providerId="LiveId" clId="{9D3A6E61-4F54-49F7-99F0-5ED4B573DDC5}" dt="2024-11-09T13:10:51.962" v="64" actId="478"/>
          <ac:picMkLst>
            <pc:docMk/>
            <pc:sldMk cId="2786550299" sldId="263"/>
            <ac:picMk id="5" creationId="{F7E9C9EB-6A94-1577-27E3-8D110190BA0B}"/>
          </ac:picMkLst>
        </pc:picChg>
      </pc:sldChg>
      <pc:sldChg chg="modSp add mod">
        <pc:chgData name="Riasat Khan" userId="826ac62dfbb52e43" providerId="LiveId" clId="{9D3A6E61-4F54-49F7-99F0-5ED4B573DDC5}" dt="2024-11-09T13:19:05.058" v="235" actId="20577"/>
        <pc:sldMkLst>
          <pc:docMk/>
          <pc:sldMk cId="2791844169" sldId="264"/>
        </pc:sldMkLst>
        <pc:spChg chg="mod">
          <ac:chgData name="Riasat Khan" userId="826ac62dfbb52e43" providerId="LiveId" clId="{9D3A6E61-4F54-49F7-99F0-5ED4B573DDC5}" dt="2024-11-09T13:12:10.040" v="90" actId="20577"/>
          <ac:spMkLst>
            <pc:docMk/>
            <pc:sldMk cId="2791844169" sldId="264"/>
            <ac:spMk id="2" creationId="{E261E9F8-66FA-618F-2B31-8F15532D3046}"/>
          </ac:spMkLst>
        </pc:spChg>
        <pc:spChg chg="mod">
          <ac:chgData name="Riasat Khan" userId="826ac62dfbb52e43" providerId="LiveId" clId="{9D3A6E61-4F54-49F7-99F0-5ED4B573DDC5}" dt="2024-11-09T13:19:05.058" v="235" actId="20577"/>
          <ac:spMkLst>
            <pc:docMk/>
            <pc:sldMk cId="2791844169" sldId="264"/>
            <ac:spMk id="3" creationId="{0FF58035-4C93-B695-04B5-EE4F419DAD41}"/>
          </ac:spMkLst>
        </pc:spChg>
      </pc:sldChg>
      <pc:sldChg chg="modSp add mod">
        <pc:chgData name="Riasat Khan" userId="826ac62dfbb52e43" providerId="LiveId" clId="{9D3A6E61-4F54-49F7-99F0-5ED4B573DDC5}" dt="2024-11-09T13:19:21.429" v="237" actId="27636"/>
        <pc:sldMkLst>
          <pc:docMk/>
          <pc:sldMk cId="2134045184" sldId="265"/>
        </pc:sldMkLst>
        <pc:spChg chg="mod">
          <ac:chgData name="Riasat Khan" userId="826ac62dfbb52e43" providerId="LiveId" clId="{9D3A6E61-4F54-49F7-99F0-5ED4B573DDC5}" dt="2024-11-09T13:19:21.429" v="237" actId="27636"/>
          <ac:spMkLst>
            <pc:docMk/>
            <pc:sldMk cId="2134045184" sldId="265"/>
            <ac:spMk id="3" creationId="{99540470-EC1F-CF45-DB69-4E133F7F3203}"/>
          </ac:spMkLst>
        </pc:spChg>
      </pc:sldChg>
    </pc:docChg>
  </pc:docChgLst>
  <pc:docChgLst>
    <pc:chgData name="Riasat Khan" userId="826ac62dfbb52e43" providerId="LiveId" clId="{A617620F-9AF5-48BB-A008-90DE2F048123}"/>
    <pc:docChg chg="undo custSel addSld modSld sldOrd">
      <pc:chgData name="Riasat Khan" userId="826ac62dfbb52e43" providerId="LiveId" clId="{A617620F-9AF5-48BB-A008-90DE2F048123}" dt="2024-11-11T05:17:14.677" v="292" actId="14100"/>
      <pc:docMkLst>
        <pc:docMk/>
      </pc:docMkLst>
      <pc:sldChg chg="modSp mod">
        <pc:chgData name="Riasat Khan" userId="826ac62dfbb52e43" providerId="LiveId" clId="{A617620F-9AF5-48BB-A008-90DE2F048123}" dt="2024-11-11T02:59:09.833" v="7" actId="20577"/>
        <pc:sldMkLst>
          <pc:docMk/>
          <pc:sldMk cId="1073168917" sldId="256"/>
        </pc:sldMkLst>
        <pc:spChg chg="mod">
          <ac:chgData name="Riasat Khan" userId="826ac62dfbb52e43" providerId="LiveId" clId="{A617620F-9AF5-48BB-A008-90DE2F048123}" dt="2024-11-11T02:59:09.833" v="7" actId="20577"/>
          <ac:spMkLst>
            <pc:docMk/>
            <pc:sldMk cId="1073168917" sldId="256"/>
            <ac:spMk id="2" creationId="{BF152D7D-0CAE-4258-8B38-C45C9C421EFF}"/>
          </ac:spMkLst>
        </pc:spChg>
      </pc:sldChg>
      <pc:sldChg chg="modSp add mod">
        <pc:chgData name="Riasat Khan" userId="826ac62dfbb52e43" providerId="LiveId" clId="{A617620F-9AF5-48BB-A008-90DE2F048123}" dt="2024-11-11T03:17:22.184" v="21" actId="20577"/>
        <pc:sldMkLst>
          <pc:docMk/>
          <pc:sldMk cId="822450338" sldId="266"/>
        </pc:sldMkLst>
        <pc:spChg chg="mod">
          <ac:chgData name="Riasat Khan" userId="826ac62dfbb52e43" providerId="LiveId" clId="{A617620F-9AF5-48BB-A008-90DE2F048123}" dt="2024-11-11T03:01:02.452" v="9"/>
          <ac:spMkLst>
            <pc:docMk/>
            <pc:sldMk cId="822450338" sldId="266"/>
            <ac:spMk id="2" creationId="{D8059495-FDDC-60B8-60B3-ACC3E4C914AA}"/>
          </ac:spMkLst>
        </pc:spChg>
        <pc:spChg chg="mod">
          <ac:chgData name="Riasat Khan" userId="826ac62dfbb52e43" providerId="LiveId" clId="{A617620F-9AF5-48BB-A008-90DE2F048123}" dt="2024-11-11T03:17:22.184" v="21" actId="20577"/>
          <ac:spMkLst>
            <pc:docMk/>
            <pc:sldMk cId="822450338" sldId="266"/>
            <ac:spMk id="3" creationId="{99540470-EC1F-CF45-DB69-4E133F7F3203}"/>
          </ac:spMkLst>
        </pc:spChg>
      </pc:sldChg>
      <pc:sldChg chg="addSp modSp add mod">
        <pc:chgData name="Riasat Khan" userId="826ac62dfbb52e43" providerId="LiveId" clId="{A617620F-9AF5-48BB-A008-90DE2F048123}" dt="2024-11-11T05:14:23.721" v="261" actId="6549"/>
        <pc:sldMkLst>
          <pc:docMk/>
          <pc:sldMk cId="4040533393" sldId="267"/>
        </pc:sldMkLst>
        <pc:spChg chg="mod">
          <ac:chgData name="Riasat Khan" userId="826ac62dfbb52e43" providerId="LiveId" clId="{A617620F-9AF5-48BB-A008-90DE2F048123}" dt="2024-11-11T03:18:06.456" v="28" actId="20577"/>
          <ac:spMkLst>
            <pc:docMk/>
            <pc:sldMk cId="4040533393" sldId="267"/>
            <ac:spMk id="2" creationId="{D8059495-FDDC-60B8-60B3-ACC3E4C914AA}"/>
          </ac:spMkLst>
        </pc:spChg>
        <pc:spChg chg="mod">
          <ac:chgData name="Riasat Khan" userId="826ac62dfbb52e43" providerId="LiveId" clId="{A617620F-9AF5-48BB-A008-90DE2F048123}" dt="2024-11-11T05:14:23.721" v="261" actId="6549"/>
          <ac:spMkLst>
            <pc:docMk/>
            <pc:sldMk cId="4040533393" sldId="267"/>
            <ac:spMk id="3" creationId="{99540470-EC1F-CF45-DB69-4E133F7F3203}"/>
          </ac:spMkLst>
        </pc:spChg>
        <pc:picChg chg="add mod">
          <ac:chgData name="Riasat Khan" userId="826ac62dfbb52e43" providerId="LiveId" clId="{A617620F-9AF5-48BB-A008-90DE2F048123}" dt="2024-11-11T03:21:41.029" v="102" actId="14100"/>
          <ac:picMkLst>
            <pc:docMk/>
            <pc:sldMk cId="4040533393" sldId="267"/>
            <ac:picMk id="5" creationId="{6DB9A8F1-BDC1-4523-9773-C3C1E2D79E2B}"/>
          </ac:picMkLst>
        </pc:picChg>
      </pc:sldChg>
      <pc:sldChg chg="modSp add mod">
        <pc:chgData name="Riasat Khan" userId="826ac62dfbb52e43" providerId="LiveId" clId="{A617620F-9AF5-48BB-A008-90DE2F048123}" dt="2024-11-11T05:17:14.677" v="292" actId="14100"/>
        <pc:sldMkLst>
          <pc:docMk/>
          <pc:sldMk cId="2029321520" sldId="268"/>
        </pc:sldMkLst>
        <pc:spChg chg="mod">
          <ac:chgData name="Riasat Khan" userId="826ac62dfbb52e43" providerId="LiveId" clId="{A617620F-9AF5-48BB-A008-90DE2F048123}" dt="2024-11-11T05:17:02.481" v="291"/>
          <ac:spMkLst>
            <pc:docMk/>
            <pc:sldMk cId="2029321520" sldId="268"/>
            <ac:spMk id="3" creationId="{99540470-EC1F-CF45-DB69-4E133F7F3203}"/>
          </ac:spMkLst>
        </pc:spChg>
        <pc:picChg chg="mod">
          <ac:chgData name="Riasat Khan" userId="826ac62dfbb52e43" providerId="LiveId" clId="{A617620F-9AF5-48BB-A008-90DE2F048123}" dt="2024-11-11T05:17:14.677" v="292" actId="14100"/>
          <ac:picMkLst>
            <pc:docMk/>
            <pc:sldMk cId="2029321520" sldId="268"/>
            <ac:picMk id="5" creationId="{6DB9A8F1-BDC1-4523-9773-C3C1E2D79E2B}"/>
          </ac:picMkLst>
        </pc:picChg>
      </pc:sldChg>
      <pc:sldChg chg="delSp modSp add mod">
        <pc:chgData name="Riasat Khan" userId="826ac62dfbb52e43" providerId="LiveId" clId="{A617620F-9AF5-48BB-A008-90DE2F048123}" dt="2024-11-11T05:13:14.628" v="232" actId="27636"/>
        <pc:sldMkLst>
          <pc:docMk/>
          <pc:sldMk cId="392427674" sldId="269"/>
        </pc:sldMkLst>
        <pc:spChg chg="mod">
          <ac:chgData name="Riasat Khan" userId="826ac62dfbb52e43" providerId="LiveId" clId="{A617620F-9AF5-48BB-A008-90DE2F048123}" dt="2024-11-11T05:13:14.628" v="232" actId="27636"/>
          <ac:spMkLst>
            <pc:docMk/>
            <pc:sldMk cId="392427674" sldId="269"/>
            <ac:spMk id="3" creationId="{99540470-EC1F-CF45-DB69-4E133F7F3203}"/>
          </ac:spMkLst>
        </pc:spChg>
        <pc:picChg chg="del">
          <ac:chgData name="Riasat Khan" userId="826ac62dfbb52e43" providerId="LiveId" clId="{A617620F-9AF5-48BB-A008-90DE2F048123}" dt="2024-11-11T05:08:10.557" v="157" actId="478"/>
          <ac:picMkLst>
            <pc:docMk/>
            <pc:sldMk cId="392427674" sldId="269"/>
            <ac:picMk id="5" creationId="{6DB9A8F1-BDC1-4523-9773-C3C1E2D79E2B}"/>
          </ac:picMkLst>
        </pc:picChg>
      </pc:sldChg>
      <pc:sldChg chg="delSp modSp add mod ord">
        <pc:chgData name="Riasat Khan" userId="826ac62dfbb52e43" providerId="LiveId" clId="{A617620F-9AF5-48BB-A008-90DE2F048123}" dt="2024-11-11T05:15:04.134" v="285" actId="20577"/>
        <pc:sldMkLst>
          <pc:docMk/>
          <pc:sldMk cId="321047099" sldId="270"/>
        </pc:sldMkLst>
        <pc:spChg chg="mod">
          <ac:chgData name="Riasat Khan" userId="826ac62dfbb52e43" providerId="LiveId" clId="{A617620F-9AF5-48BB-A008-90DE2F048123}" dt="2024-11-11T05:15:04.134" v="285" actId="20577"/>
          <ac:spMkLst>
            <pc:docMk/>
            <pc:sldMk cId="321047099" sldId="270"/>
            <ac:spMk id="3" creationId="{99540470-EC1F-CF45-DB69-4E133F7F3203}"/>
          </ac:spMkLst>
        </pc:spChg>
        <pc:picChg chg="del">
          <ac:chgData name="Riasat Khan" userId="826ac62dfbb52e43" providerId="LiveId" clId="{A617620F-9AF5-48BB-A008-90DE2F048123}" dt="2024-11-11T05:01:09.918" v="124" actId="478"/>
          <ac:picMkLst>
            <pc:docMk/>
            <pc:sldMk cId="321047099" sldId="270"/>
            <ac:picMk id="5" creationId="{6DB9A8F1-BDC1-4523-9773-C3C1E2D79E2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381E8-009C-48B9-B444-9B96E431AA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EA1DFA-C72C-438B-A6A2-1B32939C44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89359A-32CD-4E7F-A0FB-9BC710EFD76F}"/>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5" name="Footer Placeholder 4">
            <a:extLst>
              <a:ext uri="{FF2B5EF4-FFF2-40B4-BE49-F238E27FC236}">
                <a16:creationId xmlns:a16="http://schemas.microsoft.com/office/drawing/2014/main" id="{170CDC64-66B4-49AF-8074-296AB27EE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FFF1E-BB72-492F-AD60-8150B1119502}"/>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2295756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EF7C9-76BF-4197-B780-F8718A67FF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6A221D-6363-4B39-86AD-DDCC6B164E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6F713-53B4-4017-9169-79E89FBAE266}"/>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5" name="Footer Placeholder 4">
            <a:extLst>
              <a:ext uri="{FF2B5EF4-FFF2-40B4-BE49-F238E27FC236}">
                <a16:creationId xmlns:a16="http://schemas.microsoft.com/office/drawing/2014/main" id="{564776CA-C7CA-4E3F-B0D7-FF37D8DF75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D6FA0B-3319-4F62-A923-0CF522388881}"/>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1048189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6684D-003F-4AED-8750-451B87694C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DCF04A-FFCC-43F8-9AD9-A92CE223A1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F00DF9-451B-4D1A-A2BD-80C15C6D11EB}"/>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5" name="Footer Placeholder 4">
            <a:extLst>
              <a:ext uri="{FF2B5EF4-FFF2-40B4-BE49-F238E27FC236}">
                <a16:creationId xmlns:a16="http://schemas.microsoft.com/office/drawing/2014/main" id="{88935B42-6567-4A92-AAF6-58DCC3944C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C6A40-FE70-49DC-A925-9E034CA25BAA}"/>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235776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077B-9139-410A-B6D1-C2591573AF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EB7922-3E2D-4876-BE37-176ABB2E55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EDFB3F-F5F5-4279-9285-824BA09916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8701F8-0785-439C-A763-3113445FD122}"/>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6" name="Footer Placeholder 5">
            <a:extLst>
              <a:ext uri="{FF2B5EF4-FFF2-40B4-BE49-F238E27FC236}">
                <a16:creationId xmlns:a16="http://schemas.microsoft.com/office/drawing/2014/main" id="{8B675EE7-50D1-4943-9DC0-3A31984916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1727E-66BD-4F63-8569-4F8E413D217A}"/>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271500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DB15D-FE31-46C5-B4A8-126ED6E4C5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19364C-F9C7-4398-A791-0771DEC4F5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58D06A-F703-4264-A01E-EBEAFB0EF0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53D13B-3BA1-4B3A-AB18-18EAAD9622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358B6E-E2B7-4910-802F-0E5233942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49A9BA-D7B5-4B65-A93B-E9FA2275CD6E}"/>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8" name="Footer Placeholder 7">
            <a:extLst>
              <a:ext uri="{FF2B5EF4-FFF2-40B4-BE49-F238E27FC236}">
                <a16:creationId xmlns:a16="http://schemas.microsoft.com/office/drawing/2014/main" id="{53F5B669-83B7-4DC7-88AD-A05C585821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7B4597-53BA-401E-959E-39B704DE2EE6}"/>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1720631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6B6C-6BFE-40A8-B5D6-F7A0D091E6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E9CFA2-ECF2-45E2-8D42-EB9F2E890550}"/>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4" name="Footer Placeholder 3">
            <a:extLst>
              <a:ext uri="{FF2B5EF4-FFF2-40B4-BE49-F238E27FC236}">
                <a16:creationId xmlns:a16="http://schemas.microsoft.com/office/drawing/2014/main" id="{E8324098-DEC7-431E-AB94-80702D1FA8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CC92E-1BDB-413E-8294-CCAACFEC8DAC}"/>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3200940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33A9A-9578-48BF-8B15-454CF2AA462A}"/>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3" name="Footer Placeholder 2">
            <a:extLst>
              <a:ext uri="{FF2B5EF4-FFF2-40B4-BE49-F238E27FC236}">
                <a16:creationId xmlns:a16="http://schemas.microsoft.com/office/drawing/2014/main" id="{CFA4F166-35DF-48E4-8122-5692317BBE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C70FA7-8C4D-4567-9B9C-B648364430F8}"/>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130557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E333-AE37-47AA-AD3A-0BCAD1D7D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3162EB-B4F0-4938-B34C-3792B39239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2DD351-B0C9-47FD-AF58-759ECFB379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22074-CE8A-43FA-B7A3-A8C16B5DFCE4}"/>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6" name="Footer Placeholder 5">
            <a:extLst>
              <a:ext uri="{FF2B5EF4-FFF2-40B4-BE49-F238E27FC236}">
                <a16:creationId xmlns:a16="http://schemas.microsoft.com/office/drawing/2014/main" id="{E9595EB4-75BA-437A-8C8C-64CC963A9C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4F6F06-AA81-4473-AF48-E435E7A0A2D5}"/>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3277222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D3E6D-3C52-43F8-B25E-6441A5DC17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C777B4-D602-4932-8461-45590E7218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CAB010-8089-461B-BC35-C50182A728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E17684-ADDF-4F8E-926C-5056F3BA4AC4}"/>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6" name="Footer Placeholder 5">
            <a:extLst>
              <a:ext uri="{FF2B5EF4-FFF2-40B4-BE49-F238E27FC236}">
                <a16:creationId xmlns:a16="http://schemas.microsoft.com/office/drawing/2014/main" id="{1F819A02-AF00-411D-B966-59E363C786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D491EE-89D5-44A8-8331-BCA15F3DC8C6}"/>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1915312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2C350-38D4-4A91-BE92-CFC00B0C93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FE9939-84A2-4866-B61D-2EA522B44E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AC6B51-8E61-4614-8612-5EF0243D99BF}"/>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5" name="Footer Placeholder 4">
            <a:extLst>
              <a:ext uri="{FF2B5EF4-FFF2-40B4-BE49-F238E27FC236}">
                <a16:creationId xmlns:a16="http://schemas.microsoft.com/office/drawing/2014/main" id="{0F338134-1EBA-413D-A62E-83E3452127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CEFE0B-67DE-48CF-B1C7-1C7438D6629F}"/>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84257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2A11CF-35A1-4A6D-B265-F0CE91EB79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0E7F2B-1BF5-459B-88ED-5CDF67259E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108B4-FDCA-4188-8ECF-734D3F0F91EE}"/>
              </a:ext>
            </a:extLst>
          </p:cNvPr>
          <p:cNvSpPr>
            <a:spLocks noGrp="1"/>
          </p:cNvSpPr>
          <p:nvPr>
            <p:ph type="dt" sz="half" idx="10"/>
          </p:nvPr>
        </p:nvSpPr>
        <p:spPr/>
        <p:txBody>
          <a:bodyPr/>
          <a:lstStyle/>
          <a:p>
            <a:fld id="{AAD6ECF0-2BF4-4A52-A202-BAE1105F2388}" type="datetimeFigureOut">
              <a:rPr lang="en-US" smtClean="0"/>
              <a:t>11/11/2024</a:t>
            </a:fld>
            <a:endParaRPr lang="en-US"/>
          </a:p>
        </p:txBody>
      </p:sp>
      <p:sp>
        <p:nvSpPr>
          <p:cNvPr id="5" name="Footer Placeholder 4">
            <a:extLst>
              <a:ext uri="{FF2B5EF4-FFF2-40B4-BE49-F238E27FC236}">
                <a16:creationId xmlns:a16="http://schemas.microsoft.com/office/drawing/2014/main" id="{A81E226A-23BF-4EE2-BD2A-8998106668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DCD183-82FB-4068-BFD7-42E8C7ED5155}"/>
              </a:ext>
            </a:extLst>
          </p:cNvPr>
          <p:cNvSpPr>
            <a:spLocks noGrp="1"/>
          </p:cNvSpPr>
          <p:nvPr>
            <p:ph type="sldNum" sz="quarter" idx="12"/>
          </p:nvPr>
        </p:nvSpPr>
        <p:spPr/>
        <p:txBody>
          <a:bodyPr/>
          <a:lstStyle/>
          <a:p>
            <a:fld id="{855D8251-3AEA-402C-B872-77CEB6EE119A}" type="slidenum">
              <a:rPr lang="en-US" smtClean="0"/>
              <a:t>‹#›</a:t>
            </a:fld>
            <a:endParaRPr lang="en-US"/>
          </a:p>
        </p:txBody>
      </p:sp>
    </p:spTree>
    <p:extLst>
      <p:ext uri="{BB962C8B-B14F-4D97-AF65-F5344CB8AC3E}">
        <p14:creationId xmlns:p14="http://schemas.microsoft.com/office/powerpoint/2010/main" val="4047973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64A3CE-084A-49E6-9533-98AE3D0E6E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54F20B-AD72-4DDF-807F-BA274FF843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E034F8-EEF4-48C6-95FA-92EFFB2D7D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6ECF0-2BF4-4A52-A202-BAE1105F2388}" type="datetimeFigureOut">
              <a:rPr lang="en-US" smtClean="0"/>
              <a:t>11/11/2024</a:t>
            </a:fld>
            <a:endParaRPr lang="en-US"/>
          </a:p>
        </p:txBody>
      </p:sp>
      <p:sp>
        <p:nvSpPr>
          <p:cNvPr id="5" name="Footer Placeholder 4">
            <a:extLst>
              <a:ext uri="{FF2B5EF4-FFF2-40B4-BE49-F238E27FC236}">
                <a16:creationId xmlns:a16="http://schemas.microsoft.com/office/drawing/2014/main" id="{48059229-EEB4-4D2F-BA8B-CA47BD3EF4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E2DE1D2-5412-405D-A8C6-B5DB6FB104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5D8251-3AEA-402C-B872-77CEB6EE119A}" type="slidenum">
              <a:rPr lang="en-US" smtClean="0"/>
              <a:t>‹#›</a:t>
            </a:fld>
            <a:endParaRPr lang="en-US"/>
          </a:p>
        </p:txBody>
      </p:sp>
    </p:spTree>
    <p:extLst>
      <p:ext uri="{BB962C8B-B14F-4D97-AF65-F5344CB8AC3E}">
        <p14:creationId xmlns:p14="http://schemas.microsoft.com/office/powerpoint/2010/main" val="1685048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2D7D-0CAE-4258-8B38-C45C9C421EFF}"/>
              </a:ext>
            </a:extLst>
          </p:cNvPr>
          <p:cNvSpPr>
            <a:spLocks noGrp="1"/>
          </p:cNvSpPr>
          <p:nvPr>
            <p:ph type="ctrTitle"/>
          </p:nvPr>
        </p:nvSpPr>
        <p:spPr/>
        <p:txBody>
          <a:bodyPr>
            <a:normAutofit fontScale="90000"/>
          </a:bodyPr>
          <a:lstStyle/>
          <a:p>
            <a:r>
              <a:rPr lang="en-US" dirty="0"/>
              <a:t>Explainable AI LIME</a:t>
            </a:r>
            <a:br>
              <a:rPr lang="en-US" dirty="0"/>
            </a:br>
            <a:r>
              <a:rPr lang="en-US" dirty="0"/>
              <a:t>Validation Technique</a:t>
            </a:r>
            <a:br>
              <a:rPr lang="en-US" dirty="0"/>
            </a:br>
            <a:r>
              <a:rPr lang="en-US" dirty="0"/>
              <a:t>Imbalanced Dataset</a:t>
            </a:r>
          </a:p>
        </p:txBody>
      </p:sp>
      <p:sp>
        <p:nvSpPr>
          <p:cNvPr id="3" name="Subtitle 2">
            <a:extLst>
              <a:ext uri="{FF2B5EF4-FFF2-40B4-BE49-F238E27FC236}">
                <a16:creationId xmlns:a16="http://schemas.microsoft.com/office/drawing/2014/main" id="{1E9F5123-79C4-4A43-BFB3-4AFD1284269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73168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5DE9-CC3B-4A86-8578-5D34E33ADA25}"/>
              </a:ext>
            </a:extLst>
          </p:cNvPr>
          <p:cNvSpPr>
            <a:spLocks noGrp="1"/>
          </p:cNvSpPr>
          <p:nvPr>
            <p:ph type="title"/>
          </p:nvPr>
        </p:nvSpPr>
        <p:spPr>
          <a:xfrm>
            <a:off x="717177" y="0"/>
            <a:ext cx="10515600" cy="1325563"/>
          </a:xfrm>
        </p:spPr>
        <p:txBody>
          <a:bodyPr/>
          <a:lstStyle/>
          <a:p>
            <a:r>
              <a:rPr lang="en-US" dirty="0"/>
              <a:t>Explainable AI (XAI)</a:t>
            </a:r>
          </a:p>
        </p:txBody>
      </p:sp>
      <p:sp>
        <p:nvSpPr>
          <p:cNvPr id="3" name="Content Placeholder 2">
            <a:extLst>
              <a:ext uri="{FF2B5EF4-FFF2-40B4-BE49-F238E27FC236}">
                <a16:creationId xmlns:a16="http://schemas.microsoft.com/office/drawing/2014/main" id="{9AB4F970-B4B1-43D5-A600-F42AABA1DE44}"/>
              </a:ext>
            </a:extLst>
          </p:cNvPr>
          <p:cNvSpPr>
            <a:spLocks noGrp="1"/>
          </p:cNvSpPr>
          <p:nvPr>
            <p:ph idx="1"/>
          </p:nvPr>
        </p:nvSpPr>
        <p:spPr>
          <a:xfrm>
            <a:off x="0" y="1102658"/>
            <a:ext cx="12192000" cy="5755341"/>
          </a:xfrm>
        </p:spPr>
        <p:txBody>
          <a:bodyPr>
            <a:normAutofit/>
          </a:bodyPr>
          <a:lstStyle/>
          <a:p>
            <a:r>
              <a:rPr lang="en-US" dirty="0"/>
              <a:t>Explainable AI (XAI) helps explain an AI model’s decision-making process</a:t>
            </a:r>
          </a:p>
          <a:p>
            <a:r>
              <a:rPr lang="en-US" dirty="0"/>
              <a:t>Some of the most famous XAI techniques include SHAP (Shapley Additive </a:t>
            </a:r>
            <a:r>
              <a:rPr lang="en-US" dirty="0" err="1"/>
              <a:t>exPlanations</a:t>
            </a:r>
            <a:r>
              <a:rPr lang="en-US" dirty="0"/>
              <a:t>), </a:t>
            </a:r>
            <a:r>
              <a:rPr lang="en-US" dirty="0" err="1"/>
              <a:t>DeepSHAP</a:t>
            </a:r>
            <a:r>
              <a:rPr lang="en-US" dirty="0"/>
              <a:t>, </a:t>
            </a:r>
            <a:r>
              <a:rPr lang="en-US" dirty="0" err="1"/>
              <a:t>DeepLIFT</a:t>
            </a:r>
            <a:r>
              <a:rPr lang="en-US" dirty="0"/>
              <a:t>, </a:t>
            </a:r>
            <a:r>
              <a:rPr lang="en-US" dirty="0" err="1"/>
              <a:t>CXplain</a:t>
            </a:r>
            <a:r>
              <a:rPr lang="en-US" dirty="0"/>
              <a:t>, and LIME</a:t>
            </a:r>
          </a:p>
          <a:p>
            <a:r>
              <a:rPr lang="en-US" dirty="0"/>
              <a:t>Explainable AI methods, such as LIME, allow to explain and interpret the predictions of machine learning models</a:t>
            </a:r>
          </a:p>
          <a:p>
            <a:r>
              <a:rPr lang="en-US" dirty="0"/>
              <a:t>Interpretability means understanding why certain predictions are made by a model. Knowing these reasons increases the acceptance of and confidence in machine learning models</a:t>
            </a:r>
          </a:p>
          <a:p>
            <a:r>
              <a:rPr lang="en-US"/>
              <a:t>Explain </a:t>
            </a:r>
            <a:r>
              <a:rPr lang="en-US" dirty="0"/>
              <a:t>individual predictions by showing how much each feature contributed to a given result</a:t>
            </a:r>
          </a:p>
          <a:p>
            <a:endParaRPr lang="en-US" dirty="0"/>
          </a:p>
        </p:txBody>
      </p:sp>
    </p:spTree>
    <p:extLst>
      <p:ext uri="{BB962C8B-B14F-4D97-AF65-F5344CB8AC3E}">
        <p14:creationId xmlns:p14="http://schemas.microsoft.com/office/powerpoint/2010/main" val="3151985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5DE9-CC3B-4A86-8578-5D34E33ADA25}"/>
              </a:ext>
            </a:extLst>
          </p:cNvPr>
          <p:cNvSpPr>
            <a:spLocks noGrp="1"/>
          </p:cNvSpPr>
          <p:nvPr>
            <p:ph type="title"/>
          </p:nvPr>
        </p:nvSpPr>
        <p:spPr>
          <a:xfrm>
            <a:off x="717177" y="0"/>
            <a:ext cx="10515600" cy="1325563"/>
          </a:xfrm>
        </p:spPr>
        <p:txBody>
          <a:bodyPr/>
          <a:lstStyle/>
          <a:p>
            <a:r>
              <a:rPr lang="en-US" dirty="0"/>
              <a:t>Explainable AI (XAI)</a:t>
            </a:r>
          </a:p>
        </p:txBody>
      </p:sp>
      <p:sp>
        <p:nvSpPr>
          <p:cNvPr id="3" name="Content Placeholder 2">
            <a:extLst>
              <a:ext uri="{FF2B5EF4-FFF2-40B4-BE49-F238E27FC236}">
                <a16:creationId xmlns:a16="http://schemas.microsoft.com/office/drawing/2014/main" id="{9AB4F970-B4B1-43D5-A600-F42AABA1DE44}"/>
              </a:ext>
            </a:extLst>
          </p:cNvPr>
          <p:cNvSpPr>
            <a:spLocks noGrp="1"/>
          </p:cNvSpPr>
          <p:nvPr>
            <p:ph idx="1"/>
          </p:nvPr>
        </p:nvSpPr>
        <p:spPr>
          <a:xfrm>
            <a:off x="0" y="1102658"/>
            <a:ext cx="12192000" cy="5755341"/>
          </a:xfrm>
        </p:spPr>
        <p:txBody>
          <a:bodyPr>
            <a:normAutofit/>
          </a:bodyPr>
          <a:lstStyle/>
          <a:p>
            <a:r>
              <a:rPr lang="en-US" dirty="0"/>
              <a:t>XAI can then help in medicine to detect disease using images. </a:t>
            </a:r>
          </a:p>
          <a:p>
            <a:r>
              <a:rPr lang="en-US" dirty="0"/>
              <a:t>Explainable Artificial Intelligence (XAI) tools quickly and easily highlight the areas in images that are crucial for classification, thus providing the attending doctor with significant support in making decisions</a:t>
            </a:r>
          </a:p>
          <a:p>
            <a:r>
              <a:rPr lang="en-US" dirty="0"/>
              <a:t>A ML model predicts with 70% accuracy that a patient has lung cancer. Though the model might have given the correct diagnosis, a doctor can’t really advise a patient confidently as he/she doesn’t know the reasoning behind the said model’s diagnosis</a:t>
            </a:r>
          </a:p>
          <a:p>
            <a:endParaRPr lang="en-US" dirty="0"/>
          </a:p>
          <a:p>
            <a:endParaRPr lang="en-US" dirty="0"/>
          </a:p>
        </p:txBody>
      </p:sp>
      <p:pic>
        <p:nvPicPr>
          <p:cNvPr id="5" name="Picture 4">
            <a:extLst>
              <a:ext uri="{FF2B5EF4-FFF2-40B4-BE49-F238E27FC236}">
                <a16:creationId xmlns:a16="http://schemas.microsoft.com/office/drawing/2014/main" id="{716A50F4-79B6-431D-B2EF-285B8DA89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1964" y="4093436"/>
            <a:ext cx="2510036" cy="2764564"/>
          </a:xfrm>
          <a:prstGeom prst="rect">
            <a:avLst/>
          </a:prstGeom>
        </p:spPr>
      </p:pic>
    </p:spTree>
    <p:extLst>
      <p:ext uri="{BB962C8B-B14F-4D97-AF65-F5344CB8AC3E}">
        <p14:creationId xmlns:p14="http://schemas.microsoft.com/office/powerpoint/2010/main" val="27359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5DE9-CC3B-4A86-8578-5D34E33ADA25}"/>
              </a:ext>
            </a:extLst>
          </p:cNvPr>
          <p:cNvSpPr>
            <a:spLocks noGrp="1"/>
          </p:cNvSpPr>
          <p:nvPr>
            <p:ph type="title"/>
          </p:nvPr>
        </p:nvSpPr>
        <p:spPr>
          <a:xfrm>
            <a:off x="717177" y="0"/>
            <a:ext cx="10515600" cy="1325563"/>
          </a:xfrm>
        </p:spPr>
        <p:txBody>
          <a:bodyPr/>
          <a:lstStyle/>
          <a:p>
            <a:r>
              <a:rPr lang="en-US" dirty="0"/>
              <a:t>LIME XAI</a:t>
            </a:r>
          </a:p>
        </p:txBody>
      </p:sp>
      <p:sp>
        <p:nvSpPr>
          <p:cNvPr id="3" name="Content Placeholder 2">
            <a:extLst>
              <a:ext uri="{FF2B5EF4-FFF2-40B4-BE49-F238E27FC236}">
                <a16:creationId xmlns:a16="http://schemas.microsoft.com/office/drawing/2014/main" id="{9AB4F970-B4B1-43D5-A600-F42AABA1DE44}"/>
              </a:ext>
            </a:extLst>
          </p:cNvPr>
          <p:cNvSpPr>
            <a:spLocks noGrp="1"/>
          </p:cNvSpPr>
          <p:nvPr>
            <p:ph idx="1"/>
          </p:nvPr>
        </p:nvSpPr>
        <p:spPr>
          <a:xfrm>
            <a:off x="0" y="1102658"/>
            <a:ext cx="12192000" cy="5755341"/>
          </a:xfrm>
        </p:spPr>
        <p:txBody>
          <a:bodyPr>
            <a:normAutofit/>
          </a:bodyPr>
          <a:lstStyle/>
          <a:p>
            <a:r>
              <a:rPr lang="en-US" dirty="0"/>
              <a:t>Local Interpretable Model-agnostic Explanations (LIME)</a:t>
            </a:r>
          </a:p>
          <a:p>
            <a:r>
              <a:rPr lang="en-US" dirty="0"/>
              <a:t>Model agnosticism refers to the property of LIME using which it can </a:t>
            </a:r>
            <a:r>
              <a:rPr lang="en-US" dirty="0">
                <a:solidFill>
                  <a:srgbClr val="FF0000"/>
                </a:solidFill>
              </a:rPr>
              <a:t>give explanations for any given supervised learning model</a:t>
            </a:r>
          </a:p>
          <a:p>
            <a:r>
              <a:rPr lang="en-US" dirty="0"/>
              <a:t>Local explanations mean that LIME gives explanations that are locally faithful within the surroundings of the observation/sample being explained</a:t>
            </a:r>
          </a:p>
          <a:p>
            <a:r>
              <a:rPr lang="en-US" dirty="0"/>
              <a:t>LIME gives a local interpretable </a:t>
            </a:r>
            <a:r>
              <a:rPr lang="en-US" dirty="0">
                <a:solidFill>
                  <a:srgbClr val="FF0000"/>
                </a:solidFill>
              </a:rPr>
              <a:t>simpler linear surrogate model </a:t>
            </a:r>
            <a:r>
              <a:rPr lang="en-US" dirty="0"/>
              <a:t>into the local area of a complex model</a:t>
            </a:r>
          </a:p>
          <a:p>
            <a:endParaRPr lang="en-US" dirty="0"/>
          </a:p>
        </p:txBody>
      </p:sp>
      <p:pic>
        <p:nvPicPr>
          <p:cNvPr id="5" name="Picture 4">
            <a:extLst>
              <a:ext uri="{FF2B5EF4-FFF2-40B4-BE49-F238E27FC236}">
                <a16:creationId xmlns:a16="http://schemas.microsoft.com/office/drawing/2014/main" id="{62409F58-DF0F-47F0-AD7F-45804A59C2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318" y="3859305"/>
            <a:ext cx="7700682" cy="2998693"/>
          </a:xfrm>
          <a:prstGeom prst="rect">
            <a:avLst/>
          </a:prstGeom>
        </p:spPr>
      </p:pic>
    </p:spTree>
    <p:extLst>
      <p:ext uri="{BB962C8B-B14F-4D97-AF65-F5344CB8AC3E}">
        <p14:creationId xmlns:p14="http://schemas.microsoft.com/office/powerpoint/2010/main" val="706212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5DE9-CC3B-4A86-8578-5D34E33ADA25}"/>
              </a:ext>
            </a:extLst>
          </p:cNvPr>
          <p:cNvSpPr>
            <a:spLocks noGrp="1"/>
          </p:cNvSpPr>
          <p:nvPr>
            <p:ph type="title"/>
          </p:nvPr>
        </p:nvSpPr>
        <p:spPr>
          <a:xfrm>
            <a:off x="717177" y="0"/>
            <a:ext cx="10515600" cy="1325563"/>
          </a:xfrm>
        </p:spPr>
        <p:txBody>
          <a:bodyPr/>
          <a:lstStyle/>
          <a:p>
            <a:r>
              <a:rPr lang="en-US" dirty="0"/>
              <a:t>LIME XAI</a:t>
            </a:r>
          </a:p>
        </p:txBody>
      </p:sp>
      <p:sp>
        <p:nvSpPr>
          <p:cNvPr id="3" name="Content Placeholder 2">
            <a:extLst>
              <a:ext uri="{FF2B5EF4-FFF2-40B4-BE49-F238E27FC236}">
                <a16:creationId xmlns:a16="http://schemas.microsoft.com/office/drawing/2014/main" id="{9AB4F970-B4B1-43D5-A600-F42AABA1DE44}"/>
              </a:ext>
            </a:extLst>
          </p:cNvPr>
          <p:cNvSpPr>
            <a:spLocks noGrp="1"/>
          </p:cNvSpPr>
          <p:nvPr>
            <p:ph idx="1"/>
          </p:nvPr>
        </p:nvSpPr>
        <p:spPr>
          <a:xfrm>
            <a:off x="0" y="1102658"/>
            <a:ext cx="12192000" cy="5755341"/>
          </a:xfrm>
        </p:spPr>
        <p:txBody>
          <a:bodyPr>
            <a:normAutofit/>
          </a:bodyPr>
          <a:lstStyle/>
          <a:p>
            <a:r>
              <a:rPr lang="en-US" dirty="0"/>
              <a:t>Local Interpretable Model-agnostic Explanations (LIME)</a:t>
            </a:r>
          </a:p>
          <a:p>
            <a:r>
              <a:rPr lang="en-US" dirty="0"/>
              <a:t>Model agnosticism refers to the property of LIME using which it can </a:t>
            </a:r>
            <a:r>
              <a:rPr lang="en-US" dirty="0">
                <a:solidFill>
                  <a:srgbClr val="FF0000"/>
                </a:solidFill>
              </a:rPr>
              <a:t>give explanations for any given supervised learning model</a:t>
            </a:r>
          </a:p>
          <a:p>
            <a:r>
              <a:rPr lang="en-US" dirty="0"/>
              <a:t>Local explanations mean that LIME gives explanations that are locally faithful within the surroundings of the observation/sample being explained</a:t>
            </a:r>
          </a:p>
          <a:p>
            <a:r>
              <a:rPr lang="en-US" dirty="0"/>
              <a:t>LIME gives a local interpretable simpler linear surrogate model into the local area of a complex model</a:t>
            </a:r>
          </a:p>
          <a:p>
            <a:r>
              <a:rPr lang="en-US" dirty="0"/>
              <a:t>The method explains the </a:t>
            </a:r>
          </a:p>
          <a:p>
            <a:pPr marL="0" indent="0">
              <a:buNone/>
            </a:pPr>
            <a:r>
              <a:rPr lang="en-US" dirty="0"/>
              <a:t>classifier for a specific single </a:t>
            </a:r>
          </a:p>
          <a:p>
            <a:pPr marL="0" indent="0">
              <a:buNone/>
            </a:pPr>
            <a:r>
              <a:rPr lang="en-US" dirty="0"/>
              <a:t>instance and is therefore </a:t>
            </a:r>
          </a:p>
          <a:p>
            <a:pPr marL="0" indent="0">
              <a:buNone/>
            </a:pPr>
            <a:r>
              <a:rPr lang="en-US" dirty="0"/>
              <a:t>suitable for local explanation</a:t>
            </a:r>
          </a:p>
          <a:p>
            <a:endParaRPr lang="en-US" dirty="0"/>
          </a:p>
        </p:txBody>
      </p:sp>
      <p:pic>
        <p:nvPicPr>
          <p:cNvPr id="5" name="Picture 4">
            <a:extLst>
              <a:ext uri="{FF2B5EF4-FFF2-40B4-BE49-F238E27FC236}">
                <a16:creationId xmlns:a16="http://schemas.microsoft.com/office/drawing/2014/main" id="{62409F58-DF0F-47F0-AD7F-45804A59C2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0979" y="3765176"/>
            <a:ext cx="7700682" cy="3083944"/>
          </a:xfrm>
          <a:prstGeom prst="rect">
            <a:avLst/>
          </a:prstGeom>
        </p:spPr>
      </p:pic>
    </p:spTree>
    <p:extLst>
      <p:ext uri="{BB962C8B-B14F-4D97-AF65-F5344CB8AC3E}">
        <p14:creationId xmlns:p14="http://schemas.microsoft.com/office/powerpoint/2010/main" val="2742072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5DE9-CC3B-4A86-8578-5D34E33ADA25}"/>
              </a:ext>
            </a:extLst>
          </p:cNvPr>
          <p:cNvSpPr>
            <a:spLocks noGrp="1"/>
          </p:cNvSpPr>
          <p:nvPr>
            <p:ph type="title"/>
          </p:nvPr>
        </p:nvSpPr>
        <p:spPr>
          <a:xfrm>
            <a:off x="717177" y="0"/>
            <a:ext cx="10515600" cy="1325563"/>
          </a:xfrm>
        </p:spPr>
        <p:txBody>
          <a:bodyPr/>
          <a:lstStyle/>
          <a:p>
            <a:r>
              <a:rPr lang="en-US" dirty="0"/>
              <a:t>LIME XAI</a:t>
            </a:r>
          </a:p>
        </p:txBody>
      </p:sp>
      <p:sp>
        <p:nvSpPr>
          <p:cNvPr id="3" name="Content Placeholder 2">
            <a:extLst>
              <a:ext uri="{FF2B5EF4-FFF2-40B4-BE49-F238E27FC236}">
                <a16:creationId xmlns:a16="http://schemas.microsoft.com/office/drawing/2014/main" id="{9AB4F970-B4B1-43D5-A600-F42AABA1DE44}"/>
              </a:ext>
            </a:extLst>
          </p:cNvPr>
          <p:cNvSpPr>
            <a:spLocks noGrp="1"/>
          </p:cNvSpPr>
          <p:nvPr>
            <p:ph idx="1"/>
          </p:nvPr>
        </p:nvSpPr>
        <p:spPr>
          <a:xfrm>
            <a:off x="0" y="1102658"/>
            <a:ext cx="12192000" cy="5755341"/>
          </a:xfrm>
        </p:spPr>
        <p:txBody>
          <a:bodyPr>
            <a:normAutofit/>
          </a:bodyPr>
          <a:lstStyle/>
          <a:p>
            <a:r>
              <a:rPr lang="en-US" dirty="0"/>
              <a:t>LIME provides locally faithful explanations around the neighborhood of the instance being explained. By default, it considers 5000 samples(</a:t>
            </a:r>
            <a:r>
              <a:rPr lang="en-US" dirty="0" err="1"/>
              <a:t>num_samples</a:t>
            </a:r>
            <a:r>
              <a:rPr lang="en-US" dirty="0"/>
              <a:t>). Then it obtains the target variable for these 5000 samples using the prediction model, whose decisions it’s trying to explain.</a:t>
            </a:r>
          </a:p>
          <a:p>
            <a:r>
              <a:rPr lang="en-US" dirty="0"/>
              <a:t>Feature Selection from the surrogate dataset: After obtaining the surrogate dataset, it weighs each row according to how close they are to the original sample/observation. Then it uses a feature selection technique to obtain the top important features (Feature 2).</a:t>
            </a:r>
          </a:p>
          <a:p>
            <a:r>
              <a:rPr lang="en-US" dirty="0"/>
              <a:t>LIME also employs a Ridge Regression model on the samples using only the obtained features</a:t>
            </a:r>
          </a:p>
        </p:txBody>
      </p:sp>
      <p:pic>
        <p:nvPicPr>
          <p:cNvPr id="5" name="Picture 4">
            <a:extLst>
              <a:ext uri="{FF2B5EF4-FFF2-40B4-BE49-F238E27FC236}">
                <a16:creationId xmlns:a16="http://schemas.microsoft.com/office/drawing/2014/main" id="{62409F58-DF0F-47F0-AD7F-45804A59C2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15199" y="4814047"/>
            <a:ext cx="4836461" cy="1825976"/>
          </a:xfrm>
          <a:prstGeom prst="rect">
            <a:avLst/>
          </a:prstGeom>
        </p:spPr>
      </p:pic>
    </p:spTree>
    <p:extLst>
      <p:ext uri="{BB962C8B-B14F-4D97-AF65-F5344CB8AC3E}">
        <p14:creationId xmlns:p14="http://schemas.microsoft.com/office/powerpoint/2010/main" val="3193866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55B34-B16E-2EDB-BD89-0A16B5905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6D9C8-0B7F-248B-FE81-72A17256FCD7}"/>
              </a:ext>
            </a:extLst>
          </p:cNvPr>
          <p:cNvSpPr>
            <a:spLocks noGrp="1"/>
          </p:cNvSpPr>
          <p:nvPr>
            <p:ph type="title"/>
          </p:nvPr>
        </p:nvSpPr>
        <p:spPr>
          <a:xfrm>
            <a:off x="717177" y="0"/>
            <a:ext cx="10515600" cy="1325563"/>
          </a:xfrm>
        </p:spPr>
        <p:txBody>
          <a:bodyPr/>
          <a:lstStyle/>
          <a:p>
            <a:r>
              <a:rPr lang="en-US" dirty="0"/>
              <a:t>Validation Technique</a:t>
            </a:r>
          </a:p>
        </p:txBody>
      </p:sp>
      <p:sp>
        <p:nvSpPr>
          <p:cNvPr id="3" name="Content Placeholder 2">
            <a:extLst>
              <a:ext uri="{FF2B5EF4-FFF2-40B4-BE49-F238E27FC236}">
                <a16:creationId xmlns:a16="http://schemas.microsoft.com/office/drawing/2014/main" id="{A23D6EEA-11B5-5A26-9CAF-B7676B14E432}"/>
              </a:ext>
            </a:extLst>
          </p:cNvPr>
          <p:cNvSpPr>
            <a:spLocks noGrp="1"/>
          </p:cNvSpPr>
          <p:nvPr>
            <p:ph idx="1"/>
          </p:nvPr>
        </p:nvSpPr>
        <p:spPr>
          <a:xfrm>
            <a:off x="0" y="1102658"/>
            <a:ext cx="12192000" cy="5755341"/>
          </a:xfrm>
        </p:spPr>
        <p:txBody>
          <a:bodyPr>
            <a:normAutofit/>
          </a:bodyPr>
          <a:lstStyle/>
          <a:p>
            <a:r>
              <a:rPr lang="en-US" dirty="0"/>
              <a:t>Essential to ensure that models perform well not just on the training data but also on new, unseen data. </a:t>
            </a:r>
          </a:p>
          <a:p>
            <a:r>
              <a:rPr lang="en-US" dirty="0"/>
              <a:t>Proper validation helps prevent overfitting, underfitting, and ensures that models generalize effectively</a:t>
            </a:r>
          </a:p>
          <a:p>
            <a:pPr marL="514350" indent="-514350">
              <a:buAutoNum type="arabicPeriod"/>
            </a:pPr>
            <a:r>
              <a:rPr lang="en-US" dirty="0"/>
              <a:t>Hold-Out Validation/Train-test Split:</a:t>
            </a:r>
          </a:p>
          <a:p>
            <a:r>
              <a:rPr lang="en-US" dirty="0"/>
              <a:t>Most common validation technique: Simple and easy to implement </a:t>
            </a:r>
          </a:p>
          <a:p>
            <a:r>
              <a:rPr lang="en-US" dirty="0"/>
              <a:t>The data is split into two sets: a training set and a testing set. The model is trained on the training set and then evaluated on the test set.</a:t>
            </a:r>
          </a:p>
          <a:p>
            <a:r>
              <a:rPr lang="en-US" dirty="0"/>
              <a:t>Common Split Ratios: 70/30, 80/20, or 90/10 (training/test split).</a:t>
            </a:r>
          </a:p>
        </p:txBody>
      </p:sp>
    </p:spTree>
    <p:extLst>
      <p:ext uri="{BB962C8B-B14F-4D97-AF65-F5344CB8AC3E}">
        <p14:creationId xmlns:p14="http://schemas.microsoft.com/office/powerpoint/2010/main" val="2786550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8A6DD-D9C5-A756-122F-138C6D9D7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1E9F8-66FA-618F-2B31-8F15532D3046}"/>
              </a:ext>
            </a:extLst>
          </p:cNvPr>
          <p:cNvSpPr>
            <a:spLocks noGrp="1"/>
          </p:cNvSpPr>
          <p:nvPr>
            <p:ph type="title"/>
          </p:nvPr>
        </p:nvSpPr>
        <p:spPr>
          <a:xfrm>
            <a:off x="717177" y="0"/>
            <a:ext cx="10515600" cy="1325563"/>
          </a:xfrm>
        </p:spPr>
        <p:txBody>
          <a:bodyPr/>
          <a:lstStyle/>
          <a:p>
            <a:r>
              <a:rPr lang="en-US" dirty="0"/>
              <a:t>Various Validation Techniques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F58035-4C93-B695-04B5-EE4F419DAD41}"/>
                  </a:ext>
                </a:extLst>
              </p:cNvPr>
              <p:cNvSpPr>
                <a:spLocks noGrp="1"/>
              </p:cNvSpPr>
              <p:nvPr>
                <p:ph idx="1"/>
              </p:nvPr>
            </p:nvSpPr>
            <p:spPr>
              <a:xfrm>
                <a:off x="0" y="1102658"/>
                <a:ext cx="12192000" cy="5755341"/>
              </a:xfrm>
            </p:spPr>
            <p:txBody>
              <a:bodyPr>
                <a:normAutofit/>
              </a:bodyPr>
              <a:lstStyle/>
              <a:p>
                <a:pPr marL="0" indent="0">
                  <a:buNone/>
                </a:pPr>
                <a:r>
                  <a:rPr lang="en-US" dirty="0"/>
                  <a:t>2. K-Fold Cross-Validation: The dataset is divided into </a:t>
                </a:r>
                <a14:m>
                  <m:oMath xmlns:m="http://schemas.openxmlformats.org/officeDocument/2006/math">
                    <m:r>
                      <a:rPr lang="en-US" i="1" dirty="0" smtClean="0">
                        <a:latin typeface="Cambria Math" panose="02040503050406030204" pitchFamily="18" charset="0"/>
                      </a:rPr>
                      <m:t>𝑘</m:t>
                    </m:r>
                  </m:oMath>
                </a14:m>
                <a:r>
                  <a:rPr lang="en-US" dirty="0"/>
                  <a:t> subsets (folds). </a:t>
                </a:r>
              </a:p>
              <a:p>
                <a:r>
                  <a:rPr lang="en-US" dirty="0"/>
                  <a:t>The model is trained on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−1</m:t>
                    </m:r>
                  </m:oMath>
                </a14:m>
                <a:r>
                  <a:rPr lang="en-US" dirty="0"/>
                  <a:t> folds and tested on the remaining fold. </a:t>
                </a:r>
              </a:p>
              <a:p>
                <a:r>
                  <a:rPr lang="en-US" dirty="0"/>
                  <a:t>This process repeats </a:t>
                </a:r>
                <a14:m>
                  <m:oMath xmlns:m="http://schemas.openxmlformats.org/officeDocument/2006/math">
                    <m:r>
                      <a:rPr lang="en-US" i="1" dirty="0" smtClean="0">
                        <a:latin typeface="Cambria Math" panose="02040503050406030204" pitchFamily="18" charset="0"/>
                      </a:rPr>
                      <m:t>𝑘</m:t>
                    </m:r>
                  </m:oMath>
                </a14:m>
                <a:r>
                  <a:rPr lang="en-US" dirty="0"/>
                  <a:t> times, with each fold used as the test set once. </a:t>
                </a:r>
              </a:p>
              <a:p>
                <a:r>
                  <a:rPr lang="en-US" dirty="0"/>
                  <a:t>The results are averaged to produce a final model performance.</a:t>
                </a:r>
              </a:p>
              <a:p>
                <a:r>
                  <a:rPr lang="en-US" dirty="0"/>
                  <a:t>Typical Values: Common choices for </a:t>
                </a:r>
                <a14:m>
                  <m:oMath xmlns:m="http://schemas.openxmlformats.org/officeDocument/2006/math">
                    <m:r>
                      <a:rPr lang="en-US" i="1" dirty="0" smtClean="0">
                        <a:latin typeface="Cambria Math" panose="02040503050406030204" pitchFamily="18" charset="0"/>
                      </a:rPr>
                      <m:t>𝑘</m:t>
                    </m:r>
                  </m:oMath>
                </a14:m>
                <a:r>
                  <a:rPr lang="en-US" dirty="0"/>
                  <a:t> are 5 and 10, but it depends on dataset size </a:t>
                </a:r>
              </a:p>
              <a:p>
                <a:r>
                  <a:rPr lang="en-US" dirty="0"/>
                  <a:t>Computationally expensive for large datasets</a:t>
                </a:r>
              </a:p>
              <a:p>
                <a:pPr marL="0" indent="0">
                  <a:buNone/>
                </a:pPr>
                <a:r>
                  <a:rPr lang="en-US" dirty="0"/>
                  <a:t>3. Stratified K-Fold Cross-Validation: Similar to K-Fold Cross-Validation, but it preserves the percentage of samples for each class in each fold. This is especially useful for imbalanced datasets.</a:t>
                </a:r>
              </a:p>
              <a:p>
                <a:r>
                  <a:rPr lang="en-US" dirty="0"/>
                  <a:t>Prevents over-representation or under-representation of majority/minority class</a:t>
                </a:r>
              </a:p>
            </p:txBody>
          </p:sp>
        </mc:Choice>
        <mc:Fallback xmlns="">
          <p:sp>
            <p:nvSpPr>
              <p:cNvPr id="3" name="Content Placeholder 2">
                <a:extLst>
                  <a:ext uri="{FF2B5EF4-FFF2-40B4-BE49-F238E27FC236}">
                    <a16:creationId xmlns:a16="http://schemas.microsoft.com/office/drawing/2014/main" id="{0FF58035-4C93-B695-04B5-EE4F419DAD41}"/>
                  </a:ext>
                </a:extLst>
              </p:cNvPr>
              <p:cNvSpPr>
                <a:spLocks noGrp="1" noRot="1" noChangeAspect="1" noMove="1" noResize="1" noEditPoints="1" noAdjustHandles="1" noChangeArrowheads="1" noChangeShapeType="1" noTextEdit="1"/>
              </p:cNvSpPr>
              <p:nvPr>
                <p:ph idx="1"/>
              </p:nvPr>
            </p:nvSpPr>
            <p:spPr>
              <a:xfrm>
                <a:off x="0" y="1102658"/>
                <a:ext cx="12192000" cy="5755341"/>
              </a:xfrm>
              <a:blipFill>
                <a:blip r:embed="rId2"/>
                <a:stretch>
                  <a:fillRect l="-1000" t="-1801"/>
                </a:stretch>
              </a:blipFill>
            </p:spPr>
            <p:txBody>
              <a:bodyPr/>
              <a:lstStyle/>
              <a:p>
                <a:r>
                  <a:rPr lang="en-US">
                    <a:noFill/>
                  </a:rPr>
                  <a:t> </a:t>
                </a:r>
              </a:p>
            </p:txBody>
          </p:sp>
        </mc:Fallback>
      </mc:AlternateContent>
    </p:spTree>
    <p:extLst>
      <p:ext uri="{BB962C8B-B14F-4D97-AF65-F5344CB8AC3E}">
        <p14:creationId xmlns:p14="http://schemas.microsoft.com/office/powerpoint/2010/main" val="2791844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7568-2F18-2304-E359-2A3BF68CA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59495-FDDC-60B8-60B3-ACC3E4C914AA}"/>
              </a:ext>
            </a:extLst>
          </p:cNvPr>
          <p:cNvSpPr>
            <a:spLocks noGrp="1"/>
          </p:cNvSpPr>
          <p:nvPr>
            <p:ph type="title"/>
          </p:nvPr>
        </p:nvSpPr>
        <p:spPr>
          <a:xfrm>
            <a:off x="717177" y="0"/>
            <a:ext cx="10515600" cy="1325563"/>
          </a:xfrm>
        </p:spPr>
        <p:txBody>
          <a:bodyPr/>
          <a:lstStyle/>
          <a:p>
            <a:r>
              <a:rPr lang="en-US" dirty="0"/>
              <a:t>Various Validation Techniques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540470-EC1F-CF45-DB69-4E133F7F3203}"/>
                  </a:ext>
                </a:extLst>
              </p:cNvPr>
              <p:cNvSpPr>
                <a:spLocks noGrp="1"/>
              </p:cNvSpPr>
              <p:nvPr>
                <p:ph idx="1"/>
              </p:nvPr>
            </p:nvSpPr>
            <p:spPr>
              <a:xfrm>
                <a:off x="0" y="1102658"/>
                <a:ext cx="12192000" cy="5755341"/>
              </a:xfrm>
            </p:spPr>
            <p:txBody>
              <a:bodyPr>
                <a:normAutofit/>
              </a:bodyPr>
              <a:lstStyle/>
              <a:p>
                <a:pPr marL="0" indent="0">
                  <a:buNone/>
                </a:pPr>
                <a:r>
                  <a:rPr lang="en-US" dirty="0"/>
                  <a:t>4. Leave-One-Out Cross-Validation (LOOCV): A special case of K-Fold Cross-Validation where </a:t>
                </a:r>
                <a14:m>
                  <m:oMath xmlns:m="http://schemas.openxmlformats.org/officeDocument/2006/math">
                    <m:r>
                      <a:rPr lang="en-US" i="1" dirty="0" smtClean="0">
                        <a:latin typeface="Cambria Math" panose="02040503050406030204" pitchFamily="18" charset="0"/>
                      </a:rPr>
                      <m:t>𝑘</m:t>
                    </m:r>
                  </m:oMath>
                </a14:m>
                <a:r>
                  <a:rPr lang="en-US" dirty="0"/>
                  <a:t> equals the number of data points in the dataset. </a:t>
                </a:r>
              </a:p>
              <a:p>
                <a:r>
                  <a:rPr lang="en-US" dirty="0"/>
                  <a:t>Each data point is used as a single test case, with the remaining points as the training set.</a:t>
                </a:r>
              </a:p>
              <a:p>
                <a:r>
                  <a:rPr lang="en-US" dirty="0"/>
                  <a:t>Extremely computationally expensive, especially for large datasets</a:t>
                </a:r>
              </a:p>
              <a:p>
                <a:pPr marL="0" indent="0">
                  <a:buNone/>
                </a:pPr>
                <a:r>
                  <a:rPr lang="en-US" dirty="0"/>
                  <a:t>5. Shuffle Split/ Repeated Random train-test splits/Monte Carlo Cross-Validation: Data is randomly split into training and test sets multiple times, and each split is used to train and evaluate the model. The results are averaged to get a final performance metrics.</a:t>
                </a:r>
              </a:p>
              <a:p>
                <a:r>
                  <a:rPr lang="en-US" dirty="0"/>
                  <a:t>Hybrid of traditional train-test splitting and the k-fold cross-validation method. In this technique, we create random splits of the data in the training-test set manner and then repeat the process of splitting and evaluating the algorithm multiple times, just like the cross-validation method</a:t>
                </a:r>
              </a:p>
            </p:txBody>
          </p:sp>
        </mc:Choice>
        <mc:Fallback xmlns="">
          <p:sp>
            <p:nvSpPr>
              <p:cNvPr id="3" name="Content Placeholder 2">
                <a:extLst>
                  <a:ext uri="{FF2B5EF4-FFF2-40B4-BE49-F238E27FC236}">
                    <a16:creationId xmlns:a16="http://schemas.microsoft.com/office/drawing/2014/main" id="{99540470-EC1F-CF45-DB69-4E133F7F3203}"/>
                  </a:ext>
                </a:extLst>
              </p:cNvPr>
              <p:cNvSpPr>
                <a:spLocks noGrp="1" noRot="1" noChangeAspect="1" noMove="1" noResize="1" noEditPoints="1" noAdjustHandles="1" noChangeArrowheads="1" noChangeShapeType="1" noTextEdit="1"/>
              </p:cNvSpPr>
              <p:nvPr>
                <p:ph idx="1"/>
              </p:nvPr>
            </p:nvSpPr>
            <p:spPr>
              <a:xfrm>
                <a:off x="0" y="1102658"/>
                <a:ext cx="12192000" cy="5755341"/>
              </a:xfrm>
              <a:blipFill>
                <a:blip r:embed="rId2"/>
                <a:stretch>
                  <a:fillRect l="-1000" t="-1801" r="-800" b="-212"/>
                </a:stretch>
              </a:blipFill>
            </p:spPr>
            <p:txBody>
              <a:bodyPr/>
              <a:lstStyle/>
              <a:p>
                <a:r>
                  <a:rPr lang="en-US">
                    <a:noFill/>
                  </a:rPr>
                  <a:t> </a:t>
                </a:r>
              </a:p>
            </p:txBody>
          </p:sp>
        </mc:Fallback>
      </mc:AlternateContent>
    </p:spTree>
    <p:extLst>
      <p:ext uri="{BB962C8B-B14F-4D97-AF65-F5344CB8AC3E}">
        <p14:creationId xmlns:p14="http://schemas.microsoft.com/office/powerpoint/2010/main" val="2134045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7568-2F18-2304-E359-2A3BF68CA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59495-FDDC-60B8-60B3-ACC3E4C914AA}"/>
              </a:ext>
            </a:extLst>
          </p:cNvPr>
          <p:cNvSpPr>
            <a:spLocks noGrp="1"/>
          </p:cNvSpPr>
          <p:nvPr>
            <p:ph type="title"/>
          </p:nvPr>
        </p:nvSpPr>
        <p:spPr>
          <a:xfrm>
            <a:off x="717177" y="0"/>
            <a:ext cx="10515600" cy="1325563"/>
          </a:xfrm>
        </p:spPr>
        <p:txBody>
          <a:bodyPr/>
          <a:lstStyle/>
          <a:p>
            <a:r>
              <a:rPr lang="en-US" dirty="0"/>
              <a:t>Introduction to Imbalanced Datasets</a:t>
            </a:r>
          </a:p>
        </p:txBody>
      </p:sp>
      <p:sp>
        <p:nvSpPr>
          <p:cNvPr id="3" name="Content Placeholder 2">
            <a:extLst>
              <a:ext uri="{FF2B5EF4-FFF2-40B4-BE49-F238E27FC236}">
                <a16:creationId xmlns:a16="http://schemas.microsoft.com/office/drawing/2014/main" id="{99540470-EC1F-CF45-DB69-4E133F7F3203}"/>
              </a:ext>
            </a:extLst>
          </p:cNvPr>
          <p:cNvSpPr>
            <a:spLocks noGrp="1"/>
          </p:cNvSpPr>
          <p:nvPr>
            <p:ph idx="1"/>
          </p:nvPr>
        </p:nvSpPr>
        <p:spPr>
          <a:xfrm>
            <a:off x="0" y="1102658"/>
            <a:ext cx="12192000" cy="5755341"/>
          </a:xfrm>
        </p:spPr>
        <p:txBody>
          <a:bodyPr>
            <a:normAutofit/>
          </a:bodyPr>
          <a:lstStyle/>
          <a:p>
            <a:r>
              <a:rPr lang="en-US" dirty="0"/>
              <a:t>Definition: An imbalanced dataset occurs when one class significantly outnumbers the other(s) in a classification task.</a:t>
            </a:r>
          </a:p>
          <a:p>
            <a:r>
              <a:rPr lang="en-US" dirty="0"/>
              <a:t>Example: Fraud detection, where fraudulent transactions are far fewer than legitimate ones.</a:t>
            </a:r>
          </a:p>
          <a:p>
            <a:r>
              <a:rPr lang="en-US" dirty="0"/>
              <a:t>Why It's a Problem: Imbalance can lead to biased models that perform poorly on the minority class, often the class of primary interest.</a:t>
            </a:r>
          </a:p>
          <a:p>
            <a:r>
              <a:rPr lang="en-US" dirty="0"/>
              <a:t>The majority class is the class with the highest number of samples</a:t>
            </a:r>
          </a:p>
          <a:p>
            <a:r>
              <a:rPr lang="en-US" dirty="0"/>
              <a:t>The minority class is the class with the lowest number of samples</a:t>
            </a:r>
          </a:p>
          <a:p>
            <a:r>
              <a:rPr lang="en-US" dirty="0"/>
              <a:t>Models tend to focus on the majority class.</a:t>
            </a:r>
          </a:p>
          <a:p>
            <a:r>
              <a:rPr lang="en-US" dirty="0"/>
              <a:t>Metrics like accuracy can be misleading (e.g., 90% accuracy could mean just predicting the majority class).</a:t>
            </a:r>
          </a:p>
        </p:txBody>
      </p:sp>
    </p:spTree>
    <p:extLst>
      <p:ext uri="{BB962C8B-B14F-4D97-AF65-F5344CB8AC3E}">
        <p14:creationId xmlns:p14="http://schemas.microsoft.com/office/powerpoint/2010/main" val="822450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7568-2F18-2304-E359-2A3BF68CA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59495-FDDC-60B8-60B3-ACC3E4C914AA}"/>
              </a:ext>
            </a:extLst>
          </p:cNvPr>
          <p:cNvSpPr>
            <a:spLocks noGrp="1"/>
          </p:cNvSpPr>
          <p:nvPr>
            <p:ph type="title"/>
          </p:nvPr>
        </p:nvSpPr>
        <p:spPr>
          <a:xfrm>
            <a:off x="717177" y="0"/>
            <a:ext cx="10515600" cy="1325563"/>
          </a:xfrm>
        </p:spPr>
        <p:txBody>
          <a:bodyPr/>
          <a:lstStyle/>
          <a:p>
            <a:r>
              <a:rPr lang="en-US" dirty="0"/>
              <a:t>Tackle Imbalanced Datasets</a:t>
            </a:r>
          </a:p>
        </p:txBody>
      </p:sp>
      <p:sp>
        <p:nvSpPr>
          <p:cNvPr id="3" name="Content Placeholder 2">
            <a:extLst>
              <a:ext uri="{FF2B5EF4-FFF2-40B4-BE49-F238E27FC236}">
                <a16:creationId xmlns:a16="http://schemas.microsoft.com/office/drawing/2014/main" id="{99540470-EC1F-CF45-DB69-4E133F7F3203}"/>
              </a:ext>
            </a:extLst>
          </p:cNvPr>
          <p:cNvSpPr>
            <a:spLocks noGrp="1"/>
          </p:cNvSpPr>
          <p:nvPr>
            <p:ph idx="1"/>
          </p:nvPr>
        </p:nvSpPr>
        <p:spPr>
          <a:xfrm>
            <a:off x="0" y="1102658"/>
            <a:ext cx="12192000" cy="5755341"/>
          </a:xfrm>
        </p:spPr>
        <p:txBody>
          <a:bodyPr>
            <a:normAutofit/>
          </a:bodyPr>
          <a:lstStyle/>
          <a:p>
            <a:pPr marL="0" indent="0">
              <a:buNone/>
            </a:pPr>
            <a:r>
              <a:rPr lang="en-US" dirty="0"/>
              <a:t>1. Random Under-Sampling: Arguably the most common sampling approach, the Random Under-Sampler performs a </a:t>
            </a:r>
            <a:r>
              <a:rPr lang="en-US" dirty="0" err="1"/>
              <a:t>downsampling</a:t>
            </a:r>
            <a:r>
              <a:rPr lang="en-US" dirty="0"/>
              <a:t> of the larger/majority classes in the simplest way possible – </a:t>
            </a:r>
            <a:r>
              <a:rPr lang="en-US" dirty="0">
                <a:solidFill>
                  <a:srgbClr val="FF0000"/>
                </a:solidFill>
              </a:rPr>
              <a:t>randomly removes available instances from majority class</a:t>
            </a:r>
            <a:r>
              <a:rPr lang="en-US" dirty="0"/>
              <a:t>. </a:t>
            </a:r>
          </a:p>
          <a:p>
            <a:pPr marL="0" indent="0">
              <a:buNone/>
            </a:pPr>
            <a:r>
              <a:rPr lang="en-US" dirty="0"/>
              <a:t>2. Over-Sampling: An alternative to RU, the Random Over-Sampler algorithm follows a similar technique in the opposite direction – as opposed to </a:t>
            </a:r>
            <a:r>
              <a:rPr lang="en-US" dirty="0" err="1"/>
              <a:t>downsampling</a:t>
            </a:r>
            <a:r>
              <a:rPr lang="en-US" dirty="0"/>
              <a:t> larger classes, smaller/minority classes are oversampled until the class sizes are balanced. With oversampling, instances appear multiple times.</a:t>
            </a:r>
          </a:p>
          <a:p>
            <a:pPr marL="0" indent="0">
              <a:buNone/>
            </a:pPr>
            <a:endParaRPr lang="en-US" dirty="0"/>
          </a:p>
        </p:txBody>
      </p:sp>
      <p:pic>
        <p:nvPicPr>
          <p:cNvPr id="5" name="Picture 4">
            <a:extLst>
              <a:ext uri="{FF2B5EF4-FFF2-40B4-BE49-F238E27FC236}">
                <a16:creationId xmlns:a16="http://schemas.microsoft.com/office/drawing/2014/main" id="{6DB9A8F1-BDC1-4523-9773-C3C1E2D79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8069" y="4935071"/>
            <a:ext cx="6905625" cy="1922928"/>
          </a:xfrm>
          <a:prstGeom prst="rect">
            <a:avLst/>
          </a:prstGeom>
        </p:spPr>
      </p:pic>
    </p:spTree>
    <p:extLst>
      <p:ext uri="{BB962C8B-B14F-4D97-AF65-F5344CB8AC3E}">
        <p14:creationId xmlns:p14="http://schemas.microsoft.com/office/powerpoint/2010/main" val="4040533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7568-2F18-2304-E359-2A3BF68CA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59495-FDDC-60B8-60B3-ACC3E4C914AA}"/>
              </a:ext>
            </a:extLst>
          </p:cNvPr>
          <p:cNvSpPr>
            <a:spLocks noGrp="1"/>
          </p:cNvSpPr>
          <p:nvPr>
            <p:ph type="title"/>
          </p:nvPr>
        </p:nvSpPr>
        <p:spPr>
          <a:xfrm>
            <a:off x="717177" y="0"/>
            <a:ext cx="10515600" cy="1325563"/>
          </a:xfrm>
        </p:spPr>
        <p:txBody>
          <a:bodyPr/>
          <a:lstStyle/>
          <a:p>
            <a:r>
              <a:rPr lang="en-US" dirty="0"/>
              <a:t>Tackle Imbalanced Datasets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9540470-EC1F-CF45-DB69-4E133F7F3203}"/>
                  </a:ext>
                </a:extLst>
              </p:cNvPr>
              <p:cNvSpPr>
                <a:spLocks noGrp="1"/>
              </p:cNvSpPr>
              <p:nvPr>
                <p:ph idx="1"/>
              </p:nvPr>
            </p:nvSpPr>
            <p:spPr>
              <a:xfrm>
                <a:off x="0" y="1102658"/>
                <a:ext cx="12192000" cy="5755341"/>
              </a:xfrm>
            </p:spPr>
            <p:txBody>
              <a:bodyPr>
                <a:normAutofit/>
              </a:bodyPr>
              <a:lstStyle/>
              <a:p>
                <a:pPr marL="0" indent="0">
                  <a:buNone/>
                </a:pPr>
                <a:r>
                  <a:rPr lang="en-US" dirty="0"/>
                  <a:t>3. Synthetic Minority Oversampling Technique (SMOTE)</a:t>
                </a:r>
              </a:p>
              <a:p>
                <a:pPr marL="0" indent="0">
                  <a:buNone/>
                </a:pPr>
                <a:r>
                  <a:rPr lang="en-US" dirty="0"/>
                  <a:t>The main idea behind SMOTE is that generated instances should be constructed from available observations, but should not be identical/repeated. </a:t>
                </a:r>
                <a:r>
                  <a:rPr lang="en-US" dirty="0">
                    <a:solidFill>
                      <a:srgbClr val="FF0000"/>
                    </a:solidFill>
                  </a:rPr>
                  <a:t>SMOTE generates new synthetic instances of a minority class</a:t>
                </a:r>
                <a:r>
                  <a:rPr lang="en-US" dirty="0"/>
                  <a:t>. </a:t>
                </a:r>
              </a:p>
              <a:p>
                <a:pPr marL="0" indent="0">
                  <a:buNone/>
                </a:pPr>
                <a:r>
                  <a:rPr lang="en-US" dirty="0"/>
                  <a:t>SMOTE works by selecting examples that are close in the feature space, drawing a line between the examples in the feature space and drawing a new sample at a point along that line.</a:t>
                </a:r>
              </a:p>
              <a:p>
                <a:pPr marL="0" indent="0">
                  <a:buNone/>
                </a:pPr>
                <a:r>
                  <a:rPr lang="en-US" dirty="0"/>
                  <a:t>Specifically, a random example from the minority class is first chosen. Then </a:t>
                </a:r>
                <a14:m>
                  <m:oMath xmlns:m="http://schemas.openxmlformats.org/officeDocument/2006/math">
                    <m:r>
                      <a:rPr lang="en-US" i="1" dirty="0" smtClean="0">
                        <a:latin typeface="Cambria Math" panose="02040503050406030204" pitchFamily="18" charset="0"/>
                      </a:rPr>
                      <m:t>𝑘</m:t>
                    </m:r>
                  </m:oMath>
                </a14:m>
                <a:r>
                  <a:rPr lang="en-US" dirty="0"/>
                  <a:t> of the nearest neighbors for that example are found (typically </a:t>
                </a:r>
                <a14:m>
                  <m:oMath xmlns:m="http://schemas.openxmlformats.org/officeDocument/2006/math">
                    <m:r>
                      <a:rPr lang="en-US" i="1" dirty="0" smtClean="0">
                        <a:latin typeface="Cambria Math" panose="02040503050406030204" pitchFamily="18" charset="0"/>
                      </a:rPr>
                      <m:t>𝑘</m:t>
                    </m:r>
                  </m:oMath>
                </a14:m>
                <a:r>
                  <a:rPr lang="en-US" dirty="0"/>
                  <a:t>=5). A randomly selected neighbor is chosen and a synthetic example is created at a randomly selected point between the two examples in feature space.</a:t>
                </a:r>
              </a:p>
            </p:txBody>
          </p:sp>
        </mc:Choice>
        <mc:Fallback>
          <p:sp>
            <p:nvSpPr>
              <p:cNvPr id="3" name="Content Placeholder 2">
                <a:extLst>
                  <a:ext uri="{FF2B5EF4-FFF2-40B4-BE49-F238E27FC236}">
                    <a16:creationId xmlns:a16="http://schemas.microsoft.com/office/drawing/2014/main" id="{99540470-EC1F-CF45-DB69-4E133F7F3203}"/>
                  </a:ext>
                </a:extLst>
              </p:cNvPr>
              <p:cNvSpPr>
                <a:spLocks noGrp="1" noRot="1" noChangeAspect="1" noMove="1" noResize="1" noEditPoints="1" noAdjustHandles="1" noChangeArrowheads="1" noChangeShapeType="1" noTextEdit="1"/>
              </p:cNvSpPr>
              <p:nvPr>
                <p:ph idx="1"/>
              </p:nvPr>
            </p:nvSpPr>
            <p:spPr>
              <a:xfrm>
                <a:off x="0" y="1102658"/>
                <a:ext cx="12192000" cy="5755341"/>
              </a:xfrm>
              <a:blipFill>
                <a:blip r:embed="rId2"/>
                <a:stretch>
                  <a:fillRect l="-1000" t="-1801" r="-1600"/>
                </a:stretch>
              </a:blipFill>
            </p:spPr>
            <p:txBody>
              <a:bodyPr/>
              <a:lstStyle/>
              <a:p>
                <a:r>
                  <a:rPr lang="en-US">
                    <a:noFill/>
                  </a:rPr>
                  <a:t> </a:t>
                </a:r>
              </a:p>
            </p:txBody>
          </p:sp>
        </mc:Fallback>
      </mc:AlternateContent>
    </p:spTree>
    <p:extLst>
      <p:ext uri="{BB962C8B-B14F-4D97-AF65-F5344CB8AC3E}">
        <p14:creationId xmlns:p14="http://schemas.microsoft.com/office/powerpoint/2010/main" val="321047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7568-2F18-2304-E359-2A3BF68CA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59495-FDDC-60B8-60B3-ACC3E4C914AA}"/>
              </a:ext>
            </a:extLst>
          </p:cNvPr>
          <p:cNvSpPr>
            <a:spLocks noGrp="1"/>
          </p:cNvSpPr>
          <p:nvPr>
            <p:ph type="title"/>
          </p:nvPr>
        </p:nvSpPr>
        <p:spPr>
          <a:xfrm>
            <a:off x="717177" y="0"/>
            <a:ext cx="10515600" cy="1325563"/>
          </a:xfrm>
        </p:spPr>
        <p:txBody>
          <a:bodyPr/>
          <a:lstStyle/>
          <a:p>
            <a:r>
              <a:rPr lang="en-US" dirty="0"/>
              <a:t>Tackle Imbalanced Datasets</a:t>
            </a:r>
          </a:p>
        </p:txBody>
      </p:sp>
      <p:sp>
        <p:nvSpPr>
          <p:cNvPr id="3" name="Content Placeholder 2">
            <a:extLst>
              <a:ext uri="{FF2B5EF4-FFF2-40B4-BE49-F238E27FC236}">
                <a16:creationId xmlns:a16="http://schemas.microsoft.com/office/drawing/2014/main" id="{99540470-EC1F-CF45-DB69-4E133F7F3203}"/>
              </a:ext>
            </a:extLst>
          </p:cNvPr>
          <p:cNvSpPr>
            <a:spLocks noGrp="1"/>
          </p:cNvSpPr>
          <p:nvPr>
            <p:ph idx="1"/>
          </p:nvPr>
        </p:nvSpPr>
        <p:spPr>
          <a:xfrm>
            <a:off x="0" y="1102658"/>
            <a:ext cx="12192000" cy="5755341"/>
          </a:xfrm>
        </p:spPr>
        <p:txBody>
          <a:bodyPr>
            <a:normAutofit/>
          </a:bodyPr>
          <a:lstStyle/>
          <a:p>
            <a:pPr marL="0" indent="0">
              <a:buNone/>
            </a:pPr>
            <a:r>
              <a:rPr lang="en-US" dirty="0"/>
              <a:t>Python libraries (imbalanced-learn).</a:t>
            </a:r>
          </a:p>
          <a:p>
            <a:pPr marL="0" indent="0">
              <a:buNone/>
            </a:pPr>
            <a:r>
              <a:rPr lang="en-US" dirty="0"/>
              <a:t>from </a:t>
            </a:r>
            <a:r>
              <a:rPr lang="en-US" dirty="0" err="1"/>
              <a:t>imblearn.over_sampling</a:t>
            </a:r>
            <a:r>
              <a:rPr lang="en-US" dirty="0"/>
              <a:t> import SMOTE</a:t>
            </a:r>
          </a:p>
          <a:p>
            <a:pPr marL="0" indent="0">
              <a:buNone/>
            </a:pPr>
            <a:r>
              <a:rPr lang="en-US" dirty="0"/>
              <a:t># Resampling the minority class. The strategy can be changed as required.</a:t>
            </a:r>
          </a:p>
          <a:p>
            <a:pPr marL="0" indent="0">
              <a:buNone/>
            </a:pPr>
            <a:r>
              <a:rPr lang="en-US" dirty="0" err="1"/>
              <a:t>sm</a:t>
            </a:r>
            <a:r>
              <a:rPr lang="en-US" dirty="0"/>
              <a:t> = SMOTE(</a:t>
            </a:r>
            <a:r>
              <a:rPr lang="en-US" dirty="0" err="1"/>
              <a:t>k_neighbors</a:t>
            </a:r>
            <a:r>
              <a:rPr lang="en-US" dirty="0"/>
              <a:t> = 5, </a:t>
            </a:r>
            <a:r>
              <a:rPr lang="en-US" dirty="0" err="1"/>
              <a:t>sampling_strategy</a:t>
            </a:r>
            <a:r>
              <a:rPr lang="en-US" dirty="0"/>
              <a:t>='minority’)</a:t>
            </a:r>
          </a:p>
          <a:p>
            <a:pPr marL="0" indent="0">
              <a:buNone/>
            </a:pPr>
            <a:r>
              <a:rPr lang="fr-FR" dirty="0"/>
              <a:t>X_train1, y_train1 = </a:t>
            </a:r>
            <a:r>
              <a:rPr lang="fr-FR" dirty="0" err="1"/>
              <a:t>smote.fit_resample</a:t>
            </a:r>
            <a:r>
              <a:rPr lang="fr-FR" dirty="0"/>
              <a:t>(</a:t>
            </a:r>
            <a:r>
              <a:rPr lang="fr-FR" dirty="0" err="1"/>
              <a:t>X_train</a:t>
            </a:r>
            <a:r>
              <a:rPr lang="fr-FR" dirty="0"/>
              <a:t>, </a:t>
            </a:r>
            <a:r>
              <a:rPr lang="fr-FR" dirty="0" err="1"/>
              <a:t>y_train</a:t>
            </a:r>
            <a:r>
              <a:rPr lang="fr-FR" dirty="0"/>
              <a:t>)</a:t>
            </a:r>
            <a:endParaRPr lang="en-US" dirty="0"/>
          </a:p>
          <a:p>
            <a:pPr marL="0" indent="0">
              <a:buNone/>
            </a:pPr>
            <a:r>
              <a:rPr lang="fr-FR" dirty="0"/>
              <a:t>model=</a:t>
            </a:r>
            <a:r>
              <a:rPr lang="fr-FR" dirty="0" err="1"/>
              <a:t>RandomForestClassifier</a:t>
            </a:r>
            <a:r>
              <a:rPr lang="fr-FR" dirty="0"/>
              <a:t>()</a:t>
            </a:r>
          </a:p>
          <a:p>
            <a:pPr marL="0" indent="0">
              <a:buNone/>
            </a:pPr>
            <a:r>
              <a:rPr lang="fr-FR" dirty="0" err="1"/>
              <a:t>model.fit</a:t>
            </a:r>
            <a:r>
              <a:rPr lang="fr-FR" dirty="0"/>
              <a:t>(X_train1, y_train1)</a:t>
            </a:r>
            <a:endParaRPr lang="en-US" dirty="0"/>
          </a:p>
        </p:txBody>
      </p:sp>
      <p:pic>
        <p:nvPicPr>
          <p:cNvPr id="5" name="Picture 4">
            <a:extLst>
              <a:ext uri="{FF2B5EF4-FFF2-40B4-BE49-F238E27FC236}">
                <a16:creationId xmlns:a16="http://schemas.microsoft.com/office/drawing/2014/main" id="{6DB9A8F1-BDC1-4523-9773-C3C1E2D79E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05918" y="3626370"/>
            <a:ext cx="5064826" cy="3090437"/>
          </a:xfrm>
          <a:prstGeom prst="rect">
            <a:avLst/>
          </a:prstGeom>
        </p:spPr>
      </p:pic>
    </p:spTree>
    <p:extLst>
      <p:ext uri="{BB962C8B-B14F-4D97-AF65-F5344CB8AC3E}">
        <p14:creationId xmlns:p14="http://schemas.microsoft.com/office/powerpoint/2010/main" val="2029321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7568-2F18-2304-E359-2A3BF68CA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59495-FDDC-60B8-60B3-ACC3E4C914AA}"/>
              </a:ext>
            </a:extLst>
          </p:cNvPr>
          <p:cNvSpPr>
            <a:spLocks noGrp="1"/>
          </p:cNvSpPr>
          <p:nvPr>
            <p:ph type="title"/>
          </p:nvPr>
        </p:nvSpPr>
        <p:spPr>
          <a:xfrm>
            <a:off x="717177" y="0"/>
            <a:ext cx="10515600" cy="1325563"/>
          </a:xfrm>
        </p:spPr>
        <p:txBody>
          <a:bodyPr/>
          <a:lstStyle/>
          <a:p>
            <a:r>
              <a:rPr lang="en-US" dirty="0"/>
              <a:t>Tackle Imbalanced Datasets</a:t>
            </a:r>
          </a:p>
        </p:txBody>
      </p:sp>
      <p:sp>
        <p:nvSpPr>
          <p:cNvPr id="3" name="Content Placeholder 2">
            <a:extLst>
              <a:ext uri="{FF2B5EF4-FFF2-40B4-BE49-F238E27FC236}">
                <a16:creationId xmlns:a16="http://schemas.microsoft.com/office/drawing/2014/main" id="{99540470-EC1F-CF45-DB69-4E133F7F3203}"/>
              </a:ext>
            </a:extLst>
          </p:cNvPr>
          <p:cNvSpPr>
            <a:spLocks noGrp="1"/>
          </p:cNvSpPr>
          <p:nvPr>
            <p:ph idx="1"/>
          </p:nvPr>
        </p:nvSpPr>
        <p:spPr>
          <a:xfrm>
            <a:off x="0" y="1102658"/>
            <a:ext cx="12192000" cy="5755341"/>
          </a:xfrm>
        </p:spPr>
        <p:txBody>
          <a:bodyPr>
            <a:normAutofit/>
          </a:bodyPr>
          <a:lstStyle/>
          <a:p>
            <a:pPr marL="0" indent="0">
              <a:buNone/>
            </a:pPr>
            <a:r>
              <a:rPr lang="en-US" dirty="0"/>
              <a:t>4. </a:t>
            </a:r>
            <a:r>
              <a:rPr lang="en-US" dirty="0" err="1"/>
              <a:t>BorderlineSMOTE</a:t>
            </a:r>
            <a:r>
              <a:rPr lang="en-US" dirty="0"/>
              <a:t>: </a:t>
            </a:r>
            <a:r>
              <a:rPr lang="en-US" dirty="0" err="1"/>
              <a:t>BorderlineSMOTE</a:t>
            </a:r>
            <a:r>
              <a:rPr lang="en-US" dirty="0"/>
              <a:t> is a variant of the SMOTE algorithm which makes the following assumption: “Instances closest to a decision boundary are more relevant.“</a:t>
            </a:r>
          </a:p>
          <a:p>
            <a:pPr marL="0" indent="0">
              <a:buNone/>
            </a:pPr>
            <a:r>
              <a:rPr lang="en-US" dirty="0"/>
              <a:t>5. Adaptive Synthetic Sampling (ADASYN): Instead of focusing around a borderline decision region, ADASYN considers data density as the determining factor in identifying samples which are relevant to oversample. More synthetic data is generated where density of minority examples is low (and vice-versa).</a:t>
            </a:r>
          </a:p>
          <a:p>
            <a:pPr marL="0" indent="0">
              <a:buNone/>
            </a:pPr>
            <a:r>
              <a:rPr lang="en-US" dirty="0"/>
              <a:t>6. Choose Proper Evaluation Metric: The accuracy of a classifier is the total number of correct predictions divided by the total number of predictions. This may be good enough for a well-balanced class but not ideal for an imbalanced class problem. Other metrics, such as precision measure how accurate the classifier’s prediction of a specific class, and recall measures the classifier’s ability to identify a class.</a:t>
            </a:r>
          </a:p>
          <a:p>
            <a:pPr marL="0" indent="0">
              <a:buNone/>
            </a:pPr>
            <a:r>
              <a:rPr lang="en-US" dirty="0"/>
              <a:t>For an imbalanced class dataset, the F1 score is a more appropriate metric</a:t>
            </a:r>
          </a:p>
          <a:p>
            <a:pPr marL="0" indent="0">
              <a:buNone/>
            </a:pPr>
            <a:endParaRPr lang="en-US" dirty="0"/>
          </a:p>
        </p:txBody>
      </p:sp>
    </p:spTree>
    <p:extLst>
      <p:ext uri="{BB962C8B-B14F-4D97-AF65-F5344CB8AC3E}">
        <p14:creationId xmlns:p14="http://schemas.microsoft.com/office/powerpoint/2010/main" val="392427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1443</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 Math</vt:lpstr>
      <vt:lpstr>Office Theme</vt:lpstr>
      <vt:lpstr>Explainable AI LIME Validation Technique Imbalanced Dataset</vt:lpstr>
      <vt:lpstr>Explainable AI (XAI)</vt:lpstr>
      <vt:lpstr>Explainable AI (XAI)</vt:lpstr>
      <vt:lpstr>LIME XAI</vt:lpstr>
      <vt:lpstr>LIME XAI</vt:lpstr>
      <vt:lpstr>LIME XAI</vt:lpstr>
      <vt:lpstr>Validation Technique</vt:lpstr>
      <vt:lpstr>Various Validation Techniques</vt:lpstr>
      <vt:lpstr>Various Validation Techniques</vt:lpstr>
      <vt:lpstr>Introduction to Imbalanced Datasets</vt:lpstr>
      <vt:lpstr>Tackle Imbalanced Datasets</vt:lpstr>
      <vt:lpstr>Tackle Imbalanced Datasets</vt:lpstr>
      <vt:lpstr>Tackle Imbalanced Datasets</vt:lpstr>
      <vt:lpstr>Tackle Imbalanced Datasets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 LIME</dc:title>
  <dc:creator>Riasat Khan</dc:creator>
  <cp:lastModifiedBy>Riasat Khan</cp:lastModifiedBy>
  <cp:revision>4</cp:revision>
  <dcterms:created xsi:type="dcterms:W3CDTF">2023-05-22T01:50:58Z</dcterms:created>
  <dcterms:modified xsi:type="dcterms:W3CDTF">2024-11-11T05:17:45Z</dcterms:modified>
</cp:coreProperties>
</file>