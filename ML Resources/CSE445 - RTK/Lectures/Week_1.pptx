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3"/>
  </p:notesMasterIdLst>
  <p:sldIdLst>
    <p:sldId id="271" r:id="rId2"/>
    <p:sldId id="272" r:id="rId3"/>
    <p:sldId id="273" r:id="rId4"/>
    <p:sldId id="297" r:id="rId5"/>
    <p:sldId id="275" r:id="rId6"/>
    <p:sldId id="274" r:id="rId7"/>
    <p:sldId id="276" r:id="rId8"/>
    <p:sldId id="277" r:id="rId9"/>
    <p:sldId id="279" r:id="rId10"/>
    <p:sldId id="278" r:id="rId11"/>
    <p:sldId id="262" r:id="rId12"/>
    <p:sldId id="280" r:id="rId13"/>
    <p:sldId id="281" r:id="rId14"/>
    <p:sldId id="282" r:id="rId15"/>
    <p:sldId id="283" r:id="rId16"/>
    <p:sldId id="284" r:id="rId17"/>
    <p:sldId id="286" r:id="rId18"/>
    <p:sldId id="287" r:id="rId19"/>
    <p:sldId id="296" r:id="rId20"/>
    <p:sldId id="674" r:id="rId21"/>
    <p:sldId id="677" r:id="rId22"/>
    <p:sldId id="675" r:id="rId23"/>
    <p:sldId id="676" r:id="rId24"/>
    <p:sldId id="289" r:id="rId25"/>
    <p:sldId id="290" r:id="rId26"/>
    <p:sldId id="298" r:id="rId27"/>
    <p:sldId id="291" r:id="rId28"/>
    <p:sldId id="292" r:id="rId29"/>
    <p:sldId id="293" r:id="rId30"/>
    <p:sldId id="294" r:id="rId31"/>
    <p:sldId id="295"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EA5140-1BED-4CEE-8B9F-545AEAE7049A}" v="82" dt="2025-01-25T13:09:33.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62"/>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03EA5140-1BED-4CEE-8B9F-545AEAE7049A}"/>
    <pc:docChg chg="undo custSel addSld delSld modSld sldOrd">
      <pc:chgData name="Riasat Khan" userId="826ac62dfbb52e43" providerId="LiveId" clId="{03EA5140-1BED-4CEE-8B9F-545AEAE7049A}" dt="2025-01-25T13:10:15.374" v="382" actId="20577"/>
      <pc:docMkLst>
        <pc:docMk/>
      </pc:docMkLst>
      <pc:sldChg chg="modSp mod">
        <pc:chgData name="Riasat Khan" userId="826ac62dfbb52e43" providerId="LiveId" clId="{03EA5140-1BED-4CEE-8B9F-545AEAE7049A}" dt="2024-07-14T01:16:06.016" v="113"/>
        <pc:sldMkLst>
          <pc:docMk/>
          <pc:sldMk cId="0" sldId="273"/>
        </pc:sldMkLst>
      </pc:sldChg>
      <pc:sldChg chg="addSp modSp mod">
        <pc:chgData name="Riasat Khan" userId="826ac62dfbb52e43" providerId="LiveId" clId="{03EA5140-1BED-4CEE-8B9F-545AEAE7049A}" dt="2024-02-10T13:10:31.598" v="23" actId="20577"/>
        <pc:sldMkLst>
          <pc:docMk/>
          <pc:sldMk cId="0" sldId="278"/>
        </pc:sldMkLst>
      </pc:sldChg>
      <pc:sldChg chg="modSp mod ord">
        <pc:chgData name="Riasat Khan" userId="826ac62dfbb52e43" providerId="LiveId" clId="{03EA5140-1BED-4CEE-8B9F-545AEAE7049A}" dt="2024-07-14T01:19:27.113" v="115"/>
        <pc:sldMkLst>
          <pc:docMk/>
          <pc:sldMk cId="0" sldId="279"/>
        </pc:sldMkLst>
      </pc:sldChg>
      <pc:sldChg chg="modSp mod">
        <pc:chgData name="Riasat Khan" userId="826ac62dfbb52e43" providerId="LiveId" clId="{03EA5140-1BED-4CEE-8B9F-545AEAE7049A}" dt="2025-01-25T13:03:01.674" v="329" actId="20577"/>
        <pc:sldMkLst>
          <pc:docMk/>
          <pc:sldMk cId="0" sldId="283"/>
        </pc:sldMkLst>
        <pc:spChg chg="mod">
          <ac:chgData name="Riasat Khan" userId="826ac62dfbb52e43" providerId="LiveId" clId="{03EA5140-1BED-4CEE-8B9F-545AEAE7049A}" dt="2025-01-25T13:03:01.674" v="329" actId="20577"/>
          <ac:spMkLst>
            <pc:docMk/>
            <pc:sldMk cId="0" sldId="283"/>
            <ac:spMk id="245" creationId="{00000000-0000-0000-0000-000000000000}"/>
          </ac:spMkLst>
        </pc:spChg>
      </pc:sldChg>
      <pc:sldChg chg="addSp modSp mod">
        <pc:chgData name="Riasat Khan" userId="826ac62dfbb52e43" providerId="LiveId" clId="{03EA5140-1BED-4CEE-8B9F-545AEAE7049A}" dt="2024-02-10T13:38:36.816" v="42" actId="1076"/>
        <pc:sldMkLst>
          <pc:docMk/>
          <pc:sldMk cId="0" sldId="289"/>
        </pc:sldMkLst>
      </pc:sldChg>
      <pc:sldChg chg="modSp mod">
        <pc:chgData name="Riasat Khan" userId="826ac62dfbb52e43" providerId="LiveId" clId="{03EA5140-1BED-4CEE-8B9F-545AEAE7049A}" dt="2024-07-14T01:21:49.076" v="116" actId="207"/>
        <pc:sldMkLst>
          <pc:docMk/>
          <pc:sldMk cId="0" sldId="296"/>
        </pc:sldMkLst>
      </pc:sldChg>
      <pc:sldChg chg="modSp mod">
        <pc:chgData name="Riasat Khan" userId="826ac62dfbb52e43" providerId="LiveId" clId="{03EA5140-1BED-4CEE-8B9F-545AEAE7049A}" dt="2024-02-10T13:39:29.634" v="43" actId="207"/>
        <pc:sldMkLst>
          <pc:docMk/>
          <pc:sldMk cId="0" sldId="298"/>
        </pc:sldMkLst>
      </pc:sldChg>
      <pc:sldChg chg="modSp modAnim">
        <pc:chgData name="Riasat Khan" userId="826ac62dfbb52e43" providerId="LiveId" clId="{03EA5140-1BED-4CEE-8B9F-545AEAE7049A}" dt="2025-01-25T13:08:21.287" v="375" actId="20577"/>
        <pc:sldMkLst>
          <pc:docMk/>
          <pc:sldMk cId="0" sldId="674"/>
        </pc:sldMkLst>
        <pc:spChg chg="mod">
          <ac:chgData name="Riasat Khan" userId="826ac62dfbb52e43" providerId="LiveId" clId="{03EA5140-1BED-4CEE-8B9F-545AEAE7049A}" dt="2025-01-25T13:08:21.287" v="375" actId="20577"/>
          <ac:spMkLst>
            <pc:docMk/>
            <pc:sldMk cId="0" sldId="674"/>
            <ac:spMk id="3" creationId="{00000000-0000-0000-0000-000000000000}"/>
          </ac:spMkLst>
        </pc:spChg>
      </pc:sldChg>
      <pc:sldChg chg="addSp modSp new mod">
        <pc:chgData name="Riasat Khan" userId="826ac62dfbb52e43" providerId="LiveId" clId="{03EA5140-1BED-4CEE-8B9F-545AEAE7049A}" dt="2025-01-25T13:10:15.374" v="382" actId="20577"/>
        <pc:sldMkLst>
          <pc:docMk/>
          <pc:sldMk cId="1418161354" sldId="675"/>
        </pc:sldMkLst>
        <pc:spChg chg="mod">
          <ac:chgData name="Riasat Khan" userId="826ac62dfbb52e43" providerId="LiveId" clId="{03EA5140-1BED-4CEE-8B9F-545AEAE7049A}" dt="2025-01-25T13:10:15.374" v="382" actId="20577"/>
          <ac:spMkLst>
            <pc:docMk/>
            <pc:sldMk cId="1418161354" sldId="675"/>
            <ac:spMk id="3" creationId="{A63F7443-52CF-224C-E3A1-0A3EFA71E129}"/>
          </ac:spMkLst>
        </pc:spChg>
      </pc:sldChg>
      <pc:sldChg chg="addSp delSp modSp add mod">
        <pc:chgData name="Riasat Khan" userId="826ac62dfbb52e43" providerId="LiveId" clId="{03EA5140-1BED-4CEE-8B9F-545AEAE7049A}" dt="2024-07-16T03:27:07.938" v="322" actId="1076"/>
        <pc:sldMkLst>
          <pc:docMk/>
          <pc:sldMk cId="3805208206" sldId="676"/>
        </pc:sldMkLst>
      </pc:sldChg>
      <pc:sldChg chg="new del">
        <pc:chgData name="Riasat Khan" userId="826ac62dfbb52e43" providerId="LiveId" clId="{03EA5140-1BED-4CEE-8B9F-545AEAE7049A}" dt="2025-01-25T13:04:02.432" v="331" actId="47"/>
        <pc:sldMkLst>
          <pc:docMk/>
          <pc:sldMk cId="610616954" sldId="677"/>
        </pc:sldMkLst>
      </pc:sldChg>
      <pc:sldChg chg="addSp delSp modSp add mod delAnim modAnim">
        <pc:chgData name="Riasat Khan" userId="826ac62dfbb52e43" providerId="LiveId" clId="{03EA5140-1BED-4CEE-8B9F-545AEAE7049A}" dt="2025-01-25T13:09:33.357" v="380" actId="20577"/>
        <pc:sldMkLst>
          <pc:docMk/>
          <pc:sldMk cId="1625306433" sldId="677"/>
        </pc:sldMkLst>
        <pc:spChg chg="mod">
          <ac:chgData name="Riasat Khan" userId="826ac62dfbb52e43" providerId="LiveId" clId="{03EA5140-1BED-4CEE-8B9F-545AEAE7049A}" dt="2025-01-25T13:09:33.357" v="380" actId="20577"/>
          <ac:spMkLst>
            <pc:docMk/>
            <pc:sldMk cId="1625306433" sldId="677"/>
            <ac:spMk id="3" creationId="{5C8DBC38-85DE-C032-1AA6-4D47538A65DB}"/>
          </ac:spMkLst>
        </pc:spChg>
        <pc:picChg chg="del mod">
          <ac:chgData name="Riasat Khan" userId="826ac62dfbb52e43" providerId="LiveId" clId="{03EA5140-1BED-4CEE-8B9F-545AEAE7049A}" dt="2025-01-25T13:06:18.015" v="343" actId="478"/>
          <ac:picMkLst>
            <pc:docMk/>
            <pc:sldMk cId="1625306433" sldId="677"/>
            <ac:picMk id="5" creationId="{4DF13355-6CB8-C1EC-0D4C-991F887F27BF}"/>
          </ac:picMkLst>
        </pc:picChg>
        <pc:picChg chg="add mod modCrop">
          <ac:chgData name="Riasat Khan" userId="826ac62dfbb52e43" providerId="LiveId" clId="{03EA5140-1BED-4CEE-8B9F-545AEAE7049A}" dt="2025-01-25T13:06:44.165" v="351" actId="14100"/>
          <ac:picMkLst>
            <pc:docMk/>
            <pc:sldMk cId="1625306433" sldId="677"/>
            <ac:picMk id="6" creationId="{A8630323-0282-3EAF-9226-9C0B00855009}"/>
          </ac:picMkLst>
        </pc:picChg>
      </pc:sldChg>
      <pc:sldChg chg="new del">
        <pc:chgData name="Riasat Khan" userId="826ac62dfbb52e43" providerId="LiveId" clId="{03EA5140-1BED-4CEE-8B9F-545AEAE7049A}" dt="2025-01-25T13:04:01.213" v="330" actId="47"/>
        <pc:sldMkLst>
          <pc:docMk/>
          <pc:sldMk cId="3993171675" sldId="678"/>
        </pc:sldMkLst>
      </pc:sldChg>
    </pc:docChg>
  </pc:docChgLst>
  <pc:docChgLst>
    <pc:chgData name="Riasat Khan" userId="826ac62dfbb52e43" providerId="LiveId" clId="{D49551DA-9E7E-485E-BBDA-AC3EDD71A58C}"/>
    <pc:docChg chg="modSld">
      <pc:chgData name="Riasat Khan" userId="826ac62dfbb52e43" providerId="LiveId" clId="{D49551DA-9E7E-485E-BBDA-AC3EDD71A58C}" dt="2023-02-08T08:32:25.412" v="0" actId="20577"/>
      <pc:docMkLst>
        <pc:docMk/>
      </pc:docMkLst>
      <pc:sldChg chg="modSp modAnim">
        <pc:chgData name="Riasat Khan" userId="826ac62dfbb52e43" providerId="LiveId" clId="{D49551DA-9E7E-485E-BBDA-AC3EDD71A58C}" dt="2023-02-08T08:32:25.412" v="0" actId="20577"/>
        <pc:sldMkLst>
          <pc:docMk/>
          <pc:sldMk cId="0" sldId="6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51860a7cc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51860a7c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579099978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579099978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579099978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579099978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579099978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579099978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579099978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579099978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579099978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579099978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51860a7cc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51860a7cc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5a488a8f2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5a488a8f2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5a488a8f2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5a488a8f2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a97c8becb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5a97c8bec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5a488a8f24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5a488a8f2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5a488a8f24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5a488a8f24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5a628b50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5a628b504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5a628b504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5a628b504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5a992b9c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5a992b9c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5a628b504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5a628b504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5a628b5045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5a628b5045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5a97c8bec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5a97c8bec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5a97c8bec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5a97c8bec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5a97c8becb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5a97c8becb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5a97c8becb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5a97c8bec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5a97c8bec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5a97c8bec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5a97c8becb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5a97c8becb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5a97c8becb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5a97c8bec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a97c8becb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a97c8bec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6D8B5A-56BA-488E-BC54-4805E7F24A2A}"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F83798-031F-4D7E-847C-DDC7B065E1C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ata.mendeley.com/datasets/hf6sf8zrkc/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Iris_flower_data_se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0" y="445025"/>
            <a:ext cx="883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AI and machine learning problems</a:t>
            </a:r>
            <a:endParaRPr dirty="0"/>
          </a:p>
        </p:txBody>
      </p:sp>
      <p:sp>
        <p:nvSpPr>
          <p:cNvPr id="165" name="Google Shape;165;p28"/>
          <p:cNvSpPr txBox="1">
            <a:spLocks noGrp="1"/>
          </p:cNvSpPr>
          <p:nvPr>
            <p:ph type="body" idx="1"/>
          </p:nvPr>
        </p:nvSpPr>
        <p:spPr>
          <a:xfrm>
            <a:off x="0" y="1152474"/>
            <a:ext cx="9144000" cy="399102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AI - ability of a computer or machine to mimic or imitate human intelligent behavior and perform human-like tasks</a:t>
            </a:r>
          </a:p>
          <a:p>
            <a:pPr marL="457200" lvl="0" indent="-342900" algn="l" rtl="0">
              <a:spcBef>
                <a:spcPts val="0"/>
              </a:spcBef>
              <a:spcAft>
                <a:spcPts val="0"/>
              </a:spcAft>
              <a:buSzPts val="1800"/>
              <a:buChar char="-"/>
            </a:pPr>
            <a:r>
              <a:rPr lang="en-US" dirty="0"/>
              <a:t>ML - subset of AI that has the ability to </a:t>
            </a:r>
            <a:r>
              <a:rPr lang="en-US" dirty="0">
                <a:solidFill>
                  <a:srgbClr val="FF0000"/>
                </a:solidFill>
              </a:rPr>
              <a:t>automatically learn from the data </a:t>
            </a:r>
            <a:r>
              <a:rPr lang="en-US" dirty="0"/>
              <a:t>without explicitly being programmed</a:t>
            </a:r>
          </a:p>
          <a:p>
            <a:pPr marL="457200" lvl="0" indent="-342900" algn="l" rtl="0">
              <a:spcBef>
                <a:spcPts val="0"/>
              </a:spcBef>
              <a:spcAft>
                <a:spcPts val="0"/>
              </a:spcAft>
              <a:buSzPts val="1800"/>
              <a:buChar char="-"/>
            </a:pPr>
            <a:r>
              <a:rPr lang="en-US" dirty="0"/>
              <a:t>All machine learning is AI, but not all AI is machine learning</a:t>
            </a:r>
            <a:endParaRPr lang="en-GB" dirty="0"/>
          </a:p>
          <a:p>
            <a:pPr marL="457200" lvl="0" indent="-342900" algn="l" rtl="0">
              <a:spcBef>
                <a:spcPts val="0"/>
              </a:spcBef>
              <a:spcAft>
                <a:spcPts val="0"/>
              </a:spcAft>
              <a:buSzPts val="1800"/>
              <a:buChar char="-"/>
            </a:pPr>
            <a:r>
              <a:rPr lang="en-GB" dirty="0"/>
              <a:t>Machine Learning</a:t>
            </a:r>
            <a:endParaRPr dirty="0"/>
          </a:p>
          <a:p>
            <a:pPr marL="914400" lvl="1" indent="-317500" algn="l" rtl="0">
              <a:spcBef>
                <a:spcPts val="0"/>
              </a:spcBef>
              <a:spcAft>
                <a:spcPts val="0"/>
              </a:spcAft>
              <a:buSzPts val="1400"/>
              <a:buChar char="-"/>
            </a:pPr>
            <a:r>
              <a:rPr lang="en-GB" dirty="0"/>
              <a:t>It is a science that grew up from AI</a:t>
            </a:r>
            <a:endParaRPr dirty="0"/>
          </a:p>
          <a:p>
            <a:pPr marL="914400" lvl="1" indent="-317500" algn="l" rtl="0">
              <a:spcBef>
                <a:spcPts val="0"/>
              </a:spcBef>
              <a:spcAft>
                <a:spcPts val="0"/>
              </a:spcAft>
              <a:buSzPts val="1400"/>
              <a:buChar char="-"/>
            </a:pPr>
            <a:r>
              <a:rPr lang="en-GB" dirty="0"/>
              <a:t>The term, ML, was coined in 1959, by Arthur Samuel </a:t>
            </a:r>
            <a:endParaRPr dirty="0"/>
          </a:p>
          <a:p>
            <a:pPr marL="457200" lvl="0" indent="-342900" algn="l" rtl="0">
              <a:spcBef>
                <a:spcPts val="0"/>
              </a:spcBef>
              <a:spcAft>
                <a:spcPts val="0"/>
              </a:spcAft>
              <a:buSzPts val="1800"/>
              <a:buChar char="-"/>
            </a:pPr>
            <a:r>
              <a:rPr lang="en-GB" dirty="0"/>
              <a:t>A computer program is said to learn from experience </a:t>
            </a:r>
            <a:r>
              <a:rPr lang="en-GB" i="1" dirty="0"/>
              <a:t>E</a:t>
            </a:r>
            <a:r>
              <a:rPr lang="en-GB" dirty="0"/>
              <a:t>, with respect to some task </a:t>
            </a:r>
            <a:r>
              <a:rPr lang="en-GB" i="1" dirty="0"/>
              <a:t>T</a:t>
            </a:r>
            <a:r>
              <a:rPr lang="en-GB" dirty="0"/>
              <a:t> and performance measure </a:t>
            </a:r>
            <a:r>
              <a:rPr lang="en-GB" i="1" dirty="0"/>
              <a:t>P</a:t>
            </a:r>
            <a:r>
              <a:rPr lang="en-GB" dirty="0"/>
              <a:t> </a:t>
            </a:r>
            <a:r>
              <a:rPr lang="en-GB" dirty="0">
                <a:solidFill>
                  <a:srgbClr val="FF0000"/>
                </a:solidFill>
              </a:rPr>
              <a:t>if its performance at task </a:t>
            </a:r>
            <a:r>
              <a:rPr lang="en-GB" i="1" dirty="0">
                <a:solidFill>
                  <a:srgbClr val="FF0000"/>
                </a:solidFill>
              </a:rPr>
              <a:t>T</a:t>
            </a:r>
            <a:r>
              <a:rPr lang="en-GB" dirty="0">
                <a:solidFill>
                  <a:srgbClr val="FF0000"/>
                </a:solidFill>
              </a:rPr>
              <a:t>, as measured by </a:t>
            </a:r>
            <a:r>
              <a:rPr lang="en-GB" i="1" dirty="0">
                <a:solidFill>
                  <a:srgbClr val="FF0000"/>
                </a:solidFill>
              </a:rPr>
              <a:t>P</a:t>
            </a:r>
            <a:r>
              <a:rPr lang="en-GB" dirty="0">
                <a:solidFill>
                  <a:srgbClr val="FF0000"/>
                </a:solidFill>
              </a:rPr>
              <a:t>, improves with experience </a:t>
            </a:r>
            <a:r>
              <a:rPr lang="en-GB" i="1" dirty="0">
                <a:solidFill>
                  <a:srgbClr val="FF0000"/>
                </a:solidFill>
              </a:rPr>
              <a:t>E</a:t>
            </a:r>
            <a:r>
              <a:rPr lang="en-GB" dirty="0"/>
              <a:t>. (Tom M. Mitchell)</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Checkers learning problem</a:t>
            </a:r>
          </a:p>
        </p:txBody>
      </p:sp>
      <p:sp>
        <p:nvSpPr>
          <p:cNvPr id="171" name="Google Shape;171;p29"/>
          <p:cNvSpPr txBox="1">
            <a:spLocks noGrp="1"/>
          </p:cNvSpPr>
          <p:nvPr>
            <p:ph type="body" idx="1"/>
          </p:nvPr>
        </p:nvSpPr>
        <p:spPr>
          <a:xfrm>
            <a:off x="311700" y="1152475"/>
            <a:ext cx="2891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2" name="Google Shape;172;p29"/>
          <p:cNvPicPr preferRelativeResize="0"/>
          <p:nvPr/>
        </p:nvPicPr>
        <p:blipFill>
          <a:blip r:embed="rId3"/>
          <a:stretch>
            <a:fillRect/>
          </a:stretch>
        </p:blipFill>
        <p:spPr>
          <a:xfrm>
            <a:off x="398750" y="1231725"/>
            <a:ext cx="2740150" cy="2679800"/>
          </a:xfrm>
          <a:prstGeom prst="rect">
            <a:avLst/>
          </a:prstGeom>
          <a:noFill/>
          <a:ln>
            <a:noFill/>
          </a:ln>
        </p:spPr>
      </p:pic>
      <p:sp>
        <p:nvSpPr>
          <p:cNvPr id="173" name="Google Shape;173;p29"/>
          <p:cNvSpPr txBox="1"/>
          <p:nvPr/>
        </p:nvSpPr>
        <p:spPr>
          <a:xfrm>
            <a:off x="3988525" y="1231975"/>
            <a:ext cx="3557400" cy="333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Task </a:t>
            </a:r>
            <a:r>
              <a:rPr lang="en-GB" i="1"/>
              <a:t>T</a:t>
            </a:r>
            <a:r>
              <a:rPr lang="en-GB"/>
              <a:t>: playing checkers</a:t>
            </a:r>
          </a:p>
          <a:p>
            <a:pPr marL="0" lvl="0" indent="0" algn="l" rtl="0">
              <a:spcBef>
                <a:spcPts val="0"/>
              </a:spcBef>
              <a:spcAft>
                <a:spcPts val="0"/>
              </a:spcAft>
              <a:buNone/>
            </a:pPr>
            <a:endParaRPr lang="en-GB"/>
          </a:p>
          <a:p>
            <a:pPr marL="0" lvl="0" indent="0" algn="l" rtl="0">
              <a:spcBef>
                <a:spcPts val="0"/>
              </a:spcBef>
              <a:spcAft>
                <a:spcPts val="0"/>
              </a:spcAft>
              <a:buNone/>
            </a:pPr>
            <a:r>
              <a:rPr lang="en-GB"/>
              <a:t>Performance measure, </a:t>
            </a:r>
            <a:r>
              <a:rPr lang="en-GB" i="1"/>
              <a:t>P</a:t>
            </a:r>
            <a:r>
              <a:rPr lang="en-GB"/>
              <a:t>: % of games won against opponents</a:t>
            </a:r>
          </a:p>
          <a:p>
            <a:pPr marL="0" lvl="0" indent="0" algn="l" rtl="0">
              <a:spcBef>
                <a:spcPts val="0"/>
              </a:spcBef>
              <a:spcAft>
                <a:spcPts val="0"/>
              </a:spcAft>
              <a:buNone/>
            </a:pPr>
            <a:endParaRPr lang="en-GB"/>
          </a:p>
          <a:p>
            <a:pPr marL="0" lvl="0" indent="0" algn="l" rtl="0">
              <a:spcBef>
                <a:spcPts val="0"/>
              </a:spcBef>
              <a:spcAft>
                <a:spcPts val="0"/>
              </a:spcAft>
              <a:buNone/>
            </a:pPr>
            <a:endParaRPr lang="en-GB"/>
          </a:p>
          <a:p>
            <a:pPr marL="0" lvl="0" indent="0" algn="l" rtl="0">
              <a:spcBef>
                <a:spcPts val="0"/>
              </a:spcBef>
              <a:spcAft>
                <a:spcPts val="0"/>
              </a:spcAft>
              <a:buNone/>
            </a:pPr>
            <a:r>
              <a:rPr lang="en-GB"/>
              <a:t>Training Experience, </a:t>
            </a:r>
            <a:r>
              <a:rPr lang="en-GB" i="1"/>
              <a:t>E</a:t>
            </a:r>
            <a:r>
              <a:rPr lang="en-GB"/>
              <a:t>: Playing practice games against itself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Handwriting Recognition Problem</a:t>
            </a:r>
          </a:p>
        </p:txBody>
      </p:sp>
      <p:sp>
        <p:nvSpPr>
          <p:cNvPr id="179" name="Google Shape;179;p30"/>
          <p:cNvSpPr txBox="1">
            <a:spLocks noGrp="1"/>
          </p:cNvSpPr>
          <p:nvPr>
            <p:ph type="body" idx="1"/>
          </p:nvPr>
        </p:nvSpPr>
        <p:spPr>
          <a:xfrm>
            <a:off x="0" y="653144"/>
            <a:ext cx="9144000" cy="44903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Task </a:t>
            </a:r>
            <a:r>
              <a:rPr lang="en-GB" i="1" dirty="0"/>
              <a:t>T</a:t>
            </a:r>
            <a:r>
              <a:rPr lang="en-GB" dirty="0"/>
              <a:t>: Recognizing and classifying handwritten words/characters within images</a:t>
            </a:r>
            <a:endParaRPr dirty="0"/>
          </a:p>
          <a:p>
            <a:pPr marL="0" lvl="0" indent="0" algn="l" rtl="0">
              <a:spcBef>
                <a:spcPts val="1600"/>
              </a:spcBef>
              <a:spcAft>
                <a:spcPts val="0"/>
              </a:spcAft>
              <a:buNone/>
            </a:pPr>
            <a:r>
              <a:rPr lang="en-GB" dirty="0"/>
              <a:t>Performance measure </a:t>
            </a:r>
            <a:r>
              <a:rPr lang="en-GB" i="1" dirty="0"/>
              <a:t>P</a:t>
            </a:r>
            <a:r>
              <a:rPr lang="en-GB" dirty="0"/>
              <a:t>: % of words/characters correctly classified</a:t>
            </a:r>
            <a:endParaRPr dirty="0"/>
          </a:p>
          <a:p>
            <a:pPr marL="0" lvl="0" indent="0" algn="l" rtl="0">
              <a:spcBef>
                <a:spcPts val="1600"/>
              </a:spcBef>
              <a:spcAft>
                <a:spcPts val="0"/>
              </a:spcAft>
              <a:buNone/>
            </a:pPr>
            <a:r>
              <a:rPr lang="en-GB" dirty="0"/>
              <a:t>Training Experience, </a:t>
            </a:r>
            <a:r>
              <a:rPr lang="en-GB" i="1" dirty="0"/>
              <a:t>E</a:t>
            </a:r>
            <a:r>
              <a:rPr lang="en-GB" dirty="0"/>
              <a:t>: Predicting the word/character from a collection of handwritten words/characters with given classifications</a:t>
            </a:r>
            <a:endParaRPr dirty="0"/>
          </a:p>
          <a:p>
            <a:pPr marL="457200" lvl="0" indent="-342900" algn="l" rtl="0">
              <a:spcBef>
                <a:spcPts val="1600"/>
              </a:spcBef>
              <a:spcAft>
                <a:spcPts val="0"/>
              </a:spcAft>
              <a:buSzPts val="1800"/>
              <a:buChar char="-"/>
            </a:pPr>
            <a:r>
              <a:rPr lang="en-GB" dirty="0"/>
              <a:t>MNIST Dataset (Yann Lecunn et al.)</a:t>
            </a:r>
            <a:endParaRPr dirty="0"/>
          </a:p>
          <a:p>
            <a:pPr marL="457200" lvl="0" indent="-342900" algn="l" rtl="0">
              <a:spcBef>
                <a:spcPts val="0"/>
              </a:spcBef>
              <a:spcAft>
                <a:spcPts val="0"/>
              </a:spcAft>
              <a:buSzPts val="1800"/>
              <a:buChar char="-"/>
            </a:pPr>
            <a:r>
              <a:rPr lang="en-GB" dirty="0"/>
              <a:t>BanglaLekha Isolated (Nabeel Mohammed, Sifat Momen et al.)</a:t>
            </a:r>
            <a:endParaRPr dirty="0"/>
          </a:p>
          <a:p>
            <a:pPr marL="914400" lvl="1" indent="-317500" algn="l" rtl="0">
              <a:spcBef>
                <a:spcPts val="0"/>
              </a:spcBef>
              <a:spcAft>
                <a:spcPts val="0"/>
              </a:spcAft>
              <a:buSzPts val="1400"/>
              <a:buChar char="-"/>
            </a:pPr>
            <a:r>
              <a:rPr lang="en-GB" u="sng" dirty="0">
                <a:solidFill>
                  <a:schemeClr val="hlink"/>
                </a:solidFill>
                <a:hlinkClick r:id="rId3"/>
              </a:rPr>
              <a:t>https://data.mendeley.com/datasets/hf6sf8zrkc/2</a:t>
            </a:r>
            <a:endParaRPr dirty="0"/>
          </a:p>
          <a:p>
            <a:pPr marL="914400" lvl="1" indent="-317500" algn="l" rtl="0">
              <a:spcBef>
                <a:spcPts val="0"/>
              </a:spcBef>
              <a:spcAft>
                <a:spcPts val="0"/>
              </a:spcAft>
              <a:buSzPts val="1400"/>
              <a:buChar char="-"/>
            </a:pPr>
            <a:r>
              <a:rPr lang="en-GB" dirty="0"/>
              <a:t>Dataset comprises of 50 Bangla basic characters, 10 Bangla numerals and 24 selected compound characters (total of 1,66,105 handwritten character images)</a:t>
            </a:r>
          </a:p>
          <a:p>
            <a:pPr marL="457200" lvl="0" indent="-342900" algn="l" rtl="0">
              <a:spcBef>
                <a:spcPts val="0"/>
              </a:spcBef>
              <a:spcAft>
                <a:spcPts val="0"/>
              </a:spcAft>
              <a:buSzPts val="1800"/>
              <a:buChar char="-"/>
            </a:pPr>
            <a:r>
              <a:rPr lang="en-US" dirty="0"/>
              <a:t>Bangla Sign Language Dataset (Intisar </a:t>
            </a:r>
            <a:r>
              <a:rPr lang="en-US" dirty="0" err="1"/>
              <a:t>Tahmid</a:t>
            </a:r>
            <a:r>
              <a:rPr lang="en-US" dirty="0"/>
              <a:t> </a:t>
            </a:r>
            <a:r>
              <a:rPr lang="en-US" dirty="0" err="1"/>
              <a:t>Naheen</a:t>
            </a:r>
            <a:r>
              <a:rPr lang="en-US" dirty="0"/>
              <a:t>, Riasat Khan et al.)</a:t>
            </a:r>
          </a:p>
          <a:p>
            <a:pPr marL="914400" lvl="1" indent="-317500" algn="l" rtl="0">
              <a:spcBef>
                <a:spcPts val="0"/>
              </a:spcBef>
              <a:spcAft>
                <a:spcPts val="0"/>
              </a:spcAft>
              <a:buSzPts val="1400"/>
              <a:buChar char="-"/>
            </a:pPr>
            <a:r>
              <a:rPr lang="en-US" dirty="0"/>
              <a:t>Deep Learning-based Bangla Sign Language Detection with an Edge Device</a:t>
            </a:r>
          </a:p>
          <a:p>
            <a:pPr marL="914400" lvl="1" indent="-317500" algn="l" rtl="0">
              <a:spcBef>
                <a:spcPts val="0"/>
              </a:spcBef>
              <a:spcAft>
                <a:spcPts val="0"/>
              </a:spcAft>
              <a:buSzPts val="1400"/>
              <a:buChar char="-"/>
            </a:pPr>
            <a:r>
              <a:rPr lang="en-US" dirty="0"/>
              <a:t>Bangla sign language dataset of 49 classes and approximately 80 images for every class</a:t>
            </a:r>
          </a:p>
          <a:p>
            <a:pPr marL="914400" lvl="1" indent="-317500" algn="l" rtl="0">
              <a:spcBef>
                <a:spcPts val="0"/>
              </a:spcBef>
              <a:spcAft>
                <a:spcPts val="0"/>
              </a:spcAft>
              <a:buSzPts val="1400"/>
              <a:buChar char="-"/>
            </a:pPr>
            <a:r>
              <a:rPr lang="en-US" dirty="0"/>
              <a:t>https://doi.org/10.1016/j.iswa.2023.200224</a:t>
            </a:r>
          </a:p>
          <a:p>
            <a:pPr marL="596900" lvl="1" indent="0" algn="l" rtl="0">
              <a:spcBef>
                <a:spcPts val="0"/>
              </a:spcBef>
              <a:spcAft>
                <a:spcPts val="0"/>
              </a:spcAft>
              <a:buSzPts val="1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Student Admission Prediction Problem</a:t>
            </a:r>
            <a:endParaRPr dirty="0"/>
          </a:p>
        </p:txBody>
      </p:sp>
      <p:sp>
        <p:nvSpPr>
          <p:cNvPr id="179" name="Google Shape;179;p30"/>
          <p:cNvSpPr txBox="1">
            <a:spLocks noGrp="1"/>
          </p:cNvSpPr>
          <p:nvPr>
            <p:ph type="body" idx="1"/>
          </p:nvPr>
        </p:nvSpPr>
        <p:spPr>
          <a:xfrm>
            <a:off x="0" y="1152474"/>
            <a:ext cx="9144000" cy="3991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Task </a:t>
            </a:r>
            <a:r>
              <a:rPr lang="en-GB" i="1" dirty="0"/>
              <a:t>T</a:t>
            </a:r>
            <a:r>
              <a:rPr lang="en-GB" dirty="0"/>
              <a:t>: Classifying students’ admissions into categories/rankings of universities</a:t>
            </a:r>
            <a:endParaRPr dirty="0"/>
          </a:p>
          <a:p>
            <a:pPr marL="0" lvl="0" indent="0" algn="l" rtl="0">
              <a:spcBef>
                <a:spcPts val="1600"/>
              </a:spcBef>
              <a:spcAft>
                <a:spcPts val="0"/>
              </a:spcAft>
              <a:buNone/>
            </a:pPr>
            <a:r>
              <a:rPr lang="en-GB" dirty="0"/>
              <a:t>Performance measure </a:t>
            </a:r>
            <a:r>
              <a:rPr lang="en-GB" i="1" dirty="0"/>
              <a:t>P</a:t>
            </a:r>
            <a:r>
              <a:rPr lang="en-GB" dirty="0"/>
              <a:t>: % of students’ admissions correctly classified</a:t>
            </a:r>
            <a:endParaRPr dirty="0"/>
          </a:p>
          <a:p>
            <a:pPr marL="0" lvl="0" indent="0" algn="l" rtl="0">
              <a:spcBef>
                <a:spcPts val="1600"/>
              </a:spcBef>
              <a:spcAft>
                <a:spcPts val="0"/>
              </a:spcAft>
              <a:buNone/>
            </a:pPr>
            <a:r>
              <a:rPr lang="en-GB" dirty="0"/>
              <a:t>Training Experience, </a:t>
            </a:r>
            <a:r>
              <a:rPr lang="en-GB" i="1" dirty="0"/>
              <a:t>E</a:t>
            </a:r>
            <a:r>
              <a:rPr lang="en-GB" dirty="0"/>
              <a:t>: Predicting the </a:t>
            </a:r>
            <a:r>
              <a:rPr lang="en-US" dirty="0"/>
              <a:t>categories/rankings of universities</a:t>
            </a:r>
            <a:r>
              <a:rPr lang="en-GB" dirty="0"/>
              <a:t> from a collection of dataset with given classifications</a:t>
            </a:r>
            <a:endParaRPr dirty="0"/>
          </a:p>
          <a:p>
            <a:pPr marL="457200" lvl="0" indent="-342900" algn="l" rtl="0">
              <a:spcBef>
                <a:spcPts val="1600"/>
              </a:spcBef>
              <a:spcAft>
                <a:spcPts val="0"/>
              </a:spcAft>
              <a:buSzPts val="1800"/>
              <a:buChar char="-"/>
            </a:pPr>
            <a:r>
              <a:rPr lang="en-US" dirty="0"/>
              <a:t>Masters and Doctor of Philosophy admission prediction of Bangladeshi students into different classes of universities</a:t>
            </a:r>
            <a:r>
              <a:rPr lang="en-GB" dirty="0"/>
              <a:t> (</a:t>
            </a:r>
            <a:r>
              <a:rPr lang="en-US" dirty="0"/>
              <a:t>Md </a:t>
            </a:r>
            <a:r>
              <a:rPr lang="en-US" dirty="0" err="1"/>
              <a:t>Naimul</a:t>
            </a:r>
            <a:r>
              <a:rPr lang="en-US" dirty="0"/>
              <a:t> Islam </a:t>
            </a:r>
            <a:r>
              <a:rPr lang="en-US" dirty="0" err="1"/>
              <a:t>Suvon</a:t>
            </a:r>
            <a:r>
              <a:rPr lang="en-GB" dirty="0"/>
              <a:t> et al.)</a:t>
            </a:r>
          </a:p>
          <a:p>
            <a:pPr marL="457200" lvl="0" indent="-342900" algn="l" rtl="0">
              <a:spcBef>
                <a:spcPts val="1600"/>
              </a:spcBef>
              <a:spcAft>
                <a:spcPts val="0"/>
              </a:spcAft>
              <a:buSzPts val="1800"/>
              <a:buChar char="-"/>
            </a:pPr>
            <a:r>
              <a:rPr lang="en-US" dirty="0"/>
              <a:t>400 data for PhD students and 300 for the MS candidates</a:t>
            </a:r>
          </a:p>
          <a:p>
            <a:pPr marL="457200" lvl="0" indent="-342900" algn="l" rtl="0">
              <a:spcBef>
                <a:spcPts val="1600"/>
              </a:spcBef>
              <a:spcAft>
                <a:spcPts val="0"/>
              </a:spcAft>
              <a:buSzPts val="1800"/>
              <a:buChar char="-"/>
            </a:pPr>
            <a:r>
              <a:rPr lang="en-US" dirty="0">
                <a:solidFill>
                  <a:srgbClr val="FF0000"/>
                </a:solidFill>
              </a:rPr>
              <a:t>Nine classes </a:t>
            </a:r>
            <a:r>
              <a:rPr lang="en-US" dirty="0"/>
              <a:t>of universities according to QS world university rankings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2"/>
          <p:cNvSpPr txBox="1">
            <a:spLocks noGrp="1"/>
          </p:cNvSpPr>
          <p:nvPr>
            <p:ph type="title"/>
          </p:nvPr>
        </p:nvSpPr>
        <p:spPr>
          <a:xfrm>
            <a:off x="311700" y="445025"/>
            <a:ext cx="8520600" cy="97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Classifying an incoming email as either a spam or not spam</a:t>
            </a:r>
          </a:p>
          <a:p>
            <a:pPr marL="0" lvl="0" indent="0" algn="l" rtl="0">
              <a:spcBef>
                <a:spcPts val="0"/>
              </a:spcBef>
              <a:spcAft>
                <a:spcPts val="0"/>
              </a:spcAft>
              <a:buNone/>
            </a:pPr>
            <a:endParaRPr lang="en-GB"/>
          </a:p>
        </p:txBody>
      </p:sp>
      <p:sp>
        <p:nvSpPr>
          <p:cNvPr id="191" name="Google Shape;191;p32"/>
          <p:cNvSpPr txBox="1">
            <a:spLocks noGrp="1"/>
          </p:cNvSpPr>
          <p:nvPr>
            <p:ph type="body" idx="1"/>
          </p:nvPr>
        </p:nvSpPr>
        <p:spPr>
          <a:xfrm>
            <a:off x="311700" y="1416725"/>
            <a:ext cx="8520600" cy="315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Task T: Correctly classify an email as either spam or not spam</a:t>
            </a:r>
            <a:endParaRPr dirty="0"/>
          </a:p>
          <a:p>
            <a:pPr marL="0" lvl="0" indent="0" algn="l" rtl="0">
              <a:spcBef>
                <a:spcPts val="1600"/>
              </a:spcBef>
              <a:spcAft>
                <a:spcPts val="0"/>
              </a:spcAft>
              <a:buNone/>
            </a:pPr>
            <a:r>
              <a:rPr lang="en-GB" dirty="0"/>
              <a:t>Performance measure, P: % of emails correctly classified</a:t>
            </a:r>
            <a:endParaRPr dirty="0"/>
          </a:p>
          <a:p>
            <a:pPr marL="0" lvl="0" indent="0" algn="l" rtl="0">
              <a:spcBef>
                <a:spcPts val="1600"/>
              </a:spcBef>
              <a:spcAft>
                <a:spcPts val="1600"/>
              </a:spcAft>
              <a:buNone/>
            </a:pPr>
            <a:r>
              <a:rPr lang="en-GB" dirty="0"/>
              <a:t>Training Experience, E: A database of emails with proper labeling as either spam or not.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Robot driving learning problem</a:t>
            </a:r>
          </a:p>
        </p:txBody>
      </p:sp>
      <p:sp>
        <p:nvSpPr>
          <p:cNvPr id="185" name="Google Shape;185;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Task </a:t>
            </a:r>
            <a:r>
              <a:rPr lang="en-GB" i="1" dirty="0"/>
              <a:t>T</a:t>
            </a:r>
            <a:r>
              <a:rPr lang="en-GB" dirty="0"/>
              <a:t>: driving on public highways using vision sensors</a:t>
            </a:r>
            <a:endParaRPr dirty="0"/>
          </a:p>
          <a:p>
            <a:pPr marL="0" lvl="0" indent="0" algn="l" rtl="0">
              <a:spcBef>
                <a:spcPts val="1600"/>
              </a:spcBef>
              <a:spcAft>
                <a:spcPts val="0"/>
              </a:spcAft>
              <a:buNone/>
            </a:pPr>
            <a:r>
              <a:rPr lang="en-GB" dirty="0"/>
              <a:t>Performance measure, </a:t>
            </a:r>
            <a:r>
              <a:rPr lang="en-GB" i="1" dirty="0"/>
              <a:t>P</a:t>
            </a:r>
            <a:r>
              <a:rPr lang="en-GB" dirty="0"/>
              <a:t>: Average distance travelled before an error (as judged by a human observer)</a:t>
            </a:r>
            <a:endParaRPr dirty="0"/>
          </a:p>
          <a:p>
            <a:pPr marL="0" lvl="0" indent="0" algn="l" rtl="0">
              <a:spcBef>
                <a:spcPts val="1600"/>
              </a:spcBef>
              <a:spcAft>
                <a:spcPts val="1600"/>
              </a:spcAft>
              <a:buNone/>
            </a:pPr>
            <a:r>
              <a:rPr lang="en-GB" dirty="0"/>
              <a:t>Training Experience, </a:t>
            </a:r>
            <a:r>
              <a:rPr lang="en-GB" i="1" dirty="0"/>
              <a:t>E</a:t>
            </a:r>
            <a:r>
              <a:rPr lang="en-GB" dirty="0"/>
              <a:t>: A sequence of images and steering commands recorded while observing a human driver.</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Different types of learning</a:t>
            </a:r>
          </a:p>
        </p:txBody>
      </p:sp>
      <p:sp>
        <p:nvSpPr>
          <p:cNvPr id="197" name="Google Shape;197;p33"/>
          <p:cNvSpPr txBox="1">
            <a:spLocks noGrp="1"/>
          </p:cNvSpPr>
          <p:nvPr>
            <p:ph type="body" idx="1"/>
          </p:nvPr>
        </p:nvSpPr>
        <p:spPr>
          <a:xfrm>
            <a:off x="311700" y="11121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Supervised learning </a:t>
            </a:r>
            <a:endParaRPr dirty="0"/>
          </a:p>
          <a:p>
            <a:pPr marL="914400" lvl="1" indent="-317500" algn="l" rtl="0">
              <a:spcBef>
                <a:spcPts val="0"/>
              </a:spcBef>
              <a:spcAft>
                <a:spcPts val="0"/>
              </a:spcAft>
              <a:buSzPts val="1400"/>
              <a:buChar char="-"/>
            </a:pPr>
            <a:r>
              <a:rPr lang="en-GB" dirty="0"/>
              <a:t>Semi-Supervised learning </a:t>
            </a:r>
            <a:endParaRPr dirty="0"/>
          </a:p>
          <a:p>
            <a:pPr marL="457200" lvl="0" indent="-342900" algn="l" rtl="0">
              <a:spcBef>
                <a:spcPts val="0"/>
              </a:spcBef>
              <a:spcAft>
                <a:spcPts val="0"/>
              </a:spcAft>
              <a:buSzPts val="1800"/>
              <a:buChar char="-"/>
            </a:pPr>
            <a:r>
              <a:rPr lang="en-GB" dirty="0"/>
              <a:t>Unsupervised learning </a:t>
            </a:r>
            <a:endParaRPr dirty="0"/>
          </a:p>
          <a:p>
            <a:pPr marL="457200" lvl="0" indent="-342900" algn="l" rtl="0">
              <a:spcBef>
                <a:spcPts val="0"/>
              </a:spcBef>
              <a:spcAft>
                <a:spcPts val="0"/>
              </a:spcAft>
              <a:buSzPts val="1800"/>
              <a:buChar char="-"/>
            </a:pPr>
            <a:r>
              <a:rPr lang="en-GB" dirty="0"/>
              <a:t>Reinforcement learning </a:t>
            </a:r>
            <a:endParaRPr dirty="0"/>
          </a:p>
          <a:p>
            <a:pPr marL="457200" lvl="0" indent="0" algn="l" rtl="0">
              <a:spcBef>
                <a:spcPts val="1600"/>
              </a:spcBef>
              <a:spcAft>
                <a:spcPts val="16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4"/>
          <p:cNvSpPr txBox="1">
            <a:spLocks noGrp="1"/>
          </p:cNvSpPr>
          <p:nvPr>
            <p:ph type="title"/>
          </p:nvPr>
        </p:nvSpPr>
        <p:spPr>
          <a:xfrm>
            <a:off x="0" y="1925"/>
            <a:ext cx="8832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Supervised Learning: Classification Problem</a:t>
            </a:r>
            <a:endParaRPr dirty="0"/>
          </a:p>
        </p:txBody>
      </p:sp>
      <p:sp>
        <p:nvSpPr>
          <p:cNvPr id="203" name="Google Shape;203;p34"/>
          <p:cNvSpPr txBox="1">
            <a:spLocks noGrp="1"/>
          </p:cNvSpPr>
          <p:nvPr>
            <p:ph type="body" idx="1"/>
          </p:nvPr>
        </p:nvSpPr>
        <p:spPr>
          <a:xfrm>
            <a:off x="0" y="574624"/>
            <a:ext cx="9144000" cy="4576019"/>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sz="1400" dirty="0"/>
              <a:t>In supervised learning, the algorithm builds a mathematical model from a set of data </a:t>
            </a:r>
            <a:r>
              <a:rPr lang="en-GB" sz="1400" dirty="0">
                <a:solidFill>
                  <a:srgbClr val="FF0000"/>
                </a:solidFill>
              </a:rPr>
              <a:t>that contains inputs and desired outputs &lt;X, y&gt;.</a:t>
            </a:r>
          </a:p>
          <a:p>
            <a:pPr marL="457200" lvl="0" indent="-342900" algn="l" rtl="0">
              <a:spcBef>
                <a:spcPts val="0"/>
              </a:spcBef>
              <a:spcAft>
                <a:spcPts val="0"/>
              </a:spcAft>
              <a:buSzPts val="1800"/>
              <a:buChar char="-"/>
            </a:pPr>
            <a:r>
              <a:rPr lang="en-US" sz="1400" dirty="0"/>
              <a:t>Training data fed to algorithm includes the desired answers/solutions (labels)</a:t>
            </a:r>
          </a:p>
          <a:p>
            <a:pPr marL="457200" lvl="0" indent="-342900" algn="l" rtl="0">
              <a:spcBef>
                <a:spcPts val="0"/>
              </a:spcBef>
              <a:spcAft>
                <a:spcPts val="0"/>
              </a:spcAft>
              <a:buSzPts val="1800"/>
              <a:buChar char="-"/>
            </a:pPr>
            <a:r>
              <a:rPr lang="en-US" sz="1400" dirty="0"/>
              <a:t>y : target variable, output, dependent variable, class, label: Classification (Binary) problem</a:t>
            </a:r>
          </a:p>
          <a:p>
            <a:pPr marL="457200" lvl="0" indent="-342900" algn="l" rtl="0">
              <a:spcBef>
                <a:spcPts val="0"/>
              </a:spcBef>
              <a:spcAft>
                <a:spcPts val="0"/>
              </a:spcAft>
              <a:buSzPts val="1800"/>
              <a:buChar char="-"/>
            </a:pPr>
            <a:r>
              <a:rPr lang="en-US" sz="1400" dirty="0"/>
              <a:t>X: input variable, attributes, features, independent variable</a:t>
            </a:r>
          </a:p>
          <a:p>
            <a:pPr marL="457200" lvl="0" indent="-342900" algn="l" rtl="0">
              <a:spcBef>
                <a:spcPts val="0"/>
              </a:spcBef>
              <a:spcAft>
                <a:spcPts val="0"/>
              </a:spcAft>
              <a:buSzPts val="1800"/>
              <a:buChar char="-"/>
            </a:pPr>
            <a:r>
              <a:rPr lang="en-US" sz="1400" dirty="0"/>
              <a:t>Discrete value output (Male or Female, True or False, Yes or No)</a:t>
            </a:r>
            <a:endParaRPr sz="1400" dirty="0"/>
          </a:p>
          <a:p>
            <a:pPr marL="457200" lvl="0" indent="0" algn="l" rtl="0">
              <a:spcBef>
                <a:spcPts val="1600"/>
              </a:spcBef>
              <a:spcAft>
                <a:spcPts val="1600"/>
              </a:spcAft>
              <a:buNone/>
            </a:pPr>
            <a:endParaRPr dirty="0"/>
          </a:p>
        </p:txBody>
      </p:sp>
      <p:pic>
        <p:nvPicPr>
          <p:cNvPr id="204" name="Google Shape;204;p34"/>
          <p:cNvPicPr preferRelativeResize="0"/>
          <p:nvPr/>
        </p:nvPicPr>
        <p:blipFill>
          <a:blip r:embed="rId3"/>
          <a:stretch>
            <a:fillRect/>
          </a:stretch>
        </p:blipFill>
        <p:spPr>
          <a:xfrm>
            <a:off x="390419" y="2228850"/>
            <a:ext cx="4958700" cy="2921794"/>
          </a:xfrm>
          <a:prstGeom prst="rect">
            <a:avLst/>
          </a:prstGeom>
          <a:noFill/>
          <a:ln>
            <a:noFill/>
          </a:ln>
        </p:spPr>
      </p:pic>
      <p:sp>
        <p:nvSpPr>
          <p:cNvPr id="205" name="Google Shape;205;p34"/>
          <p:cNvSpPr txBox="1"/>
          <p:nvPr/>
        </p:nvSpPr>
        <p:spPr>
          <a:xfrm>
            <a:off x="6329275" y="1800225"/>
            <a:ext cx="2371500" cy="79172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dirty="0"/>
              <a:t>The data contains </a:t>
            </a:r>
            <a:r>
              <a:rPr lang="en-GB" dirty="0">
                <a:solidFill>
                  <a:srgbClr val="FF0000"/>
                </a:solidFill>
              </a:rPr>
              <a:t>14 instances/records/samples </a:t>
            </a:r>
            <a:r>
              <a:rPr lang="en-GB" dirty="0"/>
              <a:t>and 4 attributes. The target variable is </a:t>
            </a:r>
            <a:r>
              <a:rPr lang="en-GB" b="1" dirty="0"/>
              <a:t>play</a:t>
            </a:r>
            <a:endParaRPr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623" t="7558" b="7876"/>
          <a:stretch>
            <a:fillRect/>
          </a:stretch>
        </p:blipFill>
        <p:spPr>
          <a:xfrm>
            <a:off x="5349119" y="2757488"/>
            <a:ext cx="3794881" cy="2070757"/>
          </a:xfrm>
          <a:prstGeom prst="rect">
            <a:avLst/>
          </a:prstGeom>
        </p:spPr>
      </p:pic>
      <p:sp>
        <p:nvSpPr>
          <p:cNvPr id="4" name="TextBox 3"/>
          <p:cNvSpPr txBox="1"/>
          <p:nvPr/>
        </p:nvSpPr>
        <p:spPr>
          <a:xfrm>
            <a:off x="6528337" y="4828247"/>
            <a:ext cx="2225244" cy="307777"/>
          </a:xfrm>
          <a:prstGeom prst="rect">
            <a:avLst/>
          </a:prstGeom>
          <a:noFill/>
        </p:spPr>
        <p:txBody>
          <a:bodyPr wrap="square" rtlCol="0">
            <a:spAutoFit/>
          </a:bodyPr>
          <a:lstStyle/>
          <a:p>
            <a:r>
              <a:rPr lang="en-US" dirty="0"/>
              <a:t>Decision Tree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6"/>
          <p:cNvSpPr txBox="1">
            <a:spLocks noGrp="1"/>
          </p:cNvSpPr>
          <p:nvPr>
            <p:ph type="title"/>
          </p:nvPr>
        </p:nvSpPr>
        <p:spPr>
          <a:xfrm>
            <a:off x="247406"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Supervised Learning</a:t>
            </a:r>
            <a:endParaRPr dirty="0"/>
          </a:p>
        </p:txBody>
      </p:sp>
      <p:sp>
        <p:nvSpPr>
          <p:cNvPr id="218" name="Google Shape;218;p36"/>
          <p:cNvSpPr txBox="1">
            <a:spLocks noGrp="1"/>
          </p:cNvSpPr>
          <p:nvPr>
            <p:ph type="body" idx="1"/>
          </p:nvPr>
        </p:nvSpPr>
        <p:spPr>
          <a:xfrm>
            <a:off x="1" y="572700"/>
            <a:ext cx="9144000" cy="4570799"/>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Data: </a:t>
            </a:r>
          </a:p>
          <a:p>
            <a:pPr marL="457200" lvl="0" indent="-342900" algn="l" rtl="0">
              <a:spcBef>
                <a:spcPts val="0"/>
              </a:spcBef>
              <a:spcAft>
                <a:spcPts val="0"/>
              </a:spcAft>
              <a:buSzPts val="1800"/>
              <a:buChar char="-"/>
            </a:pPr>
            <a:r>
              <a:rPr lang="en-GB" dirty="0"/>
              <a:t>1. Qualitative: Non-numeric/Categorical (hair color); </a:t>
            </a:r>
          </a:p>
          <a:p>
            <a:pPr marL="457200" lvl="0" indent="-342900" algn="l" rtl="0">
              <a:spcBef>
                <a:spcPts val="0"/>
              </a:spcBef>
              <a:spcAft>
                <a:spcPts val="0"/>
              </a:spcAft>
              <a:buSzPts val="1800"/>
              <a:buChar char="-"/>
            </a:pPr>
            <a:r>
              <a:rPr lang="en-GB" dirty="0"/>
              <a:t>2. Quantitative (numeric)</a:t>
            </a:r>
          </a:p>
          <a:p>
            <a:pPr>
              <a:buFont typeface="Arial" panose="020B0604020202020204"/>
              <a:buChar char="-"/>
            </a:pPr>
            <a:r>
              <a:rPr lang="en-GB" dirty="0"/>
              <a:t>Quantitative (numeric): Discrete (certain specfic value); Continuous (any value)</a:t>
            </a:r>
          </a:p>
          <a:p>
            <a:pPr marL="114300" lvl="0" indent="0" algn="l" rtl="0">
              <a:spcBef>
                <a:spcPts val="0"/>
              </a:spcBef>
              <a:spcAft>
                <a:spcPts val="0"/>
              </a:spcAft>
              <a:buSzPts val="1800"/>
              <a:buNone/>
            </a:pPr>
            <a:endParaRPr lang="en-GB" dirty="0"/>
          </a:p>
          <a:p>
            <a:pPr marL="457200" lvl="0" indent="-342900" algn="l" rtl="0">
              <a:spcBef>
                <a:spcPts val="0"/>
              </a:spcBef>
              <a:spcAft>
                <a:spcPts val="0"/>
              </a:spcAft>
              <a:buSzPts val="1800"/>
              <a:buChar char="-"/>
            </a:pPr>
            <a:r>
              <a:rPr lang="en-GB" dirty="0"/>
              <a:t>output y decides classification or regression problem</a:t>
            </a:r>
          </a:p>
          <a:p>
            <a:pPr marL="457200" lvl="0" indent="-342900" algn="l" rtl="0">
              <a:spcBef>
                <a:spcPts val="0"/>
              </a:spcBef>
              <a:spcAft>
                <a:spcPts val="0"/>
              </a:spcAft>
              <a:buSzPts val="1800"/>
              <a:buChar char="-"/>
            </a:pPr>
            <a:r>
              <a:rPr lang="en-GB" dirty="0"/>
              <a:t>Classification (</a:t>
            </a:r>
            <a:r>
              <a:rPr lang="en-GB" dirty="0">
                <a:solidFill>
                  <a:srgbClr val="FF0000"/>
                </a:solidFill>
              </a:rPr>
              <a:t>y categorial/discrete</a:t>
            </a:r>
            <a:r>
              <a:rPr lang="en-GB" dirty="0"/>
              <a:t>)</a:t>
            </a:r>
            <a:endParaRPr dirty="0"/>
          </a:p>
          <a:p>
            <a:pPr marL="914400" lvl="1" indent="-317500" algn="l" rtl="0">
              <a:spcBef>
                <a:spcPts val="0"/>
              </a:spcBef>
              <a:spcAft>
                <a:spcPts val="0"/>
              </a:spcAft>
              <a:buSzPts val="1400"/>
              <a:buChar char="-"/>
            </a:pPr>
            <a:r>
              <a:rPr lang="en-GB" dirty="0"/>
              <a:t>Classification algorithms are used when outputs are restricted to some discrete set of values</a:t>
            </a:r>
            <a:endParaRPr dirty="0"/>
          </a:p>
          <a:p>
            <a:pPr marL="1371600" lvl="2" indent="-317500" algn="l" rtl="0">
              <a:spcBef>
                <a:spcPts val="0"/>
              </a:spcBef>
              <a:spcAft>
                <a:spcPts val="0"/>
              </a:spcAft>
              <a:buSzPts val="1400"/>
              <a:buChar char="-"/>
            </a:pPr>
            <a:r>
              <a:rPr lang="en-GB" dirty="0"/>
              <a:t>E.g. classifying whether an email is a spam email or not, whether a tumor is malignant or benign.</a:t>
            </a:r>
            <a:endParaRPr dirty="0"/>
          </a:p>
          <a:p>
            <a:pPr marL="1371600" lvl="2" indent="-317500" algn="l" rtl="0">
              <a:spcBef>
                <a:spcPts val="0"/>
              </a:spcBef>
              <a:spcAft>
                <a:spcPts val="0"/>
              </a:spcAft>
              <a:buSzPts val="1400"/>
              <a:buChar char="-"/>
            </a:pPr>
            <a:r>
              <a:rPr lang="en-GB" dirty="0"/>
              <a:t>Classifying from medical records whether a pregnancy is high risk or not.</a:t>
            </a:r>
            <a:endParaRPr dirty="0"/>
          </a:p>
          <a:p>
            <a:pPr marL="1371600" lvl="2" indent="-317500" algn="l" rtl="0">
              <a:spcBef>
                <a:spcPts val="0"/>
              </a:spcBef>
              <a:spcAft>
                <a:spcPts val="0"/>
              </a:spcAft>
              <a:buSzPts val="1400"/>
              <a:buChar char="-"/>
            </a:pPr>
            <a:r>
              <a:rPr lang="en-GB" dirty="0"/>
              <a:t>Classify the species of iris </a:t>
            </a:r>
            <a:r>
              <a:rPr lang="en-GB" sz="1100" u="sng" dirty="0">
                <a:solidFill>
                  <a:schemeClr val="hlink"/>
                </a:solidFill>
                <a:hlinkClick r:id="rId3"/>
              </a:rPr>
              <a:t>https://en.wikipedia.org/wiki/Iris_flower_data_set</a:t>
            </a:r>
            <a:r>
              <a:rPr lang="en-GB" dirty="0"/>
              <a:t> </a:t>
            </a:r>
            <a:endParaRPr dirty="0"/>
          </a:p>
          <a:p>
            <a:pPr marL="457200" lvl="0" indent="-342900" algn="l" rtl="0">
              <a:spcBef>
                <a:spcPts val="0"/>
              </a:spcBef>
              <a:spcAft>
                <a:spcPts val="0"/>
              </a:spcAft>
              <a:buSzPts val="1800"/>
              <a:buChar char="-"/>
            </a:pPr>
            <a:r>
              <a:rPr lang="en-GB" dirty="0"/>
              <a:t>Regression (</a:t>
            </a:r>
            <a:r>
              <a:rPr lang="en-GB" dirty="0">
                <a:solidFill>
                  <a:srgbClr val="FF0000"/>
                </a:solidFill>
              </a:rPr>
              <a:t>y numeric and continuous</a:t>
            </a:r>
            <a:r>
              <a:rPr lang="en-GB" dirty="0"/>
              <a:t>)</a:t>
            </a:r>
            <a:endParaRPr dirty="0"/>
          </a:p>
          <a:p>
            <a:pPr marL="914400" lvl="1" indent="-317500" algn="l" rtl="0">
              <a:spcBef>
                <a:spcPts val="0"/>
              </a:spcBef>
              <a:spcAft>
                <a:spcPts val="0"/>
              </a:spcAft>
              <a:buSzPts val="1400"/>
              <a:buChar char="-"/>
            </a:pPr>
            <a:r>
              <a:rPr lang="en-GB" dirty="0"/>
              <a:t>Regression algorithms are used when outputs have continuous values i.e., they may have any value within the range.</a:t>
            </a:r>
            <a:endParaRPr dirty="0"/>
          </a:p>
          <a:p>
            <a:pPr marL="1371600" lvl="2" indent="-317500" algn="l" rtl="0">
              <a:spcBef>
                <a:spcPts val="0"/>
              </a:spcBef>
              <a:spcAft>
                <a:spcPts val="0"/>
              </a:spcAft>
              <a:buSzPts val="1400"/>
              <a:buChar char="-"/>
            </a:pPr>
            <a:r>
              <a:rPr lang="en-GB" dirty="0"/>
              <a:t>E.g. predicting the price of a house from location, size of the area and number of rooms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5"/>
          <p:cNvSpPr txBox="1">
            <a:spLocks noGrp="1"/>
          </p:cNvSpPr>
          <p:nvPr>
            <p:ph type="title"/>
          </p:nvPr>
        </p:nvSpPr>
        <p:spPr>
          <a:xfrm>
            <a:off x="311700" y="1943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Supervised Learning</a:t>
            </a:r>
            <a:endParaRPr dirty="0"/>
          </a:p>
        </p:txBody>
      </p:sp>
      <p:sp>
        <p:nvSpPr>
          <p:cNvPr id="211" name="Google Shape;211;p35"/>
          <p:cNvSpPr txBox="1">
            <a:spLocks noGrp="1"/>
          </p:cNvSpPr>
          <p:nvPr>
            <p:ph type="body" idx="1"/>
          </p:nvPr>
        </p:nvSpPr>
        <p:spPr>
          <a:xfrm>
            <a:off x="0" y="657224"/>
            <a:ext cx="9144000" cy="448627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ML algorithm uses the training dataset to create a </a:t>
            </a:r>
            <a:r>
              <a:rPr lang="en-US" dirty="0">
                <a:solidFill>
                  <a:srgbClr val="FF0000"/>
                </a:solidFill>
              </a:rPr>
              <a:t>model/assumption/hypothesis </a:t>
            </a:r>
            <a:r>
              <a:rPr lang="en-US" dirty="0"/>
              <a:t>which can be used to predict (unseen/new data)</a:t>
            </a:r>
          </a:p>
          <a:p>
            <a:pPr marL="0" lvl="0" indent="0" algn="l" rtl="0">
              <a:spcBef>
                <a:spcPts val="0"/>
              </a:spcBef>
              <a:spcAft>
                <a:spcPts val="1600"/>
              </a:spcAft>
              <a:buNone/>
            </a:pPr>
            <a:r>
              <a:rPr lang="en-US" dirty="0"/>
              <a:t>ML algorithm iteratively makes predictions on the training data and is corrected by the output/supervision of teachers</a:t>
            </a:r>
            <a:endParaRPr dirty="0"/>
          </a:p>
        </p:txBody>
      </p:sp>
      <p:pic>
        <p:nvPicPr>
          <p:cNvPr id="212" name="Google Shape;212;p35"/>
          <p:cNvPicPr preferRelativeResize="0"/>
          <p:nvPr/>
        </p:nvPicPr>
        <p:blipFill rotWithShape="1">
          <a:blip r:embed="rId3"/>
          <a:srcRect l="336" t="3910" r="1105" b="22816"/>
          <a:stretch>
            <a:fillRect/>
          </a:stretch>
        </p:blipFill>
        <p:spPr>
          <a:xfrm>
            <a:off x="1539425" y="2307435"/>
            <a:ext cx="6290125" cy="2821782"/>
          </a:xfrm>
          <a:prstGeom prst="rect">
            <a:avLst/>
          </a:prstGeom>
          <a:noFill/>
          <a:ln>
            <a:noFill/>
          </a:ln>
        </p:spPr>
      </p:pic>
      <p:sp>
        <p:nvSpPr>
          <p:cNvPr id="3" name="TextBox 2"/>
          <p:cNvSpPr txBox="1"/>
          <p:nvPr/>
        </p:nvSpPr>
        <p:spPr>
          <a:xfrm>
            <a:off x="4979194" y="2475016"/>
            <a:ext cx="4572000" cy="307777"/>
          </a:xfrm>
          <a:prstGeom prst="rect">
            <a:avLst/>
          </a:prstGeom>
          <a:noFill/>
        </p:spPr>
        <p:txBody>
          <a:bodyPr wrap="square">
            <a:spAutoFit/>
          </a:bodyPr>
          <a:lstStyle/>
          <a:p>
            <a:r>
              <a:rPr lang="en-GB" sz="1400" dirty="0"/>
              <a:t>&lt;</a:t>
            </a:r>
            <a:r>
              <a:rPr lang="en-GB" sz="1400" dirty="0">
                <a:solidFill>
                  <a:srgbClr val="FF0000"/>
                </a:solidFill>
              </a:rPr>
              <a:t>X, y</a:t>
            </a:r>
            <a:r>
              <a:rPr lang="en-GB" sz="1400" dirty="0"/>
              <a:t>&gt;.</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8AFEE9-61B1-E794-9BD7-7C13E00A669D}"/>
                  </a:ext>
                </a:extLst>
              </p:cNvPr>
              <p:cNvSpPr txBox="1"/>
              <p:nvPr/>
            </p:nvSpPr>
            <p:spPr>
              <a:xfrm>
                <a:off x="7734301" y="4600585"/>
                <a:ext cx="1260035" cy="316690"/>
              </a:xfrm>
              <a:prstGeom prst="rect">
                <a:avLst/>
              </a:prstGeom>
              <a:noFill/>
            </p:spPr>
            <p:txBody>
              <a:bodyPr wrap="square">
                <a:spAutoFit/>
              </a:bodyPr>
              <a:lstStyle/>
              <a:p>
                <a:r>
                  <a:rPr lang="en-GB" sz="1400" dirty="0">
                    <a:solidFill>
                      <a:srgbClr val="FF0000"/>
                    </a:solidFill>
                  </a:rPr>
                  <a:t>(</a:t>
                </a:r>
                <a14:m>
                  <m:oMath xmlns:m="http://schemas.openxmlformats.org/officeDocument/2006/math">
                    <m:acc>
                      <m:accPr>
                        <m:chr m:val="̃"/>
                        <m:ctrlPr>
                          <a:rPr lang="en-GB" sz="1400" i="1" dirty="0" smtClean="0">
                            <a:solidFill>
                              <a:srgbClr val="FF0000"/>
                            </a:solidFill>
                            <a:latin typeface="Cambria Math" panose="02040503050406030204" pitchFamily="18" charset="0"/>
                          </a:rPr>
                        </m:ctrlPr>
                      </m:accPr>
                      <m:e>
                        <m:r>
                          <a:rPr lang="en-US" sz="1400" b="0" i="1" dirty="0" smtClean="0">
                            <a:solidFill>
                              <a:srgbClr val="FF0000"/>
                            </a:solidFill>
                            <a:latin typeface="Cambria Math" panose="02040503050406030204" pitchFamily="18" charset="0"/>
                          </a:rPr>
                          <m:t>𝑦</m:t>
                        </m:r>
                      </m:e>
                    </m:acc>
                    <m:r>
                      <a:rPr lang="en-US" sz="1400" b="0" i="1" dirty="0" smtClean="0">
                        <a:solidFill>
                          <a:srgbClr val="FF0000"/>
                        </a:solidFill>
                        <a:latin typeface="Cambria Math" panose="02040503050406030204" pitchFamily="18" charset="0"/>
                      </a:rPr>
                      <m:t>/</m:t>
                    </m:r>
                    <m:sSup>
                      <m:sSupPr>
                        <m:ctrlPr>
                          <a:rPr lang="en-US" sz="1400" b="0" i="1" dirty="0" smtClean="0">
                            <a:solidFill>
                              <a:srgbClr val="FF0000"/>
                            </a:solidFill>
                            <a:latin typeface="Cambria Math" panose="02040503050406030204" pitchFamily="18" charset="0"/>
                          </a:rPr>
                        </m:ctrlPr>
                      </m:sSupPr>
                      <m:e>
                        <m:r>
                          <a:rPr lang="en-US" sz="1400" b="0" i="1" dirty="0" smtClean="0">
                            <a:solidFill>
                              <a:srgbClr val="FF0000"/>
                            </a:solidFill>
                            <a:latin typeface="Cambria Math" panose="02040503050406030204" pitchFamily="18" charset="0"/>
                          </a:rPr>
                          <m:t>𝑦</m:t>
                        </m:r>
                      </m:e>
                      <m:sup>
                        <m:r>
                          <a:rPr lang="en-US" sz="1400" b="0" i="1" dirty="0" smtClean="0">
                            <a:solidFill>
                              <a:srgbClr val="FF0000"/>
                            </a:solidFill>
                            <a:latin typeface="Cambria Math" panose="02040503050406030204" pitchFamily="18" charset="0"/>
                          </a:rPr>
                          <m:t>′</m:t>
                        </m:r>
                      </m:sup>
                    </m:sSup>
                    <m:r>
                      <a:rPr lang="en-US" sz="1400" b="0" i="1" dirty="0" smtClean="0">
                        <a:solidFill>
                          <a:srgbClr val="FF0000"/>
                        </a:solidFill>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9B8AFEE9-61B1-E794-9BD7-7C13E00A669D}"/>
                  </a:ext>
                </a:extLst>
              </p:cNvPr>
              <p:cNvSpPr txBox="1">
                <a:spLocks noRot="1" noChangeAspect="1" noMove="1" noResize="1" noEditPoints="1" noAdjustHandles="1" noChangeArrowheads="1" noChangeShapeType="1" noTextEdit="1"/>
              </p:cNvSpPr>
              <p:nvPr/>
            </p:nvSpPr>
            <p:spPr>
              <a:xfrm>
                <a:off x="7734301" y="4600585"/>
                <a:ext cx="1260035" cy="316690"/>
              </a:xfrm>
              <a:prstGeom prst="rect">
                <a:avLst/>
              </a:prstGeom>
              <a:blipFill>
                <a:blip r:embed="rId4"/>
                <a:stretch>
                  <a:fillRect l="-1456" t="-3846" b="-15385"/>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16" y="0"/>
            <a:ext cx="8520600" cy="572700"/>
          </a:xfrm>
        </p:spPr>
        <p:txBody>
          <a:bodyPr/>
          <a:lstStyle/>
          <a:p>
            <a:r>
              <a:rPr lang="en-US" dirty="0"/>
              <a:t>Supervised Learning: Regression Problem</a:t>
            </a:r>
          </a:p>
        </p:txBody>
      </p:sp>
      <p:sp>
        <p:nvSpPr>
          <p:cNvPr id="3" name="Content Placeholder 2"/>
          <p:cNvSpPr>
            <a:spLocks noGrp="1"/>
          </p:cNvSpPr>
          <p:nvPr>
            <p:ph idx="1"/>
          </p:nvPr>
        </p:nvSpPr>
        <p:spPr>
          <a:xfrm>
            <a:off x="0" y="572701"/>
            <a:ext cx="9144000" cy="4570800"/>
          </a:xfrm>
        </p:spPr>
        <p:txBody>
          <a:bodyPr>
            <a:normAutofit/>
          </a:bodyPr>
          <a:lstStyle/>
          <a:p>
            <a:pPr algn="l"/>
            <a:r>
              <a:rPr lang="en-US" b="0" i="0" dirty="0">
                <a:effectLst/>
                <a:latin typeface="-apple-system"/>
              </a:rPr>
              <a:t>Below is the table containing home prices in </a:t>
            </a:r>
            <a:r>
              <a:rPr lang="en-US" dirty="0">
                <a:latin typeface="-apple-system"/>
              </a:rPr>
              <a:t>M</a:t>
            </a:r>
            <a:r>
              <a:rPr lang="en-US" b="0" i="0" dirty="0">
                <a:effectLst/>
                <a:latin typeface="-apple-system"/>
              </a:rPr>
              <a:t>onroe </a:t>
            </a:r>
            <a:r>
              <a:rPr lang="en-US" b="0" i="0" dirty="0" err="1">
                <a:effectLst/>
                <a:latin typeface="-apple-system"/>
              </a:rPr>
              <a:t>twp</a:t>
            </a:r>
            <a:r>
              <a:rPr lang="en-US" b="0" i="0" dirty="0">
                <a:effectLst/>
                <a:latin typeface="-apple-system"/>
              </a:rPr>
              <a:t>, NJ. Here price depends on area (square feet), bedrooms and age of the home (in years). Given these prices we have to predict prices of new homes based on area, bedrooms and age.</a:t>
            </a:r>
          </a:p>
          <a:p>
            <a:pPr algn="l"/>
            <a:endParaRPr lang="en-US" dirty="0">
              <a:latin typeface="-apple-system"/>
            </a:endParaRPr>
          </a:p>
          <a:p>
            <a:pPr algn="l"/>
            <a:endParaRPr lang="en-US" b="0" i="0" dirty="0">
              <a:effectLst/>
              <a:latin typeface="-apple-system"/>
            </a:endParaRPr>
          </a:p>
          <a:p>
            <a:pPr algn="l"/>
            <a:endParaRPr lang="en-US" dirty="0">
              <a:latin typeface="-apple-system"/>
            </a:endParaRPr>
          </a:p>
          <a:p>
            <a:pPr algn="l"/>
            <a:endParaRPr lang="en-US" b="0" i="0" dirty="0">
              <a:effectLst/>
              <a:latin typeface="-apple-system"/>
            </a:endParaRPr>
          </a:p>
          <a:p>
            <a:pPr algn="l"/>
            <a:endParaRPr lang="en-US" dirty="0">
              <a:latin typeface="-apple-system"/>
            </a:endParaRPr>
          </a:p>
          <a:p>
            <a:pPr algn="l"/>
            <a:r>
              <a:rPr lang="en-US" b="0" i="0" dirty="0">
                <a:effectLst/>
                <a:latin typeface="-apple-system"/>
              </a:rPr>
              <a:t>Given these home prices find out price of a home that has,</a:t>
            </a:r>
          </a:p>
          <a:p>
            <a:pPr algn="l"/>
            <a:r>
              <a:rPr lang="en-US" b="0" i="0" dirty="0">
                <a:effectLst/>
                <a:latin typeface="-apple-system"/>
              </a:rPr>
              <a:t>3000 </a:t>
            </a:r>
            <a:r>
              <a:rPr lang="en-US" b="0" i="0" dirty="0" err="1">
                <a:effectLst/>
                <a:latin typeface="-apple-system"/>
              </a:rPr>
              <a:t>sqr</a:t>
            </a:r>
            <a:r>
              <a:rPr lang="en-US" b="0" i="0" dirty="0">
                <a:effectLst/>
                <a:latin typeface="-apple-system"/>
              </a:rPr>
              <a:t> ft area, 3 bedrooms, 40 year old</a:t>
            </a:r>
          </a:p>
          <a:p>
            <a:pPr algn="l"/>
            <a:r>
              <a:rPr lang="en-US" b="0" i="0" dirty="0">
                <a:effectLst/>
                <a:latin typeface="-apple-system"/>
              </a:rPr>
              <a:t>2500 </a:t>
            </a:r>
            <a:r>
              <a:rPr lang="en-US" b="0" i="0" dirty="0" err="1">
                <a:effectLst/>
                <a:latin typeface="-apple-system"/>
              </a:rPr>
              <a:t>sqr</a:t>
            </a:r>
            <a:r>
              <a:rPr lang="en-US" b="0" i="0" dirty="0">
                <a:effectLst/>
                <a:latin typeface="-apple-system"/>
              </a:rPr>
              <a:t> ft area, 4 bedrooms, 5 year old</a:t>
            </a:r>
          </a:p>
          <a:p>
            <a:pPr algn="l"/>
            <a:r>
              <a:rPr lang="en-US" dirty="0">
                <a:solidFill>
                  <a:srgbClr val="FF0000"/>
                </a:solidFill>
                <a:latin typeface="-apple-system"/>
              </a:rPr>
              <a:t>Regression problem: </a:t>
            </a:r>
            <a:r>
              <a:rPr lang="en-US" b="1" i="0" dirty="0">
                <a:solidFill>
                  <a:srgbClr val="FF0000"/>
                </a:solidFill>
                <a:effectLst/>
                <a:latin typeface="inter-bold"/>
              </a:rPr>
              <a:t>continuous</a:t>
            </a:r>
            <a:r>
              <a:rPr lang="en-US" b="1" i="0" dirty="0">
                <a:solidFill>
                  <a:srgbClr val="FF0000"/>
                </a:solidFill>
                <a:effectLst/>
                <a:latin typeface="-apple-system"/>
              </a:rPr>
              <a:t> value output</a:t>
            </a:r>
            <a:endParaRPr lang="en-US" b="0" i="0" dirty="0">
              <a:solidFill>
                <a:srgbClr val="FF0000"/>
              </a:solidFill>
              <a:effectLst/>
              <a:latin typeface="-apple-system"/>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9731" y="1657102"/>
            <a:ext cx="2966085" cy="15373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Supervised Learning - Classification</a:t>
            </a:r>
          </a:p>
        </p:txBody>
      </p:sp>
      <p:sp>
        <p:nvSpPr>
          <p:cNvPr id="224" name="Google Shape;22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25" name="Google Shape;225;p37"/>
          <p:cNvPicPr preferRelativeResize="0"/>
          <p:nvPr/>
        </p:nvPicPr>
        <p:blipFill>
          <a:blip r:embed="rId3"/>
          <a:stretch>
            <a:fillRect/>
          </a:stretch>
        </p:blipFill>
        <p:spPr>
          <a:xfrm>
            <a:off x="1189475" y="1152463"/>
            <a:ext cx="5734050" cy="3514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Supervised learning - Classification</a:t>
            </a:r>
          </a:p>
        </p:txBody>
      </p:sp>
      <p:sp>
        <p:nvSpPr>
          <p:cNvPr id="231" name="Google Shape;231;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32" name="Google Shape;232;p38"/>
          <p:cNvPicPr preferRelativeResize="0"/>
          <p:nvPr/>
        </p:nvPicPr>
        <p:blipFill>
          <a:blip r:embed="rId3"/>
          <a:stretch>
            <a:fillRect/>
          </a:stretch>
        </p:blipFill>
        <p:spPr>
          <a:xfrm>
            <a:off x="448338" y="1152463"/>
            <a:ext cx="3781425" cy="3552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Regression</a:t>
            </a:r>
          </a:p>
        </p:txBody>
      </p:sp>
      <p:sp>
        <p:nvSpPr>
          <p:cNvPr id="238" name="Google Shape;238;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00" y="1208087"/>
            <a:ext cx="4876800" cy="330517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8501" y="1409414"/>
            <a:ext cx="3643799" cy="31038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Unsupervised Learning</a:t>
            </a:r>
          </a:p>
        </p:txBody>
      </p:sp>
      <p:sp>
        <p:nvSpPr>
          <p:cNvPr id="245" name="Google Shape;245;p40"/>
          <p:cNvSpPr txBox="1">
            <a:spLocks noGrp="1"/>
          </p:cNvSpPr>
          <p:nvPr>
            <p:ph type="body" idx="1"/>
          </p:nvPr>
        </p:nvSpPr>
        <p:spPr>
          <a:xfrm>
            <a:off x="0" y="1152474"/>
            <a:ext cx="9144000" cy="399102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Unlabeled dataset</a:t>
            </a:r>
          </a:p>
          <a:p>
            <a:pPr>
              <a:buFont typeface="Arial" panose="020B0604020202020204"/>
              <a:buChar char="-"/>
            </a:pPr>
            <a:r>
              <a:rPr lang="en-US" sz="1800" dirty="0"/>
              <a:t>System learns without direct human supervision</a:t>
            </a:r>
            <a:endParaRPr lang="en-GB" dirty="0"/>
          </a:p>
          <a:p>
            <a:pPr marL="457200" lvl="0" indent="-342900" algn="l" rtl="0">
              <a:spcBef>
                <a:spcPts val="0"/>
              </a:spcBef>
              <a:spcAft>
                <a:spcPts val="0"/>
              </a:spcAft>
              <a:buSzPts val="1800"/>
              <a:buChar char="-"/>
            </a:pPr>
            <a:r>
              <a:rPr lang="en-GB" dirty="0"/>
              <a:t>Unsupervised learning algorithms take a set of data that contains only inputs, and find structure/patterns in the data, like grouping or clustering of data points.</a:t>
            </a:r>
            <a:endParaRPr dirty="0"/>
          </a:p>
          <a:p>
            <a:pPr marL="457200" lvl="0" indent="-342900" algn="l" rtl="0">
              <a:spcBef>
                <a:spcPts val="0"/>
              </a:spcBef>
              <a:spcAft>
                <a:spcPts val="0"/>
              </a:spcAft>
              <a:buSzPts val="1800"/>
              <a:buChar char="-"/>
            </a:pPr>
            <a:r>
              <a:rPr lang="en-GB" dirty="0"/>
              <a:t>The algorithms therefore learn from data that has not been labeled, classified or categorized</a:t>
            </a:r>
            <a:endParaRPr dirty="0"/>
          </a:p>
          <a:p>
            <a:pPr marL="457200" lvl="0" indent="-342900" algn="l" rtl="0">
              <a:spcBef>
                <a:spcPts val="0"/>
              </a:spcBef>
              <a:spcAft>
                <a:spcPts val="0"/>
              </a:spcAft>
              <a:buSzPts val="1800"/>
              <a:buChar char="-"/>
            </a:pPr>
            <a:r>
              <a:rPr lang="en-GB" dirty="0"/>
              <a:t>Instead of responding to feedback, unsupervised learning algorithms identify commonalities in the data and react based on the presence or absence of such commonalities in each new piece of data.</a:t>
            </a:r>
          </a:p>
          <a:p>
            <a:pPr marL="457200" lvl="0" indent="-342900" algn="l" rtl="0">
              <a:spcBef>
                <a:spcPts val="0"/>
              </a:spcBef>
              <a:spcAft>
                <a:spcPts val="0"/>
              </a:spcAft>
              <a:buSzPts val="1800"/>
              <a:buChar char="-"/>
            </a:pPr>
            <a:r>
              <a:rPr lang="en-GB" dirty="0"/>
              <a:t>Useful for business intelligence</a:t>
            </a:r>
            <a:endParaRPr dirty="0"/>
          </a:p>
          <a:p>
            <a:pPr marL="0" lvl="0" indent="0" algn="l" rtl="0">
              <a:spcBef>
                <a:spcPts val="1600"/>
              </a:spcBef>
              <a:spcAft>
                <a:spcPts val="160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1"/>
          <p:cNvSpPr txBox="1">
            <a:spLocks noGrp="1"/>
          </p:cNvSpPr>
          <p:nvPr>
            <p:ph type="title"/>
          </p:nvPr>
        </p:nvSpPr>
        <p:spPr>
          <a:xfrm>
            <a:off x="197400" y="19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Cocktail Party Problem</a:t>
            </a:r>
            <a:endParaRPr dirty="0"/>
          </a:p>
        </p:txBody>
      </p:sp>
      <p:sp>
        <p:nvSpPr>
          <p:cNvPr id="251" name="Google Shape;251;p41"/>
          <p:cNvSpPr txBox="1">
            <a:spLocks noGrp="1"/>
          </p:cNvSpPr>
          <p:nvPr>
            <p:ph type="body" idx="1"/>
          </p:nvPr>
        </p:nvSpPr>
        <p:spPr>
          <a:xfrm>
            <a:off x="0" y="574625"/>
            <a:ext cx="8832300" cy="3994250"/>
          </a:xfrm>
          <a:prstGeom prst="rect">
            <a:avLst/>
          </a:prstGeom>
        </p:spPr>
        <p:txBody>
          <a:bodyPr spcFirstLastPara="1" wrap="square" lIns="91425" tIns="91425" rIns="91425" bIns="91425" anchor="t" anchorCtr="0">
            <a:noAutofit/>
          </a:bodyPr>
          <a:lstStyle/>
          <a:p>
            <a:pPr marL="285750" indent="-285750">
              <a:spcAft>
                <a:spcPts val="1600"/>
              </a:spcAft>
            </a:pPr>
            <a:r>
              <a:rPr lang="en-US" dirty="0"/>
              <a:t>Encountered when sounds from different sources in the real-world mix in the air before arriving at the ear</a:t>
            </a:r>
          </a:p>
          <a:p>
            <a:pPr marL="285750" indent="-285750">
              <a:spcAft>
                <a:spcPts val="1600"/>
              </a:spcAft>
            </a:pPr>
            <a:r>
              <a:rPr lang="en-US" dirty="0"/>
              <a:t>Separate independent sources from a mixed signal</a:t>
            </a:r>
            <a:endParaRPr dirty="0"/>
          </a:p>
        </p:txBody>
      </p:sp>
      <p:pic>
        <p:nvPicPr>
          <p:cNvPr id="252" name="Google Shape;252;p41"/>
          <p:cNvPicPr preferRelativeResize="0"/>
          <p:nvPr/>
        </p:nvPicPr>
        <p:blipFill>
          <a:blip r:embed="rId3"/>
          <a:stretch>
            <a:fillRect/>
          </a:stretch>
        </p:blipFill>
        <p:spPr>
          <a:xfrm>
            <a:off x="3963896" y="1838273"/>
            <a:ext cx="4182360" cy="3295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Unsupervised Learning</a:t>
            </a:r>
            <a:endParaRPr dirty="0"/>
          </a:p>
        </p:txBody>
      </p:sp>
      <p:sp>
        <p:nvSpPr>
          <p:cNvPr id="266" name="Google Shape;266;p43"/>
          <p:cNvSpPr txBox="1">
            <a:spLocks noGrp="1"/>
          </p:cNvSpPr>
          <p:nvPr>
            <p:ph type="body" idx="1"/>
          </p:nvPr>
        </p:nvSpPr>
        <p:spPr>
          <a:xfrm>
            <a:off x="0" y="574625"/>
            <a:ext cx="9144000" cy="399425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Recreation of the periodic table with an unsupervised machine learning algorithm</a:t>
            </a:r>
            <a:endParaRPr dirty="0"/>
          </a:p>
        </p:txBody>
      </p:sp>
      <p:pic>
        <p:nvPicPr>
          <p:cNvPr id="267" name="Google Shape;267;p43"/>
          <p:cNvPicPr preferRelativeResize="0"/>
          <p:nvPr/>
        </p:nvPicPr>
        <p:blipFill>
          <a:blip r:embed="rId3"/>
          <a:stretch>
            <a:fillRect/>
          </a:stretch>
        </p:blipFill>
        <p:spPr>
          <a:xfrm>
            <a:off x="564356" y="1302875"/>
            <a:ext cx="7253995" cy="3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0" y="1925"/>
            <a:ext cx="876800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Unsupervised Learning</a:t>
            </a:r>
            <a:endParaRPr dirty="0"/>
          </a:p>
        </p:txBody>
      </p:sp>
      <p:sp>
        <p:nvSpPr>
          <p:cNvPr id="273" name="Google Shape;273;p44"/>
          <p:cNvSpPr txBox="1">
            <a:spLocks noGrp="1"/>
          </p:cNvSpPr>
          <p:nvPr>
            <p:ph type="body" idx="1"/>
          </p:nvPr>
        </p:nvSpPr>
        <p:spPr>
          <a:xfrm>
            <a:off x="0" y="574625"/>
            <a:ext cx="9144000" cy="399425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Clustering of different types of stars</a:t>
            </a:r>
            <a:endParaRPr dirty="0"/>
          </a:p>
        </p:txBody>
      </p:sp>
      <p:pic>
        <p:nvPicPr>
          <p:cNvPr id="274" name="Google Shape;274;p44"/>
          <p:cNvPicPr preferRelativeResize="0"/>
          <p:nvPr/>
        </p:nvPicPr>
        <p:blipFill>
          <a:blip r:embed="rId3"/>
          <a:stretch>
            <a:fillRect/>
          </a:stretch>
        </p:blipFill>
        <p:spPr>
          <a:xfrm>
            <a:off x="699100" y="1152475"/>
            <a:ext cx="6449799" cy="40909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25"/>
            <a:ext cx="8753719" cy="572700"/>
          </a:xfrm>
        </p:spPr>
        <p:txBody>
          <a:bodyPr/>
          <a:lstStyle/>
          <a:p>
            <a:r>
              <a:rPr lang="en-US" dirty="0"/>
              <a:t>Semi-Supervised Learning</a:t>
            </a:r>
          </a:p>
        </p:txBody>
      </p:sp>
      <p:sp>
        <p:nvSpPr>
          <p:cNvPr id="3" name="Text Placeholder 2"/>
          <p:cNvSpPr>
            <a:spLocks noGrp="1"/>
          </p:cNvSpPr>
          <p:nvPr>
            <p:ph type="body" idx="1"/>
          </p:nvPr>
        </p:nvSpPr>
        <p:spPr>
          <a:xfrm>
            <a:off x="0" y="635794"/>
            <a:ext cx="9144000" cy="4507705"/>
          </a:xfrm>
        </p:spPr>
        <p:txBody>
          <a:bodyPr/>
          <a:lstStyle/>
          <a:p>
            <a:r>
              <a:rPr lang="en-US" dirty="0"/>
              <a:t>Supervised learning works on </a:t>
            </a:r>
            <a:r>
              <a:rPr lang="en-US" b="1" dirty="0"/>
              <a:t>labeled data</a:t>
            </a:r>
            <a:endParaRPr lang="en-US" dirty="0"/>
          </a:p>
          <a:p>
            <a:r>
              <a:rPr lang="en-US" dirty="0"/>
              <a:t>Unsupervised learning works on </a:t>
            </a:r>
            <a:r>
              <a:rPr lang="en-US" b="1" dirty="0"/>
              <a:t>unlabeled data</a:t>
            </a:r>
            <a:endParaRPr lang="en-US" dirty="0"/>
          </a:p>
          <a:p>
            <a:r>
              <a:rPr lang="en-US" dirty="0">
                <a:solidFill>
                  <a:srgbClr val="FF0000"/>
                </a:solidFill>
              </a:rPr>
              <a:t>In Semi-Supervised learning, the training data contains both </a:t>
            </a:r>
            <a:r>
              <a:rPr lang="en-US" b="1" dirty="0">
                <a:solidFill>
                  <a:srgbClr val="FF0000"/>
                </a:solidFill>
              </a:rPr>
              <a:t>labeled and unlabeled data</a:t>
            </a:r>
            <a:endParaRPr lang="en-US" dirty="0">
              <a:solidFill>
                <a:srgbClr val="FF0000"/>
              </a:solidFill>
            </a:endParaRPr>
          </a:p>
          <a:p>
            <a:pPr lvl="1"/>
            <a:r>
              <a:rPr lang="en-US" sz="1100" dirty="0"/>
              <a:t>We have a large dataset. Manual labeling of the entire dataset is laborious and expensive</a:t>
            </a:r>
          </a:p>
          <a:p>
            <a:pPr lvl="1"/>
            <a:r>
              <a:rPr lang="en-US" sz="1100" dirty="0">
                <a:solidFill>
                  <a:srgbClr val="FF0000"/>
                </a:solidFill>
              </a:rPr>
              <a:t>One solution could be to label a sample of the dataset and train the labeled portion to create a model. </a:t>
            </a:r>
            <a:r>
              <a:rPr lang="en-US" sz="1100" dirty="0"/>
              <a:t>This would however mean that we are not fully utilizing the larger dataset we have and thus the </a:t>
            </a:r>
            <a:r>
              <a:rPr lang="en-US" sz="1100" dirty="0">
                <a:solidFill>
                  <a:srgbClr val="FF0000"/>
                </a:solidFill>
              </a:rPr>
              <a:t>model that we create may be less robust</a:t>
            </a:r>
          </a:p>
          <a:p>
            <a:pPr lvl="1"/>
            <a:r>
              <a:rPr lang="en-US" sz="1100" dirty="0"/>
              <a:t>A potential solution: (1) Label a sample of the large dataset, (2) train a model using this labeled portion, (3) use the model to predict the unlabeled portion (</a:t>
            </a:r>
            <a:r>
              <a:rPr lang="en-US" sz="1100" b="1" dirty="0"/>
              <a:t>pseudo-labeling</a:t>
            </a:r>
            <a:r>
              <a:rPr lang="en-US" sz="1100" dirty="0"/>
              <a:t>), (4) train using the entire dataset </a:t>
            </a:r>
          </a:p>
          <a:p>
            <a:pPr lvl="1"/>
            <a:r>
              <a:rPr lang="en-US" sz="1100" dirty="0"/>
              <a:t>e.g., Google Photos will cluster similar faces, and ask the user if they are the same person</a:t>
            </a:r>
          </a:p>
        </p:txBody>
      </p:sp>
      <p:pic>
        <p:nvPicPr>
          <p:cNvPr id="4" name="Picture 2" descr="Improve Search Results 1 of 1 Same or Different Person? Rfre Same Different  Not Sure Google Photos Is Hilarious 😂 | Google Meme on ME.ME"/>
          <p:cNvPicPr>
            <a:picLocks noChangeAspect="1" noChangeArrowheads="1"/>
          </p:cNvPicPr>
          <p:nvPr/>
        </p:nvPicPr>
        <p:blipFill rotWithShape="1">
          <a:blip r:embed="rId2">
            <a:extLst>
              <a:ext uri="{28A0092B-C50C-407E-A947-70E740481C1C}">
                <a14:useLocalDpi xmlns:a14="http://schemas.microsoft.com/office/drawing/2010/main" val="0"/>
              </a:ext>
            </a:extLst>
          </a:blip>
          <a:srcRect l="3999" t="2753" r="6401" b="21335"/>
          <a:stretch>
            <a:fillRect/>
          </a:stretch>
        </p:blipFill>
        <p:spPr bwMode="auto">
          <a:xfrm>
            <a:off x="6786563" y="3535834"/>
            <a:ext cx="2252662" cy="15688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0"/>
            <a:ext cx="9144000" cy="533400"/>
          </a:xfrm>
        </p:spPr>
        <p:txBody>
          <a:bodyPr/>
          <a:lstStyle/>
          <a:p>
            <a:r>
              <a:rPr lang="en-US" dirty="0"/>
              <a:t>Reinforcement Learning</a:t>
            </a:r>
          </a:p>
        </p:txBody>
      </p:sp>
      <p:sp>
        <p:nvSpPr>
          <p:cNvPr id="3" name="Content Placeholder 2"/>
          <p:cNvSpPr>
            <a:spLocks noGrp="1"/>
          </p:cNvSpPr>
          <p:nvPr>
            <p:ph idx="1"/>
          </p:nvPr>
        </p:nvSpPr>
        <p:spPr>
          <a:xfrm>
            <a:off x="0" y="514350"/>
            <a:ext cx="5676900" cy="4629150"/>
          </a:xfrm>
        </p:spPr>
        <p:txBody>
          <a:bodyPr>
            <a:normAutofit fontScale="60000" lnSpcReduction="20000"/>
          </a:bodyPr>
          <a:lstStyle/>
          <a:p>
            <a:r>
              <a:rPr lang="en-US" sz="1900" dirty="0"/>
              <a:t>The learning system (agent) can:</a:t>
            </a:r>
          </a:p>
          <a:p>
            <a:pPr lvl="1"/>
            <a:r>
              <a:rPr lang="en-US" sz="1900" dirty="0"/>
              <a:t>Observe the environment</a:t>
            </a:r>
          </a:p>
          <a:p>
            <a:pPr lvl="1"/>
            <a:r>
              <a:rPr lang="en-US" sz="1900" dirty="0"/>
              <a:t>Agent explores the environment to collect </a:t>
            </a:r>
            <a:r>
              <a:rPr lang="en-US" sz="1900" dirty="0">
                <a:solidFill>
                  <a:srgbClr val="FF0000"/>
                </a:solidFill>
              </a:rPr>
              <a:t>data</a:t>
            </a:r>
          </a:p>
          <a:p>
            <a:pPr lvl="1"/>
            <a:r>
              <a:rPr lang="en-US" sz="1900" dirty="0"/>
              <a:t>Select and perform an action based on environment’s state using policy</a:t>
            </a:r>
          </a:p>
          <a:p>
            <a:pPr lvl="1"/>
            <a:r>
              <a:rPr lang="en-US" sz="1900" dirty="0"/>
              <a:t>Get rewards/penalties for the action</a:t>
            </a:r>
          </a:p>
          <a:p>
            <a:pPr lvl="1"/>
            <a:r>
              <a:rPr lang="en-US" sz="1900" dirty="0"/>
              <a:t>Based  on the reward agent will changes its state</a:t>
            </a:r>
          </a:p>
          <a:p>
            <a:pPr lvl="1"/>
            <a:r>
              <a:rPr lang="en-US" sz="1900" dirty="0">
                <a:solidFill>
                  <a:srgbClr val="FF0000"/>
                </a:solidFill>
              </a:rPr>
              <a:t>Agent aim: Maximize reward</a:t>
            </a:r>
            <a:endParaRPr lang="en-US" sz="1900" dirty="0"/>
          </a:p>
          <a:p>
            <a:r>
              <a:rPr lang="en-US" sz="1900" dirty="0"/>
              <a:t>Reinforcement learning differs from supervised learning in a way that in supervised learning the training data has the answer key with it, so the model is trained with the correct answer itself</a:t>
            </a:r>
          </a:p>
          <a:p>
            <a:r>
              <a:rPr lang="en-US" sz="1900" dirty="0"/>
              <a:t>In reinforcement learning, there is no answer, but the reinforcement agent decides what to do to perform the given task. </a:t>
            </a:r>
            <a:r>
              <a:rPr lang="en-US" sz="1900" dirty="0">
                <a:solidFill>
                  <a:srgbClr val="FF0000"/>
                </a:solidFill>
              </a:rPr>
              <a:t>In the absence of a training dataset, it is bound to learn from its experience</a:t>
            </a:r>
          </a:p>
          <a:p>
            <a:r>
              <a:rPr lang="en-US" sz="1900" dirty="0"/>
              <a:t>Very effective in controlled environments = dataset (such as a game of chess)</a:t>
            </a:r>
          </a:p>
          <a:p>
            <a:pPr lvl="1"/>
            <a:r>
              <a:rPr lang="en-US" sz="1900" dirty="0"/>
              <a:t>With the progress in deep learning, increasingly used in more complex tasks (such as driving the mars rover, industrial automation)</a:t>
            </a:r>
          </a:p>
          <a:p>
            <a:pPr lvl="1"/>
            <a:endParaRPr lang="en-US" sz="2000" dirty="0"/>
          </a:p>
        </p:txBody>
      </p:sp>
      <p:pic>
        <p:nvPicPr>
          <p:cNvPr id="5" name="Picture 4"/>
          <p:cNvPicPr>
            <a:picLocks noChangeAspect="1"/>
          </p:cNvPicPr>
          <p:nvPr/>
        </p:nvPicPr>
        <p:blipFill rotWithShape="1">
          <a:blip r:embed="rId2"/>
          <a:srcRect l="17245" t="2268" r="1790" b="3119"/>
          <a:stretch>
            <a:fillRect/>
          </a:stretch>
        </p:blipFill>
        <p:spPr>
          <a:xfrm>
            <a:off x="5626100" y="1187450"/>
            <a:ext cx="3517900" cy="31788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9248-F714-DD6E-9120-FE70578AC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C5224-1725-B552-A9A1-AC713843A229}"/>
              </a:ext>
            </a:extLst>
          </p:cNvPr>
          <p:cNvSpPr>
            <a:spLocks noGrp="1"/>
          </p:cNvSpPr>
          <p:nvPr>
            <p:ph type="title"/>
          </p:nvPr>
        </p:nvSpPr>
        <p:spPr>
          <a:xfrm>
            <a:off x="0" y="-19050"/>
            <a:ext cx="9144000" cy="533400"/>
          </a:xfrm>
        </p:spPr>
        <p:txBody>
          <a:bodyPr/>
          <a:lstStyle/>
          <a:p>
            <a:r>
              <a:rPr lang="en-US" dirty="0"/>
              <a:t>Reinforcement Learning</a:t>
            </a:r>
          </a:p>
        </p:txBody>
      </p:sp>
      <p:sp>
        <p:nvSpPr>
          <p:cNvPr id="3" name="Content Placeholder 2">
            <a:extLst>
              <a:ext uri="{FF2B5EF4-FFF2-40B4-BE49-F238E27FC236}">
                <a16:creationId xmlns:a16="http://schemas.microsoft.com/office/drawing/2014/main" id="{5C8DBC38-85DE-C032-1AA6-4D47538A65DB}"/>
              </a:ext>
            </a:extLst>
          </p:cNvPr>
          <p:cNvSpPr>
            <a:spLocks noGrp="1"/>
          </p:cNvSpPr>
          <p:nvPr>
            <p:ph idx="1"/>
          </p:nvPr>
        </p:nvSpPr>
        <p:spPr>
          <a:xfrm>
            <a:off x="0" y="514350"/>
            <a:ext cx="5676900" cy="4629150"/>
          </a:xfrm>
        </p:spPr>
        <p:txBody>
          <a:bodyPr>
            <a:normAutofit fontScale="82500" lnSpcReduction="20000"/>
          </a:bodyPr>
          <a:lstStyle/>
          <a:p>
            <a:pPr marL="596900" lvl="1" indent="0">
              <a:buNone/>
            </a:pPr>
            <a:r>
              <a:rPr lang="en-US" sz="2000" dirty="0"/>
              <a:t>The agent is the autonomous system</a:t>
            </a:r>
          </a:p>
          <a:p>
            <a:pPr marL="596900" lvl="1" indent="0">
              <a:buNone/>
            </a:pPr>
            <a:r>
              <a:rPr lang="en-US" sz="2000" dirty="0"/>
              <a:t>The environment is the adaptive problem space with attributes such as variables, boundary values, rules, and valid actions</a:t>
            </a:r>
          </a:p>
          <a:p>
            <a:pPr marL="596900" lvl="1" indent="0">
              <a:buNone/>
            </a:pPr>
            <a:r>
              <a:rPr lang="en-US" sz="2000" dirty="0"/>
              <a:t>The action is a step that the RL agent takes to navigate the environment</a:t>
            </a:r>
          </a:p>
          <a:p>
            <a:pPr marL="596900" lvl="1" indent="0">
              <a:buNone/>
            </a:pPr>
            <a:r>
              <a:rPr lang="en-US" sz="2000" dirty="0"/>
              <a:t>The state is the environment at a given point in time</a:t>
            </a:r>
          </a:p>
          <a:p>
            <a:pPr marL="596900" lvl="1" indent="0">
              <a:buNone/>
            </a:pPr>
            <a:r>
              <a:rPr lang="en-US" sz="2000" dirty="0"/>
              <a:t>The reward is the positive, negative, or zero value—in other words, the reward or punishment—for taking an action</a:t>
            </a:r>
          </a:p>
          <a:p>
            <a:pPr marL="596900" lvl="1" indent="0">
              <a:buNone/>
            </a:pPr>
            <a:r>
              <a:rPr lang="en-US" sz="2000" dirty="0"/>
              <a:t>The cumulative reward is the sum of all rewards or the end value</a:t>
            </a:r>
          </a:p>
        </p:txBody>
      </p:sp>
      <p:pic>
        <p:nvPicPr>
          <p:cNvPr id="6" name="Picture 5" descr="A diagram of a state&#10;&#10;Description automatically generated">
            <a:extLst>
              <a:ext uri="{FF2B5EF4-FFF2-40B4-BE49-F238E27FC236}">
                <a16:creationId xmlns:a16="http://schemas.microsoft.com/office/drawing/2014/main" id="{A8630323-0282-3EAF-9226-9C0B00855009}"/>
              </a:ext>
            </a:extLst>
          </p:cNvPr>
          <p:cNvPicPr>
            <a:picLocks noChangeAspect="1"/>
          </p:cNvPicPr>
          <p:nvPr/>
        </p:nvPicPr>
        <p:blipFill>
          <a:blip r:embed="rId2"/>
          <a:srcRect l="8610" r="8769" b="6818"/>
          <a:stretch/>
        </p:blipFill>
        <p:spPr>
          <a:xfrm>
            <a:off x="5740400" y="1241878"/>
            <a:ext cx="3403600" cy="2591833"/>
          </a:xfrm>
          <a:prstGeom prst="rect">
            <a:avLst/>
          </a:prstGeom>
        </p:spPr>
      </p:pic>
    </p:spTree>
    <p:extLst>
      <p:ext uri="{BB962C8B-B14F-4D97-AF65-F5344CB8AC3E}">
        <p14:creationId xmlns:p14="http://schemas.microsoft.com/office/powerpoint/2010/main" val="162530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D1BD-7B3E-31A6-70A0-15F4F82F5491}"/>
              </a:ext>
            </a:extLst>
          </p:cNvPr>
          <p:cNvSpPr>
            <a:spLocks noGrp="1"/>
          </p:cNvSpPr>
          <p:nvPr>
            <p:ph type="title"/>
          </p:nvPr>
        </p:nvSpPr>
        <p:spPr/>
        <p:txBody>
          <a:bodyPr/>
          <a:lstStyle/>
          <a:p>
            <a:r>
              <a:rPr lang="en-US" dirty="0"/>
              <a:t>Multilabel Classification</a:t>
            </a:r>
          </a:p>
        </p:txBody>
      </p:sp>
      <p:sp>
        <p:nvSpPr>
          <p:cNvPr id="3" name="Content Placeholder 2">
            <a:extLst>
              <a:ext uri="{FF2B5EF4-FFF2-40B4-BE49-F238E27FC236}">
                <a16:creationId xmlns:a16="http://schemas.microsoft.com/office/drawing/2014/main" id="{A63F7443-52CF-224C-E3A1-0A3EFA71E129}"/>
              </a:ext>
            </a:extLst>
          </p:cNvPr>
          <p:cNvSpPr>
            <a:spLocks noGrp="1"/>
          </p:cNvSpPr>
          <p:nvPr>
            <p:ph idx="1"/>
          </p:nvPr>
        </p:nvSpPr>
        <p:spPr>
          <a:xfrm>
            <a:off x="0" y="1152474"/>
            <a:ext cx="9144000" cy="3991025"/>
          </a:xfrm>
        </p:spPr>
        <p:txBody>
          <a:bodyPr/>
          <a:lstStyle/>
          <a:p>
            <a:r>
              <a:rPr lang="en-US" dirty="0">
                <a:solidFill>
                  <a:schemeClr val="tx1"/>
                </a:solidFill>
              </a:rPr>
              <a:t>Two or more classes and the data we want to classify may belong to </a:t>
            </a:r>
            <a:r>
              <a:rPr lang="en-US" dirty="0">
                <a:solidFill>
                  <a:srgbClr val="FF0000"/>
                </a:solidFill>
              </a:rPr>
              <a:t>none of the classes or all of them</a:t>
            </a:r>
            <a:r>
              <a:rPr lang="en-US" dirty="0">
                <a:solidFill>
                  <a:schemeClr val="tx1"/>
                </a:solidFill>
              </a:rPr>
              <a:t> at the same time</a:t>
            </a:r>
          </a:p>
          <a:p>
            <a:r>
              <a:rPr lang="en-US" dirty="0">
                <a:solidFill>
                  <a:schemeClr val="tx1"/>
                </a:solidFill>
              </a:rPr>
              <a:t>Multiple labels to an instance, allowing it to belong to more than one category </a:t>
            </a:r>
            <a:r>
              <a:rPr lang="en-US" dirty="0">
                <a:solidFill>
                  <a:srgbClr val="FF0000"/>
                </a:solidFill>
              </a:rPr>
              <a:t>simultaneously</a:t>
            </a:r>
            <a:endParaRPr lang="en-US" dirty="0">
              <a:solidFill>
                <a:schemeClr val="tx1"/>
              </a:solidFill>
            </a:endParaRPr>
          </a:p>
          <a:p>
            <a:r>
              <a:rPr lang="en-US" dirty="0">
                <a:solidFill>
                  <a:schemeClr val="tx1"/>
                </a:solidFill>
              </a:rPr>
              <a:t>Multiple tags to a blog post or assigning multiple genres to a movie</a:t>
            </a:r>
          </a:p>
          <a:p>
            <a:pPr marL="114300" indent="0">
              <a:buNone/>
            </a:pPr>
            <a:endParaRPr lang="en-US" dirty="0">
              <a:solidFill>
                <a:schemeClr val="tx1"/>
              </a:solidFill>
            </a:endParaRPr>
          </a:p>
        </p:txBody>
      </p:sp>
      <p:pic>
        <p:nvPicPr>
          <p:cNvPr id="5" name="Picture 4" descr="A screenshot of a video&#10;&#10;Description automatically generated">
            <a:extLst>
              <a:ext uri="{FF2B5EF4-FFF2-40B4-BE49-F238E27FC236}">
                <a16:creationId xmlns:a16="http://schemas.microsoft.com/office/drawing/2014/main" id="{BC5ECA16-204D-3441-AC12-7A78A8A6705E}"/>
              </a:ext>
            </a:extLst>
          </p:cNvPr>
          <p:cNvPicPr>
            <a:picLocks noChangeAspect="1"/>
          </p:cNvPicPr>
          <p:nvPr/>
        </p:nvPicPr>
        <p:blipFill rotWithShape="1">
          <a:blip r:embed="rId2"/>
          <a:srcRect b="14554"/>
          <a:stretch/>
        </p:blipFill>
        <p:spPr>
          <a:xfrm>
            <a:off x="4876799" y="2856887"/>
            <a:ext cx="3803641" cy="2034427"/>
          </a:xfrm>
          <a:prstGeom prst="rect">
            <a:avLst/>
          </a:prstGeom>
        </p:spPr>
      </p:pic>
    </p:spTree>
    <p:extLst>
      <p:ext uri="{BB962C8B-B14F-4D97-AF65-F5344CB8AC3E}">
        <p14:creationId xmlns:p14="http://schemas.microsoft.com/office/powerpoint/2010/main" val="1418161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D1BD-7B3E-31A6-70A0-15F4F82F5491}"/>
              </a:ext>
            </a:extLst>
          </p:cNvPr>
          <p:cNvSpPr>
            <a:spLocks noGrp="1"/>
          </p:cNvSpPr>
          <p:nvPr>
            <p:ph type="title"/>
          </p:nvPr>
        </p:nvSpPr>
        <p:spPr/>
        <p:txBody>
          <a:bodyPr/>
          <a:lstStyle/>
          <a:p>
            <a:r>
              <a:rPr lang="en-US" dirty="0"/>
              <a:t>Multimodal Learning</a:t>
            </a:r>
          </a:p>
        </p:txBody>
      </p:sp>
      <p:sp>
        <p:nvSpPr>
          <p:cNvPr id="3" name="Content Placeholder 2">
            <a:extLst>
              <a:ext uri="{FF2B5EF4-FFF2-40B4-BE49-F238E27FC236}">
                <a16:creationId xmlns:a16="http://schemas.microsoft.com/office/drawing/2014/main" id="{A63F7443-52CF-224C-E3A1-0A3EFA71E129}"/>
              </a:ext>
            </a:extLst>
          </p:cNvPr>
          <p:cNvSpPr>
            <a:spLocks noGrp="1"/>
          </p:cNvSpPr>
          <p:nvPr>
            <p:ph idx="1"/>
          </p:nvPr>
        </p:nvSpPr>
        <p:spPr>
          <a:xfrm>
            <a:off x="0" y="1152474"/>
            <a:ext cx="9144000" cy="3991025"/>
          </a:xfrm>
        </p:spPr>
        <p:txBody>
          <a:bodyPr/>
          <a:lstStyle/>
          <a:p>
            <a:r>
              <a:rPr lang="en-US" dirty="0">
                <a:solidFill>
                  <a:schemeClr val="tx1"/>
                </a:solidFill>
              </a:rPr>
              <a:t>Comprises multiple modalities of data, such as text, audio, or images</a:t>
            </a:r>
          </a:p>
          <a:p>
            <a:r>
              <a:rPr lang="en-US" dirty="0">
                <a:solidFill>
                  <a:schemeClr val="tx1"/>
                </a:solidFill>
              </a:rPr>
              <a:t>More robust than traditional unimodal learning</a:t>
            </a:r>
          </a:p>
          <a:p>
            <a:pPr marL="114300" indent="0">
              <a:buNone/>
            </a:pPr>
            <a:endParaRPr lang="en-US" dirty="0">
              <a:solidFill>
                <a:schemeClr val="tx1"/>
              </a:solidFill>
            </a:endParaRPr>
          </a:p>
        </p:txBody>
      </p:sp>
      <p:pic>
        <p:nvPicPr>
          <p:cNvPr id="6" name="Picture 5" descr="A diagram of a network&#10;&#10;Description automatically generated">
            <a:extLst>
              <a:ext uri="{FF2B5EF4-FFF2-40B4-BE49-F238E27FC236}">
                <a16:creationId xmlns:a16="http://schemas.microsoft.com/office/drawing/2014/main" id="{5CBC5EBF-7024-7806-F0AA-BD9F1CDE1A11}"/>
              </a:ext>
            </a:extLst>
          </p:cNvPr>
          <p:cNvPicPr>
            <a:picLocks noChangeAspect="1"/>
          </p:cNvPicPr>
          <p:nvPr/>
        </p:nvPicPr>
        <p:blipFill rotWithShape="1">
          <a:blip r:embed="rId2"/>
          <a:srcRect l="11747" t="17774" r="6745" b="6322"/>
          <a:stretch/>
        </p:blipFill>
        <p:spPr>
          <a:xfrm>
            <a:off x="928913" y="2151942"/>
            <a:ext cx="7453087" cy="2946400"/>
          </a:xfrm>
          <a:prstGeom prst="rect">
            <a:avLst/>
          </a:prstGeom>
        </p:spPr>
      </p:pic>
    </p:spTree>
    <p:extLst>
      <p:ext uri="{BB962C8B-B14F-4D97-AF65-F5344CB8AC3E}">
        <p14:creationId xmlns:p14="http://schemas.microsoft.com/office/powerpoint/2010/main" val="3805208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Issues related to AI (and more particularly ML)</a:t>
            </a:r>
          </a:p>
        </p:txBody>
      </p:sp>
      <p:sp>
        <p:nvSpPr>
          <p:cNvPr id="287" name="Google Shape;287;p46"/>
          <p:cNvSpPr txBox="1">
            <a:spLocks noGrp="1"/>
          </p:cNvSpPr>
          <p:nvPr>
            <p:ph type="body" idx="1"/>
          </p:nvPr>
        </p:nvSpPr>
        <p:spPr>
          <a:xfrm>
            <a:off x="0" y="1152475"/>
            <a:ext cx="91440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dirty="0"/>
              <a:t>ML model depends on the data that is fed.</a:t>
            </a:r>
            <a:endParaRPr dirty="0"/>
          </a:p>
          <a:p>
            <a:pPr marL="457200" lvl="0" indent="-342900" algn="l" rtl="0">
              <a:spcBef>
                <a:spcPts val="0"/>
              </a:spcBef>
              <a:spcAft>
                <a:spcPts val="0"/>
              </a:spcAft>
              <a:buSzPts val="1800"/>
              <a:buChar char="-"/>
            </a:pPr>
            <a:r>
              <a:rPr lang="en-GB" dirty="0"/>
              <a:t>Bias in the data (conscious / unconscious) can be easily picked up by ML models</a:t>
            </a:r>
            <a:endParaRPr dirty="0"/>
          </a:p>
          <a:p>
            <a:pPr marL="914400" lvl="1" indent="-317500" algn="l" rtl="0">
              <a:spcBef>
                <a:spcPts val="0"/>
              </a:spcBef>
              <a:spcAft>
                <a:spcPts val="0"/>
              </a:spcAft>
              <a:buSzPts val="1400"/>
              <a:buChar char="-"/>
            </a:pPr>
            <a:r>
              <a:rPr lang="en-GB" dirty="0"/>
              <a:t>ML systems used for criminal risk assessment of NYPD have been found to be biased against black people.</a:t>
            </a:r>
          </a:p>
          <a:p>
            <a:pPr marL="914400" lvl="1" indent="-317500" algn="l" rtl="0">
              <a:spcBef>
                <a:spcPts val="0"/>
              </a:spcBef>
              <a:spcAft>
                <a:spcPts val="0"/>
              </a:spcAft>
              <a:buSzPts val="1400"/>
              <a:buChar char="-"/>
            </a:pPr>
            <a:r>
              <a:rPr lang="en-GB" dirty="0"/>
              <a:t>Used to find a person is a potential criminal or not</a:t>
            </a:r>
          </a:p>
          <a:p>
            <a:pPr marL="596900" lvl="1" indent="0" algn="l" rtl="0">
              <a:spcBef>
                <a:spcPts val="0"/>
              </a:spcBef>
              <a:spcAft>
                <a:spcPts val="0"/>
              </a:spcAft>
              <a:buSzPts val="1400"/>
              <a:buNone/>
            </a:pPr>
            <a:endParaRPr dirty="0"/>
          </a:p>
          <a:p>
            <a:pPr marL="0" lvl="0" indent="0" algn="l" rtl="0">
              <a:spcBef>
                <a:spcPts val="1600"/>
              </a:spcBef>
              <a:spcAft>
                <a:spcPts val="1600"/>
              </a:spcAft>
              <a:buNone/>
            </a:pPr>
            <a:endParaRPr dirty="0"/>
          </a:p>
        </p:txBody>
      </p:sp>
      <p:pic>
        <p:nvPicPr>
          <p:cNvPr id="3" name="Picture 2" descr="A screenshot of a web page&#10;&#10;Description automatically generated">
            <a:extLst>
              <a:ext uri="{FF2B5EF4-FFF2-40B4-BE49-F238E27FC236}">
                <a16:creationId xmlns:a16="http://schemas.microsoft.com/office/drawing/2014/main" id="{6F00E082-0C17-CB34-EE41-A7266F89FA5A}"/>
              </a:ext>
            </a:extLst>
          </p:cNvPr>
          <p:cNvPicPr>
            <a:picLocks noChangeAspect="1"/>
          </p:cNvPicPr>
          <p:nvPr/>
        </p:nvPicPr>
        <p:blipFill>
          <a:blip r:embed="rId3"/>
          <a:stretch>
            <a:fillRect/>
          </a:stretch>
        </p:blipFill>
        <p:spPr>
          <a:xfrm>
            <a:off x="1741714" y="2649853"/>
            <a:ext cx="5116286" cy="24936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Issues Related to ML</a:t>
            </a:r>
          </a:p>
        </p:txBody>
      </p:sp>
      <p:sp>
        <p:nvSpPr>
          <p:cNvPr id="293" name="Google Shape;293;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94" name="Google Shape;294;p47"/>
          <p:cNvPicPr preferRelativeResize="0"/>
          <p:nvPr/>
        </p:nvPicPr>
        <p:blipFill>
          <a:blip r:embed="rId3"/>
          <a:stretch>
            <a:fillRect/>
          </a:stretch>
        </p:blipFill>
        <p:spPr>
          <a:xfrm>
            <a:off x="396025" y="1235075"/>
            <a:ext cx="7772400" cy="3816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Issues Related to ML</a:t>
            </a:r>
          </a:p>
        </p:txBody>
      </p:sp>
      <p:sp>
        <p:nvSpPr>
          <p:cNvPr id="293" name="Google Shape;293;p47"/>
          <p:cNvSpPr txBox="1">
            <a:spLocks noGrp="1"/>
          </p:cNvSpPr>
          <p:nvPr>
            <p:ph type="body" idx="1"/>
          </p:nvPr>
        </p:nvSpPr>
        <p:spPr>
          <a:xfrm>
            <a:off x="0" y="1152475"/>
            <a:ext cx="88323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err="1"/>
              <a:t>Genderify</a:t>
            </a:r>
            <a:r>
              <a:rPr lang="en-US" dirty="0"/>
              <a:t> — designed to identify a person’s gender by analyzing their username or email address</a:t>
            </a:r>
          </a:p>
          <a:p>
            <a:pPr marL="0" lvl="0" indent="0" algn="l" rtl="0">
              <a:spcBef>
                <a:spcPts val="0"/>
              </a:spcBef>
              <a:spcAft>
                <a:spcPts val="1600"/>
              </a:spcAft>
              <a:buNone/>
            </a:pPr>
            <a:r>
              <a:rPr lang="en-US" dirty="0">
                <a:solidFill>
                  <a:srgbClr val="FF0000"/>
                </a:solidFill>
              </a:rPr>
              <a:t>the word “professor,” </a:t>
            </a:r>
            <a:r>
              <a:rPr lang="en-US" dirty="0" err="1">
                <a:solidFill>
                  <a:srgbClr val="FF0000"/>
                </a:solidFill>
              </a:rPr>
              <a:t>Genderify</a:t>
            </a:r>
            <a:r>
              <a:rPr lang="en-US" dirty="0">
                <a:solidFill>
                  <a:srgbClr val="FF0000"/>
                </a:solidFill>
              </a:rPr>
              <a:t> predicted a 98.4 percent probability for males. Meanwhile, “stupid” returned a 61.7 percent female prediction</a:t>
            </a:r>
          </a:p>
          <a:p>
            <a:pPr marL="0" lvl="0" indent="0" algn="l" rtl="0">
              <a:spcBef>
                <a:spcPts val="0"/>
              </a:spcBef>
              <a:spcAft>
                <a:spcPts val="1600"/>
              </a:spcAft>
              <a:buNone/>
            </a:pPr>
            <a:endParaRPr dirty="0"/>
          </a:p>
        </p:txBody>
      </p:sp>
      <p:pic>
        <p:nvPicPr>
          <p:cNvPr id="3" name="Picture 2" descr="Graphical user interface, text&#10;&#10;Description automatically generated with medium confidence"/>
          <p:cNvPicPr>
            <a:picLocks noChangeAspect="1"/>
          </p:cNvPicPr>
          <p:nvPr/>
        </p:nvPicPr>
        <p:blipFill>
          <a:blip r:embed="rId3"/>
          <a:stretch>
            <a:fillRect/>
          </a:stretch>
        </p:blipFill>
        <p:spPr>
          <a:xfrm>
            <a:off x="4486274" y="2690924"/>
            <a:ext cx="3709987" cy="237875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dirty="0"/>
          </a:p>
        </p:txBody>
      </p:sp>
      <p:pic>
        <p:nvPicPr>
          <p:cNvPr id="301" name="Google Shape;301;p48"/>
          <p:cNvPicPr preferRelativeResize="0"/>
          <p:nvPr/>
        </p:nvPicPr>
        <p:blipFill rotWithShape="1">
          <a:blip r:embed="rId3"/>
          <a:srcRect l="-1293" t="466" r="1293" b="9157"/>
          <a:stretch>
            <a:fillRect/>
          </a:stretch>
        </p:blipFill>
        <p:spPr>
          <a:xfrm>
            <a:off x="2588419" y="0"/>
            <a:ext cx="386715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308" name="Google Shape;308;p49"/>
          <p:cNvPicPr preferRelativeResize="0"/>
          <p:nvPr/>
        </p:nvPicPr>
        <p:blipFill>
          <a:blip r:embed="rId3"/>
          <a:stretch>
            <a:fillRect/>
          </a:stretch>
        </p:blipFill>
        <p:spPr>
          <a:xfrm>
            <a:off x="328613" y="190500"/>
            <a:ext cx="8486775" cy="4762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315" name="Google Shape;315;p50"/>
          <p:cNvPicPr preferRelativeResize="0"/>
          <p:nvPr/>
        </p:nvPicPr>
        <p:blipFill>
          <a:blip r:embed="rId3"/>
          <a:stretch>
            <a:fillRect/>
          </a:stretch>
        </p:blipFill>
        <p:spPr>
          <a:xfrm>
            <a:off x="0" y="398310"/>
            <a:ext cx="9143999" cy="434687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ML and Ethics (More Complex case)</a:t>
            </a:r>
          </a:p>
        </p:txBody>
      </p:sp>
      <p:sp>
        <p:nvSpPr>
          <p:cNvPr id="321" name="Google Shape;321;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a:t>When applied to people, data mining is frequently used to discriminate - who gets the loan, who gets the special offer, and so on. </a:t>
            </a:r>
          </a:p>
          <a:p>
            <a:pPr marL="457200" lvl="0" indent="-342900" algn="l" rtl="0">
              <a:spcBef>
                <a:spcPts val="0"/>
              </a:spcBef>
              <a:spcAft>
                <a:spcPts val="0"/>
              </a:spcAft>
              <a:buSzPts val="1800"/>
              <a:buChar char="-"/>
            </a:pPr>
            <a:r>
              <a:rPr lang="en-GB"/>
              <a:t>Certain kinds of discrimination - racist, sexual, religious and so on are not only unethical but also illegal.</a:t>
            </a:r>
          </a:p>
          <a:p>
            <a:pPr marL="457200" lvl="0" indent="-342900" algn="l" rtl="0">
              <a:spcBef>
                <a:spcPts val="0"/>
              </a:spcBef>
              <a:spcAft>
                <a:spcPts val="0"/>
              </a:spcAft>
              <a:buSzPts val="1800"/>
              <a:buChar char="-"/>
            </a:pPr>
            <a:r>
              <a:rPr lang="en-GB"/>
              <a:t>Using sexual and racist information for medical diagnosis is certainly ethical but using the same information when mining loan payment behavior is not.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ML and Ethics (Difficulty to solve it)</a:t>
            </a:r>
          </a:p>
        </p:txBody>
      </p:sp>
      <p:sp>
        <p:nvSpPr>
          <p:cNvPr id="327" name="Google Shape;327;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b="1" i="1" dirty="0"/>
              <a:t>Reidentification</a:t>
            </a:r>
            <a:r>
              <a:rPr lang="en-GB" dirty="0"/>
              <a:t> techniques has provided sobering insights into the difficulty of anonymizing data. </a:t>
            </a:r>
            <a:endParaRPr dirty="0"/>
          </a:p>
          <a:p>
            <a:pPr marL="914400" lvl="1" indent="-317500" algn="l" rtl="0">
              <a:spcBef>
                <a:spcPts val="0"/>
              </a:spcBef>
              <a:spcAft>
                <a:spcPts val="0"/>
              </a:spcAft>
              <a:buSzPts val="1400"/>
              <a:buChar char="-"/>
            </a:pPr>
            <a:r>
              <a:rPr lang="en-GB" dirty="0"/>
              <a:t>85% of the Americans can be identified from just three pieces of information, zip code, birth date and sex.</a:t>
            </a:r>
            <a:endParaRPr dirty="0"/>
          </a:p>
          <a:p>
            <a:pPr marL="0" lvl="0" indent="0" algn="l" rtl="0">
              <a:spcBef>
                <a:spcPts val="1600"/>
              </a:spcBef>
              <a:spcAft>
                <a:spcPts val="0"/>
              </a:spcAft>
              <a:buNone/>
            </a:pPr>
            <a:r>
              <a:rPr lang="en-GB" dirty="0"/>
              <a:t>   </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1838</Words>
  <Application>Microsoft Office PowerPoint</Application>
  <PresentationFormat>On-screen Show (16:9)</PresentationFormat>
  <Paragraphs>154</Paragraphs>
  <Slides>31</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-apple-system</vt:lpstr>
      <vt:lpstr>Arial</vt:lpstr>
      <vt:lpstr>Cambria Math</vt:lpstr>
      <vt:lpstr>inter-bold</vt:lpstr>
      <vt:lpstr>Simple Light</vt:lpstr>
      <vt:lpstr>AI and machine learning problems</vt:lpstr>
      <vt:lpstr>Checkers learning problem</vt:lpstr>
      <vt:lpstr>Handwriting Recognition Problem</vt:lpstr>
      <vt:lpstr>Student Admission Prediction Problem</vt:lpstr>
      <vt:lpstr>Classifying an incoming email as either a spam or not spam </vt:lpstr>
      <vt:lpstr>Robot driving learning problem</vt:lpstr>
      <vt:lpstr>Different types of learning</vt:lpstr>
      <vt:lpstr>Supervised Learning: Classification Problem</vt:lpstr>
      <vt:lpstr>Supervised Learning</vt:lpstr>
      <vt:lpstr>Supervised Learning</vt:lpstr>
      <vt:lpstr>Supervised Learning: Regression Problem</vt:lpstr>
      <vt:lpstr>Supervised Learning - Classification</vt:lpstr>
      <vt:lpstr>Supervised learning - Classification</vt:lpstr>
      <vt:lpstr>Regression</vt:lpstr>
      <vt:lpstr>Unsupervised Learning</vt:lpstr>
      <vt:lpstr>The Cocktail Party Problem</vt:lpstr>
      <vt:lpstr>Unsupervised Learning</vt:lpstr>
      <vt:lpstr>Unsupervised Learning</vt:lpstr>
      <vt:lpstr>Semi-Supervised Learning</vt:lpstr>
      <vt:lpstr>Reinforcement Learning</vt:lpstr>
      <vt:lpstr>Reinforcement Learning</vt:lpstr>
      <vt:lpstr>Multilabel Classification</vt:lpstr>
      <vt:lpstr>Multimodal Learning</vt:lpstr>
      <vt:lpstr>Issues related to AI (and more particularly ML)</vt:lpstr>
      <vt:lpstr>Issues Related to ML</vt:lpstr>
      <vt:lpstr>Issues Related to ML</vt:lpstr>
      <vt:lpstr>PowerPoint Presentation</vt:lpstr>
      <vt:lpstr>PowerPoint Presentation</vt:lpstr>
      <vt:lpstr>PowerPoint Presentation</vt:lpstr>
      <vt:lpstr>ML and Ethics (More Complex case)</vt:lpstr>
      <vt:lpstr>ML and Ethics (Difficulty to solve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CSE 445  &amp; Machine Learning</dc:title>
  <dc:creator/>
  <cp:lastModifiedBy>Riasat Khan</cp:lastModifiedBy>
  <cp:revision>22</cp:revision>
  <dcterms:created xsi:type="dcterms:W3CDTF">2023-01-30T13:06:53Z</dcterms:created>
  <dcterms:modified xsi:type="dcterms:W3CDTF">2025-01-25T13:10:24Z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B5A33A709CF94EDF9BCC9F321D726430</vt:lpwstr>
  </property>
  <property fmtid="{D5CDD505-2E9C-101B-9397-08002B2CF9AE}" pid="3" name="KSOProductBuildVer">
    <vt:lpwstr>1033-11.2.0.11440</vt:lpwstr>
  </property>
</Properties>
</file>