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301" r:id="rId11"/>
    <p:sldId id="267" r:id="rId12"/>
    <p:sldId id="268" r:id="rId13"/>
    <p:sldId id="269" r:id="rId14"/>
    <p:sldId id="270" r:id="rId15"/>
    <p:sldId id="271" r:id="rId16"/>
    <p:sldId id="272" r:id="rId17"/>
    <p:sldId id="274" r:id="rId18"/>
    <p:sldId id="275" r:id="rId19"/>
    <p:sldId id="276" r:id="rId20"/>
    <p:sldId id="277" r:id="rId21"/>
    <p:sldId id="278" r:id="rId22"/>
    <p:sldId id="305" r:id="rId23"/>
    <p:sldId id="303" r:id="rId24"/>
    <p:sldId id="304" r:id="rId25"/>
    <p:sldId id="306" r:id="rId26"/>
    <p:sldId id="308" r:id="rId27"/>
    <p:sldId id="307" r:id="rId28"/>
    <p:sldId id="302" r:id="rId29"/>
    <p:sldId id="279" r:id="rId30"/>
    <p:sldId id="280" r:id="rId31"/>
    <p:sldId id="281" r:id="rId32"/>
    <p:sldId id="282" r:id="rId33"/>
    <p:sldId id="286" r:id="rId34"/>
    <p:sldId id="283" r:id="rId35"/>
    <p:sldId id="284" r:id="rId36"/>
    <p:sldId id="285" r:id="rId37"/>
    <p:sldId id="287" r:id="rId38"/>
    <p:sldId id="288" r:id="rId39"/>
    <p:sldId id="289" r:id="rId40"/>
    <p:sldId id="290" r:id="rId41"/>
    <p:sldId id="291" r:id="rId42"/>
    <p:sldId id="292" r:id="rId43"/>
    <p:sldId id="293" r:id="rId44"/>
    <p:sldId id="294" r:id="rId45"/>
    <p:sldId id="295" r:id="rId46"/>
    <p:sldId id="297" r:id="rId47"/>
    <p:sldId id="296" r:id="rId48"/>
    <p:sldId id="298" r:id="rId49"/>
    <p:sldId id="29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355AA9-4387-43A9-989B-53D1D2A8BD32}" v="3" dt="2025-03-01T13:52:29.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autoAdjust="0"/>
    <p:restoredTop sz="94660"/>
  </p:normalViewPr>
  <p:slideViewPr>
    <p:cSldViewPr snapToGrid="0">
      <p:cViewPr varScale="1">
        <p:scale>
          <a:sx n="111" d="100"/>
          <a:sy n="111"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44A446E7-AB8A-4F1C-B4B7-E01718BF3E69}"/>
    <pc:docChg chg="undo custSel addSld delSld modSld">
      <pc:chgData name="Riasat Khan" userId="826ac62dfbb52e43" providerId="LiveId" clId="{44A446E7-AB8A-4F1C-B4B7-E01718BF3E69}" dt="2023-03-15T05:34:03.428" v="405" actId="20577"/>
      <pc:docMkLst>
        <pc:docMk/>
      </pc:docMkLst>
      <pc:sldChg chg="modSp mod">
        <pc:chgData name="Riasat Khan" userId="826ac62dfbb52e43" providerId="LiveId" clId="{44A446E7-AB8A-4F1C-B4B7-E01718BF3E69}" dt="2023-03-13T02:08:11.355" v="56" actId="20577"/>
        <pc:sldMkLst>
          <pc:docMk/>
          <pc:sldMk cId="1839420840" sldId="304"/>
        </pc:sldMkLst>
      </pc:sldChg>
      <pc:sldChg chg="del">
        <pc:chgData name="Riasat Khan" userId="826ac62dfbb52e43" providerId="LiveId" clId="{44A446E7-AB8A-4F1C-B4B7-E01718BF3E69}" dt="2023-03-13T02:07:07.550" v="0" actId="47"/>
        <pc:sldMkLst>
          <pc:docMk/>
          <pc:sldMk cId="1963215643" sldId="306"/>
        </pc:sldMkLst>
      </pc:sldChg>
      <pc:sldChg chg="addSp delSp modSp add mod">
        <pc:chgData name="Riasat Khan" userId="826ac62dfbb52e43" providerId="LiveId" clId="{44A446E7-AB8A-4F1C-B4B7-E01718BF3E69}" dt="2023-03-13T06:00:50" v="303" actId="5793"/>
        <pc:sldMkLst>
          <pc:docMk/>
          <pc:sldMk cId="3843825398" sldId="306"/>
        </pc:sldMkLst>
      </pc:sldChg>
      <pc:sldChg chg="delSp modSp add mod">
        <pc:chgData name="Riasat Khan" userId="826ac62dfbb52e43" providerId="LiveId" clId="{44A446E7-AB8A-4F1C-B4B7-E01718BF3E69}" dt="2023-03-13T05:59:34.199" v="275" actId="20577"/>
        <pc:sldMkLst>
          <pc:docMk/>
          <pc:sldMk cId="3284705333" sldId="307"/>
        </pc:sldMkLst>
      </pc:sldChg>
      <pc:sldChg chg="modSp add mod">
        <pc:chgData name="Riasat Khan" userId="826ac62dfbb52e43" providerId="LiveId" clId="{44A446E7-AB8A-4F1C-B4B7-E01718BF3E69}" dt="2023-03-15T05:34:03.428" v="405" actId="20577"/>
        <pc:sldMkLst>
          <pc:docMk/>
          <pc:sldMk cId="2700574062" sldId="308"/>
        </pc:sldMkLst>
      </pc:sldChg>
    </pc:docChg>
  </pc:docChgLst>
  <pc:docChgLst>
    <pc:chgData name="Riasat Khan" userId="826ac62dfbb52e43" providerId="LiveId" clId="{48572F5C-D5CE-47CD-859D-DCC50A1ADF79}"/>
    <pc:docChg chg="custSel addSld modSld">
      <pc:chgData name="Riasat Khan" userId="826ac62dfbb52e43" providerId="LiveId" clId="{48572F5C-D5CE-47CD-859D-DCC50A1ADF79}" dt="2022-10-31T03:22:15.686" v="181" actId="20577"/>
      <pc:docMkLst>
        <pc:docMk/>
      </pc:docMkLst>
      <pc:sldChg chg="addSp delSp modSp mod">
        <pc:chgData name="Riasat Khan" userId="826ac62dfbb52e43" providerId="LiveId" clId="{48572F5C-D5CE-47CD-859D-DCC50A1ADF79}" dt="2022-10-31T03:22:15.686" v="181" actId="20577"/>
        <pc:sldMkLst>
          <pc:docMk/>
          <pc:sldMk cId="2935867953" sldId="278"/>
        </pc:sldMkLst>
      </pc:sldChg>
      <pc:sldChg chg="add">
        <pc:chgData name="Riasat Khan" userId="826ac62dfbb52e43" providerId="LiveId" clId="{48572F5C-D5CE-47CD-859D-DCC50A1ADF79}" dt="2022-10-31T03:06:58.242" v="0" actId="2890"/>
        <pc:sldMkLst>
          <pc:docMk/>
          <pc:sldMk cId="3600380728" sldId="302"/>
        </pc:sldMkLst>
      </pc:sldChg>
    </pc:docChg>
  </pc:docChgLst>
  <pc:docChgLst>
    <pc:chgData name="Riasat Khan" userId="826ac62dfbb52e43" providerId="LiveId" clId="{1EF0CAE8-2CA7-44AF-9AB6-6B60E856CE59}"/>
    <pc:docChg chg="undo custSel addSld modSld">
      <pc:chgData name="Riasat Khan" userId="826ac62dfbb52e43" providerId="LiveId" clId="{1EF0CAE8-2CA7-44AF-9AB6-6B60E856CE59}" dt="2024-03-23T13:41:38.939" v="707" actId="33524"/>
      <pc:docMkLst>
        <pc:docMk/>
      </pc:docMkLst>
      <pc:sldChg chg="modSp">
        <pc:chgData name="Riasat Khan" userId="826ac62dfbb52e43" providerId="LiveId" clId="{1EF0CAE8-2CA7-44AF-9AB6-6B60E856CE59}" dt="2022-10-24T00:38:03.270" v="395"/>
        <pc:sldMkLst>
          <pc:docMk/>
          <pc:sldMk cId="1115155587" sldId="256"/>
        </pc:sldMkLst>
      </pc:sldChg>
      <pc:sldChg chg="modSp mod">
        <pc:chgData name="Riasat Khan" userId="826ac62dfbb52e43" providerId="LiveId" clId="{1EF0CAE8-2CA7-44AF-9AB6-6B60E856CE59}" dt="2022-10-24T00:38:03.270" v="395"/>
        <pc:sldMkLst>
          <pc:docMk/>
          <pc:sldMk cId="3534811494" sldId="257"/>
        </pc:sldMkLst>
      </pc:sldChg>
      <pc:sldChg chg="modSp mod">
        <pc:chgData name="Riasat Khan" userId="826ac62dfbb52e43" providerId="LiveId" clId="{1EF0CAE8-2CA7-44AF-9AB6-6B60E856CE59}" dt="2024-03-11T13:12:26.444" v="700" actId="20577"/>
        <pc:sldMkLst>
          <pc:docMk/>
          <pc:sldMk cId="3973478858" sldId="258"/>
        </pc:sldMkLst>
      </pc:sldChg>
      <pc:sldChg chg="modSp">
        <pc:chgData name="Riasat Khan" userId="826ac62dfbb52e43" providerId="LiveId" clId="{1EF0CAE8-2CA7-44AF-9AB6-6B60E856CE59}" dt="2022-10-24T00:38:03.270" v="395"/>
        <pc:sldMkLst>
          <pc:docMk/>
          <pc:sldMk cId="33640616" sldId="259"/>
        </pc:sldMkLst>
      </pc:sldChg>
      <pc:sldChg chg="modSp mod modShow">
        <pc:chgData name="Riasat Khan" userId="826ac62dfbb52e43" providerId="LiveId" clId="{1EF0CAE8-2CA7-44AF-9AB6-6B60E856CE59}" dt="2022-10-24T00:38:03.270" v="395"/>
        <pc:sldMkLst>
          <pc:docMk/>
          <pc:sldMk cId="2231344163" sldId="260"/>
        </pc:sldMkLst>
      </pc:sldChg>
      <pc:sldChg chg="modSp">
        <pc:chgData name="Riasat Khan" userId="826ac62dfbb52e43" providerId="LiveId" clId="{1EF0CAE8-2CA7-44AF-9AB6-6B60E856CE59}" dt="2022-10-24T00:38:03.270" v="395"/>
        <pc:sldMkLst>
          <pc:docMk/>
          <pc:sldMk cId="2403328570" sldId="261"/>
        </pc:sldMkLst>
      </pc:sldChg>
      <pc:sldChg chg="modSp">
        <pc:chgData name="Riasat Khan" userId="826ac62dfbb52e43" providerId="LiveId" clId="{1EF0CAE8-2CA7-44AF-9AB6-6B60E856CE59}" dt="2022-10-24T00:38:03.270" v="395"/>
        <pc:sldMkLst>
          <pc:docMk/>
          <pc:sldMk cId="4059197035" sldId="262"/>
        </pc:sldMkLst>
      </pc:sldChg>
      <pc:sldChg chg="modSp mod">
        <pc:chgData name="Riasat Khan" userId="826ac62dfbb52e43" providerId="LiveId" clId="{1EF0CAE8-2CA7-44AF-9AB6-6B60E856CE59}" dt="2024-03-11T12:53:33.149" v="686" actId="20577"/>
        <pc:sldMkLst>
          <pc:docMk/>
          <pc:sldMk cId="4185346547" sldId="263"/>
        </pc:sldMkLst>
      </pc:sldChg>
      <pc:sldChg chg="modSp mod">
        <pc:chgData name="Riasat Khan" userId="826ac62dfbb52e43" providerId="LiveId" clId="{1EF0CAE8-2CA7-44AF-9AB6-6B60E856CE59}" dt="2022-10-24T00:38:03.270" v="395"/>
        <pc:sldMkLst>
          <pc:docMk/>
          <pc:sldMk cId="1700736307" sldId="264"/>
        </pc:sldMkLst>
      </pc:sldChg>
      <pc:sldChg chg="modSp mod">
        <pc:chgData name="Riasat Khan" userId="826ac62dfbb52e43" providerId="LiveId" clId="{1EF0CAE8-2CA7-44AF-9AB6-6B60E856CE59}" dt="2022-10-24T00:38:03.270" v="395"/>
        <pc:sldMkLst>
          <pc:docMk/>
          <pc:sldMk cId="1438978291" sldId="267"/>
        </pc:sldMkLst>
      </pc:sldChg>
      <pc:sldChg chg="modSp mod">
        <pc:chgData name="Riasat Khan" userId="826ac62dfbb52e43" providerId="LiveId" clId="{1EF0CAE8-2CA7-44AF-9AB6-6B60E856CE59}" dt="2024-03-11T13:19:23.817" v="706" actId="20577"/>
        <pc:sldMkLst>
          <pc:docMk/>
          <pc:sldMk cId="2565270197" sldId="268"/>
        </pc:sldMkLst>
      </pc:sldChg>
      <pc:sldChg chg="modSp">
        <pc:chgData name="Riasat Khan" userId="826ac62dfbb52e43" providerId="LiveId" clId="{1EF0CAE8-2CA7-44AF-9AB6-6B60E856CE59}" dt="2022-10-24T00:38:03.270" v="395"/>
        <pc:sldMkLst>
          <pc:docMk/>
          <pc:sldMk cId="2209972225" sldId="269"/>
        </pc:sldMkLst>
      </pc:sldChg>
      <pc:sldChg chg="modSp">
        <pc:chgData name="Riasat Khan" userId="826ac62dfbb52e43" providerId="LiveId" clId="{1EF0CAE8-2CA7-44AF-9AB6-6B60E856CE59}" dt="2022-10-24T00:38:03.270" v="395"/>
        <pc:sldMkLst>
          <pc:docMk/>
          <pc:sldMk cId="1396271042" sldId="270"/>
        </pc:sldMkLst>
      </pc:sldChg>
      <pc:sldChg chg="modSp">
        <pc:chgData name="Riasat Khan" userId="826ac62dfbb52e43" providerId="LiveId" clId="{1EF0CAE8-2CA7-44AF-9AB6-6B60E856CE59}" dt="2022-10-24T00:38:03.270" v="395"/>
        <pc:sldMkLst>
          <pc:docMk/>
          <pc:sldMk cId="3844048470" sldId="271"/>
        </pc:sldMkLst>
      </pc:sldChg>
      <pc:sldChg chg="modSp mod">
        <pc:chgData name="Riasat Khan" userId="826ac62dfbb52e43" providerId="LiveId" clId="{1EF0CAE8-2CA7-44AF-9AB6-6B60E856CE59}" dt="2022-10-24T00:38:03.270" v="395"/>
        <pc:sldMkLst>
          <pc:docMk/>
          <pc:sldMk cId="2318503365" sldId="272"/>
        </pc:sldMkLst>
      </pc:sldChg>
      <pc:sldChg chg="modSp mod">
        <pc:chgData name="Riasat Khan" userId="826ac62dfbb52e43" providerId="LiveId" clId="{1EF0CAE8-2CA7-44AF-9AB6-6B60E856CE59}" dt="2022-10-24T00:41:12.014" v="396" actId="1076"/>
        <pc:sldMkLst>
          <pc:docMk/>
          <pc:sldMk cId="2076849820" sldId="274"/>
        </pc:sldMkLst>
      </pc:sldChg>
      <pc:sldChg chg="addSp delSp modSp mod">
        <pc:chgData name="Riasat Khan" userId="826ac62dfbb52e43" providerId="LiveId" clId="{1EF0CAE8-2CA7-44AF-9AB6-6B60E856CE59}" dt="2022-10-24T00:38:03.270" v="395"/>
        <pc:sldMkLst>
          <pc:docMk/>
          <pc:sldMk cId="3890485362" sldId="275"/>
        </pc:sldMkLst>
      </pc:sldChg>
      <pc:sldChg chg="modSp mod">
        <pc:chgData name="Riasat Khan" userId="826ac62dfbb52e43" providerId="LiveId" clId="{1EF0CAE8-2CA7-44AF-9AB6-6B60E856CE59}" dt="2022-10-24T00:46:11.091" v="403" actId="5793"/>
        <pc:sldMkLst>
          <pc:docMk/>
          <pc:sldMk cId="414986564" sldId="276"/>
        </pc:sldMkLst>
      </pc:sldChg>
      <pc:sldChg chg="modSp mod">
        <pc:chgData name="Riasat Khan" userId="826ac62dfbb52e43" providerId="LiveId" clId="{1EF0CAE8-2CA7-44AF-9AB6-6B60E856CE59}" dt="2022-10-24T00:55:07.379" v="432" actId="207"/>
        <pc:sldMkLst>
          <pc:docMk/>
          <pc:sldMk cId="2595685163" sldId="277"/>
        </pc:sldMkLst>
      </pc:sldChg>
      <pc:sldChg chg="addSp delSp modSp mod">
        <pc:chgData name="Riasat Khan" userId="826ac62dfbb52e43" providerId="LiveId" clId="{1EF0CAE8-2CA7-44AF-9AB6-6B60E856CE59}" dt="2023-03-12T13:08:33.002" v="549" actId="478"/>
        <pc:sldMkLst>
          <pc:docMk/>
          <pc:sldMk cId="2935867953" sldId="278"/>
        </pc:sldMkLst>
      </pc:sldChg>
      <pc:sldChg chg="modSp">
        <pc:chgData name="Riasat Khan" userId="826ac62dfbb52e43" providerId="LiveId" clId="{1EF0CAE8-2CA7-44AF-9AB6-6B60E856CE59}" dt="2022-10-24T00:38:03.270" v="395"/>
        <pc:sldMkLst>
          <pc:docMk/>
          <pc:sldMk cId="3651018443" sldId="279"/>
        </pc:sldMkLst>
      </pc:sldChg>
      <pc:sldChg chg="modSp">
        <pc:chgData name="Riasat Khan" userId="826ac62dfbb52e43" providerId="LiveId" clId="{1EF0CAE8-2CA7-44AF-9AB6-6B60E856CE59}" dt="2022-10-24T00:38:03.270" v="395"/>
        <pc:sldMkLst>
          <pc:docMk/>
          <pc:sldMk cId="3009417809" sldId="280"/>
        </pc:sldMkLst>
      </pc:sldChg>
      <pc:sldChg chg="modSp">
        <pc:chgData name="Riasat Khan" userId="826ac62dfbb52e43" providerId="LiveId" clId="{1EF0CAE8-2CA7-44AF-9AB6-6B60E856CE59}" dt="2022-10-24T00:38:03.270" v="395"/>
        <pc:sldMkLst>
          <pc:docMk/>
          <pc:sldMk cId="4011380642" sldId="281"/>
        </pc:sldMkLst>
      </pc:sldChg>
      <pc:sldChg chg="modSp">
        <pc:chgData name="Riasat Khan" userId="826ac62dfbb52e43" providerId="LiveId" clId="{1EF0CAE8-2CA7-44AF-9AB6-6B60E856CE59}" dt="2022-10-24T00:38:03.270" v="395"/>
        <pc:sldMkLst>
          <pc:docMk/>
          <pc:sldMk cId="2525210379" sldId="282"/>
        </pc:sldMkLst>
      </pc:sldChg>
      <pc:sldChg chg="modSp">
        <pc:chgData name="Riasat Khan" userId="826ac62dfbb52e43" providerId="LiveId" clId="{1EF0CAE8-2CA7-44AF-9AB6-6B60E856CE59}" dt="2022-10-24T00:38:03.270" v="395"/>
        <pc:sldMkLst>
          <pc:docMk/>
          <pc:sldMk cId="3925203603" sldId="283"/>
        </pc:sldMkLst>
      </pc:sldChg>
      <pc:sldChg chg="modSp">
        <pc:chgData name="Riasat Khan" userId="826ac62dfbb52e43" providerId="LiveId" clId="{1EF0CAE8-2CA7-44AF-9AB6-6B60E856CE59}" dt="2022-10-24T00:38:03.270" v="395"/>
        <pc:sldMkLst>
          <pc:docMk/>
          <pc:sldMk cId="190869229" sldId="284"/>
        </pc:sldMkLst>
      </pc:sldChg>
      <pc:sldChg chg="modSp">
        <pc:chgData name="Riasat Khan" userId="826ac62dfbb52e43" providerId="LiveId" clId="{1EF0CAE8-2CA7-44AF-9AB6-6B60E856CE59}" dt="2022-10-24T00:38:03.270" v="395"/>
        <pc:sldMkLst>
          <pc:docMk/>
          <pc:sldMk cId="111005476" sldId="285"/>
        </pc:sldMkLst>
      </pc:sldChg>
      <pc:sldChg chg="modSp">
        <pc:chgData name="Riasat Khan" userId="826ac62dfbb52e43" providerId="LiveId" clId="{1EF0CAE8-2CA7-44AF-9AB6-6B60E856CE59}" dt="2022-10-24T00:38:03.270" v="395"/>
        <pc:sldMkLst>
          <pc:docMk/>
          <pc:sldMk cId="270616785" sldId="286"/>
        </pc:sldMkLst>
      </pc:sldChg>
      <pc:sldChg chg="modSp">
        <pc:chgData name="Riasat Khan" userId="826ac62dfbb52e43" providerId="LiveId" clId="{1EF0CAE8-2CA7-44AF-9AB6-6B60E856CE59}" dt="2022-10-24T00:38:03.270" v="395"/>
        <pc:sldMkLst>
          <pc:docMk/>
          <pc:sldMk cId="483466351" sldId="287"/>
        </pc:sldMkLst>
      </pc:sldChg>
      <pc:sldChg chg="modSp">
        <pc:chgData name="Riasat Khan" userId="826ac62dfbb52e43" providerId="LiveId" clId="{1EF0CAE8-2CA7-44AF-9AB6-6B60E856CE59}" dt="2022-10-24T00:38:03.270" v="395"/>
        <pc:sldMkLst>
          <pc:docMk/>
          <pc:sldMk cId="2229965572" sldId="288"/>
        </pc:sldMkLst>
      </pc:sldChg>
      <pc:sldChg chg="modSp">
        <pc:chgData name="Riasat Khan" userId="826ac62dfbb52e43" providerId="LiveId" clId="{1EF0CAE8-2CA7-44AF-9AB6-6B60E856CE59}" dt="2022-10-24T00:38:03.270" v="395"/>
        <pc:sldMkLst>
          <pc:docMk/>
          <pc:sldMk cId="886444997" sldId="289"/>
        </pc:sldMkLst>
      </pc:sldChg>
      <pc:sldChg chg="modSp">
        <pc:chgData name="Riasat Khan" userId="826ac62dfbb52e43" providerId="LiveId" clId="{1EF0CAE8-2CA7-44AF-9AB6-6B60E856CE59}" dt="2022-10-24T00:38:03.270" v="395"/>
        <pc:sldMkLst>
          <pc:docMk/>
          <pc:sldMk cId="486049714" sldId="290"/>
        </pc:sldMkLst>
      </pc:sldChg>
      <pc:sldChg chg="modSp">
        <pc:chgData name="Riasat Khan" userId="826ac62dfbb52e43" providerId="LiveId" clId="{1EF0CAE8-2CA7-44AF-9AB6-6B60E856CE59}" dt="2022-10-24T00:38:03.270" v="395"/>
        <pc:sldMkLst>
          <pc:docMk/>
          <pc:sldMk cId="4088247021" sldId="291"/>
        </pc:sldMkLst>
      </pc:sldChg>
      <pc:sldChg chg="modSp">
        <pc:chgData name="Riasat Khan" userId="826ac62dfbb52e43" providerId="LiveId" clId="{1EF0CAE8-2CA7-44AF-9AB6-6B60E856CE59}" dt="2022-10-24T00:38:03.270" v="395"/>
        <pc:sldMkLst>
          <pc:docMk/>
          <pc:sldMk cId="3307902891" sldId="292"/>
        </pc:sldMkLst>
      </pc:sldChg>
      <pc:sldChg chg="modSp">
        <pc:chgData name="Riasat Khan" userId="826ac62dfbb52e43" providerId="LiveId" clId="{1EF0CAE8-2CA7-44AF-9AB6-6B60E856CE59}" dt="2022-10-24T00:38:03.270" v="395"/>
        <pc:sldMkLst>
          <pc:docMk/>
          <pc:sldMk cId="99206022" sldId="293"/>
        </pc:sldMkLst>
      </pc:sldChg>
      <pc:sldChg chg="modSp">
        <pc:chgData name="Riasat Khan" userId="826ac62dfbb52e43" providerId="LiveId" clId="{1EF0CAE8-2CA7-44AF-9AB6-6B60E856CE59}" dt="2022-10-24T00:38:03.270" v="395"/>
        <pc:sldMkLst>
          <pc:docMk/>
          <pc:sldMk cId="3615251376" sldId="294"/>
        </pc:sldMkLst>
      </pc:sldChg>
      <pc:sldChg chg="modSp">
        <pc:chgData name="Riasat Khan" userId="826ac62dfbb52e43" providerId="LiveId" clId="{1EF0CAE8-2CA7-44AF-9AB6-6B60E856CE59}" dt="2022-10-24T00:38:03.270" v="395"/>
        <pc:sldMkLst>
          <pc:docMk/>
          <pc:sldMk cId="2097279667" sldId="295"/>
        </pc:sldMkLst>
      </pc:sldChg>
      <pc:sldChg chg="modSp">
        <pc:chgData name="Riasat Khan" userId="826ac62dfbb52e43" providerId="LiveId" clId="{1EF0CAE8-2CA7-44AF-9AB6-6B60E856CE59}" dt="2022-10-24T00:38:03.270" v="395"/>
        <pc:sldMkLst>
          <pc:docMk/>
          <pc:sldMk cId="2005387501" sldId="296"/>
        </pc:sldMkLst>
      </pc:sldChg>
      <pc:sldChg chg="modSp">
        <pc:chgData name="Riasat Khan" userId="826ac62dfbb52e43" providerId="LiveId" clId="{1EF0CAE8-2CA7-44AF-9AB6-6B60E856CE59}" dt="2022-10-24T00:38:03.270" v="395"/>
        <pc:sldMkLst>
          <pc:docMk/>
          <pc:sldMk cId="403119350" sldId="297"/>
        </pc:sldMkLst>
      </pc:sldChg>
      <pc:sldChg chg="modSp">
        <pc:chgData name="Riasat Khan" userId="826ac62dfbb52e43" providerId="LiveId" clId="{1EF0CAE8-2CA7-44AF-9AB6-6B60E856CE59}" dt="2022-10-24T00:38:03.270" v="395"/>
        <pc:sldMkLst>
          <pc:docMk/>
          <pc:sldMk cId="1413562103" sldId="298"/>
        </pc:sldMkLst>
      </pc:sldChg>
      <pc:sldChg chg="modSp">
        <pc:chgData name="Riasat Khan" userId="826ac62dfbb52e43" providerId="LiveId" clId="{1EF0CAE8-2CA7-44AF-9AB6-6B60E856CE59}" dt="2022-10-24T00:38:03.270" v="395"/>
        <pc:sldMkLst>
          <pc:docMk/>
          <pc:sldMk cId="4279425776" sldId="299"/>
        </pc:sldMkLst>
      </pc:sldChg>
      <pc:sldChg chg="modSp mod">
        <pc:chgData name="Riasat Khan" userId="826ac62dfbb52e43" providerId="LiveId" clId="{1EF0CAE8-2CA7-44AF-9AB6-6B60E856CE59}" dt="2024-03-11T12:57:23.704" v="696" actId="20577"/>
        <pc:sldMkLst>
          <pc:docMk/>
          <pc:sldMk cId="307539005" sldId="301"/>
        </pc:sldMkLst>
      </pc:sldChg>
      <pc:sldChg chg="addSp delSp modSp add mod">
        <pc:chgData name="Riasat Khan" userId="826ac62dfbb52e43" providerId="LiveId" clId="{1EF0CAE8-2CA7-44AF-9AB6-6B60E856CE59}" dt="2023-03-12T13:28:27.830" v="580" actId="6549"/>
        <pc:sldMkLst>
          <pc:docMk/>
          <pc:sldMk cId="750267529" sldId="303"/>
        </pc:sldMkLst>
      </pc:sldChg>
      <pc:sldChg chg="modSp add mod">
        <pc:chgData name="Riasat Khan" userId="826ac62dfbb52e43" providerId="LiveId" clId="{1EF0CAE8-2CA7-44AF-9AB6-6B60E856CE59}" dt="2023-03-12T13:12:31.091" v="578" actId="6549"/>
        <pc:sldMkLst>
          <pc:docMk/>
          <pc:sldMk cId="1839420840" sldId="304"/>
        </pc:sldMkLst>
      </pc:sldChg>
      <pc:sldChg chg="addSp delSp modSp add mod">
        <pc:chgData name="Riasat Khan" userId="826ac62dfbb52e43" providerId="LiveId" clId="{1EF0CAE8-2CA7-44AF-9AB6-6B60E856CE59}" dt="2024-03-23T13:41:38.939" v="707" actId="33524"/>
        <pc:sldMkLst>
          <pc:docMk/>
          <pc:sldMk cId="1970522089" sldId="305"/>
        </pc:sldMkLst>
      </pc:sldChg>
      <pc:sldChg chg="modSp add mod">
        <pc:chgData name="Riasat Khan" userId="826ac62dfbb52e43" providerId="LiveId" clId="{1EF0CAE8-2CA7-44AF-9AB6-6B60E856CE59}" dt="2023-03-12T13:28:36.197" v="585"/>
        <pc:sldMkLst>
          <pc:docMk/>
          <pc:sldMk cId="1963215643" sldId="306"/>
        </pc:sldMkLst>
      </pc:sldChg>
    </pc:docChg>
  </pc:docChgLst>
  <pc:docChgLst>
    <pc:chgData name="Riasat Khan" userId="826ac62dfbb52e43" providerId="LiveId" clId="{FA355AA9-4387-43A9-989B-53D1D2A8BD32}"/>
    <pc:docChg chg="undo custSel addSld delSld modSld">
      <pc:chgData name="Riasat Khan" userId="826ac62dfbb52e43" providerId="LiveId" clId="{FA355AA9-4387-43A9-989B-53D1D2A8BD32}" dt="2025-03-01T14:06:54.624" v="73" actId="207"/>
      <pc:docMkLst>
        <pc:docMk/>
      </pc:docMkLst>
      <pc:sldChg chg="delSp modSp mod">
        <pc:chgData name="Riasat Khan" userId="826ac62dfbb52e43" providerId="LiveId" clId="{FA355AA9-4387-43A9-989B-53D1D2A8BD32}" dt="2025-03-01T13:38:55.872" v="19" actId="207"/>
        <pc:sldMkLst>
          <pc:docMk/>
          <pc:sldMk cId="3973478858" sldId="258"/>
        </pc:sldMkLst>
        <pc:spChg chg="mod">
          <ac:chgData name="Riasat Khan" userId="826ac62dfbb52e43" providerId="LiveId" clId="{FA355AA9-4387-43A9-989B-53D1D2A8BD32}" dt="2025-03-01T13:38:55.872" v="19" actId="207"/>
          <ac:spMkLst>
            <pc:docMk/>
            <pc:sldMk cId="3973478858" sldId="258"/>
            <ac:spMk id="3" creationId="{00000000-0000-0000-0000-000000000000}"/>
          </ac:spMkLst>
        </pc:spChg>
        <pc:spChg chg="del mod">
          <ac:chgData name="Riasat Khan" userId="826ac62dfbb52e43" providerId="LiveId" clId="{FA355AA9-4387-43A9-989B-53D1D2A8BD32}" dt="2025-03-01T13:38:39.999" v="16" actId="478"/>
          <ac:spMkLst>
            <pc:docMk/>
            <pc:sldMk cId="3973478858" sldId="258"/>
            <ac:spMk id="6" creationId="{00000000-0000-0000-0000-000000000000}"/>
          </ac:spMkLst>
        </pc:spChg>
        <pc:spChg chg="del">
          <ac:chgData name="Riasat Khan" userId="826ac62dfbb52e43" providerId="LiveId" clId="{FA355AA9-4387-43A9-989B-53D1D2A8BD32}" dt="2025-03-01T13:38:42.647" v="17" actId="478"/>
          <ac:spMkLst>
            <pc:docMk/>
            <pc:sldMk cId="3973478858" sldId="258"/>
            <ac:spMk id="7" creationId="{00000000-0000-0000-0000-000000000000}"/>
          </ac:spMkLst>
        </pc:spChg>
      </pc:sldChg>
      <pc:sldChg chg="modSp mod">
        <pc:chgData name="Riasat Khan" userId="826ac62dfbb52e43" providerId="LiveId" clId="{FA355AA9-4387-43A9-989B-53D1D2A8BD32}" dt="2025-03-01T13:40:18.309" v="58" actId="20577"/>
        <pc:sldMkLst>
          <pc:docMk/>
          <pc:sldMk cId="2403328570" sldId="261"/>
        </pc:sldMkLst>
        <pc:spChg chg="mod">
          <ac:chgData name="Riasat Khan" userId="826ac62dfbb52e43" providerId="LiveId" clId="{FA355AA9-4387-43A9-989B-53D1D2A8BD32}" dt="2025-03-01T13:40:18.309" v="58" actId="20577"/>
          <ac:spMkLst>
            <pc:docMk/>
            <pc:sldMk cId="2403328570" sldId="261"/>
            <ac:spMk id="3" creationId="{00000000-0000-0000-0000-000000000000}"/>
          </ac:spMkLst>
        </pc:spChg>
      </pc:sldChg>
      <pc:sldChg chg="addSp modSp mod">
        <pc:chgData name="Riasat Khan" userId="826ac62dfbb52e43" providerId="LiveId" clId="{FA355AA9-4387-43A9-989B-53D1D2A8BD32}" dt="2025-03-01T13:52:29.564" v="72"/>
        <pc:sldMkLst>
          <pc:docMk/>
          <pc:sldMk cId="2935867953" sldId="278"/>
        </pc:sldMkLst>
        <pc:spChg chg="add">
          <ac:chgData name="Riasat Khan" userId="826ac62dfbb52e43" providerId="LiveId" clId="{FA355AA9-4387-43A9-989B-53D1D2A8BD32}" dt="2025-03-01T13:52:20.071" v="68"/>
          <ac:spMkLst>
            <pc:docMk/>
            <pc:sldMk cId="2935867953" sldId="278"/>
            <ac:spMk id="3" creationId="{3B8ECB31-0096-C2C8-9994-C9C9ECA8FEBB}"/>
          </ac:spMkLst>
        </pc:spChg>
        <pc:spChg chg="mod">
          <ac:chgData name="Riasat Khan" userId="826ac62dfbb52e43" providerId="LiveId" clId="{FA355AA9-4387-43A9-989B-53D1D2A8BD32}" dt="2025-03-01T13:52:29.564" v="72"/>
          <ac:spMkLst>
            <pc:docMk/>
            <pc:sldMk cId="2935867953" sldId="278"/>
            <ac:spMk id="5" creationId="{5B7F1E1A-5365-F06C-D37F-3DC03497F5A6}"/>
          </ac:spMkLst>
        </pc:spChg>
      </pc:sldChg>
      <pc:sldChg chg="addSp modSp mod">
        <pc:chgData name="Riasat Khan" userId="826ac62dfbb52e43" providerId="LiveId" clId="{FA355AA9-4387-43A9-989B-53D1D2A8BD32}" dt="2025-03-01T13:42:24.654" v="65" actId="692"/>
        <pc:sldMkLst>
          <pc:docMk/>
          <pc:sldMk cId="307539005" sldId="301"/>
        </pc:sldMkLst>
        <pc:spChg chg="add mod">
          <ac:chgData name="Riasat Khan" userId="826ac62dfbb52e43" providerId="LiveId" clId="{FA355AA9-4387-43A9-989B-53D1D2A8BD32}" dt="2025-03-01T13:42:24.654" v="65" actId="692"/>
          <ac:spMkLst>
            <pc:docMk/>
            <pc:sldMk cId="307539005" sldId="301"/>
            <ac:spMk id="6" creationId="{7AA64341-13D0-F033-C9CE-C9E710913832}"/>
          </ac:spMkLst>
        </pc:spChg>
      </pc:sldChg>
      <pc:sldChg chg="modSp mod">
        <pc:chgData name="Riasat Khan" userId="826ac62dfbb52e43" providerId="LiveId" clId="{FA355AA9-4387-43A9-989B-53D1D2A8BD32}" dt="2025-03-01T14:06:54.624" v="73" actId="207"/>
        <pc:sldMkLst>
          <pc:docMk/>
          <pc:sldMk cId="3284705333" sldId="307"/>
        </pc:sldMkLst>
        <pc:spChg chg="mod">
          <ac:chgData name="Riasat Khan" userId="826ac62dfbb52e43" providerId="LiveId" clId="{FA355AA9-4387-43A9-989B-53D1D2A8BD32}" dt="2025-03-01T14:06:54.624" v="73" actId="207"/>
          <ac:spMkLst>
            <pc:docMk/>
            <pc:sldMk cId="3284705333" sldId="307"/>
            <ac:spMk id="8" creationId="{577A3B8B-FCEE-B7CD-95EA-974BE4525981}"/>
          </ac:spMkLst>
        </pc:spChg>
      </pc:sldChg>
      <pc:sldChg chg="new del">
        <pc:chgData name="Riasat Khan" userId="826ac62dfbb52e43" providerId="LiveId" clId="{FA355AA9-4387-43A9-989B-53D1D2A8BD32}" dt="2025-03-01T13:50:19.814" v="67" actId="47"/>
        <pc:sldMkLst>
          <pc:docMk/>
          <pc:sldMk cId="2428265324" sldId="309"/>
        </pc:sldMkLst>
      </pc:sldChg>
    </pc:docChg>
  </pc:docChgLst>
  <pc:docChgLst>
    <pc:chgData name="Riasat Khan" userId="826ac62dfbb52e43" providerId="LiveId" clId="{D2AF4D57-E169-4E3A-9FF3-2E5523867142}"/>
    <pc:docChg chg="custSel modSld">
      <pc:chgData name="Riasat Khan" userId="826ac62dfbb52e43" providerId="LiveId" clId="{D2AF4D57-E169-4E3A-9FF3-2E5523867142}" dt="2024-09-23T13:28:04.871" v="31" actId="5793"/>
      <pc:docMkLst>
        <pc:docMk/>
      </pc:docMkLst>
      <pc:sldChg chg="modSp mod">
        <pc:chgData name="Riasat Khan" userId="826ac62dfbb52e43" providerId="LiveId" clId="{D2AF4D57-E169-4E3A-9FF3-2E5523867142}" dt="2024-09-23T13:04:52.114" v="15" actId="207"/>
        <pc:sldMkLst>
          <pc:docMk/>
          <pc:sldMk cId="2565270197" sldId="268"/>
        </pc:sldMkLst>
      </pc:sldChg>
      <pc:sldChg chg="modSp mod">
        <pc:chgData name="Riasat Khan" userId="826ac62dfbb52e43" providerId="LiveId" clId="{D2AF4D57-E169-4E3A-9FF3-2E5523867142}" dt="2024-09-23T13:28:04.871" v="31" actId="5793"/>
        <pc:sldMkLst>
          <pc:docMk/>
          <pc:sldMk cId="2700574062" sldId="30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2.8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1,'40'0,"56"0,38 0,1 0,-14 0,-15 0,-20 0,-21 0,-26 0,-28 4,-21 6,-17 6,-4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5.1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11,'44'0,"40"0,10 0,-1 0,0 0,-11 0,-15 0,-15 0,-3 0,-5 0,-20-4,-13-2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7.83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1,'62'4,"28"2,3 0,-9-2,-15-1,-15-1,-12-1,-9 0,16-1,26-1,5 1,-16 0,-23 0,-19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32.4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0,'212'35,"-102"-15,758 82,-831-100,49 7,-77-7,-1 0,0 0,0 1,0 0,0 0,0 1,11 6,-20-9,1-1,0 0,0 1,-1-1,1 0,0 1,-1-1,1 0,-1 1,1-1,0 0,-1 0,1 1,-1-1,1 0,-1 0,1 0,-1 0,1 1,-1-1,1 0,-1 0,1 0,0 0,-1 0,1 0,-1 0,1-1,-2 1,-32 3,-312 0,253-3,-77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34.1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0,'35'5,"55"9,43 7,3 1,-17-5,-7-4,-18-5,-26-4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2.8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1,'40'0,"56"0,38 0,1 0,-14 0,-15 0,-20 0,-21 0,-26 0,-28 4,-21 6,-17 6,-4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5.1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11,'44'0,"40"0,10 0,-1 0,0 0,-11 0,-15 0,-15 0,-3 0,-5 0,-20-4,-13-2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12T10:50:27.83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1,'62'4,"28"2,3 0,-9-2,-15-1,-15-1,-12-1,-9 0,16-1,26-1,5 1,-16 0,-23 0,-19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C9B43-6C86-4105-AE8A-26C6AC82A911}" type="datetimeFigureOut">
              <a:rPr lang="en-US" smtClean="0"/>
              <a:t>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5B555-7100-4285-9AD5-4C99DEA7ECE6}" type="slidenum">
              <a:rPr lang="en-US" smtClean="0"/>
              <a:t>‹#›</a:t>
            </a:fld>
            <a:endParaRPr lang="en-US"/>
          </a:p>
        </p:txBody>
      </p:sp>
    </p:spTree>
    <p:extLst>
      <p:ext uri="{BB962C8B-B14F-4D97-AF65-F5344CB8AC3E}">
        <p14:creationId xmlns:p14="http://schemas.microsoft.com/office/powerpoint/2010/main" val="3067377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C35B555-7100-4285-9AD5-4C99DEA7ECE6}" type="slidenum">
              <a:rPr lang="en-US" smtClean="0"/>
              <a:t>1</a:t>
            </a:fld>
            <a:endParaRPr lang="en-US"/>
          </a:p>
        </p:txBody>
      </p:sp>
    </p:spTree>
    <p:extLst>
      <p:ext uri="{BB962C8B-B14F-4D97-AF65-F5344CB8AC3E}">
        <p14:creationId xmlns:p14="http://schemas.microsoft.com/office/powerpoint/2010/main" val="3770707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CA58-703C-64DF-424A-FD462A7933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8020F6-30D4-D44C-41CB-4446B90E65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ED6AD-948F-24AC-AA6E-78DFAC280D17}"/>
              </a:ext>
            </a:extLst>
          </p:cNvPr>
          <p:cNvSpPr>
            <a:spLocks noGrp="1"/>
          </p:cNvSpPr>
          <p:nvPr>
            <p:ph type="dt" sz="half" idx="10"/>
          </p:nvPr>
        </p:nvSpPr>
        <p:spPr/>
        <p:txBody>
          <a:bodyPr/>
          <a:lstStyle/>
          <a:p>
            <a:fld id="{350E461F-61FE-4D81-8611-0097AAEF7B68}" type="datetime1">
              <a:rPr lang="en-US" smtClean="0"/>
              <a:t>3/1/2025</a:t>
            </a:fld>
            <a:endParaRPr lang="en-US"/>
          </a:p>
        </p:txBody>
      </p:sp>
      <p:sp>
        <p:nvSpPr>
          <p:cNvPr id="5" name="Footer Placeholder 4">
            <a:extLst>
              <a:ext uri="{FF2B5EF4-FFF2-40B4-BE49-F238E27FC236}">
                <a16:creationId xmlns:a16="http://schemas.microsoft.com/office/drawing/2014/main" id="{B40C5BF8-60EF-7B2F-830C-B8C07659E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D8980-96A7-D61E-FDAC-654A17EEACFB}"/>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325084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B592-D8C7-71BD-7B6E-E066217373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B6E965-E4B8-E83E-4895-969035C24F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DB3F9-A33A-BE0F-A69D-F37B6E41AD6F}"/>
              </a:ext>
            </a:extLst>
          </p:cNvPr>
          <p:cNvSpPr>
            <a:spLocks noGrp="1"/>
          </p:cNvSpPr>
          <p:nvPr>
            <p:ph type="dt" sz="half" idx="10"/>
          </p:nvPr>
        </p:nvSpPr>
        <p:spPr/>
        <p:txBody>
          <a:bodyPr/>
          <a:lstStyle/>
          <a:p>
            <a:fld id="{74946075-E8DF-4742-8C24-79E95A67D237}" type="datetime1">
              <a:rPr lang="en-US" smtClean="0"/>
              <a:t>3/1/2025</a:t>
            </a:fld>
            <a:endParaRPr lang="en-US"/>
          </a:p>
        </p:txBody>
      </p:sp>
      <p:sp>
        <p:nvSpPr>
          <p:cNvPr id="5" name="Footer Placeholder 4">
            <a:extLst>
              <a:ext uri="{FF2B5EF4-FFF2-40B4-BE49-F238E27FC236}">
                <a16:creationId xmlns:a16="http://schemas.microsoft.com/office/drawing/2014/main" id="{B4628358-7781-83DB-3D32-8A1C95D90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31C46-00FA-1301-8402-83A541880D1E}"/>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256612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1F7EB-644A-A206-4C3E-4135311EA2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109341-7CA6-5E86-995D-DFAFA4835B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9E3DF3-E8A3-C0A7-5CED-C227B49C4942}"/>
              </a:ext>
            </a:extLst>
          </p:cNvPr>
          <p:cNvSpPr>
            <a:spLocks noGrp="1"/>
          </p:cNvSpPr>
          <p:nvPr>
            <p:ph type="dt" sz="half" idx="10"/>
          </p:nvPr>
        </p:nvSpPr>
        <p:spPr/>
        <p:txBody>
          <a:bodyPr/>
          <a:lstStyle/>
          <a:p>
            <a:fld id="{7B0B2289-7CF1-4619-A455-B0B4017B374E}" type="datetime1">
              <a:rPr lang="en-US" smtClean="0"/>
              <a:t>3/1/2025</a:t>
            </a:fld>
            <a:endParaRPr lang="en-US"/>
          </a:p>
        </p:txBody>
      </p:sp>
      <p:sp>
        <p:nvSpPr>
          <p:cNvPr id="5" name="Footer Placeholder 4">
            <a:extLst>
              <a:ext uri="{FF2B5EF4-FFF2-40B4-BE49-F238E27FC236}">
                <a16:creationId xmlns:a16="http://schemas.microsoft.com/office/drawing/2014/main" id="{4F8AC9B5-1FCF-73C1-37B2-826F61ACC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BCA24-9985-517D-ACB7-AB7E06DB085A}"/>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2654006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E83F1-93B0-2389-E456-EFB25BFDF1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CB1269-C8D5-DF5C-88A0-C1234D5A60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0AD1C8-4E73-2DE6-C12F-D91ADC7FD9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A7E62D-D3A2-9C6B-752E-79957B8CFA00}"/>
              </a:ext>
            </a:extLst>
          </p:cNvPr>
          <p:cNvSpPr>
            <a:spLocks noGrp="1"/>
          </p:cNvSpPr>
          <p:nvPr>
            <p:ph type="dt" sz="half" idx="10"/>
          </p:nvPr>
        </p:nvSpPr>
        <p:spPr/>
        <p:txBody>
          <a:bodyPr/>
          <a:lstStyle/>
          <a:p>
            <a:fld id="{E94FDEA8-FDD0-47AB-9B1E-6412E7EC60D7}" type="datetime1">
              <a:rPr lang="en-US" smtClean="0"/>
              <a:t>3/1/2025</a:t>
            </a:fld>
            <a:endParaRPr lang="en-US"/>
          </a:p>
        </p:txBody>
      </p:sp>
      <p:sp>
        <p:nvSpPr>
          <p:cNvPr id="6" name="Footer Placeholder 5">
            <a:extLst>
              <a:ext uri="{FF2B5EF4-FFF2-40B4-BE49-F238E27FC236}">
                <a16:creationId xmlns:a16="http://schemas.microsoft.com/office/drawing/2014/main" id="{A6A4E89B-E3BA-CD2D-849E-806BAF1778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2D6B82-EE75-E639-FE63-7AA695AB867D}"/>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672805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82E4-0E80-24E4-9083-FF9CCD4E56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D2E475-9495-0083-7809-B6FC5657BE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A10203-D756-5408-DE41-BB14FCE684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CE9DFC-6F0D-C582-65CA-22D8EF827A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598317-874C-771F-FB62-ACA43191EA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645B3D-53A8-4489-5F4C-A3013167BFD3}"/>
              </a:ext>
            </a:extLst>
          </p:cNvPr>
          <p:cNvSpPr>
            <a:spLocks noGrp="1"/>
          </p:cNvSpPr>
          <p:nvPr>
            <p:ph type="dt" sz="half" idx="10"/>
          </p:nvPr>
        </p:nvSpPr>
        <p:spPr/>
        <p:txBody>
          <a:bodyPr/>
          <a:lstStyle/>
          <a:p>
            <a:fld id="{7957D6ED-9C9A-4467-8EC7-039C0829B3DE}" type="datetime1">
              <a:rPr lang="en-US" smtClean="0"/>
              <a:t>3/1/2025</a:t>
            </a:fld>
            <a:endParaRPr lang="en-US"/>
          </a:p>
        </p:txBody>
      </p:sp>
      <p:sp>
        <p:nvSpPr>
          <p:cNvPr id="8" name="Footer Placeholder 7">
            <a:extLst>
              <a:ext uri="{FF2B5EF4-FFF2-40B4-BE49-F238E27FC236}">
                <a16:creationId xmlns:a16="http://schemas.microsoft.com/office/drawing/2014/main" id="{EDA8C1E1-9F70-E76B-87FF-EBD8EACB1A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C007CE-12A8-F42A-F119-887070D2DDF1}"/>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339954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288B6-BDBC-DE39-F770-D8118FDC89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6D0E3E-494F-5612-096B-481217D43F0A}"/>
              </a:ext>
            </a:extLst>
          </p:cNvPr>
          <p:cNvSpPr>
            <a:spLocks noGrp="1"/>
          </p:cNvSpPr>
          <p:nvPr>
            <p:ph type="dt" sz="half" idx="10"/>
          </p:nvPr>
        </p:nvSpPr>
        <p:spPr/>
        <p:txBody>
          <a:bodyPr/>
          <a:lstStyle/>
          <a:p>
            <a:fld id="{5D9C30DE-6A64-4BEE-8EF3-DF084BEA05C1}" type="datetime1">
              <a:rPr lang="en-US" smtClean="0"/>
              <a:t>3/1/2025</a:t>
            </a:fld>
            <a:endParaRPr lang="en-US"/>
          </a:p>
        </p:txBody>
      </p:sp>
      <p:sp>
        <p:nvSpPr>
          <p:cNvPr id="4" name="Footer Placeholder 3">
            <a:extLst>
              <a:ext uri="{FF2B5EF4-FFF2-40B4-BE49-F238E27FC236}">
                <a16:creationId xmlns:a16="http://schemas.microsoft.com/office/drawing/2014/main" id="{6B3FF27C-C9C5-1300-CDC1-A57751162D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A8F342-BBDA-4452-5FF3-7F7C38472FE6}"/>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1343739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F451DD-D133-7D71-1CDA-F726AF3452E9}"/>
              </a:ext>
            </a:extLst>
          </p:cNvPr>
          <p:cNvSpPr>
            <a:spLocks noGrp="1"/>
          </p:cNvSpPr>
          <p:nvPr>
            <p:ph type="dt" sz="half" idx="10"/>
          </p:nvPr>
        </p:nvSpPr>
        <p:spPr/>
        <p:txBody>
          <a:bodyPr/>
          <a:lstStyle/>
          <a:p>
            <a:fld id="{8CB4CAAF-2F01-498F-89B0-DB7EA8EC2343}" type="datetime1">
              <a:rPr lang="en-US" smtClean="0"/>
              <a:t>3/1/2025</a:t>
            </a:fld>
            <a:endParaRPr lang="en-US"/>
          </a:p>
        </p:txBody>
      </p:sp>
      <p:sp>
        <p:nvSpPr>
          <p:cNvPr id="3" name="Footer Placeholder 2">
            <a:extLst>
              <a:ext uri="{FF2B5EF4-FFF2-40B4-BE49-F238E27FC236}">
                <a16:creationId xmlns:a16="http://schemas.microsoft.com/office/drawing/2014/main" id="{25DE8337-6AB9-91E0-92B1-A8893EC349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FFC75A-91A7-B454-39E4-42C6064A9007}"/>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4003316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0B6-66E9-8F52-6BA2-3C582EF53E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0D54B7-0CB9-45E4-AE70-92F8EACBC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6ED693-37B7-A288-62D6-5AC85C55BB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E9A16-3A3E-CC6E-A217-3FD8BC4C506C}"/>
              </a:ext>
            </a:extLst>
          </p:cNvPr>
          <p:cNvSpPr>
            <a:spLocks noGrp="1"/>
          </p:cNvSpPr>
          <p:nvPr>
            <p:ph type="dt" sz="half" idx="10"/>
          </p:nvPr>
        </p:nvSpPr>
        <p:spPr/>
        <p:txBody>
          <a:bodyPr/>
          <a:lstStyle/>
          <a:p>
            <a:fld id="{4F10F7E6-27E1-42EF-8BDB-5661503F4C2D}" type="datetime1">
              <a:rPr lang="en-US" smtClean="0"/>
              <a:t>3/1/2025</a:t>
            </a:fld>
            <a:endParaRPr lang="en-US"/>
          </a:p>
        </p:txBody>
      </p:sp>
      <p:sp>
        <p:nvSpPr>
          <p:cNvPr id="6" name="Footer Placeholder 5">
            <a:extLst>
              <a:ext uri="{FF2B5EF4-FFF2-40B4-BE49-F238E27FC236}">
                <a16:creationId xmlns:a16="http://schemas.microsoft.com/office/drawing/2014/main" id="{53B11FE7-758B-7925-4F3A-11602918E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D941CE-2487-74AC-78D4-CD14FDC4AE03}"/>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2366178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F2A0-2528-D1EC-6DA6-FFA6A428DB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6DAED1-D275-DF71-8471-79E8F0DF6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1DF5CA-756A-F397-E8BC-F5ECF8D22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778692-CF26-763B-035A-A67DE38598E1}"/>
              </a:ext>
            </a:extLst>
          </p:cNvPr>
          <p:cNvSpPr>
            <a:spLocks noGrp="1"/>
          </p:cNvSpPr>
          <p:nvPr>
            <p:ph type="dt" sz="half" idx="10"/>
          </p:nvPr>
        </p:nvSpPr>
        <p:spPr/>
        <p:txBody>
          <a:bodyPr/>
          <a:lstStyle/>
          <a:p>
            <a:fld id="{04F16676-04F5-493E-A02A-6B73A4AE7951}" type="datetime1">
              <a:rPr lang="en-US" smtClean="0"/>
              <a:t>3/1/2025</a:t>
            </a:fld>
            <a:endParaRPr lang="en-US"/>
          </a:p>
        </p:txBody>
      </p:sp>
      <p:sp>
        <p:nvSpPr>
          <p:cNvPr id="6" name="Footer Placeholder 5">
            <a:extLst>
              <a:ext uri="{FF2B5EF4-FFF2-40B4-BE49-F238E27FC236}">
                <a16:creationId xmlns:a16="http://schemas.microsoft.com/office/drawing/2014/main" id="{8A12559A-0196-7910-9D23-9B5B0ADB77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01810D-4ED4-DAAC-536E-5909153123C8}"/>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2384940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3D5D-71F2-ABEF-ABBD-1B1B6ADF4D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084F67-0322-04E8-4FBA-F4A159501A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56CD1-B2AD-591C-CE11-7C05421ECDF4}"/>
              </a:ext>
            </a:extLst>
          </p:cNvPr>
          <p:cNvSpPr>
            <a:spLocks noGrp="1"/>
          </p:cNvSpPr>
          <p:nvPr>
            <p:ph type="dt" sz="half" idx="10"/>
          </p:nvPr>
        </p:nvSpPr>
        <p:spPr/>
        <p:txBody>
          <a:bodyPr/>
          <a:lstStyle/>
          <a:p>
            <a:fld id="{EC93E650-B1F9-41B7-A814-30DF5D824348}" type="datetime1">
              <a:rPr lang="en-US" smtClean="0"/>
              <a:t>3/1/2025</a:t>
            </a:fld>
            <a:endParaRPr lang="en-US"/>
          </a:p>
        </p:txBody>
      </p:sp>
      <p:sp>
        <p:nvSpPr>
          <p:cNvPr id="5" name="Footer Placeholder 4">
            <a:extLst>
              <a:ext uri="{FF2B5EF4-FFF2-40B4-BE49-F238E27FC236}">
                <a16:creationId xmlns:a16="http://schemas.microsoft.com/office/drawing/2014/main" id="{0367E3E5-F0E6-E5D2-1F75-2DA885CCF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EF9E4-96E1-F061-AB9E-7AEDCFF81370}"/>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395040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A4D3C6-62B9-1416-C2DB-275DB9C21E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4E5A3F-8483-A62C-CA4A-589962A2A2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50926-7CE8-2280-CDFB-03C1955088C6}"/>
              </a:ext>
            </a:extLst>
          </p:cNvPr>
          <p:cNvSpPr>
            <a:spLocks noGrp="1"/>
          </p:cNvSpPr>
          <p:nvPr>
            <p:ph type="dt" sz="half" idx="10"/>
          </p:nvPr>
        </p:nvSpPr>
        <p:spPr/>
        <p:txBody>
          <a:bodyPr/>
          <a:lstStyle/>
          <a:p>
            <a:fld id="{73C66AA3-ECFC-423D-9D1F-F2B307D4D685}" type="datetime1">
              <a:rPr lang="en-US" smtClean="0"/>
              <a:t>3/1/2025</a:t>
            </a:fld>
            <a:endParaRPr lang="en-US"/>
          </a:p>
        </p:txBody>
      </p:sp>
      <p:sp>
        <p:nvSpPr>
          <p:cNvPr id="5" name="Footer Placeholder 4">
            <a:extLst>
              <a:ext uri="{FF2B5EF4-FFF2-40B4-BE49-F238E27FC236}">
                <a16:creationId xmlns:a16="http://schemas.microsoft.com/office/drawing/2014/main" id="{B5E40049-6566-DC8C-372D-0EC5E882B2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0B567F-A9F2-C4EC-0615-8708D80094BE}"/>
              </a:ext>
            </a:extLst>
          </p:cNvPr>
          <p:cNvSpPr>
            <a:spLocks noGrp="1"/>
          </p:cNvSpPr>
          <p:nvPr>
            <p:ph type="sldNum" sz="quarter" idx="12"/>
          </p:nvPr>
        </p:nvSpPr>
        <p:spPr/>
        <p:txBody>
          <a:bodyPr/>
          <a:lstStyle/>
          <a:p>
            <a:fld id="{B841CA95-E0BC-48B5-948A-ECC494EB4D84}" type="slidenum">
              <a:rPr lang="en-US" smtClean="0"/>
              <a:t>‹#›</a:t>
            </a:fld>
            <a:endParaRPr lang="en-US"/>
          </a:p>
        </p:txBody>
      </p:sp>
    </p:spTree>
    <p:extLst>
      <p:ext uri="{BB962C8B-B14F-4D97-AF65-F5344CB8AC3E}">
        <p14:creationId xmlns:p14="http://schemas.microsoft.com/office/powerpoint/2010/main" val="4221113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4B2E60-CB04-514A-D0F6-1B72D6E2D9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623A3-2C3F-3A12-551B-E288A2C651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0A9EF-3EAC-7E2B-C8D4-F8F07117A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969F45-234F-4D98-8AAE-7ED1F80960E9}" type="datetime1">
              <a:rPr lang="en-US" smtClean="0"/>
              <a:t>3/1/2025</a:t>
            </a:fld>
            <a:endParaRPr lang="en-US"/>
          </a:p>
        </p:txBody>
      </p:sp>
      <p:sp>
        <p:nvSpPr>
          <p:cNvPr id="5" name="Footer Placeholder 4">
            <a:extLst>
              <a:ext uri="{FF2B5EF4-FFF2-40B4-BE49-F238E27FC236}">
                <a16:creationId xmlns:a16="http://schemas.microsoft.com/office/drawing/2014/main" id="{F42EBB0E-67C4-6B55-DDD7-5FFC965B7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38194E-BC04-1D94-41F3-99EE35C327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41CA95-E0BC-48B5-948A-ECC494EB4D84}" type="slidenum">
              <a:rPr lang="en-US" smtClean="0"/>
              <a:t>‹#›</a:t>
            </a:fld>
            <a:endParaRPr lang="en-US"/>
          </a:p>
        </p:txBody>
      </p:sp>
    </p:spTree>
    <p:extLst>
      <p:ext uri="{BB962C8B-B14F-4D97-AF65-F5344CB8AC3E}">
        <p14:creationId xmlns:p14="http://schemas.microsoft.com/office/powerpoint/2010/main" val="16481029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numpy.or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cipy.org/scipylib/" TargetMode="External"/><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pandas.pydata.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ikit-learn.org/stabl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matplotlib.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eaborn.pydata.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doc.python.org/2/library/datetime.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16.png"/><Relationship Id="rId4" Type="http://schemas.openxmlformats.org/officeDocument/2006/relationships/customXml" Target="../ink/ink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 for Data Analysis</a:t>
            </a:r>
          </a:p>
        </p:txBody>
      </p:sp>
    </p:spTree>
    <p:extLst>
      <p:ext uri="{BB962C8B-B14F-4D97-AF65-F5344CB8AC3E}">
        <p14:creationId xmlns:p14="http://schemas.microsoft.com/office/powerpoint/2010/main" val="1115155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970201" y="1945315"/>
            <a:ext cx="5566841" cy="1325563"/>
          </a:xfrm>
        </p:spPr>
        <p:txBody>
          <a:bodyPr/>
          <a:lstStyle/>
          <a:p>
            <a:r>
              <a:rPr lang="en-US" dirty="0"/>
              <a:t>Tutorial Content</a:t>
            </a:r>
          </a:p>
        </p:txBody>
      </p:sp>
      <p:sp>
        <p:nvSpPr>
          <p:cNvPr id="4" name="Slide Number Placeholder 3"/>
          <p:cNvSpPr>
            <a:spLocks noGrp="1"/>
          </p:cNvSpPr>
          <p:nvPr>
            <p:ph type="sldNum" sz="quarter" idx="12"/>
          </p:nvPr>
        </p:nvSpPr>
        <p:spPr/>
        <p:txBody>
          <a:bodyPr/>
          <a:lstStyle/>
          <a:p>
            <a:fld id="{B841CA95-E0BC-48B5-948A-ECC494EB4D84}" type="slidenum">
              <a:rPr lang="en-US" smtClean="0"/>
              <a:t>2</a:t>
            </a:fld>
            <a:endParaRPr lang="en-US"/>
          </a:p>
        </p:txBody>
      </p:sp>
      <p:sp>
        <p:nvSpPr>
          <p:cNvPr id="19" name="Oval 18"/>
          <p:cNvSpPr/>
          <p:nvPr/>
        </p:nvSpPr>
        <p:spPr>
          <a:xfrm>
            <a:off x="-17720144" y="-6849586"/>
            <a:ext cx="20726400" cy="20726400"/>
          </a:xfrm>
          <a:prstGeom prst="ellipse">
            <a:avLst/>
          </a:prstGeom>
          <a:noFill/>
          <a:ln w="1524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2196100" y="467916"/>
            <a:ext cx="908462" cy="865295"/>
          </a:xfrm>
          <a:prstGeom prst="ellipse">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3161546" y="536694"/>
            <a:ext cx="4198568" cy="646331"/>
          </a:xfrm>
          <a:prstGeom prst="rect">
            <a:avLst/>
          </a:prstGeom>
          <a:noFill/>
        </p:spPr>
        <p:txBody>
          <a:bodyPr wrap="square" rtlCol="0">
            <a:spAutoFit/>
          </a:bodyPr>
          <a:lstStyle/>
          <a:p>
            <a:r>
              <a:rPr lang="en-US" dirty="0"/>
              <a:t>Overview of Python Libraries for Data Scientists</a:t>
            </a:r>
          </a:p>
        </p:txBody>
      </p:sp>
      <p:sp>
        <p:nvSpPr>
          <p:cNvPr id="25" name="TextBox 24"/>
          <p:cNvSpPr txBox="1"/>
          <p:nvPr/>
        </p:nvSpPr>
        <p:spPr>
          <a:xfrm>
            <a:off x="3460600" y="1759635"/>
            <a:ext cx="7034784" cy="646331"/>
          </a:xfrm>
          <a:prstGeom prst="rect">
            <a:avLst/>
          </a:prstGeom>
          <a:noFill/>
        </p:spPr>
        <p:txBody>
          <a:bodyPr wrap="square" rtlCol="0">
            <a:spAutoFit/>
          </a:bodyPr>
          <a:lstStyle/>
          <a:p>
            <a:r>
              <a:rPr lang="en-US" dirty="0">
                <a:solidFill>
                  <a:srgbClr val="FF0000"/>
                </a:solidFill>
              </a:rPr>
              <a:t>Pandas: </a:t>
            </a:r>
            <a:r>
              <a:rPr lang="en-US" dirty="0"/>
              <a:t>Reading Data; Selecting and Filtering the Data; Data manipulation, sorting, grouping, rearranging </a:t>
            </a:r>
          </a:p>
        </p:txBody>
      </p:sp>
      <p:sp>
        <p:nvSpPr>
          <p:cNvPr id="27" name="TextBox 26"/>
          <p:cNvSpPr txBox="1"/>
          <p:nvPr/>
        </p:nvSpPr>
        <p:spPr>
          <a:xfrm>
            <a:off x="3509368" y="3163230"/>
            <a:ext cx="5279136" cy="369332"/>
          </a:xfrm>
          <a:prstGeom prst="rect">
            <a:avLst/>
          </a:prstGeom>
          <a:noFill/>
        </p:spPr>
        <p:txBody>
          <a:bodyPr wrap="square" rtlCol="0">
            <a:spAutoFit/>
          </a:bodyPr>
          <a:lstStyle/>
          <a:p>
            <a:r>
              <a:rPr lang="en-US" dirty="0">
                <a:solidFill>
                  <a:srgbClr val="FF0000"/>
                </a:solidFill>
              </a:rPr>
              <a:t>Matplotlib, Seaborn</a:t>
            </a:r>
            <a:r>
              <a:rPr lang="en-US" dirty="0"/>
              <a:t>: Plotting the data</a:t>
            </a:r>
          </a:p>
        </p:txBody>
      </p:sp>
      <p:sp>
        <p:nvSpPr>
          <p:cNvPr id="29" name="TextBox 28"/>
          <p:cNvSpPr txBox="1"/>
          <p:nvPr/>
        </p:nvSpPr>
        <p:spPr>
          <a:xfrm>
            <a:off x="3460600" y="4386171"/>
            <a:ext cx="5279136" cy="369332"/>
          </a:xfrm>
          <a:prstGeom prst="rect">
            <a:avLst/>
          </a:prstGeom>
          <a:noFill/>
        </p:spPr>
        <p:txBody>
          <a:bodyPr wrap="square" rtlCol="0">
            <a:spAutoFit/>
          </a:bodyPr>
          <a:lstStyle/>
          <a:p>
            <a:r>
              <a:rPr lang="en-US" dirty="0"/>
              <a:t>Descriptive statistics</a:t>
            </a:r>
          </a:p>
        </p:txBody>
      </p:sp>
      <p:sp>
        <p:nvSpPr>
          <p:cNvPr id="30" name="TextBox 29"/>
          <p:cNvSpPr txBox="1"/>
          <p:nvPr/>
        </p:nvSpPr>
        <p:spPr>
          <a:xfrm>
            <a:off x="3249168" y="5696876"/>
            <a:ext cx="5279136" cy="369332"/>
          </a:xfrm>
          <a:prstGeom prst="rect">
            <a:avLst/>
          </a:prstGeom>
          <a:noFill/>
        </p:spPr>
        <p:txBody>
          <a:bodyPr wrap="square" rtlCol="0">
            <a:spAutoFit/>
          </a:bodyPr>
          <a:lstStyle/>
          <a:p>
            <a:r>
              <a:rPr lang="en-US" dirty="0"/>
              <a:t>Inferential statistics</a:t>
            </a:r>
          </a:p>
        </p:txBody>
      </p:sp>
      <p:sp>
        <p:nvSpPr>
          <p:cNvPr id="31" name="Oval 30"/>
          <p:cNvSpPr/>
          <p:nvPr/>
        </p:nvSpPr>
        <p:spPr>
          <a:xfrm>
            <a:off x="2457843" y="1679170"/>
            <a:ext cx="908462" cy="865295"/>
          </a:xfrm>
          <a:prstGeom prst="ellipse">
            <a:avLst/>
          </a:prstGeom>
          <a:solidFill>
            <a:schemeClr val="accent4"/>
          </a:solidFill>
          <a:ln w="2222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2514906" y="2920904"/>
            <a:ext cx="908462" cy="865295"/>
          </a:xfrm>
          <a:prstGeom prst="ellipse">
            <a:avLst/>
          </a:prstGeom>
          <a:solidFill>
            <a:schemeClr val="accent3"/>
          </a:solidFill>
          <a:ln w="2222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2514906" y="4162638"/>
            <a:ext cx="908462" cy="865295"/>
          </a:xfrm>
          <a:prstGeom prst="ellipse">
            <a:avLst/>
          </a:prstGeom>
          <a:solidFill>
            <a:schemeClr val="accent6"/>
          </a:solid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2277819" y="5410468"/>
            <a:ext cx="908462" cy="865295"/>
          </a:xfrm>
          <a:prstGeom prst="ellipse">
            <a:avLst/>
          </a:prstGeom>
          <a:solidFill>
            <a:schemeClr val="accent2"/>
          </a:solidFill>
          <a:ln w="222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4811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a:xfrm>
            <a:off x="0" y="1825625"/>
            <a:ext cx="11353800" cy="4351338"/>
          </a:xfrm>
        </p:spPr>
        <p:txBody>
          <a:bodyPr>
            <a:normAutofit fontScale="92500" lnSpcReduction="20000"/>
          </a:bodyPr>
          <a:lstStyle/>
          <a:p>
            <a:pPr marL="0" indent="0">
              <a:buNone/>
            </a:pPr>
            <a:r>
              <a:rPr lang="en-US" dirty="0"/>
              <a:t>Many popular Python toolboxes/libraries:</a:t>
            </a:r>
          </a:p>
          <a:p>
            <a:pPr lvl="1"/>
            <a:r>
              <a:rPr lang="en-US" dirty="0"/>
              <a:t>NumPy: NumPy is used for working with arrays</a:t>
            </a:r>
          </a:p>
          <a:p>
            <a:pPr lvl="1"/>
            <a:r>
              <a:rPr lang="en-US" dirty="0"/>
              <a:t>SciPy: scientific computation library that uses NumPy underneath </a:t>
            </a:r>
          </a:p>
          <a:p>
            <a:pPr lvl="1"/>
            <a:r>
              <a:rPr lang="en-US" dirty="0"/>
              <a:t>Pandas: Pandas is an open-source data analysis and manipulation tool</a:t>
            </a:r>
          </a:p>
          <a:p>
            <a:pPr lvl="1"/>
            <a:r>
              <a:rPr lang="en-US" dirty="0" err="1"/>
              <a:t>SciKit</a:t>
            </a:r>
            <a:r>
              <a:rPr lang="en-US" dirty="0"/>
              <a:t>-Learn (</a:t>
            </a:r>
            <a:r>
              <a:rPr lang="en-US" dirty="0" err="1"/>
              <a:t>sklearn</a:t>
            </a:r>
            <a:r>
              <a:rPr lang="en-US" dirty="0"/>
              <a:t>): Popular machine learning library in Python that provides simple and efficient tools for </a:t>
            </a:r>
            <a:r>
              <a:rPr lang="en-US" dirty="0">
                <a:solidFill>
                  <a:srgbClr val="FF0000"/>
                </a:solidFill>
              </a:rPr>
              <a:t>data mining, data analysis, and machine learning</a:t>
            </a:r>
            <a:r>
              <a:rPr lang="en-US" dirty="0"/>
              <a:t>. It is built on top of NumPy, SciPy, and Matplotlib</a:t>
            </a:r>
          </a:p>
          <a:p>
            <a:pPr marL="457200" lvl="1" indent="0">
              <a:buNone/>
            </a:pPr>
            <a:endParaRPr lang="en-US" dirty="0"/>
          </a:p>
          <a:p>
            <a:pPr marL="0" indent="0">
              <a:buNone/>
            </a:pPr>
            <a:r>
              <a:rPr lang="en-US" dirty="0"/>
              <a:t>Visualization libraries</a:t>
            </a:r>
          </a:p>
          <a:p>
            <a:pPr lvl="1"/>
            <a:r>
              <a:rPr lang="en-US" dirty="0" err="1"/>
              <a:t>matplotlib</a:t>
            </a:r>
            <a:endParaRPr lang="en-US" dirty="0"/>
          </a:p>
          <a:p>
            <a:pPr lvl="1"/>
            <a:r>
              <a:rPr lang="en-US" dirty="0" err="1"/>
              <a:t>Seaborn</a:t>
            </a:r>
            <a:endParaRPr lang="en-US" dirty="0"/>
          </a:p>
          <a:p>
            <a:pPr lvl="1"/>
            <a:endParaRPr lang="en-US" dirty="0"/>
          </a:p>
          <a:p>
            <a:pPr marL="457200" lvl="1" indent="0">
              <a:buNone/>
            </a:pPr>
            <a:r>
              <a:rPr lang="en-US" dirty="0"/>
              <a:t>                                                      and many more …</a:t>
            </a:r>
          </a:p>
        </p:txBody>
      </p:sp>
      <p:sp>
        <p:nvSpPr>
          <p:cNvPr id="4" name="Slide Number Placeholder 3"/>
          <p:cNvSpPr>
            <a:spLocks noGrp="1"/>
          </p:cNvSpPr>
          <p:nvPr>
            <p:ph type="sldNum" sz="quarter" idx="12"/>
          </p:nvPr>
        </p:nvSpPr>
        <p:spPr/>
        <p:txBody>
          <a:bodyPr/>
          <a:lstStyle/>
          <a:p>
            <a:fld id="{B841CA95-E0BC-48B5-948A-ECC494EB4D84}" type="slidenum">
              <a:rPr lang="en-US" smtClean="0"/>
              <a:t>3</a:t>
            </a:fld>
            <a:endParaRPr lang="en-US"/>
          </a:p>
        </p:txBody>
      </p:sp>
    </p:spTree>
    <p:extLst>
      <p:ext uri="{BB962C8B-B14F-4D97-AF65-F5344CB8AC3E}">
        <p14:creationId xmlns:p14="http://schemas.microsoft.com/office/powerpoint/2010/main" val="3973478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p:txBody>
          <a:bodyPr/>
          <a:lstStyle/>
          <a:p>
            <a:pPr marL="0" indent="0">
              <a:buNone/>
            </a:pPr>
            <a:r>
              <a:rPr lang="en-US" i="1" dirty="0" err="1"/>
              <a:t>NumPy</a:t>
            </a:r>
            <a:r>
              <a:rPr lang="en-US" i="1" dirty="0"/>
              <a:t>:</a:t>
            </a:r>
          </a:p>
          <a:p>
            <a:pPr lvl="1">
              <a:buFont typeface="Wingdings" panose="05000000000000000000" pitchFamily="2" charset="2"/>
              <a:buChar char="§"/>
            </a:pPr>
            <a:r>
              <a:rPr lang="en-US" dirty="0"/>
              <a:t>introduces objects for multidimensional arrays and matrices, as well as functions that allow to easily perform advanced mathematical and statistical operations on those objects</a:t>
            </a:r>
          </a:p>
          <a:p>
            <a:pPr lvl="1">
              <a:buFont typeface="Wingdings" panose="05000000000000000000" pitchFamily="2" charset="2"/>
              <a:buChar char="§"/>
            </a:pPr>
            <a:endParaRPr lang="en-US" dirty="0"/>
          </a:p>
          <a:p>
            <a:pPr lvl="1">
              <a:buFont typeface="Wingdings" panose="05000000000000000000" pitchFamily="2" charset="2"/>
              <a:buChar char="§"/>
            </a:pPr>
            <a:r>
              <a:rPr lang="en-US" dirty="0"/>
              <a:t>provides vectorization of mathematical operations on arrays and matrices which significantly improves the performance</a:t>
            </a:r>
          </a:p>
          <a:p>
            <a:pPr lvl="1">
              <a:buFont typeface="Wingdings" panose="05000000000000000000" pitchFamily="2" charset="2"/>
              <a:buChar char="§"/>
            </a:pPr>
            <a:endParaRPr lang="en-US" dirty="0"/>
          </a:p>
          <a:p>
            <a:pPr lvl="1">
              <a:buFont typeface="Wingdings" panose="05000000000000000000" pitchFamily="2" charset="2"/>
              <a:buChar char="§"/>
            </a:pPr>
            <a:r>
              <a:rPr lang="en-US" dirty="0"/>
              <a:t>many other python libraries are built on </a:t>
            </a:r>
            <a:r>
              <a:rPr lang="en-US" dirty="0" err="1"/>
              <a:t>NumPy</a:t>
            </a: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4</a:t>
            </a:fld>
            <a:endParaRPr lang="en-US"/>
          </a:p>
        </p:txBody>
      </p:sp>
      <p:pic>
        <p:nvPicPr>
          <p:cNvPr id="2050" name="Picture 2" descr="NumP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0823" y="127698"/>
            <a:ext cx="1714500" cy="5810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8200" y="5807631"/>
            <a:ext cx="4456176" cy="369332"/>
          </a:xfrm>
          <a:prstGeom prst="rect">
            <a:avLst/>
          </a:prstGeom>
          <a:noFill/>
        </p:spPr>
        <p:txBody>
          <a:bodyPr wrap="square" rtlCol="0">
            <a:spAutoFit/>
          </a:bodyPr>
          <a:lstStyle/>
          <a:p>
            <a:r>
              <a:rPr lang="en-US" b="1" dirty="0"/>
              <a:t>Link:</a:t>
            </a:r>
            <a:r>
              <a:rPr lang="en-US" dirty="0"/>
              <a:t> </a:t>
            </a:r>
            <a:r>
              <a:rPr lang="en-US" dirty="0">
                <a:hlinkClick r:id="rId3"/>
              </a:rPr>
              <a:t>http://www.numpy.org/</a:t>
            </a:r>
            <a:endParaRPr lang="en-US" dirty="0"/>
          </a:p>
        </p:txBody>
      </p:sp>
    </p:spTree>
    <p:extLst>
      <p:ext uri="{BB962C8B-B14F-4D97-AF65-F5344CB8AC3E}">
        <p14:creationId xmlns:p14="http://schemas.microsoft.com/office/powerpoint/2010/main" val="33640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p:txBody>
          <a:bodyPr/>
          <a:lstStyle/>
          <a:p>
            <a:pPr marL="0" indent="0">
              <a:buNone/>
            </a:pPr>
            <a:r>
              <a:rPr lang="en-US" i="1" dirty="0" err="1"/>
              <a:t>SciPy</a:t>
            </a:r>
            <a:r>
              <a:rPr lang="en-US" i="1" dirty="0"/>
              <a:t>:</a:t>
            </a:r>
          </a:p>
          <a:p>
            <a:pPr lvl="1">
              <a:buFont typeface="Wingdings" panose="05000000000000000000" pitchFamily="2" charset="2"/>
              <a:buChar char="§"/>
            </a:pPr>
            <a:r>
              <a:rPr lang="en-US" dirty="0"/>
              <a:t>collection of algorithms for linear algebra, differential equations, numerical integration, optimization, statistics and more</a:t>
            </a:r>
          </a:p>
          <a:p>
            <a:pPr lvl="1">
              <a:buFont typeface="Wingdings" panose="05000000000000000000" pitchFamily="2" charset="2"/>
              <a:buChar char="§"/>
            </a:pPr>
            <a:endParaRPr lang="en-US" dirty="0"/>
          </a:p>
          <a:p>
            <a:pPr lvl="1">
              <a:buFont typeface="Wingdings" panose="05000000000000000000" pitchFamily="2" charset="2"/>
              <a:buChar char="§"/>
            </a:pPr>
            <a:r>
              <a:rPr lang="en-US" dirty="0"/>
              <a:t>part of </a:t>
            </a:r>
            <a:r>
              <a:rPr lang="en-US" dirty="0" err="1"/>
              <a:t>SciPy</a:t>
            </a:r>
            <a:r>
              <a:rPr lang="en-US" dirty="0"/>
              <a:t> Stack</a:t>
            </a:r>
          </a:p>
          <a:p>
            <a:pPr lvl="1">
              <a:buFont typeface="Wingdings" panose="05000000000000000000" pitchFamily="2" charset="2"/>
              <a:buChar char="§"/>
            </a:pPr>
            <a:endParaRPr lang="en-US" dirty="0"/>
          </a:p>
          <a:p>
            <a:pPr lvl="1">
              <a:buFont typeface="Wingdings" panose="05000000000000000000" pitchFamily="2" charset="2"/>
              <a:buChar char="§"/>
            </a:pPr>
            <a:r>
              <a:rPr lang="en-US" dirty="0"/>
              <a:t>built on </a:t>
            </a:r>
            <a:r>
              <a:rPr lang="en-US" dirty="0" err="1"/>
              <a:t>NumPy</a:t>
            </a: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5</a:t>
            </a:fld>
            <a:endParaRPr 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038" r="41257"/>
          <a:stretch/>
        </p:blipFill>
        <p:spPr>
          <a:xfrm>
            <a:off x="10137648" y="130874"/>
            <a:ext cx="1789176" cy="525232"/>
          </a:xfrm>
          <a:prstGeom prst="rect">
            <a:avLst/>
          </a:prstGeom>
        </p:spPr>
      </p:pic>
      <p:sp>
        <p:nvSpPr>
          <p:cNvPr id="7" name="TextBox 6"/>
          <p:cNvSpPr txBox="1"/>
          <p:nvPr/>
        </p:nvSpPr>
        <p:spPr>
          <a:xfrm>
            <a:off x="838200" y="5807631"/>
            <a:ext cx="5654040" cy="369332"/>
          </a:xfrm>
          <a:prstGeom prst="rect">
            <a:avLst/>
          </a:prstGeom>
          <a:noFill/>
        </p:spPr>
        <p:txBody>
          <a:bodyPr wrap="square" rtlCol="0">
            <a:spAutoFit/>
          </a:bodyPr>
          <a:lstStyle/>
          <a:p>
            <a:r>
              <a:rPr lang="en-US" b="1" dirty="0"/>
              <a:t>Link:</a:t>
            </a:r>
            <a:r>
              <a:rPr lang="en-US" dirty="0"/>
              <a:t> </a:t>
            </a:r>
            <a:r>
              <a:rPr lang="en-US" dirty="0">
                <a:hlinkClick r:id="rId3"/>
              </a:rPr>
              <a:t>https://www.scipy.org/scipylib/</a:t>
            </a:r>
            <a:endParaRPr lang="en-US" dirty="0"/>
          </a:p>
        </p:txBody>
      </p:sp>
    </p:spTree>
    <p:extLst>
      <p:ext uri="{BB962C8B-B14F-4D97-AF65-F5344CB8AC3E}">
        <p14:creationId xmlns:p14="http://schemas.microsoft.com/office/powerpoint/2010/main" val="2231344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p:txBody>
          <a:bodyPr/>
          <a:lstStyle/>
          <a:p>
            <a:pPr marL="0" indent="0">
              <a:buNone/>
            </a:pPr>
            <a:r>
              <a:rPr lang="en-US" i="1" dirty="0"/>
              <a:t>Pandas:</a:t>
            </a:r>
          </a:p>
          <a:p>
            <a:pPr lvl="1">
              <a:buFont typeface="Wingdings" panose="05000000000000000000" pitchFamily="2" charset="2"/>
              <a:buChar char="§"/>
            </a:pPr>
            <a:r>
              <a:rPr lang="en-US" dirty="0"/>
              <a:t>adds data structures and tools designed to work with table-like data (similar to Series and Data Frames in R)</a:t>
            </a:r>
          </a:p>
          <a:p>
            <a:pPr lvl="1">
              <a:buFont typeface="Wingdings" panose="05000000000000000000" pitchFamily="2" charset="2"/>
              <a:buChar char="§"/>
            </a:pPr>
            <a:endParaRPr lang="en-US" dirty="0"/>
          </a:p>
          <a:p>
            <a:pPr lvl="1">
              <a:buFont typeface="Wingdings" panose="05000000000000000000" pitchFamily="2" charset="2"/>
              <a:buChar char="§"/>
            </a:pPr>
            <a:r>
              <a:rPr lang="en-US" dirty="0"/>
              <a:t>provides tools for data manipulation: reshaping, merging, sorting, slicing, aggregation etc.</a:t>
            </a:r>
          </a:p>
          <a:p>
            <a:pPr lvl="1">
              <a:buFont typeface="Wingdings" panose="05000000000000000000" pitchFamily="2" charset="2"/>
              <a:buChar char="§"/>
            </a:pPr>
            <a:endParaRPr lang="en-US" dirty="0"/>
          </a:p>
          <a:p>
            <a:pPr lvl="1">
              <a:buFont typeface="Wingdings" panose="05000000000000000000" pitchFamily="2" charset="2"/>
              <a:buChar char="§"/>
            </a:pPr>
            <a:r>
              <a:rPr lang="en-US" dirty="0"/>
              <a:t>allows handling duplicate and missing data: Preprocessing Dataset</a:t>
            </a:r>
          </a:p>
        </p:txBody>
      </p:sp>
      <p:sp>
        <p:nvSpPr>
          <p:cNvPr id="4" name="Slide Number Placeholder 3"/>
          <p:cNvSpPr>
            <a:spLocks noGrp="1"/>
          </p:cNvSpPr>
          <p:nvPr>
            <p:ph type="sldNum" sz="quarter" idx="12"/>
          </p:nvPr>
        </p:nvSpPr>
        <p:spPr/>
        <p:txBody>
          <a:bodyPr/>
          <a:lstStyle/>
          <a:p>
            <a:fld id="{B841CA95-E0BC-48B5-948A-ECC494EB4D84}" type="slidenum">
              <a:rPr lang="en-US" smtClean="0"/>
              <a:t>6</a:t>
            </a:fld>
            <a:endParaRPr lang="en-US"/>
          </a:p>
        </p:txBody>
      </p:sp>
      <p:sp>
        <p:nvSpPr>
          <p:cNvPr id="7" name="TextBox 6"/>
          <p:cNvSpPr txBox="1"/>
          <p:nvPr/>
        </p:nvSpPr>
        <p:spPr>
          <a:xfrm>
            <a:off x="838200" y="5807631"/>
            <a:ext cx="5654040" cy="369332"/>
          </a:xfrm>
          <a:prstGeom prst="rect">
            <a:avLst/>
          </a:prstGeom>
          <a:noFill/>
        </p:spPr>
        <p:txBody>
          <a:bodyPr wrap="square" rtlCol="0">
            <a:spAutoFit/>
          </a:bodyPr>
          <a:lstStyle/>
          <a:p>
            <a:r>
              <a:rPr lang="en-US" b="1" dirty="0"/>
              <a:t>Link:</a:t>
            </a:r>
            <a:r>
              <a:rPr lang="en-US" dirty="0"/>
              <a:t> </a:t>
            </a:r>
            <a:r>
              <a:rPr lang="en-US" dirty="0">
                <a:hlinkClick r:id="rId2"/>
              </a:rPr>
              <a:t>http://pandas.pydata.org/</a:t>
            </a:r>
            <a:endParaRPr lang="en-US" dirty="0"/>
          </a:p>
        </p:txBody>
      </p:sp>
      <p:pic>
        <p:nvPicPr>
          <p:cNvPr id="3074"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0218" y="80519"/>
            <a:ext cx="3318046" cy="69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328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32104" y="5807631"/>
            <a:ext cx="5654040" cy="369332"/>
          </a:xfrm>
          <a:prstGeom prst="rect">
            <a:avLst/>
          </a:prstGeom>
          <a:noFill/>
        </p:spPr>
        <p:txBody>
          <a:bodyPr wrap="square" rtlCol="0">
            <a:spAutoFit/>
          </a:bodyPr>
          <a:lstStyle/>
          <a:p>
            <a:r>
              <a:rPr lang="en-US" b="1" dirty="0"/>
              <a:t>Link:</a:t>
            </a:r>
            <a:r>
              <a:rPr lang="en-US" dirty="0"/>
              <a:t> </a:t>
            </a:r>
            <a:r>
              <a:rPr lang="en-US" dirty="0">
                <a:hlinkClick r:id="rId2"/>
              </a:rPr>
              <a:t>http://scikit-learn.org/</a:t>
            </a:r>
            <a:endParaRPr lang="en-US" dirty="0"/>
          </a:p>
        </p:txBody>
      </p:sp>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p:txBody>
          <a:bodyPr/>
          <a:lstStyle/>
          <a:p>
            <a:pPr marL="0" indent="0">
              <a:buNone/>
            </a:pPr>
            <a:r>
              <a:rPr lang="en-US" i="1" dirty="0" err="1"/>
              <a:t>SciKit</a:t>
            </a:r>
            <a:r>
              <a:rPr lang="en-US" i="1" dirty="0"/>
              <a:t>-Learn:</a:t>
            </a:r>
          </a:p>
          <a:p>
            <a:pPr lvl="1">
              <a:buFont typeface="Wingdings" panose="05000000000000000000" pitchFamily="2" charset="2"/>
              <a:buChar char="§"/>
            </a:pPr>
            <a:r>
              <a:rPr lang="en-US" dirty="0"/>
              <a:t>provides machine learning algorithms: classification, regression, clustering, model validation etc.</a:t>
            </a:r>
          </a:p>
          <a:p>
            <a:pPr lvl="1">
              <a:buFont typeface="Wingdings" panose="05000000000000000000" pitchFamily="2" charset="2"/>
              <a:buChar char="§"/>
            </a:pPr>
            <a:endParaRPr lang="en-US" dirty="0"/>
          </a:p>
          <a:p>
            <a:pPr lvl="1">
              <a:buFont typeface="Wingdings" panose="05000000000000000000" pitchFamily="2" charset="2"/>
              <a:buChar char="§"/>
            </a:pPr>
            <a:r>
              <a:rPr lang="en-US" dirty="0"/>
              <a:t>built on </a:t>
            </a:r>
            <a:r>
              <a:rPr lang="en-US" dirty="0" err="1"/>
              <a:t>NumPy</a:t>
            </a:r>
            <a:r>
              <a:rPr lang="en-US" dirty="0"/>
              <a:t>, </a:t>
            </a:r>
            <a:r>
              <a:rPr lang="en-US" dirty="0" err="1"/>
              <a:t>SciPy</a:t>
            </a:r>
            <a:r>
              <a:rPr lang="en-US" dirty="0"/>
              <a:t> and </a:t>
            </a:r>
            <a:r>
              <a:rPr lang="en-US" dirty="0" err="1"/>
              <a:t>matplotlib</a:t>
            </a:r>
            <a:endParaRPr lang="en-US" dirty="0"/>
          </a:p>
          <a:p>
            <a:pPr marL="457200" lvl="1" indent="0">
              <a:buNone/>
            </a:pP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7</a:t>
            </a:fld>
            <a:endParaRPr lang="en-US"/>
          </a:p>
        </p:txBody>
      </p:sp>
      <p:pic>
        <p:nvPicPr>
          <p:cNvPr id="5122"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9527" y="149923"/>
            <a:ext cx="1524000"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197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p:txBody>
          <a:bodyPr/>
          <a:lstStyle/>
          <a:p>
            <a:pPr marL="0" indent="0">
              <a:buNone/>
            </a:pPr>
            <a:r>
              <a:rPr lang="en-US" i="1" dirty="0" err="1"/>
              <a:t>matplotlib</a:t>
            </a:r>
            <a:r>
              <a:rPr lang="en-US" i="1" dirty="0"/>
              <a:t>:</a:t>
            </a:r>
          </a:p>
          <a:p>
            <a:pPr lvl="1">
              <a:buFont typeface="Wingdings" panose="05000000000000000000" pitchFamily="2" charset="2"/>
              <a:buChar char="§"/>
            </a:pPr>
            <a:r>
              <a:rPr lang="en-US" dirty="0"/>
              <a:t>Python 2D plotting library which produces publication quality figures in a variety of hardcopy formats </a:t>
            </a:r>
          </a:p>
          <a:p>
            <a:pPr marL="457200" lvl="1" indent="0">
              <a:buNone/>
            </a:pPr>
            <a:endParaRPr lang="en-US" dirty="0"/>
          </a:p>
          <a:p>
            <a:pPr lvl="1">
              <a:buFont typeface="Wingdings" panose="05000000000000000000" pitchFamily="2" charset="2"/>
              <a:buChar char="§"/>
            </a:pPr>
            <a:r>
              <a:rPr lang="en-US" dirty="0"/>
              <a:t>a set of functionalities similar to those of MATLAB</a:t>
            </a:r>
          </a:p>
          <a:p>
            <a:pPr lvl="1">
              <a:buFont typeface="Wingdings" panose="05000000000000000000" pitchFamily="2" charset="2"/>
              <a:buChar char="§"/>
            </a:pPr>
            <a:endParaRPr lang="en-US" dirty="0"/>
          </a:p>
          <a:p>
            <a:pPr lvl="1">
              <a:buFont typeface="Wingdings" panose="05000000000000000000" pitchFamily="2" charset="2"/>
              <a:buChar char="§"/>
            </a:pPr>
            <a:r>
              <a:rPr lang="en-US" dirty="0"/>
              <a:t>line plots, scatter plots, </a:t>
            </a:r>
            <a:r>
              <a:rPr lang="en-US" dirty="0" err="1"/>
              <a:t>barcharts</a:t>
            </a:r>
            <a:r>
              <a:rPr lang="en-US" dirty="0"/>
              <a:t>, histograms, pie charts, etc.</a:t>
            </a:r>
          </a:p>
          <a:p>
            <a:pPr lvl="1">
              <a:buFont typeface="Wingdings" panose="05000000000000000000" pitchFamily="2" charset="2"/>
              <a:buChar char="§"/>
            </a:pPr>
            <a:endParaRPr lang="en-US" dirty="0"/>
          </a:p>
          <a:p>
            <a:pPr lvl="1">
              <a:buFont typeface="Wingdings" panose="05000000000000000000" pitchFamily="2" charset="2"/>
              <a:buChar char="§"/>
            </a:pPr>
            <a:r>
              <a:rPr lang="en-US" dirty="0"/>
              <a:t>relatively low-level; some effort needed to create advanced visualization</a:t>
            </a:r>
          </a:p>
          <a:p>
            <a:pPr marL="457200" lvl="1" indent="0">
              <a:buNone/>
            </a:pP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8</a:t>
            </a:fld>
            <a:endParaRPr lang="en-US"/>
          </a:p>
        </p:txBody>
      </p:sp>
      <p:sp>
        <p:nvSpPr>
          <p:cNvPr id="8" name="TextBox 7"/>
          <p:cNvSpPr txBox="1"/>
          <p:nvPr/>
        </p:nvSpPr>
        <p:spPr>
          <a:xfrm>
            <a:off x="832104" y="5807631"/>
            <a:ext cx="5654040" cy="369332"/>
          </a:xfrm>
          <a:prstGeom prst="rect">
            <a:avLst/>
          </a:prstGeom>
          <a:noFill/>
        </p:spPr>
        <p:txBody>
          <a:bodyPr wrap="square" rtlCol="0">
            <a:spAutoFit/>
          </a:bodyPr>
          <a:lstStyle/>
          <a:p>
            <a:r>
              <a:rPr lang="en-US" b="1" dirty="0"/>
              <a:t>Link:</a:t>
            </a:r>
            <a:r>
              <a:rPr lang="en-US" dirty="0"/>
              <a:t> </a:t>
            </a:r>
            <a:r>
              <a:rPr lang="en-US" dirty="0">
                <a:hlinkClick r:id="rId2"/>
              </a:rPr>
              <a:t>https://matplotlib.org/</a:t>
            </a: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5023" y="119373"/>
            <a:ext cx="2183346" cy="491504"/>
          </a:xfrm>
          <a:prstGeom prst="rect">
            <a:avLst/>
          </a:prstGeom>
        </p:spPr>
      </p:pic>
    </p:spTree>
    <p:extLst>
      <p:ext uri="{BB962C8B-B14F-4D97-AF65-F5344CB8AC3E}">
        <p14:creationId xmlns:p14="http://schemas.microsoft.com/office/powerpoint/2010/main" val="4185346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Libraries for Data Science</a:t>
            </a:r>
          </a:p>
        </p:txBody>
      </p:sp>
      <p:sp>
        <p:nvSpPr>
          <p:cNvPr id="3" name="Content Placeholder 2"/>
          <p:cNvSpPr>
            <a:spLocks noGrp="1"/>
          </p:cNvSpPr>
          <p:nvPr>
            <p:ph idx="1"/>
          </p:nvPr>
        </p:nvSpPr>
        <p:spPr>
          <a:xfrm>
            <a:off x="0" y="1825625"/>
            <a:ext cx="12192000" cy="4351338"/>
          </a:xfrm>
        </p:spPr>
        <p:txBody>
          <a:bodyPr/>
          <a:lstStyle/>
          <a:p>
            <a:pPr marL="0" indent="0">
              <a:buNone/>
            </a:pPr>
            <a:r>
              <a:rPr lang="en-US" i="1" dirty="0" err="1"/>
              <a:t>Seaborn</a:t>
            </a:r>
            <a:r>
              <a:rPr lang="en-US" i="1" dirty="0"/>
              <a:t>:</a:t>
            </a:r>
          </a:p>
          <a:p>
            <a:pPr lvl="1">
              <a:buFont typeface="Wingdings" panose="05000000000000000000" pitchFamily="2" charset="2"/>
              <a:buChar char="§"/>
            </a:pPr>
            <a:r>
              <a:rPr lang="en-US" dirty="0"/>
              <a:t>based on </a:t>
            </a:r>
            <a:r>
              <a:rPr lang="en-US" dirty="0" err="1"/>
              <a:t>matplotlib</a:t>
            </a:r>
            <a:r>
              <a:rPr lang="en-US" dirty="0"/>
              <a:t> </a:t>
            </a:r>
          </a:p>
          <a:p>
            <a:pPr marL="457200" lvl="1" indent="0">
              <a:buNone/>
            </a:pPr>
            <a:endParaRPr lang="en-US" dirty="0"/>
          </a:p>
          <a:p>
            <a:pPr lvl="1">
              <a:buFont typeface="Wingdings" panose="05000000000000000000" pitchFamily="2" charset="2"/>
              <a:buChar char="§"/>
            </a:pPr>
            <a:r>
              <a:rPr lang="en-US" dirty="0"/>
              <a:t>provides </a:t>
            </a:r>
            <a:r>
              <a:rPr lang="en-US" dirty="0">
                <a:solidFill>
                  <a:srgbClr val="FF0000"/>
                </a:solidFill>
              </a:rPr>
              <a:t>high level interface </a:t>
            </a:r>
            <a:r>
              <a:rPr lang="en-US" dirty="0"/>
              <a:t>for drawing attractive statistical graphics</a:t>
            </a:r>
          </a:p>
          <a:p>
            <a:pPr lvl="1">
              <a:buFont typeface="Wingdings" panose="05000000000000000000" pitchFamily="2" charset="2"/>
              <a:buChar char="§"/>
            </a:pPr>
            <a:endParaRPr lang="en-US" dirty="0"/>
          </a:p>
          <a:p>
            <a:pPr lvl="1">
              <a:buFont typeface="Wingdings" panose="05000000000000000000" pitchFamily="2" charset="2"/>
              <a:buChar char="§"/>
            </a:pPr>
            <a:r>
              <a:rPr lang="en-US" dirty="0"/>
              <a:t>Similar (in style) to the popular ggplot2 library in R</a:t>
            </a:r>
          </a:p>
          <a:p>
            <a:pPr marL="457200" lvl="1" indent="0">
              <a:buNone/>
            </a:pP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9</a:t>
            </a:fld>
            <a:endParaRPr lang="en-US"/>
          </a:p>
        </p:txBody>
      </p:sp>
      <p:sp>
        <p:nvSpPr>
          <p:cNvPr id="8" name="TextBox 7"/>
          <p:cNvSpPr txBox="1"/>
          <p:nvPr/>
        </p:nvSpPr>
        <p:spPr>
          <a:xfrm>
            <a:off x="832104" y="5807631"/>
            <a:ext cx="5654040" cy="369332"/>
          </a:xfrm>
          <a:prstGeom prst="rect">
            <a:avLst/>
          </a:prstGeom>
          <a:noFill/>
        </p:spPr>
        <p:txBody>
          <a:bodyPr wrap="square" rtlCol="0">
            <a:spAutoFit/>
          </a:bodyPr>
          <a:lstStyle/>
          <a:p>
            <a:r>
              <a:rPr lang="en-US" b="1" dirty="0"/>
              <a:t>Link:</a:t>
            </a:r>
            <a:r>
              <a:rPr lang="en-US" dirty="0"/>
              <a:t> </a:t>
            </a:r>
            <a:r>
              <a:rPr lang="en-US" dirty="0">
                <a:hlinkClick r:id="rId2"/>
              </a:rPr>
              <a:t>https://seaborn.pydata.org/</a:t>
            </a:r>
            <a:endParaRPr lang="en-US" dirty="0"/>
          </a:p>
        </p:txBody>
      </p:sp>
    </p:spTree>
    <p:extLst>
      <p:ext uri="{BB962C8B-B14F-4D97-AF65-F5344CB8AC3E}">
        <p14:creationId xmlns:p14="http://schemas.microsoft.com/office/powerpoint/2010/main" val="170073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 </a:t>
            </a:r>
            <a:r>
              <a:rPr lang="en-US" dirty="0" err="1"/>
              <a:t>Jupyter</a:t>
            </a:r>
            <a:r>
              <a:rPr lang="en-US" dirty="0"/>
              <a:t> notebook</a:t>
            </a:r>
          </a:p>
        </p:txBody>
      </p:sp>
      <p:sp>
        <p:nvSpPr>
          <p:cNvPr id="3" name="Content Placeholder 2"/>
          <p:cNvSpPr>
            <a:spLocks noGrp="1"/>
          </p:cNvSpPr>
          <p:nvPr>
            <p:ph idx="1"/>
          </p:nvPr>
        </p:nvSpPr>
        <p:spPr/>
        <p:txBody>
          <a:bodyPr/>
          <a:lstStyle/>
          <a:p>
            <a:pPr marL="0" indent="0">
              <a:buNone/>
            </a:pPr>
            <a:r>
              <a:rPr lang="en-US" sz="2000" dirty="0">
                <a:solidFill>
                  <a:schemeClr val="accent6">
                    <a:lumMod val="75000"/>
                  </a:schemeClr>
                </a:solidFill>
                <a:cs typeface="Courier New" panose="02070309020205020404" pitchFamily="49" charset="0"/>
              </a:rPr>
              <a:t># On the Shared Computing Cluster</a:t>
            </a:r>
            <a:endParaRPr lang="en-US" sz="2000" dirty="0">
              <a:solidFill>
                <a:schemeClr val="accent3">
                  <a:lumMod val="60000"/>
                  <a:lumOff val="40000"/>
                </a:schemeClr>
              </a:solidFill>
              <a:latin typeface="Courier New" panose="02070309020205020404" pitchFamily="49" charset="0"/>
              <a:cs typeface="Courier New" panose="02070309020205020404" pitchFamily="49" charset="0"/>
            </a:endParaRPr>
          </a:p>
          <a:p>
            <a:pPr marL="0" indent="0">
              <a:buNone/>
            </a:pPr>
            <a:r>
              <a:rPr lang="en-US" sz="2400" dirty="0">
                <a:solidFill>
                  <a:schemeClr val="accent3">
                    <a:lumMod val="60000"/>
                    <a:lumOff val="40000"/>
                  </a:schemeClr>
                </a:solidFill>
                <a:latin typeface="Courier New" panose="02070309020205020404" pitchFamily="49" charset="0"/>
                <a:cs typeface="Courier New" panose="02070309020205020404" pitchFamily="49" charset="0"/>
              </a:rPr>
              <a:t>[scc1 ~]</a:t>
            </a:r>
            <a:r>
              <a:rPr lang="en-US" sz="2400" dirty="0">
                <a:latin typeface="Courier New" panose="02070309020205020404" pitchFamily="49" charset="0"/>
                <a:cs typeface="Courier New" panose="02070309020205020404" pitchFamily="49" charset="0"/>
              </a:rPr>
              <a:t> Jupyter notebook</a:t>
            </a:r>
          </a:p>
          <a:p>
            <a:pPr marL="0" indent="0">
              <a:buNone/>
            </a:pPr>
            <a:r>
              <a:rPr lang="en-US" sz="2400" dirty="0">
                <a:latin typeface="Courier New" panose="02070309020205020404" pitchFamily="49" charset="0"/>
                <a:cs typeface="Courier New" panose="02070309020205020404" pitchFamily="49" charset="0"/>
              </a:rPr>
              <a:t>Interactive Python Notebook: </a:t>
            </a:r>
            <a:r>
              <a:rPr lang="en-US" sz="2400" dirty="0" err="1">
                <a:latin typeface="Courier New" panose="02070309020205020404" pitchFamily="49" charset="0"/>
                <a:cs typeface="Courier New" panose="02070309020205020404" pitchFamily="49" charset="0"/>
              </a:rPr>
              <a:t>ipynb</a:t>
            </a:r>
            <a:endParaRPr lang="en-US" sz="24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B841CA95-E0BC-48B5-948A-ECC494EB4D84}" type="slidenum">
              <a:rPr lang="en-US" smtClean="0"/>
              <a:t>10</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97" y="3263448"/>
            <a:ext cx="10273934" cy="2460234"/>
          </a:xfrm>
          <a:prstGeom prst="rect">
            <a:avLst/>
          </a:prstGeom>
        </p:spPr>
      </p:pic>
      <p:sp>
        <p:nvSpPr>
          <p:cNvPr id="6" name="Rectangle 5">
            <a:extLst>
              <a:ext uri="{FF2B5EF4-FFF2-40B4-BE49-F238E27FC236}">
                <a16:creationId xmlns:a16="http://schemas.microsoft.com/office/drawing/2014/main" id="{7AA64341-13D0-F033-C9CE-C9E710913832}"/>
              </a:ext>
            </a:extLst>
          </p:cNvPr>
          <p:cNvSpPr/>
          <p:nvPr/>
        </p:nvSpPr>
        <p:spPr>
          <a:xfrm>
            <a:off x="9920377" y="4080294"/>
            <a:ext cx="396815" cy="24154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539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92576" y="1865480"/>
            <a:ext cx="1540822"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2" name="Title 1"/>
          <p:cNvSpPr>
            <a:spLocks noGrp="1"/>
          </p:cNvSpPr>
          <p:nvPr>
            <p:ph type="title"/>
          </p:nvPr>
        </p:nvSpPr>
        <p:spPr/>
        <p:txBody>
          <a:bodyPr/>
          <a:lstStyle/>
          <a:p>
            <a:r>
              <a:rPr lang="en-US" dirty="0"/>
              <a:t>Loading Python Libraries</a:t>
            </a:r>
          </a:p>
        </p:txBody>
      </p:sp>
      <p:sp>
        <p:nvSpPr>
          <p:cNvPr id="4" name="Slide Number Placeholder 3"/>
          <p:cNvSpPr>
            <a:spLocks noGrp="1"/>
          </p:cNvSpPr>
          <p:nvPr>
            <p:ph type="sldNum" sz="quarter" idx="12"/>
          </p:nvPr>
        </p:nvSpPr>
        <p:spPr/>
        <p:txBody>
          <a:bodyPr/>
          <a:lstStyle/>
          <a:p>
            <a:fld id="{B841CA95-E0BC-48B5-948A-ECC494EB4D84}" type="slidenum">
              <a:rPr lang="en-US" smtClean="0"/>
              <a:t>11</a:t>
            </a:fld>
            <a:endParaRPr lang="en-US"/>
          </a:p>
        </p:txBody>
      </p:sp>
      <p:sp>
        <p:nvSpPr>
          <p:cNvPr id="7" name="TextBox 6"/>
          <p:cNvSpPr txBox="1"/>
          <p:nvPr/>
        </p:nvSpPr>
        <p:spPr>
          <a:xfrm>
            <a:off x="2423276" y="1865480"/>
            <a:ext cx="8491513" cy="2031325"/>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#Import Python Libraries</a:t>
            </a:r>
          </a:p>
          <a:p>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accent1">
                    <a:lumMod val="7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numpy</a:t>
            </a:r>
            <a:r>
              <a:rPr lang="en-US" dirty="0">
                <a:solidFill>
                  <a:schemeClr val="accent1">
                    <a:lumMod val="75000"/>
                  </a:schemeClr>
                </a:solidFill>
                <a:latin typeface="Courier New" panose="02070309020205020404" pitchFamily="49" charset="0"/>
                <a:cs typeface="Courier New" panose="02070309020205020404" pitchFamily="49" charset="0"/>
              </a:rPr>
              <a:t>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accent1">
                    <a:lumMod val="75000"/>
                  </a:schemeClr>
                </a:solidFill>
                <a:latin typeface="Courier New" panose="02070309020205020404" pitchFamily="49" charset="0"/>
                <a:cs typeface="Courier New" panose="02070309020205020404" pitchFamily="49" charset="0"/>
              </a:rPr>
              <a:t> </a:t>
            </a:r>
            <a:r>
              <a:rPr lang="en-US" dirty="0">
                <a:solidFill>
                  <a:schemeClr val="bg2">
                    <a:lumMod val="25000"/>
                  </a:schemeClr>
                </a:solidFill>
                <a:latin typeface="Courier New" panose="02070309020205020404" pitchFamily="49" charset="0"/>
                <a:cs typeface="Courier New" panose="02070309020205020404" pitchFamily="49" charset="0"/>
              </a:rPr>
              <a:t>np</a:t>
            </a:r>
          </a:p>
          <a:p>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scipy</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sp</a:t>
            </a:r>
            <a:endParaRPr lang="en-US" dirty="0">
              <a:solidFill>
                <a:schemeClr val="bg2">
                  <a:lumMod val="25000"/>
                </a:schemeClr>
              </a:solidFill>
              <a:latin typeface="Courier New" panose="02070309020205020404" pitchFamily="49" charset="0"/>
              <a:cs typeface="Courier New" panose="02070309020205020404" pitchFamily="49" charset="0"/>
            </a:endParaRPr>
          </a:p>
          <a:p>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bg2">
                    <a:lumMod val="25000"/>
                  </a:schemeClr>
                </a:solidFill>
                <a:latin typeface="Courier New" panose="02070309020205020404" pitchFamily="49" charset="0"/>
                <a:cs typeface="Courier New" panose="02070309020205020404" pitchFamily="49" charset="0"/>
              </a:rPr>
              <a:t> pandas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pd</a:t>
            </a:r>
            <a:endParaRPr lang="en-US" dirty="0">
              <a:solidFill>
                <a:schemeClr val="bg2">
                  <a:lumMod val="25000"/>
                </a:schemeClr>
              </a:solidFill>
              <a:latin typeface="Courier New" panose="02070309020205020404" pitchFamily="49" charset="0"/>
              <a:cs typeface="Courier New" panose="02070309020205020404" pitchFamily="49" charset="0"/>
            </a:endParaRPr>
          </a:p>
          <a:p>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bg2">
                    <a:lumMod val="25000"/>
                  </a:schemeClr>
                </a:solidFill>
                <a:latin typeface="Courier New" panose="02070309020205020404" pitchFamily="49" charset="0"/>
                <a:cs typeface="Courier New" panose="02070309020205020404" pitchFamily="49" charset="0"/>
              </a:rPr>
              <a:t> matplotlib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mpl</a:t>
            </a:r>
            <a:endParaRPr lang="en-US" dirty="0">
              <a:solidFill>
                <a:schemeClr val="bg2">
                  <a:lumMod val="25000"/>
                </a:schemeClr>
              </a:solidFill>
              <a:latin typeface="Courier New" panose="02070309020205020404" pitchFamily="49" charset="0"/>
              <a:cs typeface="Courier New" panose="02070309020205020404" pitchFamily="49" charset="0"/>
            </a:endParaRPr>
          </a:p>
          <a:p>
            <a:r>
              <a:rPr lang="en-US" b="1" dirty="0">
                <a:solidFill>
                  <a:schemeClr val="accent6">
                    <a:lumMod val="75000"/>
                  </a:schemeClr>
                </a:solidFill>
                <a:latin typeface="Courier New" panose="02070309020205020404" pitchFamily="49" charset="0"/>
                <a:cs typeface="Courier New" panose="02070309020205020404" pitchFamily="49" charset="0"/>
              </a:rPr>
              <a:t>from</a:t>
            </a:r>
            <a:r>
              <a:rPr lang="en-US" dirty="0">
                <a:solidFill>
                  <a:schemeClr val="bg2">
                    <a:lumMod val="25000"/>
                  </a:schemeClr>
                </a:solidFill>
                <a:latin typeface="Courier New" panose="02070309020205020404" pitchFamily="49" charset="0"/>
                <a:cs typeface="Courier New" panose="02070309020205020404" pitchFamily="49" charset="0"/>
              </a:rPr>
              <a:t> matplotlib </a:t>
            </a:r>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pyplot</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plt</a:t>
            </a:r>
            <a:endParaRPr lang="en-US" dirty="0">
              <a:solidFill>
                <a:schemeClr val="bg2">
                  <a:lumMod val="25000"/>
                </a:schemeClr>
              </a:solidFill>
              <a:latin typeface="Courier New" panose="02070309020205020404" pitchFamily="49" charset="0"/>
              <a:cs typeface="Courier New" panose="02070309020205020404" pitchFamily="49" charset="0"/>
            </a:endParaRPr>
          </a:p>
          <a:p>
            <a:r>
              <a:rPr lang="en-US" b="1" dirty="0">
                <a:solidFill>
                  <a:schemeClr val="accent6">
                    <a:lumMod val="75000"/>
                  </a:schemeClr>
                </a:solidFill>
                <a:latin typeface="Courier New" panose="02070309020205020404" pitchFamily="49" charset="0"/>
                <a:cs typeface="Courier New" panose="02070309020205020404" pitchFamily="49" charset="0"/>
              </a:rPr>
              <a:t>import</a:t>
            </a:r>
            <a:r>
              <a:rPr lang="en-US" dirty="0">
                <a:solidFill>
                  <a:schemeClr val="bg2">
                    <a:lumMod val="25000"/>
                  </a:schemeClr>
                </a:solidFill>
                <a:latin typeface="Courier New" panose="02070309020205020404" pitchFamily="49" charset="0"/>
                <a:cs typeface="Courier New" panose="02070309020205020404" pitchFamily="49" charset="0"/>
              </a:rPr>
              <a:t> seaborn </a:t>
            </a:r>
            <a:r>
              <a:rPr lang="en-US" b="1" dirty="0">
                <a:solidFill>
                  <a:schemeClr val="accent6">
                    <a:lumMod val="75000"/>
                  </a:schemeClr>
                </a:solidFill>
                <a:latin typeface="Courier New" panose="02070309020205020404" pitchFamily="49" charset="0"/>
                <a:cs typeface="Courier New" panose="02070309020205020404" pitchFamily="49" charset="0"/>
              </a:rPr>
              <a:t>as</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sns</a:t>
            </a:r>
            <a:endParaRPr lang="en-US" dirty="0">
              <a:solidFill>
                <a:schemeClr val="bg2">
                  <a:lumMod val="25000"/>
                </a:schemeClr>
              </a:solidFill>
              <a:latin typeface="Courier New" panose="02070309020205020404" pitchFamily="49" charset="0"/>
              <a:cs typeface="Courier New" panose="02070309020205020404" pitchFamily="49" charset="0"/>
            </a:endParaRPr>
          </a:p>
        </p:txBody>
      </p:sp>
      <p:sp>
        <p:nvSpPr>
          <p:cNvPr id="8" name="Rectangle 7"/>
          <p:cNvSpPr/>
          <p:nvPr/>
        </p:nvSpPr>
        <p:spPr>
          <a:xfrm>
            <a:off x="992516" y="1773836"/>
            <a:ext cx="10160166" cy="2122969"/>
          </a:xfrm>
          <a:prstGeom prst="rect">
            <a:avLst/>
          </a:prstGeom>
          <a:no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a:cxnSpLocks/>
          </p:cNvCxnSpPr>
          <p:nvPr/>
        </p:nvCxnSpPr>
        <p:spPr>
          <a:xfrm>
            <a:off x="992516" y="1773836"/>
            <a:ext cx="0" cy="2122969"/>
          </a:xfrm>
          <a:prstGeom prst="line">
            <a:avLst/>
          </a:prstGeom>
          <a:ln w="508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92516" y="4947793"/>
            <a:ext cx="8539397" cy="369332"/>
          </a:xfrm>
          <a:prstGeom prst="rect">
            <a:avLst/>
          </a:prstGeom>
          <a:noFill/>
        </p:spPr>
        <p:txBody>
          <a:bodyPr wrap="square" rtlCol="0">
            <a:spAutoFit/>
          </a:bodyPr>
          <a:lstStyle/>
          <a:p>
            <a:r>
              <a:rPr lang="en-US" dirty="0"/>
              <a:t>Press </a:t>
            </a:r>
            <a:r>
              <a:rPr lang="en-US" dirty="0" err="1">
                <a:latin typeface="Courier New" panose="02070309020205020404" pitchFamily="49" charset="0"/>
                <a:cs typeface="Courier New" panose="02070309020205020404" pitchFamily="49" charset="0"/>
              </a:rPr>
              <a:t>Shift+Enter</a:t>
            </a:r>
            <a:r>
              <a:rPr lang="en-US" dirty="0"/>
              <a:t> to execute the </a:t>
            </a:r>
            <a:r>
              <a:rPr lang="en-US" i="1" dirty="0" err="1"/>
              <a:t>Jupyter</a:t>
            </a:r>
            <a:r>
              <a:rPr lang="en-US" dirty="0"/>
              <a:t> cell</a:t>
            </a:r>
          </a:p>
        </p:txBody>
      </p:sp>
    </p:spTree>
    <p:extLst>
      <p:ext uri="{BB962C8B-B14F-4D97-AF65-F5344CB8AC3E}">
        <p14:creationId xmlns:p14="http://schemas.microsoft.com/office/powerpoint/2010/main" val="1438978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3023" y="186548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2" name="Title 1"/>
          <p:cNvSpPr>
            <a:spLocks noGrp="1"/>
          </p:cNvSpPr>
          <p:nvPr>
            <p:ph type="title"/>
          </p:nvPr>
        </p:nvSpPr>
        <p:spPr/>
        <p:txBody>
          <a:bodyPr/>
          <a:lstStyle/>
          <a:p>
            <a:r>
              <a:rPr lang="en-US" dirty="0"/>
              <a:t>Reading data using pandas</a:t>
            </a:r>
          </a:p>
        </p:txBody>
      </p:sp>
      <p:sp>
        <p:nvSpPr>
          <p:cNvPr id="4" name="Slide Number Placeholder 3"/>
          <p:cNvSpPr>
            <a:spLocks noGrp="1"/>
          </p:cNvSpPr>
          <p:nvPr>
            <p:ph type="sldNum" sz="quarter" idx="12"/>
          </p:nvPr>
        </p:nvSpPr>
        <p:spPr/>
        <p:txBody>
          <a:bodyPr/>
          <a:lstStyle/>
          <a:p>
            <a:fld id="{B841CA95-E0BC-48B5-948A-ECC494EB4D84}" type="slidenum">
              <a:rPr lang="en-US" smtClean="0"/>
              <a:t>12</a:t>
            </a:fld>
            <a:endParaRPr lang="en-US"/>
          </a:p>
        </p:txBody>
      </p:sp>
      <p:sp>
        <p:nvSpPr>
          <p:cNvPr id="7" name="TextBox 6"/>
          <p:cNvSpPr txBox="1"/>
          <p:nvPr/>
        </p:nvSpPr>
        <p:spPr>
          <a:xfrm>
            <a:off x="1648913" y="1865480"/>
            <a:ext cx="10268267" cy="615553"/>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#Read csv file</a:t>
            </a:r>
          </a:p>
          <a:p>
            <a:r>
              <a:rPr lang="en-US" sz="1600" dirty="0" err="1">
                <a:solidFill>
                  <a:schemeClr val="bg2">
                    <a:lumMod val="25000"/>
                  </a:schemeClr>
                </a:solidFill>
                <a:latin typeface="Courier New" panose="02070309020205020404" pitchFamily="49" charset="0"/>
                <a:cs typeface="Courier New" panose="02070309020205020404" pitchFamily="49" charset="0"/>
              </a:rPr>
              <a:t>df</a:t>
            </a:r>
            <a:r>
              <a:rPr lang="en-US" sz="1600" dirty="0">
                <a:solidFill>
                  <a:schemeClr val="bg2">
                    <a:lumMod val="25000"/>
                  </a:schemeClr>
                </a:solidFill>
                <a:latin typeface="Courier New" panose="02070309020205020404" pitchFamily="49" charset="0"/>
                <a:cs typeface="Courier New" panose="02070309020205020404" pitchFamily="49" charset="0"/>
              </a:rPr>
              <a:t> = </a:t>
            </a:r>
            <a:r>
              <a:rPr lang="en-US" sz="1600" dirty="0" err="1">
                <a:solidFill>
                  <a:schemeClr val="bg2">
                    <a:lumMod val="25000"/>
                  </a:schemeClr>
                </a:solidFill>
                <a:latin typeface="Courier New" panose="02070309020205020404" pitchFamily="49" charset="0"/>
                <a:cs typeface="Courier New" panose="02070309020205020404" pitchFamily="49" charset="0"/>
              </a:rPr>
              <a:t>pd.read_csv</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a:solidFill>
                  <a:schemeClr val="accent2">
                    <a:lumMod val="50000"/>
                  </a:schemeClr>
                </a:solidFill>
                <a:latin typeface="Courier New" panose="02070309020205020404" pitchFamily="49" charset="0"/>
                <a:cs typeface="Courier New" panose="02070309020205020404" pitchFamily="49" charset="0"/>
              </a:rPr>
              <a:t>"http://rcs.bu.edu/examples/python/</a:t>
            </a:r>
            <a:r>
              <a:rPr lang="en-US" sz="1600" dirty="0" err="1">
                <a:solidFill>
                  <a:schemeClr val="accent2">
                    <a:lumMod val="50000"/>
                  </a:schemeClr>
                </a:solidFill>
                <a:latin typeface="Courier New" panose="02070309020205020404" pitchFamily="49" charset="0"/>
                <a:cs typeface="Courier New" panose="02070309020205020404" pitchFamily="49" charset="0"/>
              </a:rPr>
              <a:t>data_analysis</a:t>
            </a:r>
            <a:r>
              <a:rPr lang="en-US" sz="1600" dirty="0">
                <a:solidFill>
                  <a:schemeClr val="accent2">
                    <a:lumMod val="50000"/>
                  </a:schemeClr>
                </a:solidFill>
                <a:latin typeface="Courier New" panose="02070309020205020404" pitchFamily="49" charset="0"/>
                <a:cs typeface="Courier New" panose="02070309020205020404" pitchFamily="49" charset="0"/>
              </a:rPr>
              <a:t>/Salaries.csv"</a:t>
            </a:r>
            <a:r>
              <a:rPr lang="en-US" sz="1600" dirty="0">
                <a:solidFill>
                  <a:schemeClr val="bg2">
                    <a:lumMod val="25000"/>
                  </a:schemeClr>
                </a:solidFill>
                <a:latin typeface="Courier New" panose="02070309020205020404" pitchFamily="49" charset="0"/>
                <a:cs typeface="Courier New" panose="02070309020205020404" pitchFamily="49" charset="0"/>
              </a:rPr>
              <a:t>)</a:t>
            </a:r>
          </a:p>
        </p:txBody>
      </p:sp>
      <p:sp>
        <p:nvSpPr>
          <p:cNvPr id="3" name="TextBox 2"/>
          <p:cNvSpPr txBox="1"/>
          <p:nvPr/>
        </p:nvSpPr>
        <p:spPr>
          <a:xfrm>
            <a:off x="0" y="3469083"/>
            <a:ext cx="12082071" cy="3831818"/>
          </a:xfrm>
          <a:prstGeom prst="rect">
            <a:avLst/>
          </a:prstGeom>
          <a:noFill/>
        </p:spPr>
        <p:txBody>
          <a:bodyPr wrap="square" rtlCol="0">
            <a:spAutoFit/>
          </a:bodyPr>
          <a:lstStyle/>
          <a:p>
            <a:r>
              <a:rPr lang="en-US" dirty="0"/>
              <a:t>There is a number of pandas commands to read other data formats:</a:t>
            </a:r>
          </a:p>
          <a:p>
            <a:endParaRPr lang="en-US" dirty="0"/>
          </a:p>
          <a:p>
            <a:pPr>
              <a:lnSpc>
                <a:spcPct val="150000"/>
              </a:lnSpc>
            </a:pPr>
            <a:r>
              <a:rPr lang="en-US" dirty="0" err="1">
                <a:latin typeface="Courier New" panose="02070309020205020404" pitchFamily="49" charset="0"/>
                <a:cs typeface="Courier New" panose="02070309020205020404" pitchFamily="49" charset="0"/>
              </a:rPr>
              <a:t>pd.read_excel</a:t>
            </a:r>
            <a:r>
              <a:rPr lang="en-US" dirty="0">
                <a:latin typeface="Courier New" panose="02070309020205020404" pitchFamily="49" charset="0"/>
                <a:cs typeface="Courier New" panose="02070309020205020404" pitchFamily="49" charset="0"/>
              </a:rPr>
              <a:t>('myfile.</a:t>
            </a:r>
            <a:r>
              <a:rPr lang="en-US" dirty="0" err="1">
                <a:latin typeface="Courier New" panose="02070309020205020404" pitchFamily="49" charset="0"/>
                <a:cs typeface="Courier New" panose="02070309020205020404" pitchFamily="49" charset="0"/>
              </a:rPr>
              <a:t>xlsx</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sheet_name</a:t>
            </a:r>
            <a:r>
              <a:rPr lang="en-US" dirty="0">
                <a:latin typeface="Courier New" panose="02070309020205020404" pitchFamily="49" charset="0"/>
                <a:cs typeface="Courier New" panose="02070309020205020404" pitchFamily="49" charset="0"/>
              </a:rPr>
              <a:t>='Sheet1', </a:t>
            </a:r>
            <a:r>
              <a:rPr lang="en-US" dirty="0" err="1">
                <a:latin typeface="Courier New" panose="02070309020205020404" pitchFamily="49" charset="0"/>
                <a:cs typeface="Courier New" panose="02070309020205020404" pitchFamily="49" charset="0"/>
              </a:rPr>
              <a:t>index_col</a:t>
            </a:r>
            <a:r>
              <a:rPr lang="en-US" dirty="0">
                <a:latin typeface="Courier New" panose="02070309020205020404" pitchFamily="49" charset="0"/>
                <a:cs typeface="Courier New" panose="02070309020205020404" pitchFamily="49" charset="0"/>
              </a:rPr>
              <a:t>=None, </a:t>
            </a:r>
            <a:r>
              <a:rPr lang="en-US" dirty="0" err="1">
                <a:latin typeface="Courier New" panose="02070309020205020404" pitchFamily="49" charset="0"/>
                <a:cs typeface="Courier New" panose="02070309020205020404" pitchFamily="49" charset="0"/>
              </a:rPr>
              <a:t>na_values</a:t>
            </a:r>
            <a:r>
              <a:rPr lang="en-US" dirty="0">
                <a:latin typeface="Courier New" panose="02070309020205020404" pitchFamily="49" charset="0"/>
                <a:cs typeface="Courier New" panose="02070309020205020404" pitchFamily="49" charset="0"/>
              </a:rPr>
              <a:t>=['NA'])</a:t>
            </a:r>
          </a:p>
          <a:p>
            <a:pPr>
              <a:lnSpc>
                <a:spcPct val="150000"/>
              </a:lnSpc>
            </a:pPr>
            <a:r>
              <a:rPr lang="en-US" dirty="0" err="1">
                <a:latin typeface="Courier New" panose="02070309020205020404" pitchFamily="49" charset="0"/>
                <a:cs typeface="Courier New" panose="02070309020205020404" pitchFamily="49" charset="0"/>
              </a:rPr>
              <a:t>pd.read_stata</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myfile.dta</a:t>
            </a:r>
            <a:r>
              <a:rPr lang="en-US" dirty="0">
                <a:latin typeface="Courier New" panose="02070309020205020404" pitchFamily="49" charset="0"/>
                <a:cs typeface="Courier New" panose="02070309020205020404" pitchFamily="49" charset="0"/>
              </a:rPr>
              <a:t>')</a:t>
            </a:r>
          </a:p>
          <a:p>
            <a:pPr>
              <a:lnSpc>
                <a:spcPct val="150000"/>
              </a:lnSpc>
            </a:pPr>
            <a:r>
              <a:rPr lang="en-US" dirty="0" err="1">
                <a:latin typeface="Courier New" panose="02070309020205020404" pitchFamily="49" charset="0"/>
                <a:cs typeface="Courier New" panose="02070309020205020404" pitchFamily="49" charset="0"/>
              </a:rPr>
              <a:t>pd.read_sas</a:t>
            </a:r>
            <a:r>
              <a:rPr lang="en-US" dirty="0">
                <a:latin typeface="Courier New" panose="02070309020205020404" pitchFamily="49" charset="0"/>
                <a:cs typeface="Courier New" panose="02070309020205020404" pitchFamily="49" charset="0"/>
              </a:rPr>
              <a:t>('myfile.sas7bdat')</a:t>
            </a:r>
          </a:p>
          <a:p>
            <a:pPr>
              <a:lnSpc>
                <a:spcPct val="150000"/>
              </a:lnSpc>
            </a:pPr>
            <a:r>
              <a:rPr lang="en-US" dirty="0" err="1">
                <a:latin typeface="Courier New" panose="02070309020205020404" pitchFamily="49" charset="0"/>
                <a:cs typeface="Courier New" panose="02070309020205020404" pitchFamily="49" charset="0"/>
              </a:rPr>
              <a:t>pd.read_hdf</a:t>
            </a:r>
            <a:r>
              <a:rPr lang="en-US" dirty="0">
                <a:latin typeface="Courier New" panose="02070309020205020404" pitchFamily="49" charset="0"/>
                <a:cs typeface="Courier New" panose="02070309020205020404" pitchFamily="49" charset="0"/>
              </a:rPr>
              <a:t>('myfile.h5','df’)</a:t>
            </a:r>
          </a:p>
          <a:p>
            <a:pPr>
              <a:lnSpc>
                <a:spcPct val="150000"/>
              </a:lnSpc>
            </a:pPr>
            <a:r>
              <a:rPr lang="en-US" dirty="0" err="1">
                <a:solidFill>
                  <a:srgbClr val="FF0000"/>
                </a:solidFill>
                <a:latin typeface="Courier New" panose="02070309020205020404" pitchFamily="49" charset="0"/>
                <a:cs typeface="Courier New" panose="02070309020205020404" pitchFamily="49" charset="0"/>
              </a:rPr>
              <a:t>DataFrame</a:t>
            </a:r>
            <a:r>
              <a:rPr lang="en-US" dirty="0">
                <a:solidFill>
                  <a:srgbClr val="FF0000"/>
                </a:solidFill>
                <a:latin typeface="Courier New" panose="02070309020205020404" pitchFamily="49" charset="0"/>
                <a:cs typeface="Courier New" panose="02070309020205020404" pitchFamily="49" charset="0"/>
              </a:rPr>
              <a:t> is a 2-dimensional, tabular data structure provided by the Pandas library. It's similar to a table in a database or an Excel spreadsheet where data is organized in rows and columns</a:t>
            </a:r>
          </a:p>
          <a:p>
            <a:endParaRPr lang="en-US" dirty="0"/>
          </a:p>
        </p:txBody>
      </p:sp>
      <p:sp>
        <p:nvSpPr>
          <p:cNvPr id="5" name="TextBox 4"/>
          <p:cNvSpPr txBox="1"/>
          <p:nvPr/>
        </p:nvSpPr>
        <p:spPr>
          <a:xfrm>
            <a:off x="1543986" y="2574376"/>
            <a:ext cx="9543738" cy="923330"/>
          </a:xfrm>
          <a:prstGeom prst="rect">
            <a:avLst/>
          </a:prstGeom>
          <a:noFill/>
        </p:spPr>
        <p:txBody>
          <a:bodyPr wrap="square" rtlCol="0">
            <a:spAutoFit/>
          </a:bodyPr>
          <a:lstStyle/>
          <a:p>
            <a:r>
              <a:rPr lang="en-US" b="1" i="1" dirty="0">
                <a:solidFill>
                  <a:srgbClr val="FF0000"/>
                </a:solidFill>
              </a:rPr>
              <a:t>Read a CSV (Comma-Separated Values) file into a </a:t>
            </a:r>
            <a:r>
              <a:rPr lang="en-US" b="1" i="1" dirty="0" err="1">
                <a:solidFill>
                  <a:srgbClr val="FF0000"/>
                </a:solidFill>
              </a:rPr>
              <a:t>DataFrame</a:t>
            </a:r>
            <a:endParaRPr lang="en-US" b="1" i="1" dirty="0">
              <a:solidFill>
                <a:srgbClr val="FF0000"/>
              </a:solidFill>
            </a:endParaRPr>
          </a:p>
          <a:p>
            <a:endParaRPr lang="en-US" b="1" i="1" dirty="0">
              <a:solidFill>
                <a:srgbClr val="FF0000"/>
              </a:solidFill>
            </a:endParaRPr>
          </a:p>
          <a:p>
            <a:r>
              <a:rPr lang="en-US" b="1" i="1" dirty="0">
                <a:solidFill>
                  <a:schemeClr val="accent6">
                    <a:lumMod val="75000"/>
                  </a:schemeClr>
                </a:solidFill>
              </a:rPr>
              <a:t>Note: </a:t>
            </a:r>
            <a:r>
              <a:rPr lang="en-US" dirty="0">
                <a:solidFill>
                  <a:schemeClr val="accent6">
                    <a:lumMod val="75000"/>
                  </a:schemeClr>
                </a:solidFill>
              </a:rPr>
              <a:t>The above command has many optional arguments to fine-tune the data import process.</a:t>
            </a:r>
          </a:p>
        </p:txBody>
      </p:sp>
    </p:spTree>
    <p:extLst>
      <p:ext uri="{BB962C8B-B14F-4D97-AF65-F5344CB8AC3E}">
        <p14:creationId xmlns:p14="http://schemas.microsoft.com/office/powerpoint/2010/main" val="2565270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3023" y="186548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[3]:</a:t>
            </a:r>
          </a:p>
        </p:txBody>
      </p:sp>
      <p:sp>
        <p:nvSpPr>
          <p:cNvPr id="2" name="Title 1"/>
          <p:cNvSpPr>
            <a:spLocks noGrp="1"/>
          </p:cNvSpPr>
          <p:nvPr>
            <p:ph type="title"/>
          </p:nvPr>
        </p:nvSpPr>
        <p:spPr/>
        <p:txBody>
          <a:bodyPr/>
          <a:lstStyle/>
          <a:p>
            <a:r>
              <a:rPr lang="en-US" dirty="0"/>
              <a:t>Exploring data frames</a:t>
            </a:r>
          </a:p>
        </p:txBody>
      </p:sp>
      <p:sp>
        <p:nvSpPr>
          <p:cNvPr id="4" name="Slide Number Placeholder 3"/>
          <p:cNvSpPr>
            <a:spLocks noGrp="1"/>
          </p:cNvSpPr>
          <p:nvPr>
            <p:ph type="sldNum" sz="quarter" idx="12"/>
          </p:nvPr>
        </p:nvSpPr>
        <p:spPr/>
        <p:txBody>
          <a:bodyPr/>
          <a:lstStyle/>
          <a:p>
            <a:fld id="{B841CA95-E0BC-48B5-948A-ECC494EB4D84}" type="slidenum">
              <a:rPr lang="en-US" smtClean="0"/>
              <a:t>13</a:t>
            </a:fld>
            <a:endParaRPr lang="en-US"/>
          </a:p>
        </p:txBody>
      </p:sp>
      <p:sp>
        <p:nvSpPr>
          <p:cNvPr id="7" name="TextBox 6"/>
          <p:cNvSpPr txBox="1"/>
          <p:nvPr/>
        </p:nvSpPr>
        <p:spPr>
          <a:xfrm>
            <a:off x="1648913" y="1865480"/>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#List first 5 records</a:t>
            </a:r>
          </a:p>
          <a:p>
            <a:r>
              <a:rPr lang="en-US" dirty="0" err="1">
                <a:solidFill>
                  <a:schemeClr val="bg2">
                    <a:lumMod val="25000"/>
                  </a:schemeClr>
                </a:solidFill>
                <a:latin typeface="Courier New" panose="02070309020205020404" pitchFamily="49" charset="0"/>
                <a:cs typeface="Courier New" panose="02070309020205020404" pitchFamily="49" charset="0"/>
              </a:rPr>
              <a:t>df.head</a:t>
            </a:r>
            <a:r>
              <a:rPr lang="en-US" dirty="0">
                <a:solidFill>
                  <a:schemeClr val="bg2">
                    <a:lumMod val="25000"/>
                  </a:schemeClr>
                </a:solidFill>
                <a:latin typeface="Courier New" panose="02070309020205020404" pitchFamily="49" charset="0"/>
                <a:cs typeface="Courier New" panose="02070309020205020404" pitchFamily="49" charset="0"/>
              </a:rPr>
              <a:t>()</a:t>
            </a:r>
          </a:p>
        </p:txBody>
      </p:sp>
      <p:sp>
        <p:nvSpPr>
          <p:cNvPr id="8" name="TextBox 7"/>
          <p:cNvSpPr txBox="1"/>
          <p:nvPr/>
        </p:nvSpPr>
        <p:spPr>
          <a:xfrm>
            <a:off x="200520" y="2797367"/>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Out[3]:</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091" y="2797367"/>
            <a:ext cx="3261643" cy="1767993"/>
          </a:xfrm>
          <a:prstGeom prst="rect">
            <a:avLst/>
          </a:prstGeom>
        </p:spPr>
      </p:pic>
    </p:spTree>
    <p:extLst>
      <p:ext uri="{BB962C8B-B14F-4D97-AF65-F5344CB8AC3E}">
        <p14:creationId xmlns:p14="http://schemas.microsoft.com/office/powerpoint/2010/main" val="2209972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      Hands-on exercises</a:t>
            </a:r>
          </a:p>
        </p:txBody>
      </p:sp>
      <p:sp>
        <p:nvSpPr>
          <p:cNvPr id="4" name="Slide Number Placeholder 3"/>
          <p:cNvSpPr>
            <a:spLocks noGrp="1"/>
          </p:cNvSpPr>
          <p:nvPr>
            <p:ph type="sldNum" sz="quarter" idx="12"/>
          </p:nvPr>
        </p:nvSpPr>
        <p:spPr/>
        <p:txBody>
          <a:bodyPr/>
          <a:lstStyle/>
          <a:p>
            <a:fld id="{B841CA95-E0BC-48B5-948A-ECC494EB4D84}" type="slidenum">
              <a:rPr lang="en-US" smtClean="0"/>
              <a:t>14</a:t>
            </a:fld>
            <a:endParaRPr lang="en-US"/>
          </a:p>
        </p:txBody>
      </p:sp>
      <p:sp>
        <p:nvSpPr>
          <p:cNvPr id="3" name="TextBox 2"/>
          <p:cNvSpPr txBox="1"/>
          <p:nvPr/>
        </p:nvSpPr>
        <p:spPr>
          <a:xfrm>
            <a:off x="1004341" y="2013679"/>
            <a:ext cx="10418164" cy="1938992"/>
          </a:xfrm>
          <a:prstGeom prst="rect">
            <a:avLst/>
          </a:prstGeom>
          <a:noFill/>
        </p:spPr>
        <p:txBody>
          <a:bodyPr wrap="square" rtlCol="0">
            <a:spAutoFit/>
          </a:bodyPr>
          <a:lstStyle/>
          <a:p>
            <a:pPr marL="285750" indent="-285750">
              <a:lnSpc>
                <a:spcPct val="250000"/>
              </a:lnSpc>
              <a:buFont typeface="Wingdings" panose="05000000000000000000" pitchFamily="2" charset="2"/>
              <a:buChar char="ü"/>
            </a:pPr>
            <a:r>
              <a:rPr lang="en-US" sz="2400" dirty="0"/>
              <a:t>Try to read the first 10, 20, 50 records;</a:t>
            </a:r>
          </a:p>
          <a:p>
            <a:pPr marL="285750" indent="-285750">
              <a:lnSpc>
                <a:spcPct val="250000"/>
              </a:lnSpc>
              <a:buFont typeface="Wingdings" panose="05000000000000000000" pitchFamily="2" charset="2"/>
              <a:buChar char="ü"/>
            </a:pPr>
            <a:r>
              <a:rPr lang="en-US" sz="2400" dirty="0"/>
              <a:t>Can you guess how to view the last few records;              </a:t>
            </a:r>
            <a:r>
              <a:rPr lang="en-US" sz="2400" i="1" dirty="0">
                <a:solidFill>
                  <a:schemeClr val="bg1">
                    <a:lumMod val="50000"/>
                  </a:schemeClr>
                </a:solidFill>
              </a:rPr>
              <a:t>Hint: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9659" y="3212891"/>
            <a:ext cx="971733" cy="687049"/>
          </a:xfrm>
          <a:prstGeom prst="rect">
            <a:avLst/>
          </a:prstGeom>
        </p:spPr>
      </p:pic>
      <p:grpSp>
        <p:nvGrpSpPr>
          <p:cNvPr id="24" name="Group 23"/>
          <p:cNvGrpSpPr/>
          <p:nvPr/>
        </p:nvGrpSpPr>
        <p:grpSpPr>
          <a:xfrm rot="-8100000">
            <a:off x="1184980" y="754334"/>
            <a:ext cx="87443" cy="547143"/>
            <a:chOff x="2136098" y="5086662"/>
            <a:chExt cx="87443" cy="547143"/>
          </a:xfrm>
        </p:grpSpPr>
        <p:cxnSp>
          <p:nvCxnSpPr>
            <p:cNvPr id="11" name="Straight Connector 10"/>
            <p:cNvCxnSpPr/>
            <p:nvPr/>
          </p:nvCxnSpPr>
          <p:spPr>
            <a:xfrm flipH="1">
              <a:off x="2181067" y="5206584"/>
              <a:ext cx="2502" cy="354767"/>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2136098" y="5086662"/>
              <a:ext cx="87443" cy="8783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2178566" y="5581339"/>
              <a:ext cx="2" cy="52466"/>
            </a:xfrm>
            <a:prstGeom prst="line">
              <a:avLst/>
            </a:prstGeom>
            <a:ln w="793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6271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 data types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60045177"/>
              </p:ext>
            </p:extLst>
          </p:nvPr>
        </p:nvGraphicFramePr>
        <p:xfrm>
          <a:off x="838200" y="1690688"/>
          <a:ext cx="9153729" cy="4432090"/>
        </p:xfrm>
        <a:graphic>
          <a:graphicData uri="http://schemas.openxmlformats.org/drawingml/2006/table">
            <a:tbl>
              <a:tblPr/>
              <a:tblGrid>
                <a:gridCol w="3051243">
                  <a:extLst>
                    <a:ext uri="{9D8B030D-6E8A-4147-A177-3AD203B41FA5}">
                      <a16:colId xmlns:a16="http://schemas.microsoft.com/office/drawing/2014/main" val="20000"/>
                    </a:ext>
                  </a:extLst>
                </a:gridCol>
                <a:gridCol w="3051243">
                  <a:extLst>
                    <a:ext uri="{9D8B030D-6E8A-4147-A177-3AD203B41FA5}">
                      <a16:colId xmlns:a16="http://schemas.microsoft.com/office/drawing/2014/main" val="20001"/>
                    </a:ext>
                  </a:extLst>
                </a:gridCol>
                <a:gridCol w="3051243">
                  <a:extLst>
                    <a:ext uri="{9D8B030D-6E8A-4147-A177-3AD203B41FA5}">
                      <a16:colId xmlns:a16="http://schemas.microsoft.com/office/drawing/2014/main" val="20002"/>
                    </a:ext>
                  </a:extLst>
                </a:gridCol>
              </a:tblGrid>
              <a:tr h="344923">
                <a:tc>
                  <a:txBody>
                    <a:bodyPr/>
                    <a:lstStyle/>
                    <a:p>
                      <a:pPr algn="l" fontAlgn="b"/>
                      <a:r>
                        <a:rPr lang="en-US" sz="1600" b="1" dirty="0">
                          <a:effectLst/>
                        </a:rPr>
                        <a:t>Pandas Type</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US" sz="1600" b="1">
                          <a:effectLst/>
                        </a:rPr>
                        <a:t>Native Python Type</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US" sz="1600" b="1" dirty="0">
                          <a:effectLst/>
                        </a:rPr>
                        <a:t>Description</a:t>
                      </a:r>
                    </a:p>
                  </a:txBody>
                  <a:tcPr marL="53065" marR="53065" marT="53065" marB="53065" anchor="b">
                    <a:lnL>
                      <a:noFill/>
                    </a:lnL>
                    <a:lnR>
                      <a:noFill/>
                    </a:lnR>
                    <a:lnT>
                      <a:noFill/>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61302">
                <a:tc>
                  <a:txBody>
                    <a:bodyPr/>
                    <a:lstStyle/>
                    <a:p>
                      <a:pPr fontAlgn="t"/>
                      <a:r>
                        <a:rPr lang="en-US" sz="1600" dirty="0">
                          <a:effectLst/>
                        </a:rPr>
                        <a:t>object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dirty="0">
                          <a:effectLst/>
                        </a:rPr>
                        <a:t>string</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The most general dtype. Will be assigned to your column if column has mixed types (numbers and strings).</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822509">
                <a:tc>
                  <a:txBody>
                    <a:bodyPr/>
                    <a:lstStyle/>
                    <a:p>
                      <a:pPr fontAlgn="t"/>
                      <a:r>
                        <a:rPr lang="en-US" sz="1600" dirty="0">
                          <a:effectLst/>
                        </a:rPr>
                        <a:t>int64</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a:effectLst/>
                        </a:rPr>
                        <a:t>int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600">
                          <a:effectLst/>
                        </a:rPr>
                        <a:t>Numeric characters. 64 refers to the memory allocated to hold this character.</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00095">
                <a:tc>
                  <a:txBody>
                    <a:bodyPr/>
                    <a:lstStyle/>
                    <a:p>
                      <a:pPr fontAlgn="t"/>
                      <a:r>
                        <a:rPr lang="en-US" sz="1600">
                          <a:effectLst/>
                        </a:rPr>
                        <a:t>float64</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float</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600">
                          <a:effectLst/>
                        </a:rPr>
                        <a:t>Numeric characters with decimals. If a column contains numbers and NaNs(see below), pandas will default to float64, in case your missing value has a decimal.</a:t>
                      </a:r>
                    </a:p>
                  </a:txBody>
                  <a:tcPr marL="53065" marR="53065" marT="53065" marB="53065">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822509">
                <a:tc>
                  <a:txBody>
                    <a:bodyPr/>
                    <a:lstStyle/>
                    <a:p>
                      <a:pPr fontAlgn="t"/>
                      <a:r>
                        <a:rPr lang="en-US" sz="1600">
                          <a:effectLst/>
                        </a:rPr>
                        <a:t>datetime64, timedelta[ns]</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fontAlgn="t"/>
                      <a:r>
                        <a:rPr lang="en-US" sz="1600" dirty="0">
                          <a:effectLst/>
                        </a:rPr>
                        <a:t>N/A (but see the </a:t>
                      </a:r>
                      <a:r>
                        <a:rPr lang="en-US" sz="1600" u="none" strike="noStrike" dirty="0" err="1">
                          <a:solidFill>
                            <a:srgbClr val="337AB7"/>
                          </a:solidFill>
                          <a:effectLst/>
                          <a:hlinkClick r:id="rId2"/>
                        </a:rPr>
                        <a:t>datetime</a:t>
                      </a:r>
                      <a:r>
                        <a:rPr lang="en-US" sz="1600" dirty="0">
                          <a:effectLst/>
                        </a:rPr>
                        <a:t> module in Python’s standard library)</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fontAlgn="t"/>
                      <a:r>
                        <a:rPr lang="en-US" sz="1600" dirty="0">
                          <a:effectLst/>
                        </a:rPr>
                        <a:t>Values meant to hold time data. Look into these for time series experiments.</a:t>
                      </a:r>
                    </a:p>
                  </a:txBody>
                  <a:tcPr marL="53065" marR="53065" marT="53065" marB="53065">
                    <a:lnL>
                      <a:noFill/>
                    </a:lnL>
                    <a:lnR>
                      <a:noFill/>
                    </a:lnR>
                    <a:lnT w="762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B841CA95-E0BC-48B5-948A-ECC494EB4D84}" type="slidenum">
              <a:rPr lang="en-US" smtClean="0"/>
              <a:t>15</a:t>
            </a:fld>
            <a:endParaRPr lang="en-US"/>
          </a:p>
        </p:txBody>
      </p:sp>
    </p:spTree>
    <p:extLst>
      <p:ext uri="{BB962C8B-B14F-4D97-AF65-F5344CB8AC3E}">
        <p14:creationId xmlns:p14="http://schemas.microsoft.com/office/powerpoint/2010/main" val="3844048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03023" y="186548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[4]:</a:t>
            </a:r>
          </a:p>
        </p:txBody>
      </p:sp>
      <p:sp>
        <p:nvSpPr>
          <p:cNvPr id="2" name="Title 1"/>
          <p:cNvSpPr>
            <a:spLocks noGrp="1"/>
          </p:cNvSpPr>
          <p:nvPr>
            <p:ph type="title"/>
          </p:nvPr>
        </p:nvSpPr>
        <p:spPr/>
        <p:txBody>
          <a:bodyPr/>
          <a:lstStyle/>
          <a:p>
            <a:r>
              <a:rPr lang="en-US" dirty="0"/>
              <a:t>Data Frame data types</a:t>
            </a:r>
          </a:p>
        </p:txBody>
      </p:sp>
      <p:sp>
        <p:nvSpPr>
          <p:cNvPr id="4" name="Slide Number Placeholder 3"/>
          <p:cNvSpPr>
            <a:spLocks noGrp="1"/>
          </p:cNvSpPr>
          <p:nvPr>
            <p:ph type="sldNum" sz="quarter" idx="12"/>
          </p:nvPr>
        </p:nvSpPr>
        <p:spPr/>
        <p:txBody>
          <a:bodyPr/>
          <a:lstStyle/>
          <a:p>
            <a:fld id="{B841CA95-E0BC-48B5-948A-ECC494EB4D84}" type="slidenum">
              <a:rPr lang="en-US" smtClean="0"/>
              <a:t>16</a:t>
            </a:fld>
            <a:endParaRPr lang="en-US"/>
          </a:p>
        </p:txBody>
      </p:sp>
      <p:sp>
        <p:nvSpPr>
          <p:cNvPr id="7" name="TextBox 6"/>
          <p:cNvSpPr txBox="1"/>
          <p:nvPr/>
        </p:nvSpPr>
        <p:spPr>
          <a:xfrm>
            <a:off x="1648913" y="1865480"/>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#Check a particular column type</a:t>
            </a:r>
          </a:p>
          <a:p>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solidFill>
                  <a:schemeClr val="accent6">
                    <a:lumMod val="7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'salary'</a:t>
            </a:r>
            <a:r>
              <a:rPr lang="en-US" dirty="0">
                <a:solidFill>
                  <a:schemeClr val="accent6">
                    <a:lumMod val="75000"/>
                  </a:schemeClr>
                </a:solidFill>
                <a:latin typeface="Courier New" panose="02070309020205020404" pitchFamily="49" charset="0"/>
                <a:cs typeface="Courier New" panose="02070309020205020404" pitchFamily="49" charset="0"/>
              </a:rPr>
              <a:t>]</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err="1">
                <a:solidFill>
                  <a:schemeClr val="bg2">
                    <a:lumMod val="25000"/>
                  </a:schemeClr>
                </a:solidFill>
                <a:latin typeface="Courier New" panose="02070309020205020404" pitchFamily="49" charset="0"/>
                <a:cs typeface="Courier New" panose="02070309020205020404" pitchFamily="49" charset="0"/>
              </a:rPr>
              <a:t>dtype</a:t>
            </a:r>
            <a:r>
              <a:rPr lang="en-US" dirty="0">
                <a:solidFill>
                  <a:schemeClr val="bg2">
                    <a:lumMod val="25000"/>
                  </a:schemeClr>
                </a:solidFill>
                <a:latin typeface="Courier New" panose="02070309020205020404" pitchFamily="49" charset="0"/>
                <a:cs typeface="Courier New" panose="02070309020205020404" pitchFamily="49" charset="0"/>
              </a:rPr>
              <a:t> # creating a list</a:t>
            </a:r>
          </a:p>
        </p:txBody>
      </p:sp>
      <p:sp>
        <p:nvSpPr>
          <p:cNvPr id="8" name="TextBox 7"/>
          <p:cNvSpPr txBox="1"/>
          <p:nvPr/>
        </p:nvSpPr>
        <p:spPr>
          <a:xfrm>
            <a:off x="200520" y="2607492"/>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Out[4]: </a:t>
            </a:r>
            <a:r>
              <a:rPr lang="en-US" sz="1600" dirty="0" err="1">
                <a:solidFill>
                  <a:schemeClr val="bg2">
                    <a:lumMod val="25000"/>
                  </a:schemeClr>
                </a:solidFill>
                <a:latin typeface="Courier New" panose="02070309020205020404" pitchFamily="49" charset="0"/>
                <a:cs typeface="Courier New" panose="02070309020205020404" pitchFamily="49" charset="0"/>
              </a:rPr>
              <a:t>dtype</a:t>
            </a:r>
            <a:r>
              <a:rPr lang="en-US" sz="1600" dirty="0">
                <a:solidFill>
                  <a:schemeClr val="bg2">
                    <a:lumMod val="25000"/>
                  </a:schemeClr>
                </a:solidFill>
                <a:latin typeface="Courier New" panose="02070309020205020404" pitchFamily="49" charset="0"/>
                <a:cs typeface="Courier New" panose="02070309020205020404" pitchFamily="49" charset="0"/>
              </a:rPr>
              <a:t>('int64')</a:t>
            </a:r>
          </a:p>
        </p:txBody>
      </p:sp>
      <p:sp>
        <p:nvSpPr>
          <p:cNvPr id="10" name="TextBox 9"/>
          <p:cNvSpPr txBox="1"/>
          <p:nvPr/>
        </p:nvSpPr>
        <p:spPr>
          <a:xfrm>
            <a:off x="200527" y="3386978"/>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[5]:</a:t>
            </a:r>
          </a:p>
        </p:txBody>
      </p:sp>
      <p:sp>
        <p:nvSpPr>
          <p:cNvPr id="11" name="TextBox 10"/>
          <p:cNvSpPr txBox="1"/>
          <p:nvPr/>
        </p:nvSpPr>
        <p:spPr>
          <a:xfrm>
            <a:off x="1646417" y="3386978"/>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#Check types for all the columns</a:t>
            </a:r>
          </a:p>
          <a:p>
            <a:r>
              <a:rPr lang="en-US" dirty="0" err="1">
                <a:solidFill>
                  <a:schemeClr val="bg2">
                    <a:lumMod val="25000"/>
                  </a:schemeClr>
                </a:solidFill>
                <a:latin typeface="Courier New" panose="02070309020205020404" pitchFamily="49" charset="0"/>
                <a:cs typeface="Courier New" panose="02070309020205020404" pitchFamily="49" charset="0"/>
              </a:rPr>
              <a:t>df.dtypes</a:t>
            </a:r>
            <a:endParaRPr lang="en-US" dirty="0">
              <a:solidFill>
                <a:schemeClr val="bg2">
                  <a:lumMod val="25000"/>
                </a:schemeClr>
              </a:solidFill>
              <a:latin typeface="Courier New" panose="02070309020205020404" pitchFamily="49" charset="0"/>
              <a:cs typeface="Courier New" panose="02070309020205020404" pitchFamily="49" charset="0"/>
            </a:endParaRPr>
          </a:p>
        </p:txBody>
      </p:sp>
      <p:sp>
        <p:nvSpPr>
          <p:cNvPr id="12" name="TextBox 11"/>
          <p:cNvSpPr txBox="1"/>
          <p:nvPr/>
        </p:nvSpPr>
        <p:spPr>
          <a:xfrm>
            <a:off x="198024" y="4318865"/>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Out[4]:</a:t>
            </a:r>
            <a:endParaRPr lang="en-US" sz="1600" dirty="0">
              <a:solidFill>
                <a:schemeClr val="bg2">
                  <a:lumMod val="25000"/>
                </a:schemeClr>
              </a:solidFill>
              <a:latin typeface="Courier New" panose="02070309020205020404" pitchFamily="49" charset="0"/>
              <a:cs typeface="Courier New" panose="02070309020205020404" pitchFamily="49" charset="0"/>
            </a:endParaRPr>
          </a:p>
        </p:txBody>
      </p:sp>
      <p:sp>
        <p:nvSpPr>
          <p:cNvPr id="3" name="TextBox 2"/>
          <p:cNvSpPr txBox="1"/>
          <p:nvPr/>
        </p:nvSpPr>
        <p:spPr>
          <a:xfrm>
            <a:off x="1648913" y="4360681"/>
            <a:ext cx="3227887" cy="2031325"/>
          </a:xfrm>
          <a:prstGeom prst="rect">
            <a:avLst/>
          </a:prstGeom>
          <a:noFill/>
        </p:spPr>
        <p:txBody>
          <a:bodyPr wrap="square" rtlCol="0">
            <a:spAutoFit/>
          </a:bodyPr>
          <a:lstStyle/>
          <a:p>
            <a:r>
              <a:rPr lang="en-US" dirty="0"/>
              <a:t>rank             </a:t>
            </a:r>
          </a:p>
          <a:p>
            <a:r>
              <a:rPr lang="en-US" dirty="0"/>
              <a:t>discipline  </a:t>
            </a:r>
          </a:p>
          <a:p>
            <a:r>
              <a:rPr lang="en-US" dirty="0" err="1"/>
              <a:t>phd</a:t>
            </a:r>
            <a:r>
              <a:rPr lang="en-US" dirty="0"/>
              <a:t> </a:t>
            </a:r>
          </a:p>
          <a:p>
            <a:r>
              <a:rPr lang="en-US" dirty="0"/>
              <a:t>service      </a:t>
            </a:r>
          </a:p>
          <a:p>
            <a:r>
              <a:rPr lang="en-US" dirty="0"/>
              <a:t>sex              </a:t>
            </a:r>
          </a:p>
          <a:p>
            <a:r>
              <a:rPr lang="en-US" dirty="0"/>
              <a:t>salary         </a:t>
            </a:r>
          </a:p>
          <a:p>
            <a:r>
              <a:rPr lang="en-US" dirty="0" err="1"/>
              <a:t>dtype</a:t>
            </a:r>
            <a:r>
              <a:rPr lang="en-US" dirty="0"/>
              <a:t>: object</a:t>
            </a:r>
          </a:p>
        </p:txBody>
      </p:sp>
      <p:sp>
        <p:nvSpPr>
          <p:cNvPr id="13" name="TextBox 12"/>
          <p:cNvSpPr txBox="1"/>
          <p:nvPr/>
        </p:nvSpPr>
        <p:spPr>
          <a:xfrm>
            <a:off x="3220380" y="4358185"/>
            <a:ext cx="3227887" cy="1754326"/>
          </a:xfrm>
          <a:prstGeom prst="rect">
            <a:avLst/>
          </a:prstGeom>
          <a:noFill/>
        </p:spPr>
        <p:txBody>
          <a:bodyPr wrap="square" rtlCol="0">
            <a:spAutoFit/>
          </a:bodyPr>
          <a:lstStyle/>
          <a:p>
            <a:r>
              <a:rPr lang="en-US" dirty="0"/>
              <a:t>object</a:t>
            </a:r>
          </a:p>
          <a:p>
            <a:r>
              <a:rPr lang="en-US" dirty="0"/>
              <a:t>object</a:t>
            </a:r>
          </a:p>
          <a:p>
            <a:r>
              <a:rPr lang="en-US" dirty="0"/>
              <a:t>int64</a:t>
            </a:r>
          </a:p>
          <a:p>
            <a:r>
              <a:rPr lang="en-US" dirty="0"/>
              <a:t>int64</a:t>
            </a:r>
          </a:p>
          <a:p>
            <a:r>
              <a:rPr lang="en-US" dirty="0"/>
              <a:t>object</a:t>
            </a:r>
          </a:p>
          <a:p>
            <a:r>
              <a:rPr lang="en-US" dirty="0"/>
              <a:t>int64</a:t>
            </a:r>
          </a:p>
        </p:txBody>
      </p:sp>
    </p:spTree>
    <p:extLst>
      <p:ext uri="{BB962C8B-B14F-4D97-AF65-F5344CB8AC3E}">
        <p14:creationId xmlns:p14="http://schemas.microsoft.com/office/powerpoint/2010/main" val="2318503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6056" y="0"/>
            <a:ext cx="10515600" cy="1325563"/>
          </a:xfrm>
        </p:spPr>
        <p:txBody>
          <a:bodyPr/>
          <a:lstStyle/>
          <a:p>
            <a:r>
              <a:rPr lang="en-US" dirty="0"/>
              <a:t>Data Frames attributes</a:t>
            </a:r>
          </a:p>
        </p:txBody>
      </p:sp>
      <p:sp>
        <p:nvSpPr>
          <p:cNvPr id="5" name="Slide Number Placeholder 4"/>
          <p:cNvSpPr>
            <a:spLocks noGrp="1"/>
          </p:cNvSpPr>
          <p:nvPr>
            <p:ph type="sldNum" sz="quarter" idx="12"/>
          </p:nvPr>
        </p:nvSpPr>
        <p:spPr/>
        <p:txBody>
          <a:bodyPr/>
          <a:lstStyle/>
          <a:p>
            <a:fld id="{B841CA95-E0BC-48B5-948A-ECC494EB4D84}" type="slidenum">
              <a:rPr lang="en-US" smtClean="0"/>
              <a:t>17</a:t>
            </a:fld>
            <a:endParaRPr lang="en-US"/>
          </a:p>
        </p:txBody>
      </p:sp>
      <p:sp>
        <p:nvSpPr>
          <p:cNvPr id="6" name="TextBox 5"/>
          <p:cNvSpPr txBox="1"/>
          <p:nvPr/>
        </p:nvSpPr>
        <p:spPr>
          <a:xfrm>
            <a:off x="705035" y="1401594"/>
            <a:ext cx="7485089" cy="1477328"/>
          </a:xfrm>
          <a:prstGeom prst="rect">
            <a:avLst/>
          </a:prstGeom>
          <a:noFill/>
        </p:spPr>
        <p:txBody>
          <a:bodyPr wrap="square" rtlCol="0">
            <a:spAutoFit/>
          </a:bodyPr>
          <a:lstStyle/>
          <a:p>
            <a:r>
              <a:rPr lang="en-US" dirty="0">
                <a:solidFill>
                  <a:srgbClr val="FF0000"/>
                </a:solidFill>
              </a:rPr>
              <a:t>Python objects have </a:t>
            </a:r>
            <a:r>
              <a:rPr lang="en-US" i="1" dirty="0">
                <a:solidFill>
                  <a:srgbClr val="FF0000"/>
                </a:solidFill>
              </a:rPr>
              <a:t>attributes</a:t>
            </a:r>
            <a:r>
              <a:rPr lang="en-US" dirty="0">
                <a:solidFill>
                  <a:srgbClr val="FF0000"/>
                </a:solidFill>
              </a:rPr>
              <a:t> and </a:t>
            </a:r>
            <a:r>
              <a:rPr lang="en-US" i="1" dirty="0">
                <a:solidFill>
                  <a:srgbClr val="FF0000"/>
                </a:solidFill>
              </a:rPr>
              <a:t>methods/functions</a:t>
            </a:r>
            <a:r>
              <a:rPr lang="en-US" dirty="0">
                <a:solidFill>
                  <a:srgbClr val="FF0000"/>
                </a:solidFill>
              </a:rPr>
              <a:t>.</a:t>
            </a:r>
          </a:p>
          <a:p>
            <a:r>
              <a:rPr lang="en-US" dirty="0" err="1">
                <a:solidFill>
                  <a:srgbClr val="FF0000"/>
                </a:solidFill>
              </a:rPr>
              <a:t>df.describe</a:t>
            </a:r>
            <a:r>
              <a:rPr lang="en-US" dirty="0">
                <a:solidFill>
                  <a:srgbClr val="FF0000"/>
                </a:solidFill>
              </a:rPr>
              <a:t> () # methods/function</a:t>
            </a:r>
          </a:p>
          <a:p>
            <a:r>
              <a:rPr lang="en-US" dirty="0" err="1">
                <a:solidFill>
                  <a:srgbClr val="FF0000"/>
                </a:solidFill>
              </a:rPr>
              <a:t>df.columns</a:t>
            </a:r>
            <a:r>
              <a:rPr lang="en-US" dirty="0">
                <a:solidFill>
                  <a:srgbClr val="FF0000"/>
                </a:solidFill>
              </a:rPr>
              <a:t> # attributes of the dataset</a:t>
            </a:r>
          </a:p>
          <a:p>
            <a:r>
              <a:rPr lang="en-US" dirty="0">
                <a:solidFill>
                  <a:srgbClr val="FF0000"/>
                </a:solidFill>
              </a:rPr>
              <a:t>Python methods/functions have </a:t>
            </a:r>
            <a:r>
              <a:rPr lang="en-US" i="1" dirty="0">
                <a:solidFill>
                  <a:srgbClr val="FF0000"/>
                </a:solidFill>
              </a:rPr>
              <a:t>parenthesis.</a:t>
            </a:r>
          </a:p>
          <a:p>
            <a:r>
              <a:rPr lang="en-US" dirty="0">
                <a:solidFill>
                  <a:srgbClr val="FF0000"/>
                </a:solidFill>
              </a:rPr>
              <a:t>Python attributes have NO </a:t>
            </a:r>
            <a:r>
              <a:rPr lang="en-US" i="1" dirty="0">
                <a:solidFill>
                  <a:srgbClr val="FF0000"/>
                </a:solidFill>
              </a:rPr>
              <a:t>parenthesis.</a:t>
            </a:r>
          </a:p>
        </p:txBody>
      </p:sp>
      <p:graphicFrame>
        <p:nvGraphicFramePr>
          <p:cNvPr id="7" name="Table 6"/>
          <p:cNvGraphicFramePr>
            <a:graphicFrameLocks noGrp="1"/>
          </p:cNvGraphicFramePr>
          <p:nvPr>
            <p:extLst>
              <p:ext uri="{D42A27DB-BD31-4B8C-83A1-F6EECF244321}">
                <p14:modId xmlns:p14="http://schemas.microsoft.com/office/powerpoint/2010/main" val="1346410348"/>
              </p:ext>
            </p:extLst>
          </p:nvPr>
        </p:nvGraphicFramePr>
        <p:xfrm>
          <a:off x="492719" y="2972507"/>
          <a:ext cx="8431134" cy="3492709"/>
        </p:xfrm>
        <a:graphic>
          <a:graphicData uri="http://schemas.openxmlformats.org/drawingml/2006/table">
            <a:tbl>
              <a:tblPr firstRow="1" bandRow="1">
                <a:tableStyleId>{B301B821-A1FF-4177-AEE7-76D212191A09}</a:tableStyleId>
              </a:tblPr>
              <a:tblGrid>
                <a:gridCol w="2200223">
                  <a:extLst>
                    <a:ext uri="{9D8B030D-6E8A-4147-A177-3AD203B41FA5}">
                      <a16:colId xmlns:a16="http://schemas.microsoft.com/office/drawing/2014/main" val="20000"/>
                    </a:ext>
                  </a:extLst>
                </a:gridCol>
                <a:gridCol w="6230911">
                  <a:extLst>
                    <a:ext uri="{9D8B030D-6E8A-4147-A177-3AD203B41FA5}">
                      <a16:colId xmlns:a16="http://schemas.microsoft.com/office/drawing/2014/main" val="20001"/>
                    </a:ext>
                  </a:extLst>
                </a:gridCol>
              </a:tblGrid>
              <a:tr h="4896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df.attribute</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09731">
                <a:tc>
                  <a:txBody>
                    <a:bodyPr/>
                    <a:lstStyle/>
                    <a:p>
                      <a:r>
                        <a:rPr lang="en-US" dirty="0" err="1"/>
                        <a:t>dtypes</a:t>
                      </a:r>
                      <a:endParaRPr lang="en-US" dirty="0"/>
                    </a:p>
                  </a:txBody>
                  <a:tcPr/>
                </a:tc>
                <a:tc>
                  <a:txBody>
                    <a:bodyPr/>
                    <a:lstStyle/>
                    <a:p>
                      <a:r>
                        <a:rPr lang="en-US" dirty="0"/>
                        <a:t>list the types of the columns</a:t>
                      </a:r>
                    </a:p>
                  </a:txBody>
                  <a:tcPr/>
                </a:tc>
                <a:extLst>
                  <a:ext uri="{0D108BD9-81ED-4DB2-BD59-A6C34878D82A}">
                    <a16:rowId xmlns:a16="http://schemas.microsoft.com/office/drawing/2014/main" val="10001"/>
                  </a:ext>
                </a:extLst>
              </a:tr>
              <a:tr h="409731">
                <a:tc>
                  <a:txBody>
                    <a:bodyPr/>
                    <a:lstStyle/>
                    <a:p>
                      <a:r>
                        <a:rPr lang="en-US" dirty="0"/>
                        <a:t>columns</a:t>
                      </a:r>
                    </a:p>
                  </a:txBody>
                  <a:tcPr/>
                </a:tc>
                <a:tc>
                  <a:txBody>
                    <a:bodyPr/>
                    <a:lstStyle/>
                    <a:p>
                      <a:r>
                        <a:rPr lang="en-US" dirty="0"/>
                        <a:t>list the column names</a:t>
                      </a:r>
                    </a:p>
                  </a:txBody>
                  <a:tcPr/>
                </a:tc>
                <a:extLst>
                  <a:ext uri="{0D108BD9-81ED-4DB2-BD59-A6C34878D82A}">
                    <a16:rowId xmlns:a16="http://schemas.microsoft.com/office/drawing/2014/main" val="10002"/>
                  </a:ext>
                </a:extLst>
              </a:tr>
              <a:tr h="449705">
                <a:tc>
                  <a:txBody>
                    <a:bodyPr/>
                    <a:lstStyle/>
                    <a:p>
                      <a:r>
                        <a:rPr lang="en-US" dirty="0"/>
                        <a:t>axes</a:t>
                      </a:r>
                    </a:p>
                  </a:txBody>
                  <a:tcPr/>
                </a:tc>
                <a:tc>
                  <a:txBody>
                    <a:bodyPr/>
                    <a:lstStyle/>
                    <a:p>
                      <a:r>
                        <a:rPr lang="en-US" dirty="0"/>
                        <a:t>list the row labels</a:t>
                      </a:r>
                      <a:r>
                        <a:rPr lang="en-US" baseline="0" dirty="0"/>
                        <a:t> and column names</a:t>
                      </a:r>
                      <a:endParaRPr lang="en-US" dirty="0"/>
                    </a:p>
                  </a:txBody>
                  <a:tcPr/>
                </a:tc>
                <a:extLst>
                  <a:ext uri="{0D108BD9-81ED-4DB2-BD59-A6C34878D82A}">
                    <a16:rowId xmlns:a16="http://schemas.microsoft.com/office/drawing/2014/main" val="10003"/>
                  </a:ext>
                </a:extLst>
              </a:tr>
              <a:tr h="459698">
                <a:tc>
                  <a:txBody>
                    <a:bodyPr/>
                    <a:lstStyle/>
                    <a:p>
                      <a:r>
                        <a:rPr lang="en-US" dirty="0" err="1"/>
                        <a:t>ndim</a:t>
                      </a:r>
                      <a:endParaRPr lang="en-US" dirty="0"/>
                    </a:p>
                  </a:txBody>
                  <a:tcPr/>
                </a:tc>
                <a:tc>
                  <a:txBody>
                    <a:bodyPr/>
                    <a:lstStyle/>
                    <a:p>
                      <a:r>
                        <a:rPr lang="en-US" dirty="0"/>
                        <a:t>number of dimensions</a:t>
                      </a:r>
                    </a:p>
                  </a:txBody>
                  <a:tcPr/>
                </a:tc>
                <a:extLst>
                  <a:ext uri="{0D108BD9-81ED-4DB2-BD59-A6C34878D82A}">
                    <a16:rowId xmlns:a16="http://schemas.microsoft.com/office/drawing/2014/main" val="10004"/>
                  </a:ext>
                </a:extLst>
              </a:tr>
              <a:tr h="424722">
                <a:tc>
                  <a:txBody>
                    <a:bodyPr/>
                    <a:lstStyle/>
                    <a:p>
                      <a:r>
                        <a:rPr lang="en-US" dirty="0"/>
                        <a:t>size</a:t>
                      </a:r>
                    </a:p>
                  </a:txBody>
                  <a:tcPr/>
                </a:tc>
                <a:tc>
                  <a:txBody>
                    <a:bodyPr/>
                    <a:lstStyle/>
                    <a:p>
                      <a:r>
                        <a:rPr lang="en-US" dirty="0"/>
                        <a:t>number of elements </a:t>
                      </a:r>
                    </a:p>
                  </a:txBody>
                  <a:tcPr/>
                </a:tc>
                <a:extLst>
                  <a:ext uri="{0D108BD9-81ED-4DB2-BD59-A6C34878D82A}">
                    <a16:rowId xmlns:a16="http://schemas.microsoft.com/office/drawing/2014/main" val="10005"/>
                  </a:ext>
                </a:extLst>
              </a:tr>
              <a:tr h="424722">
                <a:tc>
                  <a:txBody>
                    <a:bodyPr/>
                    <a:lstStyle/>
                    <a:p>
                      <a:r>
                        <a:rPr lang="en-US" dirty="0"/>
                        <a:t>shape</a:t>
                      </a:r>
                    </a:p>
                  </a:txBody>
                  <a:tcPr/>
                </a:tc>
                <a:tc>
                  <a:txBody>
                    <a:bodyPr/>
                    <a:lstStyle/>
                    <a:p>
                      <a:r>
                        <a:rPr lang="en-US" dirty="0"/>
                        <a:t>return a tuple</a:t>
                      </a:r>
                      <a:r>
                        <a:rPr lang="en-US" baseline="0" dirty="0"/>
                        <a:t> representing the dimensionality </a:t>
                      </a:r>
                      <a:endParaRPr lang="en-US" dirty="0"/>
                    </a:p>
                  </a:txBody>
                  <a:tcPr/>
                </a:tc>
                <a:extLst>
                  <a:ext uri="{0D108BD9-81ED-4DB2-BD59-A6C34878D82A}">
                    <a16:rowId xmlns:a16="http://schemas.microsoft.com/office/drawing/2014/main" val="10006"/>
                  </a:ext>
                </a:extLst>
              </a:tr>
              <a:tr h="424722">
                <a:tc>
                  <a:txBody>
                    <a:bodyPr/>
                    <a:lstStyle/>
                    <a:p>
                      <a:r>
                        <a:rPr lang="en-US" dirty="0"/>
                        <a:t>values</a:t>
                      </a:r>
                    </a:p>
                  </a:txBody>
                  <a:tcPr/>
                </a:tc>
                <a:tc>
                  <a:txBody>
                    <a:bodyPr/>
                    <a:lstStyle/>
                    <a:p>
                      <a:r>
                        <a:rPr lang="en-US" dirty="0" err="1"/>
                        <a:t>numpy</a:t>
                      </a:r>
                      <a:r>
                        <a:rPr lang="en-US" baseline="0" dirty="0"/>
                        <a:t> representation of the data</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76849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 Mid/Final Questions</a:t>
            </a:r>
          </a:p>
        </p:txBody>
      </p:sp>
      <p:sp>
        <p:nvSpPr>
          <p:cNvPr id="4" name="Slide Number Placeholder 3"/>
          <p:cNvSpPr>
            <a:spLocks noGrp="1"/>
          </p:cNvSpPr>
          <p:nvPr>
            <p:ph type="sldNum" sz="quarter" idx="12"/>
          </p:nvPr>
        </p:nvSpPr>
        <p:spPr/>
        <p:txBody>
          <a:bodyPr/>
          <a:lstStyle/>
          <a:p>
            <a:fld id="{B841CA95-E0BC-48B5-948A-ECC494EB4D84}" type="slidenum">
              <a:rPr lang="en-US" smtClean="0"/>
              <a:t>18</a:t>
            </a:fld>
            <a:endParaRPr lang="en-US"/>
          </a:p>
        </p:txBody>
      </p:sp>
      <p:sp>
        <p:nvSpPr>
          <p:cNvPr id="3" name="TextBox 2"/>
          <p:cNvSpPr txBox="1"/>
          <p:nvPr/>
        </p:nvSpPr>
        <p:spPr>
          <a:xfrm>
            <a:off x="1004341" y="2013679"/>
            <a:ext cx="10418164" cy="3636060"/>
          </a:xfrm>
          <a:prstGeom prst="rect">
            <a:avLst/>
          </a:prstGeom>
          <a:noFill/>
        </p:spPr>
        <p:txBody>
          <a:bodyPr wrap="square" rtlCol="0">
            <a:spAutoFit/>
          </a:bodyPr>
          <a:lstStyle/>
          <a:p>
            <a:pPr marL="285750" indent="-285750">
              <a:lnSpc>
                <a:spcPct val="250000"/>
              </a:lnSpc>
              <a:buFont typeface="Wingdings" panose="05000000000000000000" pitchFamily="2" charset="2"/>
              <a:buChar char="ü"/>
            </a:pPr>
            <a:r>
              <a:rPr lang="en-US" sz="2400" dirty="0"/>
              <a:t>Find how many records/instances/samples this data frame has; </a:t>
            </a:r>
            <a:r>
              <a:rPr lang="en-US" sz="2400" dirty="0" err="1"/>
              <a:t>df.shape</a:t>
            </a:r>
            <a:r>
              <a:rPr lang="en-US" sz="2400" dirty="0"/>
              <a:t>[0]</a:t>
            </a:r>
          </a:p>
          <a:p>
            <a:pPr marL="285750" indent="-285750">
              <a:lnSpc>
                <a:spcPct val="250000"/>
              </a:lnSpc>
              <a:buFont typeface="Wingdings" panose="05000000000000000000" pitchFamily="2" charset="2"/>
              <a:buChar char="ü"/>
            </a:pPr>
            <a:r>
              <a:rPr lang="en-US" sz="2400" dirty="0"/>
              <a:t>How many elements are there? </a:t>
            </a:r>
            <a:r>
              <a:rPr lang="en-US" sz="2400" dirty="0" err="1"/>
              <a:t>df.size</a:t>
            </a:r>
            <a:r>
              <a:rPr lang="en-US" sz="2400" dirty="0"/>
              <a:t>     </a:t>
            </a:r>
          </a:p>
          <a:p>
            <a:pPr marL="285750" indent="-285750">
              <a:lnSpc>
                <a:spcPct val="250000"/>
              </a:lnSpc>
              <a:buFont typeface="Wingdings" panose="05000000000000000000" pitchFamily="2" charset="2"/>
              <a:buChar char="ü"/>
            </a:pPr>
            <a:r>
              <a:rPr lang="en-US" sz="2400" dirty="0"/>
              <a:t>What are the column names? </a:t>
            </a:r>
            <a:r>
              <a:rPr lang="en-US" sz="2400" dirty="0" err="1"/>
              <a:t>df.columns</a:t>
            </a:r>
            <a:endParaRPr lang="en-US" sz="2400" dirty="0"/>
          </a:p>
          <a:p>
            <a:pPr marL="285750" indent="-285750">
              <a:lnSpc>
                <a:spcPct val="250000"/>
              </a:lnSpc>
              <a:buFont typeface="Wingdings" panose="05000000000000000000" pitchFamily="2" charset="2"/>
              <a:buChar char="ü"/>
            </a:pPr>
            <a:r>
              <a:rPr lang="en-US" sz="2400" dirty="0"/>
              <a:t>What data types of columns we have in this data frame? </a:t>
            </a:r>
            <a:r>
              <a:rPr lang="en-US" sz="2400" dirty="0" err="1"/>
              <a:t>df.dtypes</a:t>
            </a:r>
            <a:endParaRPr lang="en-US" sz="2400" dirty="0"/>
          </a:p>
        </p:txBody>
      </p:sp>
    </p:spTree>
    <p:extLst>
      <p:ext uri="{BB962C8B-B14F-4D97-AF65-F5344CB8AC3E}">
        <p14:creationId xmlns:p14="http://schemas.microsoft.com/office/powerpoint/2010/main" val="3890485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methods/functions</a:t>
            </a:r>
          </a:p>
        </p:txBody>
      </p:sp>
      <p:sp>
        <p:nvSpPr>
          <p:cNvPr id="5" name="Slide Number Placeholder 4"/>
          <p:cNvSpPr>
            <a:spLocks noGrp="1"/>
          </p:cNvSpPr>
          <p:nvPr>
            <p:ph type="sldNum" sz="quarter" idx="12"/>
          </p:nvPr>
        </p:nvSpPr>
        <p:spPr/>
        <p:txBody>
          <a:bodyPr/>
          <a:lstStyle/>
          <a:p>
            <a:fld id="{B841CA95-E0BC-48B5-948A-ECC494EB4D84}" type="slidenum">
              <a:rPr lang="en-US" smtClean="0"/>
              <a:t>19</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50628062"/>
              </p:ext>
            </p:extLst>
          </p:nvPr>
        </p:nvGraphicFramePr>
        <p:xfrm>
          <a:off x="927725" y="2418414"/>
          <a:ext cx="8431134" cy="4165425"/>
        </p:xfrm>
        <a:graphic>
          <a:graphicData uri="http://schemas.openxmlformats.org/drawingml/2006/table">
            <a:tbl>
              <a:tblPr firstRow="1" bandRow="1">
                <a:tableStyleId>{B301B821-A1FF-4177-AEE7-76D212191A09}</a:tableStyleId>
              </a:tblPr>
              <a:tblGrid>
                <a:gridCol w="2564983">
                  <a:extLst>
                    <a:ext uri="{9D8B030D-6E8A-4147-A177-3AD203B41FA5}">
                      <a16:colId xmlns:a16="http://schemas.microsoft.com/office/drawing/2014/main" val="20000"/>
                    </a:ext>
                  </a:extLst>
                </a:gridCol>
                <a:gridCol w="5866151">
                  <a:extLst>
                    <a:ext uri="{9D8B030D-6E8A-4147-A177-3AD203B41FA5}">
                      <a16:colId xmlns:a16="http://schemas.microsoft.com/office/drawing/2014/main" val="20001"/>
                    </a:ext>
                  </a:extLst>
                </a:gridCol>
              </a:tblGrid>
              <a:tr h="578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df.method</a:t>
                      </a:r>
                      <a:r>
                        <a:rPr lang="en-US" sz="2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83804">
                <a:tc>
                  <a:txBody>
                    <a:bodyPr/>
                    <a:lstStyle/>
                    <a:p>
                      <a:r>
                        <a:rPr lang="en-US" dirty="0"/>
                        <a:t>head( [n] ), tail( [n] )</a:t>
                      </a:r>
                    </a:p>
                  </a:txBody>
                  <a:tcPr/>
                </a:tc>
                <a:tc>
                  <a:txBody>
                    <a:bodyPr/>
                    <a:lstStyle/>
                    <a:p>
                      <a:r>
                        <a:rPr lang="en-US" dirty="0"/>
                        <a:t>Print first/last</a:t>
                      </a:r>
                      <a:r>
                        <a:rPr lang="en-US" baseline="0" dirty="0"/>
                        <a:t> n rows</a:t>
                      </a:r>
                      <a:endParaRPr lang="en-US" dirty="0"/>
                    </a:p>
                  </a:txBody>
                  <a:tcPr/>
                </a:tc>
                <a:extLst>
                  <a:ext uri="{0D108BD9-81ED-4DB2-BD59-A6C34878D82A}">
                    <a16:rowId xmlns:a16="http://schemas.microsoft.com/office/drawing/2014/main" val="10001"/>
                  </a:ext>
                </a:extLst>
              </a:tr>
              <a:tr h="483804">
                <a:tc>
                  <a:txBody>
                    <a:bodyPr/>
                    <a:lstStyle/>
                    <a:p>
                      <a:r>
                        <a:rPr lang="en-US" dirty="0"/>
                        <a:t>describe()</a:t>
                      </a:r>
                    </a:p>
                  </a:txBody>
                  <a:tcPr/>
                </a:tc>
                <a:tc>
                  <a:txBody>
                    <a:bodyPr/>
                    <a:lstStyle/>
                    <a:p>
                      <a:r>
                        <a:rPr lang="en-US" dirty="0"/>
                        <a:t>generate descriptive statistics (for numeric columns only)</a:t>
                      </a:r>
                    </a:p>
                  </a:txBody>
                  <a:tcPr/>
                </a:tc>
                <a:extLst>
                  <a:ext uri="{0D108BD9-81ED-4DB2-BD59-A6C34878D82A}">
                    <a16:rowId xmlns:a16="http://schemas.microsoft.com/office/drawing/2014/main" val="10002"/>
                  </a:ext>
                </a:extLst>
              </a:tr>
              <a:tr h="531003">
                <a:tc>
                  <a:txBody>
                    <a:bodyPr/>
                    <a:lstStyle/>
                    <a:p>
                      <a:r>
                        <a:rPr lang="en-US" dirty="0"/>
                        <a:t>max(), min()</a:t>
                      </a:r>
                    </a:p>
                  </a:txBody>
                  <a:tcPr/>
                </a:tc>
                <a:tc>
                  <a:txBody>
                    <a:bodyPr/>
                    <a:lstStyle/>
                    <a:p>
                      <a:r>
                        <a:rPr lang="en-US" dirty="0"/>
                        <a:t>return max/min</a:t>
                      </a:r>
                      <a:r>
                        <a:rPr lang="en-US" baseline="0" dirty="0"/>
                        <a:t> values for all numeric columns</a:t>
                      </a:r>
                      <a:endParaRPr lang="en-US" dirty="0"/>
                    </a:p>
                  </a:txBody>
                  <a:tcPr/>
                </a:tc>
                <a:extLst>
                  <a:ext uri="{0D108BD9-81ED-4DB2-BD59-A6C34878D82A}">
                    <a16:rowId xmlns:a16="http://schemas.microsoft.com/office/drawing/2014/main" val="10003"/>
                  </a:ext>
                </a:extLst>
              </a:tr>
              <a:tr h="542803">
                <a:tc>
                  <a:txBody>
                    <a:bodyPr/>
                    <a:lstStyle/>
                    <a:p>
                      <a:r>
                        <a:rPr lang="en-US" dirty="0"/>
                        <a:t>mean(), median()</a:t>
                      </a:r>
                    </a:p>
                  </a:txBody>
                  <a:tcPr/>
                </a:tc>
                <a:tc>
                  <a:txBody>
                    <a:bodyPr/>
                    <a:lstStyle/>
                    <a:p>
                      <a:r>
                        <a:rPr lang="en-US" dirty="0"/>
                        <a:t>return mean/median</a:t>
                      </a:r>
                      <a:r>
                        <a:rPr lang="en-US" baseline="0" dirty="0"/>
                        <a:t> values for all numeric columns</a:t>
                      </a:r>
                      <a:endParaRPr lang="en-US" dirty="0"/>
                    </a:p>
                  </a:txBody>
                  <a:tcPr/>
                </a:tc>
                <a:extLst>
                  <a:ext uri="{0D108BD9-81ED-4DB2-BD59-A6C34878D82A}">
                    <a16:rowId xmlns:a16="http://schemas.microsoft.com/office/drawing/2014/main" val="10004"/>
                  </a:ext>
                </a:extLst>
              </a:tr>
              <a:tr h="542803">
                <a:tc>
                  <a:txBody>
                    <a:bodyPr/>
                    <a:lstStyle/>
                    <a:p>
                      <a:r>
                        <a:rPr lang="en-US" dirty="0" err="1"/>
                        <a:t>std</a:t>
                      </a:r>
                      <a:r>
                        <a:rPr lang="en-US" dirty="0"/>
                        <a:t>()</a:t>
                      </a:r>
                    </a:p>
                  </a:txBody>
                  <a:tcPr/>
                </a:tc>
                <a:tc>
                  <a:txBody>
                    <a:bodyPr/>
                    <a:lstStyle/>
                    <a:p>
                      <a:r>
                        <a:rPr lang="en-US" dirty="0"/>
                        <a:t>standard deviation</a:t>
                      </a:r>
                    </a:p>
                  </a:txBody>
                  <a:tcPr/>
                </a:tc>
                <a:extLst>
                  <a:ext uri="{0D108BD9-81ED-4DB2-BD59-A6C34878D82A}">
                    <a16:rowId xmlns:a16="http://schemas.microsoft.com/office/drawing/2014/main" val="10005"/>
                  </a:ext>
                </a:extLst>
              </a:tr>
              <a:tr h="501503">
                <a:tc>
                  <a:txBody>
                    <a:bodyPr/>
                    <a:lstStyle/>
                    <a:p>
                      <a:r>
                        <a:rPr lang="en-US" dirty="0"/>
                        <a:t>sample([n])</a:t>
                      </a:r>
                    </a:p>
                  </a:txBody>
                  <a:tcPr/>
                </a:tc>
                <a:tc>
                  <a:txBody>
                    <a:bodyPr/>
                    <a:lstStyle/>
                    <a:p>
                      <a:r>
                        <a:rPr lang="en-US" dirty="0"/>
                        <a:t>returns a random sample of the</a:t>
                      </a:r>
                      <a:r>
                        <a:rPr lang="en-US" baseline="0" dirty="0"/>
                        <a:t> data frame</a:t>
                      </a:r>
                      <a:endParaRPr lang="en-US" dirty="0"/>
                    </a:p>
                  </a:txBody>
                  <a:tcPr/>
                </a:tc>
                <a:extLst>
                  <a:ext uri="{0D108BD9-81ED-4DB2-BD59-A6C34878D82A}">
                    <a16:rowId xmlns:a16="http://schemas.microsoft.com/office/drawing/2014/main" val="10006"/>
                  </a:ext>
                </a:extLst>
              </a:tr>
              <a:tr h="501503">
                <a:tc>
                  <a:txBody>
                    <a:bodyPr/>
                    <a:lstStyle/>
                    <a:p>
                      <a:r>
                        <a:rPr lang="en-US" dirty="0" err="1"/>
                        <a:t>dropna</a:t>
                      </a:r>
                      <a:r>
                        <a:rPr lang="en-US" dirty="0"/>
                        <a:t>()</a:t>
                      </a:r>
                    </a:p>
                  </a:txBody>
                  <a:tcPr/>
                </a:tc>
                <a:tc>
                  <a:txBody>
                    <a:bodyPr/>
                    <a:lstStyle/>
                    <a:p>
                      <a:r>
                        <a:rPr lang="en-US" dirty="0"/>
                        <a:t>drop all the records with missing values</a:t>
                      </a:r>
                    </a:p>
                  </a:txBody>
                  <a:tcPr/>
                </a:tc>
                <a:extLst>
                  <a:ext uri="{0D108BD9-81ED-4DB2-BD59-A6C34878D82A}">
                    <a16:rowId xmlns:a16="http://schemas.microsoft.com/office/drawing/2014/main" val="10007"/>
                  </a:ext>
                </a:extLst>
              </a:tr>
            </a:tbl>
          </a:graphicData>
        </a:graphic>
      </p:graphicFrame>
      <p:sp>
        <p:nvSpPr>
          <p:cNvPr id="8" name="TextBox 7"/>
          <p:cNvSpPr txBox="1"/>
          <p:nvPr/>
        </p:nvSpPr>
        <p:spPr>
          <a:xfrm>
            <a:off x="838200" y="1610741"/>
            <a:ext cx="7485089" cy="646331"/>
          </a:xfrm>
          <a:prstGeom prst="rect">
            <a:avLst/>
          </a:prstGeom>
          <a:noFill/>
        </p:spPr>
        <p:txBody>
          <a:bodyPr wrap="square" rtlCol="0">
            <a:spAutoFit/>
          </a:bodyPr>
          <a:lstStyle/>
          <a:p>
            <a:r>
              <a:rPr lang="en-US" dirty="0"/>
              <a:t>Unlike attributes, Python methods/functions have </a:t>
            </a:r>
            <a:r>
              <a:rPr lang="en-US" i="1" dirty="0"/>
              <a:t>parenthesis.</a:t>
            </a:r>
          </a:p>
          <a:p>
            <a:r>
              <a:rPr lang="en-US" dirty="0"/>
              <a:t>All attributes and methods can be listed with a </a:t>
            </a:r>
            <a:r>
              <a:rPr lang="en-US" i="1" dirty="0" err="1"/>
              <a:t>dir</a:t>
            </a:r>
            <a:r>
              <a:rPr lang="en-US" i="1" dirty="0"/>
              <a:t>() </a:t>
            </a:r>
            <a:r>
              <a:rPr lang="en-US" dirty="0"/>
              <a:t>function: </a:t>
            </a:r>
            <a:r>
              <a:rPr lang="en-US" b="1" dirty="0" err="1">
                <a:solidFill>
                  <a:schemeClr val="accent1">
                    <a:lumMod val="50000"/>
                  </a:schemeClr>
                </a:solidFill>
                <a:latin typeface="Courier New" panose="02070309020205020404" pitchFamily="49" charset="0"/>
                <a:cs typeface="Courier New" panose="02070309020205020404" pitchFamily="49" charset="0"/>
              </a:rPr>
              <a:t>dir</a:t>
            </a:r>
            <a:r>
              <a:rPr lang="en-US" b="1" dirty="0">
                <a:solidFill>
                  <a:schemeClr val="accent1">
                    <a:lumMod val="50000"/>
                  </a:schemeClr>
                </a:solidFill>
                <a:latin typeface="Courier New" panose="02070309020205020404" pitchFamily="49" charset="0"/>
                <a:cs typeface="Courier New" panose="02070309020205020404" pitchFamily="49" charset="0"/>
              </a:rPr>
              <a:t>(</a:t>
            </a:r>
            <a:r>
              <a:rPr lang="en-US" b="1" dirty="0" err="1">
                <a:solidFill>
                  <a:schemeClr val="accent1">
                    <a:lumMod val="50000"/>
                  </a:schemeClr>
                </a:solidFill>
                <a:latin typeface="Courier New" panose="02070309020205020404" pitchFamily="49" charset="0"/>
                <a:cs typeface="Courier New" panose="02070309020205020404" pitchFamily="49" charset="0"/>
              </a:rPr>
              <a:t>df</a:t>
            </a:r>
            <a:r>
              <a:rPr lang="en-US" b="1" dirty="0">
                <a:solidFill>
                  <a:schemeClr val="accent1">
                    <a:lumMod val="50000"/>
                  </a:schemeClr>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4986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      Mid/Final Questions</a:t>
            </a:r>
          </a:p>
        </p:txBody>
      </p:sp>
      <p:sp>
        <p:nvSpPr>
          <p:cNvPr id="4" name="Slide Number Placeholder 3"/>
          <p:cNvSpPr>
            <a:spLocks noGrp="1"/>
          </p:cNvSpPr>
          <p:nvPr>
            <p:ph type="sldNum" sz="quarter" idx="12"/>
          </p:nvPr>
        </p:nvSpPr>
        <p:spPr/>
        <p:txBody>
          <a:bodyPr/>
          <a:lstStyle/>
          <a:p>
            <a:fld id="{B841CA95-E0BC-48B5-948A-ECC494EB4D84}" type="slidenum">
              <a:rPr lang="en-US" smtClean="0"/>
              <a:t>20</a:t>
            </a:fld>
            <a:endParaRPr lang="en-US"/>
          </a:p>
        </p:txBody>
      </p:sp>
      <p:sp>
        <p:nvSpPr>
          <p:cNvPr id="3" name="TextBox 2"/>
          <p:cNvSpPr txBox="1"/>
          <p:nvPr/>
        </p:nvSpPr>
        <p:spPr>
          <a:xfrm>
            <a:off x="1004341" y="2013679"/>
            <a:ext cx="10418164" cy="3866892"/>
          </a:xfrm>
          <a:prstGeom prst="rect">
            <a:avLst/>
          </a:prstGeom>
          <a:noFill/>
        </p:spPr>
        <p:txBody>
          <a:bodyPr wrap="square" rtlCol="0">
            <a:spAutoFit/>
          </a:bodyPr>
          <a:lstStyle/>
          <a:p>
            <a:pPr marL="285750" indent="-285750">
              <a:lnSpc>
                <a:spcPct val="250000"/>
              </a:lnSpc>
              <a:buFont typeface="Wingdings" panose="05000000000000000000" pitchFamily="2" charset="2"/>
              <a:buChar char="ü"/>
            </a:pPr>
            <a:r>
              <a:rPr lang="en-US" sz="2400" dirty="0"/>
              <a:t>Give the summary for the numeric columns in the dataset: </a:t>
            </a:r>
            <a:r>
              <a:rPr lang="en-US" sz="2400" dirty="0" err="1">
                <a:solidFill>
                  <a:srgbClr val="FF0000"/>
                </a:solidFill>
              </a:rPr>
              <a:t>df.describe</a:t>
            </a:r>
            <a:r>
              <a:rPr lang="en-US" sz="2400" dirty="0">
                <a:solidFill>
                  <a:srgbClr val="FF0000"/>
                </a:solidFill>
              </a:rPr>
              <a:t>()</a:t>
            </a:r>
          </a:p>
          <a:p>
            <a:pPr marL="285750" indent="-285750">
              <a:lnSpc>
                <a:spcPct val="200000"/>
              </a:lnSpc>
              <a:buFont typeface="Wingdings" panose="05000000000000000000" pitchFamily="2" charset="2"/>
              <a:buChar char="ü"/>
            </a:pPr>
            <a:r>
              <a:rPr lang="en-US" sz="2400" dirty="0"/>
              <a:t>Calculate standard deviation for all numeric columns; </a:t>
            </a:r>
            <a:r>
              <a:rPr lang="en-US" sz="2400" dirty="0" err="1">
                <a:solidFill>
                  <a:srgbClr val="FF0000"/>
                </a:solidFill>
              </a:rPr>
              <a:t>df.std</a:t>
            </a:r>
            <a:r>
              <a:rPr lang="en-US" sz="2400" dirty="0">
                <a:solidFill>
                  <a:srgbClr val="FF0000"/>
                </a:solidFill>
              </a:rPr>
              <a:t>()</a:t>
            </a:r>
          </a:p>
          <a:p>
            <a:pPr marL="285750" indent="-285750">
              <a:lnSpc>
                <a:spcPct val="200000"/>
              </a:lnSpc>
              <a:buFont typeface="Wingdings" panose="05000000000000000000" pitchFamily="2" charset="2"/>
              <a:buChar char="ü"/>
            </a:pPr>
            <a:r>
              <a:rPr lang="en-US" sz="2400" dirty="0"/>
              <a:t>What are the mean values of the first 50 records in the dataset?   </a:t>
            </a:r>
            <a:r>
              <a:rPr lang="en-US" sz="2400" b="1" i="1" dirty="0">
                <a:solidFill>
                  <a:schemeClr val="tx1">
                    <a:lumMod val="50000"/>
                    <a:lumOff val="50000"/>
                  </a:schemeClr>
                </a:solidFill>
              </a:rPr>
              <a:t>Hint:</a:t>
            </a:r>
            <a:r>
              <a:rPr lang="en-US" sz="2400" dirty="0">
                <a:solidFill>
                  <a:schemeClr val="tx1">
                    <a:lumMod val="50000"/>
                    <a:lumOff val="50000"/>
                  </a:schemeClr>
                </a:solidFill>
              </a:rPr>
              <a:t> use head() method to subset the first 50 records and then calculate the mean</a:t>
            </a:r>
          </a:p>
          <a:p>
            <a:pPr>
              <a:lnSpc>
                <a:spcPct val="200000"/>
              </a:lnSpc>
            </a:pPr>
            <a:r>
              <a:rPr lang="en-US" sz="2400" dirty="0" err="1">
                <a:solidFill>
                  <a:srgbClr val="FF0000"/>
                </a:solidFill>
              </a:rPr>
              <a:t>df.head</a:t>
            </a:r>
            <a:r>
              <a:rPr lang="en-US" sz="2400" dirty="0">
                <a:solidFill>
                  <a:srgbClr val="FF0000"/>
                </a:solidFill>
              </a:rPr>
              <a:t>(50).mean() </a:t>
            </a:r>
          </a:p>
        </p:txBody>
      </p:sp>
      <p:grpSp>
        <p:nvGrpSpPr>
          <p:cNvPr id="24" name="Group 23"/>
          <p:cNvGrpSpPr/>
          <p:nvPr/>
        </p:nvGrpSpPr>
        <p:grpSpPr>
          <a:xfrm rot="-8100000">
            <a:off x="1184980" y="754334"/>
            <a:ext cx="87443" cy="547143"/>
            <a:chOff x="2136098" y="5086662"/>
            <a:chExt cx="87443" cy="547143"/>
          </a:xfrm>
        </p:grpSpPr>
        <p:cxnSp>
          <p:nvCxnSpPr>
            <p:cNvPr id="11" name="Straight Connector 10"/>
            <p:cNvCxnSpPr/>
            <p:nvPr/>
          </p:nvCxnSpPr>
          <p:spPr>
            <a:xfrm flipH="1">
              <a:off x="2181067" y="5206584"/>
              <a:ext cx="2502" cy="354767"/>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2136098" y="5086662"/>
              <a:ext cx="87443" cy="8783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2178566" y="5581339"/>
              <a:ext cx="2" cy="52466"/>
            </a:xfrm>
            <a:prstGeom prst="line">
              <a:avLst/>
            </a:prstGeom>
            <a:ln w="793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5685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lstStyle/>
          <a:p>
            <a:r>
              <a:rPr lang="en-US" dirty="0"/>
              <a:t>Handle missing/ null values: Data Cleaning</a:t>
            </a:r>
          </a:p>
        </p:txBody>
      </p:sp>
      <p:pic>
        <p:nvPicPr>
          <p:cNvPr id="6" name="Content Placeholder 5">
            <a:extLst>
              <a:ext uri="{FF2B5EF4-FFF2-40B4-BE49-F238E27FC236}">
                <a16:creationId xmlns:a16="http://schemas.microsoft.com/office/drawing/2014/main" id="{D72962AB-ED75-E838-DE8E-E35E1A8EFF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922" y="839607"/>
            <a:ext cx="7543800" cy="3234947"/>
          </a:xfrm>
        </p:spPr>
      </p:pic>
      <p:sp>
        <p:nvSpPr>
          <p:cNvPr id="4" name="Slide Number Placeholder 3"/>
          <p:cNvSpPr>
            <a:spLocks noGrp="1"/>
          </p:cNvSpPr>
          <p:nvPr>
            <p:ph type="sldNum" sz="quarter" idx="12"/>
          </p:nvPr>
        </p:nvSpPr>
        <p:spPr/>
        <p:txBody>
          <a:bodyPr/>
          <a:lstStyle/>
          <a:p>
            <a:fld id="{B841CA95-E0BC-48B5-948A-ECC494EB4D84}" type="slidenum">
              <a:rPr lang="en-US" smtClean="0"/>
              <a:t>21</a:t>
            </a:fld>
            <a:endParaRPr lang="en-US"/>
          </a:p>
        </p:txBody>
      </p:sp>
      <p:sp>
        <p:nvSpPr>
          <p:cNvPr id="5" name="TextBox 4">
            <a:extLst>
              <a:ext uri="{FF2B5EF4-FFF2-40B4-BE49-F238E27FC236}">
                <a16:creationId xmlns:a16="http://schemas.microsoft.com/office/drawing/2014/main" id="{5B7F1E1A-5365-F06C-D37F-3DC03497F5A6}"/>
              </a:ext>
            </a:extLst>
          </p:cNvPr>
          <p:cNvSpPr txBox="1"/>
          <p:nvPr/>
        </p:nvSpPr>
        <p:spPr>
          <a:xfrm>
            <a:off x="8025415" y="1072875"/>
            <a:ext cx="4166584" cy="2308324"/>
          </a:xfrm>
          <a:prstGeom prst="rect">
            <a:avLst/>
          </a:prstGeom>
          <a:noFill/>
        </p:spPr>
        <p:txBody>
          <a:bodyPr wrap="square">
            <a:spAutoFit/>
          </a:bodyPr>
          <a:lstStyle/>
          <a:p>
            <a:r>
              <a:rPr lang="en-US" b="0" i="0" dirty="0">
                <a:solidFill>
                  <a:srgbClr val="222222"/>
                </a:solidFill>
                <a:effectLst/>
                <a:latin typeface="Lato" panose="020F0502020204030203" pitchFamily="34" charset="0"/>
              </a:rPr>
              <a:t>In Pandas, usually, missing values are represented by </a:t>
            </a:r>
            <a:r>
              <a:rPr lang="en-US" b="1" i="0" dirty="0" err="1">
                <a:solidFill>
                  <a:srgbClr val="222222"/>
                </a:solidFill>
                <a:effectLst/>
                <a:latin typeface="Lato" panose="020F0502020204030203" pitchFamily="34" charset="0"/>
              </a:rPr>
              <a:t>NaN</a:t>
            </a:r>
            <a:r>
              <a:rPr lang="en-US" b="0" i="0" dirty="0">
                <a:solidFill>
                  <a:srgbClr val="222222"/>
                </a:solidFill>
                <a:effectLst/>
                <a:latin typeface="Lato" panose="020F0502020204030203" pitchFamily="34" charset="0"/>
              </a:rPr>
              <a:t>. It stands for </a:t>
            </a:r>
            <a:r>
              <a:rPr lang="en-US" b="1" i="0" dirty="0">
                <a:solidFill>
                  <a:srgbClr val="222222"/>
                </a:solidFill>
                <a:effectLst/>
                <a:latin typeface="Lato" panose="020F0502020204030203" pitchFamily="34" charset="0"/>
              </a:rPr>
              <a:t>Not a Number</a:t>
            </a:r>
          </a:p>
          <a:p>
            <a:endParaRPr lang="en-US" dirty="0"/>
          </a:p>
          <a:p>
            <a:r>
              <a:rPr lang="en-US" dirty="0" err="1"/>
              <a:t>df.isnull</a:t>
            </a:r>
            <a:r>
              <a:rPr lang="en-US" dirty="0"/>
              <a:t>().sum() function is used in Pandas to check for missing values (</a:t>
            </a:r>
            <a:r>
              <a:rPr lang="en-US" dirty="0" err="1"/>
              <a:t>NaN</a:t>
            </a:r>
            <a:r>
              <a:rPr lang="en-US" dirty="0"/>
              <a:t> values) in a </a:t>
            </a:r>
            <a:r>
              <a:rPr lang="en-US" dirty="0" err="1"/>
              <a:t>DataFrame</a:t>
            </a:r>
            <a:r>
              <a:rPr lang="en-US" dirty="0"/>
              <a:t>. It returns the count of missing values in each column</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5FEDB9C5-9E5B-F6FC-93B3-6AA01716D42D}"/>
                  </a:ext>
                </a:extLst>
              </p14:cNvPr>
              <p14:cNvContentPartPr/>
              <p14:nvPr/>
            </p14:nvContentPartPr>
            <p14:xfrm>
              <a:off x="6751291" y="2447200"/>
              <a:ext cx="299880" cy="16920"/>
            </p14:xfrm>
          </p:contentPart>
        </mc:Choice>
        <mc:Fallback xmlns="">
          <p:pic>
            <p:nvPicPr>
              <p:cNvPr id="7" name="Ink 6">
                <a:extLst>
                  <a:ext uri="{FF2B5EF4-FFF2-40B4-BE49-F238E27FC236}">
                    <a16:creationId xmlns:a16="http://schemas.microsoft.com/office/drawing/2014/main" id="{5FEDB9C5-9E5B-F6FC-93B3-6AA01716D42D}"/>
                  </a:ext>
                </a:extLst>
              </p:cNvPr>
              <p:cNvPicPr/>
              <p:nvPr/>
            </p:nvPicPr>
            <p:blipFill>
              <a:blip r:embed="rId4"/>
              <a:stretch>
                <a:fillRect/>
              </a:stretch>
            </p:blipFill>
            <p:spPr>
              <a:xfrm>
                <a:off x="6697291" y="2339560"/>
                <a:ext cx="4075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E726A90-7674-FDD8-6B36-503C02FEAA55}"/>
                  </a:ext>
                </a:extLst>
              </p14:cNvPr>
              <p14:cNvContentPartPr/>
              <p14:nvPr/>
            </p14:nvContentPartPr>
            <p14:xfrm>
              <a:off x="6770011" y="2997640"/>
              <a:ext cx="265680" cy="3960"/>
            </p14:xfrm>
          </p:contentPart>
        </mc:Choice>
        <mc:Fallback xmlns="">
          <p:pic>
            <p:nvPicPr>
              <p:cNvPr id="9" name="Ink 8">
                <a:extLst>
                  <a:ext uri="{FF2B5EF4-FFF2-40B4-BE49-F238E27FC236}">
                    <a16:creationId xmlns:a16="http://schemas.microsoft.com/office/drawing/2014/main" id="{9E726A90-7674-FDD8-6B36-503C02FEAA55}"/>
                  </a:ext>
                </a:extLst>
              </p:cNvPr>
              <p:cNvPicPr/>
              <p:nvPr/>
            </p:nvPicPr>
            <p:blipFill>
              <a:blip r:embed="rId6"/>
              <a:stretch>
                <a:fillRect/>
              </a:stretch>
            </p:blipFill>
            <p:spPr>
              <a:xfrm>
                <a:off x="6716011" y="2890000"/>
                <a:ext cx="3733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59245103-2773-7372-F716-2C4AF5EA377D}"/>
                  </a:ext>
                </a:extLst>
              </p14:cNvPr>
              <p14:cNvContentPartPr/>
              <p14:nvPr/>
            </p14:nvContentPartPr>
            <p14:xfrm>
              <a:off x="6751291" y="3583360"/>
              <a:ext cx="309240" cy="10080"/>
            </p14:xfrm>
          </p:contentPart>
        </mc:Choice>
        <mc:Fallback xmlns="">
          <p:pic>
            <p:nvPicPr>
              <p:cNvPr id="10" name="Ink 9">
                <a:extLst>
                  <a:ext uri="{FF2B5EF4-FFF2-40B4-BE49-F238E27FC236}">
                    <a16:creationId xmlns:a16="http://schemas.microsoft.com/office/drawing/2014/main" id="{59245103-2773-7372-F716-2C4AF5EA377D}"/>
                  </a:ext>
                </a:extLst>
              </p:cNvPr>
              <p:cNvPicPr/>
              <p:nvPr/>
            </p:nvPicPr>
            <p:blipFill>
              <a:blip r:embed="rId8"/>
              <a:stretch>
                <a:fillRect/>
              </a:stretch>
            </p:blipFill>
            <p:spPr>
              <a:xfrm>
                <a:off x="6697291" y="3475720"/>
                <a:ext cx="4168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0F574A41-B86F-A8B5-424C-4CDFB18B88C5}"/>
                  </a:ext>
                </a:extLst>
              </p14:cNvPr>
              <p14:cNvContentPartPr/>
              <p14:nvPr/>
            </p14:nvContentPartPr>
            <p14:xfrm>
              <a:off x="6686491" y="1292680"/>
              <a:ext cx="500400" cy="75240"/>
            </p14:xfrm>
          </p:contentPart>
        </mc:Choice>
        <mc:Fallback xmlns="">
          <p:pic>
            <p:nvPicPr>
              <p:cNvPr id="11" name="Ink 10">
                <a:extLst>
                  <a:ext uri="{FF2B5EF4-FFF2-40B4-BE49-F238E27FC236}">
                    <a16:creationId xmlns:a16="http://schemas.microsoft.com/office/drawing/2014/main" id="{0F574A41-B86F-A8B5-424C-4CDFB18B88C5}"/>
                  </a:ext>
                </a:extLst>
              </p:cNvPr>
              <p:cNvPicPr/>
              <p:nvPr/>
            </p:nvPicPr>
            <p:blipFill>
              <a:blip r:embed="rId10"/>
              <a:stretch>
                <a:fillRect/>
              </a:stretch>
            </p:blipFill>
            <p:spPr>
              <a:xfrm>
                <a:off x="6632851" y="1184680"/>
                <a:ext cx="6080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9BB512C1-17A7-5741-D983-E03ABC24F364}"/>
                  </a:ext>
                </a:extLst>
              </p14:cNvPr>
              <p14:cNvContentPartPr/>
              <p14:nvPr/>
            </p14:nvContentPartPr>
            <p14:xfrm>
              <a:off x="6686491" y="1874800"/>
              <a:ext cx="283680" cy="37800"/>
            </p14:xfrm>
          </p:contentPart>
        </mc:Choice>
        <mc:Fallback xmlns="">
          <p:pic>
            <p:nvPicPr>
              <p:cNvPr id="12" name="Ink 11">
                <a:extLst>
                  <a:ext uri="{FF2B5EF4-FFF2-40B4-BE49-F238E27FC236}">
                    <a16:creationId xmlns:a16="http://schemas.microsoft.com/office/drawing/2014/main" id="{9BB512C1-17A7-5741-D983-E03ABC24F364}"/>
                  </a:ext>
                </a:extLst>
              </p:cNvPr>
              <p:cNvPicPr/>
              <p:nvPr/>
            </p:nvPicPr>
            <p:blipFill>
              <a:blip r:embed="rId12"/>
              <a:stretch>
                <a:fillRect/>
              </a:stretch>
            </p:blipFill>
            <p:spPr>
              <a:xfrm>
                <a:off x="6632851" y="1766800"/>
                <a:ext cx="391320" cy="253440"/>
              </a:xfrm>
              <a:prstGeom prst="rect">
                <a:avLst/>
              </a:prstGeom>
            </p:spPr>
          </p:pic>
        </mc:Fallback>
      </mc:AlternateContent>
    </p:spTree>
    <p:extLst>
      <p:ext uri="{BB962C8B-B14F-4D97-AF65-F5344CB8AC3E}">
        <p14:creationId xmlns:p14="http://schemas.microsoft.com/office/powerpoint/2010/main" val="2935867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lstStyle/>
          <a:p>
            <a:r>
              <a:rPr lang="en-US" dirty="0"/>
              <a:t>Handle missing/ null values: Data Cleaning</a:t>
            </a:r>
          </a:p>
        </p:txBody>
      </p:sp>
      <p:sp>
        <p:nvSpPr>
          <p:cNvPr id="4" name="Slide Number Placeholder 3"/>
          <p:cNvSpPr>
            <a:spLocks noGrp="1"/>
          </p:cNvSpPr>
          <p:nvPr>
            <p:ph type="sldNum" sz="quarter" idx="12"/>
          </p:nvPr>
        </p:nvSpPr>
        <p:spPr/>
        <p:txBody>
          <a:bodyPr/>
          <a:lstStyle/>
          <a:p>
            <a:fld id="{B841CA95-E0BC-48B5-948A-ECC494EB4D84}" type="slidenum">
              <a:rPr lang="en-US" smtClean="0"/>
              <a:t>22</a:t>
            </a:fld>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5FEDB9C5-9E5B-F6FC-93B3-6AA01716D42D}"/>
                  </a:ext>
                </a:extLst>
              </p14:cNvPr>
              <p14:cNvContentPartPr/>
              <p14:nvPr/>
            </p14:nvContentPartPr>
            <p14:xfrm>
              <a:off x="6751291" y="2447200"/>
              <a:ext cx="299880" cy="16920"/>
            </p14:xfrm>
          </p:contentPart>
        </mc:Choice>
        <mc:Fallback xmlns="">
          <p:pic>
            <p:nvPicPr>
              <p:cNvPr id="7" name="Ink 6">
                <a:extLst>
                  <a:ext uri="{FF2B5EF4-FFF2-40B4-BE49-F238E27FC236}">
                    <a16:creationId xmlns:a16="http://schemas.microsoft.com/office/drawing/2014/main" id="{5FEDB9C5-9E5B-F6FC-93B3-6AA01716D42D}"/>
                  </a:ext>
                </a:extLst>
              </p:cNvPr>
              <p:cNvPicPr/>
              <p:nvPr/>
            </p:nvPicPr>
            <p:blipFill>
              <a:blip r:embed="rId3"/>
              <a:stretch>
                <a:fillRect/>
              </a:stretch>
            </p:blipFill>
            <p:spPr>
              <a:xfrm>
                <a:off x="6697356" y="2339200"/>
                <a:ext cx="407391"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9E726A90-7674-FDD8-6B36-503C02FEAA55}"/>
                  </a:ext>
                </a:extLst>
              </p14:cNvPr>
              <p14:cNvContentPartPr/>
              <p14:nvPr/>
            </p14:nvContentPartPr>
            <p14:xfrm>
              <a:off x="6770011" y="2997640"/>
              <a:ext cx="265680" cy="3960"/>
            </p14:xfrm>
          </p:contentPart>
        </mc:Choice>
        <mc:Fallback xmlns="">
          <p:pic>
            <p:nvPicPr>
              <p:cNvPr id="9" name="Ink 8">
                <a:extLst>
                  <a:ext uri="{FF2B5EF4-FFF2-40B4-BE49-F238E27FC236}">
                    <a16:creationId xmlns:a16="http://schemas.microsoft.com/office/drawing/2014/main" id="{9E726A90-7674-FDD8-6B36-503C02FEAA55}"/>
                  </a:ext>
                </a:extLst>
              </p:cNvPr>
              <p:cNvPicPr/>
              <p:nvPr/>
            </p:nvPicPr>
            <p:blipFill>
              <a:blip r:embed="rId5"/>
              <a:stretch>
                <a:fillRect/>
              </a:stretch>
            </p:blipFill>
            <p:spPr>
              <a:xfrm>
                <a:off x="6716011" y="2889640"/>
                <a:ext cx="3733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59245103-2773-7372-F716-2C4AF5EA377D}"/>
                  </a:ext>
                </a:extLst>
              </p14:cNvPr>
              <p14:cNvContentPartPr/>
              <p14:nvPr/>
            </p14:nvContentPartPr>
            <p14:xfrm>
              <a:off x="6751291" y="3583360"/>
              <a:ext cx="309240" cy="10080"/>
            </p14:xfrm>
          </p:contentPart>
        </mc:Choice>
        <mc:Fallback xmlns="">
          <p:pic>
            <p:nvPicPr>
              <p:cNvPr id="10" name="Ink 9">
                <a:extLst>
                  <a:ext uri="{FF2B5EF4-FFF2-40B4-BE49-F238E27FC236}">
                    <a16:creationId xmlns:a16="http://schemas.microsoft.com/office/drawing/2014/main" id="{59245103-2773-7372-F716-2C4AF5EA377D}"/>
                  </a:ext>
                </a:extLst>
              </p:cNvPr>
              <p:cNvPicPr/>
              <p:nvPr/>
            </p:nvPicPr>
            <p:blipFill>
              <a:blip r:embed="rId7"/>
              <a:stretch>
                <a:fillRect/>
              </a:stretch>
            </p:blipFill>
            <p:spPr>
              <a:xfrm>
                <a:off x="6697291" y="3475360"/>
                <a:ext cx="416880" cy="225720"/>
              </a:xfrm>
              <a:prstGeom prst="rect">
                <a:avLst/>
              </a:prstGeom>
            </p:spPr>
          </p:pic>
        </mc:Fallback>
      </mc:AlternateContent>
      <p:sp>
        <p:nvSpPr>
          <p:cNvPr id="13" name="Content Placeholder 12">
            <a:extLst>
              <a:ext uri="{FF2B5EF4-FFF2-40B4-BE49-F238E27FC236}">
                <a16:creationId xmlns:a16="http://schemas.microsoft.com/office/drawing/2014/main" id="{ACAA88E8-FA09-2EDE-D9AC-621EBA1369ED}"/>
              </a:ext>
            </a:extLst>
          </p:cNvPr>
          <p:cNvSpPr>
            <a:spLocks noGrp="1"/>
          </p:cNvSpPr>
          <p:nvPr>
            <p:ph idx="1"/>
          </p:nvPr>
        </p:nvSpPr>
        <p:spPr>
          <a:xfrm>
            <a:off x="0" y="923278"/>
            <a:ext cx="12192000" cy="5934721"/>
          </a:xfrm>
        </p:spPr>
        <p:txBody>
          <a:bodyPr>
            <a:normAutofit lnSpcReduction="10000"/>
          </a:bodyPr>
          <a:lstStyle/>
          <a:p>
            <a:pPr marL="457200" indent="-457200">
              <a:buAutoNum type="arabicPeriod"/>
            </a:pPr>
            <a:r>
              <a:rPr lang="en-US" sz="2800" dirty="0"/>
              <a:t>Deleting the column with missing data: Used for many features. </a:t>
            </a:r>
          </a:p>
          <a:p>
            <a:r>
              <a:rPr lang="en-US" sz="2800" dirty="0"/>
              <a:t>If columns have more than half of the rows as null, then the entire column can be dropped. The rows which are having one or more columns values as null can also be dropped  </a:t>
            </a:r>
          </a:p>
          <a:p>
            <a:pPr marL="0" indent="0">
              <a:buNone/>
            </a:pPr>
            <a:r>
              <a:rPr lang="en-US" sz="2800" dirty="0"/>
              <a:t>2. Deleting the row with missing data: Used for large dataset</a:t>
            </a:r>
          </a:p>
          <a:p>
            <a:r>
              <a:rPr lang="en-US" sz="2800" dirty="0"/>
              <a:t>The rows which are having one or more columns values as null can also be dropped.</a:t>
            </a:r>
          </a:p>
          <a:p>
            <a:r>
              <a:rPr lang="en-US" sz="2800" dirty="0"/>
              <a:t> Loss of a lot of information.</a:t>
            </a:r>
          </a:p>
          <a:p>
            <a:r>
              <a:rPr lang="en-US" sz="2800" dirty="0"/>
              <a:t>Works poorly if the percentage of missing values is excessive in comparison to the complete dataset</a:t>
            </a:r>
          </a:p>
          <a:p>
            <a:r>
              <a:rPr lang="en-US" dirty="0"/>
              <a:t>I</a:t>
            </a:r>
            <a:r>
              <a:rPr lang="en-US" sz="2800" dirty="0"/>
              <a:t>f the proportion of missing observations in data is small relative to the total number of observations, we can simply remove those observations. </a:t>
            </a:r>
          </a:p>
          <a:p>
            <a:r>
              <a:rPr lang="en-US" sz="2800" dirty="0"/>
              <a:t>Deleting the rows containing missing values may lead to parting away with useful information or patterns</a:t>
            </a:r>
          </a:p>
          <a:p>
            <a:endParaRPr lang="en-US" dirty="0"/>
          </a:p>
        </p:txBody>
      </p:sp>
    </p:spTree>
    <p:extLst>
      <p:ext uri="{BB962C8B-B14F-4D97-AF65-F5344CB8AC3E}">
        <p14:creationId xmlns:p14="http://schemas.microsoft.com/office/powerpoint/2010/main" val="1970522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lstStyle/>
          <a:p>
            <a:r>
              <a:rPr lang="en-US" dirty="0"/>
              <a:t>Handle missing/ null values: Data Cleaning</a:t>
            </a:r>
          </a:p>
        </p:txBody>
      </p:sp>
      <p:sp>
        <p:nvSpPr>
          <p:cNvPr id="4" name="Slide Number Placeholder 3"/>
          <p:cNvSpPr>
            <a:spLocks noGrp="1"/>
          </p:cNvSpPr>
          <p:nvPr>
            <p:ph type="sldNum" sz="quarter" idx="12"/>
          </p:nvPr>
        </p:nvSpPr>
        <p:spPr/>
        <p:txBody>
          <a:bodyPr/>
          <a:lstStyle/>
          <a:p>
            <a:fld id="{B841CA95-E0BC-48B5-948A-ECC494EB4D84}" type="slidenum">
              <a:rPr lang="en-US" smtClean="0"/>
              <a:t>23</a:t>
            </a:fld>
            <a:endParaRPr lang="en-US"/>
          </a:p>
        </p:txBody>
      </p:sp>
      <p:sp>
        <p:nvSpPr>
          <p:cNvPr id="8" name="TextBox 7">
            <a:extLst>
              <a:ext uri="{FF2B5EF4-FFF2-40B4-BE49-F238E27FC236}">
                <a16:creationId xmlns:a16="http://schemas.microsoft.com/office/drawing/2014/main" id="{577A3B8B-FCEE-B7CD-95EA-974BE4525981}"/>
              </a:ext>
            </a:extLst>
          </p:cNvPr>
          <p:cNvSpPr txBox="1"/>
          <p:nvPr/>
        </p:nvSpPr>
        <p:spPr>
          <a:xfrm>
            <a:off x="1" y="877867"/>
            <a:ext cx="12191999" cy="2677656"/>
          </a:xfrm>
          <a:prstGeom prst="rect">
            <a:avLst/>
          </a:prstGeom>
          <a:noFill/>
        </p:spPr>
        <p:txBody>
          <a:bodyPr wrap="square">
            <a:spAutoFit/>
          </a:bodyPr>
          <a:lstStyle/>
          <a:p>
            <a:r>
              <a:rPr lang="en-US" sz="2400" dirty="0">
                <a:solidFill>
                  <a:srgbClr val="FF0000"/>
                </a:solidFill>
              </a:rPr>
              <a:t>Imputation is a technique used for replacing the missing data with some substitute value to retain most of the data/information of the dataset</a:t>
            </a:r>
          </a:p>
          <a:p>
            <a:r>
              <a:rPr lang="en-US" sz="2400" dirty="0">
                <a:solidFill>
                  <a:srgbClr val="FF0000"/>
                </a:solidFill>
              </a:rPr>
              <a:t>Works well with a small dataset and is easy to implement</a:t>
            </a:r>
          </a:p>
          <a:p>
            <a:r>
              <a:rPr lang="en-US" sz="2400" dirty="0"/>
              <a:t>3. Filling the Missing Values with mean, median, mode</a:t>
            </a:r>
          </a:p>
          <a:p>
            <a:r>
              <a:rPr lang="en-US" sz="2400" dirty="0"/>
              <a:t>4. Filling with a Regression/Classification Model</a:t>
            </a:r>
          </a:p>
          <a:p>
            <a:r>
              <a:rPr lang="en-US" sz="2400" dirty="0"/>
              <a:t>5. Filling with unsupervised/clustering technique</a:t>
            </a:r>
            <a:endParaRPr lang="en-US" sz="2400" dirty="0">
              <a:solidFill>
                <a:srgbClr val="FF0000"/>
              </a:solidFill>
            </a:endParaRPr>
          </a:p>
          <a:p>
            <a:endParaRPr lang="en-US" sz="2400" dirty="0">
              <a:solidFill>
                <a:srgbClr val="FF0000"/>
              </a:solidFill>
            </a:endParaRPr>
          </a:p>
        </p:txBody>
      </p:sp>
    </p:spTree>
    <p:extLst>
      <p:ext uri="{BB962C8B-B14F-4D97-AF65-F5344CB8AC3E}">
        <p14:creationId xmlns:p14="http://schemas.microsoft.com/office/powerpoint/2010/main" val="750267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lstStyle/>
          <a:p>
            <a:r>
              <a:rPr lang="en-US" dirty="0"/>
              <a:t>Handle missing/ null values: </a:t>
            </a:r>
            <a:r>
              <a:rPr lang="en-US" dirty="0" err="1"/>
              <a:t>KNNImputer</a:t>
            </a: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24</a:t>
            </a:fld>
            <a:endParaRPr lang="en-US"/>
          </a:p>
        </p:txBody>
      </p:sp>
      <p:sp>
        <p:nvSpPr>
          <p:cNvPr id="8" name="TextBox 7">
            <a:extLst>
              <a:ext uri="{FF2B5EF4-FFF2-40B4-BE49-F238E27FC236}">
                <a16:creationId xmlns:a16="http://schemas.microsoft.com/office/drawing/2014/main" id="{577A3B8B-FCEE-B7CD-95EA-974BE4525981}"/>
              </a:ext>
            </a:extLst>
          </p:cNvPr>
          <p:cNvSpPr txBox="1"/>
          <p:nvPr/>
        </p:nvSpPr>
        <p:spPr>
          <a:xfrm>
            <a:off x="1" y="877867"/>
            <a:ext cx="12191999" cy="3046988"/>
          </a:xfrm>
          <a:prstGeom prst="rect">
            <a:avLst/>
          </a:prstGeom>
          <a:noFill/>
        </p:spPr>
        <p:txBody>
          <a:bodyPr wrap="square">
            <a:spAutoFit/>
          </a:bodyPr>
          <a:lstStyle/>
          <a:p>
            <a:pPr marL="342900" indent="-342900">
              <a:buFont typeface="Arial" panose="020B0604020202020204" pitchFamily="34" charset="0"/>
              <a:buChar char="•"/>
            </a:pPr>
            <a:r>
              <a:rPr lang="en-US" sz="2400" dirty="0"/>
              <a:t>Imputation for completing missing values using k-Nearest Neighbors ML algorithm</a:t>
            </a:r>
          </a:p>
          <a:p>
            <a:pPr marL="342900" indent="-342900">
              <a:buFont typeface="Arial" panose="020B0604020202020204" pitchFamily="34" charset="0"/>
              <a:buChar char="•"/>
            </a:pPr>
            <a:r>
              <a:rPr lang="en-US" sz="2400" dirty="0"/>
              <a:t>Each sample’s missing values are imputed using the mean value from </a:t>
            </a:r>
            <a:r>
              <a:rPr lang="en-US" sz="2400" dirty="0" err="1"/>
              <a:t>n_neighbors</a:t>
            </a:r>
            <a:r>
              <a:rPr lang="en-US" sz="2400" dirty="0"/>
              <a:t> nearest neighbors found in the training set.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from </a:t>
            </a:r>
            <a:r>
              <a:rPr lang="en-US" sz="2400" dirty="0" err="1"/>
              <a:t>sklearn.impute</a:t>
            </a:r>
            <a:r>
              <a:rPr lang="en-US" sz="2400" dirty="0"/>
              <a:t> import </a:t>
            </a:r>
            <a:r>
              <a:rPr lang="en-US" sz="2400" dirty="0" err="1"/>
              <a:t>KNNImputer</a:t>
            </a:r>
            <a:endParaRPr lang="en-US" sz="2400" dirty="0"/>
          </a:p>
          <a:p>
            <a:pPr marL="342900" indent="-342900">
              <a:buFont typeface="Arial" panose="020B0604020202020204" pitchFamily="34" charset="0"/>
              <a:buChar char="•"/>
            </a:pPr>
            <a:r>
              <a:rPr lang="en-US" sz="2400" dirty="0"/>
              <a:t># create an object for </a:t>
            </a:r>
            <a:r>
              <a:rPr lang="en-US" sz="2400" dirty="0" err="1"/>
              <a:t>KNNImputer</a:t>
            </a:r>
            <a:r>
              <a:rPr lang="en-US" sz="2400" dirty="0"/>
              <a:t> with default hyperparameters</a:t>
            </a:r>
          </a:p>
          <a:p>
            <a:pPr marL="342900" indent="-342900">
              <a:buFont typeface="Arial" panose="020B0604020202020204" pitchFamily="34" charset="0"/>
              <a:buChar char="•"/>
            </a:pPr>
            <a:r>
              <a:rPr lang="en-US" sz="2400" dirty="0"/>
              <a:t>imputer = </a:t>
            </a:r>
            <a:r>
              <a:rPr lang="en-US" sz="2400" dirty="0" err="1"/>
              <a:t>KNNImputer</a:t>
            </a:r>
            <a:r>
              <a:rPr lang="en-US" sz="2400" dirty="0"/>
              <a:t>()</a:t>
            </a:r>
          </a:p>
          <a:p>
            <a:pPr marL="342900" indent="-342900">
              <a:buFont typeface="Arial" panose="020B0604020202020204" pitchFamily="34" charset="0"/>
              <a:buChar char="•"/>
            </a:pPr>
            <a:r>
              <a:rPr lang="en-US" sz="2400" dirty="0"/>
              <a:t>df2 = </a:t>
            </a:r>
            <a:r>
              <a:rPr lang="en-US" sz="2400" dirty="0" err="1"/>
              <a:t>imputer.fit_transform</a:t>
            </a:r>
            <a:r>
              <a:rPr lang="en-US" sz="2400" dirty="0"/>
              <a:t>(df)</a:t>
            </a:r>
          </a:p>
        </p:txBody>
      </p:sp>
    </p:spTree>
    <p:extLst>
      <p:ext uri="{BB962C8B-B14F-4D97-AF65-F5344CB8AC3E}">
        <p14:creationId xmlns:p14="http://schemas.microsoft.com/office/powerpoint/2010/main" val="1839420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normAutofit/>
          </a:bodyPr>
          <a:lstStyle/>
          <a:p>
            <a:r>
              <a:rPr lang="en-US" dirty="0"/>
              <a:t>Box and Whisker Plots: Outlier Detection</a:t>
            </a:r>
          </a:p>
        </p:txBody>
      </p:sp>
      <p:sp>
        <p:nvSpPr>
          <p:cNvPr id="4" name="Slide Number Placeholder 3"/>
          <p:cNvSpPr>
            <a:spLocks noGrp="1"/>
          </p:cNvSpPr>
          <p:nvPr>
            <p:ph type="sldNum" sz="quarter" idx="12"/>
          </p:nvPr>
        </p:nvSpPr>
        <p:spPr/>
        <p:txBody>
          <a:bodyPr/>
          <a:lstStyle/>
          <a:p>
            <a:fld id="{B841CA95-E0BC-48B5-948A-ECC494EB4D84}" type="slidenum">
              <a:rPr lang="en-US" smtClean="0"/>
              <a:t>25</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7A3B8B-FCEE-B7CD-95EA-974BE4525981}"/>
                  </a:ext>
                </a:extLst>
              </p:cNvPr>
              <p:cNvSpPr txBox="1"/>
              <p:nvPr/>
            </p:nvSpPr>
            <p:spPr>
              <a:xfrm>
                <a:off x="1" y="877867"/>
                <a:ext cx="12191999" cy="5262979"/>
              </a:xfrm>
              <a:prstGeom prst="rect">
                <a:avLst/>
              </a:prstGeom>
              <a:noFill/>
            </p:spPr>
            <p:txBody>
              <a:bodyPr wrap="square">
                <a:spAutoFit/>
              </a:bodyPr>
              <a:lstStyle/>
              <a:p>
                <a:pPr marL="342900" indent="-342900">
                  <a:buFont typeface="Arial" panose="020B0604020202020204" pitchFamily="34" charset="0"/>
                  <a:buChar char="•"/>
                </a:pPr>
                <a:r>
                  <a:rPr lang="en-US" sz="2400" dirty="0"/>
                  <a:t>Box and Whisker Plots: Indication of how the values in the data are spread out</a:t>
                </a:r>
              </a:p>
              <a:p>
                <a:pPr marL="342900" indent="-342900">
                  <a:buFont typeface="Arial" panose="020B0604020202020204" pitchFamily="34" charset="0"/>
                  <a:buChar char="•"/>
                </a:pPr>
                <a:r>
                  <a:rPr lang="en-US" sz="2400" dirty="0"/>
                  <a:t>Displays the five-number summary of a set of data. The five-number summary is the minimum, first/lower quartile (Q1), median (Q2/ second quartile), third/upper quartile (Q3), and maximum</a:t>
                </a:r>
              </a:p>
              <a:p>
                <a:pPr marL="342900" indent="-342900">
                  <a:buFont typeface="Arial" panose="020B0604020202020204" pitchFamily="34" charset="0"/>
                  <a:buChar char="•"/>
                </a:pPr>
                <a:r>
                  <a:rPr lang="en-US" sz="2400" dirty="0"/>
                  <a:t>The difference between Q3 and Q1 is called the Inter-Quartile Range or IQR.</a:t>
                </a:r>
              </a:p>
              <a:p>
                <a:pPr marL="342900" indent="-342900">
                  <a:buFont typeface="Arial" panose="020B0604020202020204" pitchFamily="34" charset="0"/>
                  <a:buChar char="•"/>
                </a:pPr>
                <a:r>
                  <a:rPr lang="en-US" sz="2400" dirty="0">
                    <a:solidFill>
                      <a:srgbClr val="FF0000"/>
                    </a:solidFill>
                  </a:rPr>
                  <a:t>IQR = Q3 </a:t>
                </a:r>
                <a14:m>
                  <m:oMath xmlns:m="http://schemas.openxmlformats.org/officeDocument/2006/math">
                    <m:r>
                      <a:rPr lang="en-US" sz="2400" i="1" dirty="0" smtClean="0">
                        <a:solidFill>
                          <a:srgbClr val="FF0000"/>
                        </a:solidFill>
                        <a:latin typeface="Cambria Math" panose="02040503050406030204" pitchFamily="18" charset="0"/>
                      </a:rPr>
                      <m:t>−</m:t>
                    </m:r>
                  </m:oMath>
                </a14:m>
                <a:r>
                  <a:rPr lang="en-US" sz="2400" dirty="0">
                    <a:solidFill>
                      <a:srgbClr val="FF0000"/>
                    </a:solidFill>
                  </a:rPr>
                  <a:t> Q1</a:t>
                </a:r>
              </a:p>
              <a:p>
                <a:pPr marL="342900" indent="-342900">
                  <a:buFont typeface="Arial" panose="020B0604020202020204" pitchFamily="34" charset="0"/>
                  <a:buChar char="•"/>
                </a:pPr>
                <a:r>
                  <a:rPr lang="en-US" sz="2400" dirty="0"/>
                  <a:t>Any data point lying outside this range is considered as outlier. The range is as given below:</a:t>
                </a:r>
              </a:p>
              <a:p>
                <a:pPr marL="342900" indent="-342900">
                  <a:buFont typeface="Arial" panose="020B0604020202020204" pitchFamily="34" charset="0"/>
                  <a:buChar char="•"/>
                </a:pPr>
                <a:r>
                  <a:rPr lang="en-US" sz="2400" dirty="0"/>
                  <a:t>Lower Bound: (Q1 </a:t>
                </a:r>
                <a14:m>
                  <m:oMath xmlns:m="http://schemas.openxmlformats.org/officeDocument/2006/math">
                    <m:r>
                      <a:rPr lang="en-US" sz="2400" i="1" dirty="0" smtClean="0">
                        <a:solidFill>
                          <a:srgbClr val="FF0000"/>
                        </a:solidFill>
                        <a:latin typeface="Cambria Math" panose="02040503050406030204" pitchFamily="18" charset="0"/>
                      </a:rPr>
                      <m:t>−</m:t>
                    </m:r>
                  </m:oMath>
                </a14:m>
                <a:r>
                  <a:rPr lang="en-US" sz="2400" dirty="0"/>
                  <a:t> 1.5 × IQR)</a:t>
                </a:r>
              </a:p>
              <a:p>
                <a:pPr marL="342900" indent="-342900">
                  <a:buFont typeface="Arial" panose="020B0604020202020204" pitchFamily="34" charset="0"/>
                  <a:buChar char="•"/>
                </a:pPr>
                <a:r>
                  <a:rPr lang="en-US" sz="2400" dirty="0"/>
                  <a:t>Upper Bound: (Q3 + 1.5 × IQR)</a:t>
                </a:r>
              </a:p>
              <a:p>
                <a:pPr marL="342900" indent="-342900">
                  <a:buFont typeface="Arial" panose="020B0604020202020204" pitchFamily="34" charset="0"/>
                  <a:buChar char="•"/>
                </a:pPr>
                <a:r>
                  <a:rPr lang="en-US" sz="2400" dirty="0">
                    <a:solidFill>
                      <a:srgbClr val="FF0000"/>
                    </a:solidFill>
                  </a:rPr>
                  <a:t>Any data point less than the Lower Bound or more than the Upper Bound is considered as an outlier.</a:t>
                </a:r>
              </a:p>
              <a:p>
                <a:pPr marL="342900" indent="-342900">
                  <a:buFont typeface="Arial" panose="020B0604020202020204" pitchFamily="34" charset="0"/>
                  <a:buChar char="•"/>
                </a:pPr>
                <a:r>
                  <a:rPr lang="en-US" sz="2400" dirty="0"/>
                  <a:t>Draw box plot and </a:t>
                </a:r>
                <a:r>
                  <a:rPr lang="en-US" sz="2400"/>
                  <a:t>find outlier:</a:t>
                </a:r>
              </a:p>
              <a:p>
                <a:r>
                  <a:rPr lang="en-US" sz="2400"/>
                  <a:t>60</a:t>
                </a:r>
                <a:r>
                  <a:rPr lang="en-US" sz="2400" dirty="0"/>
                  <a:t>, 82, 82, 84, 88, 90, 90, 92, 93, 97</a:t>
                </a:r>
              </a:p>
              <a:p>
                <a:pPr marL="342900" indent="-342900">
                  <a:buFont typeface="Arial" panose="020B0604020202020204" pitchFamily="34" charset="0"/>
                  <a:buChar char="•"/>
                </a:pPr>
                <a:endParaRPr lang="en-US" sz="2400" dirty="0"/>
              </a:p>
            </p:txBody>
          </p:sp>
        </mc:Choice>
        <mc:Fallback xmlns="">
          <p:sp>
            <p:nvSpPr>
              <p:cNvPr id="8" name="TextBox 7">
                <a:extLst>
                  <a:ext uri="{FF2B5EF4-FFF2-40B4-BE49-F238E27FC236}">
                    <a16:creationId xmlns:a16="http://schemas.microsoft.com/office/drawing/2014/main" id="{577A3B8B-FCEE-B7CD-95EA-974BE4525981}"/>
                  </a:ext>
                </a:extLst>
              </p:cNvPr>
              <p:cNvSpPr txBox="1">
                <a:spLocks noRot="1" noChangeAspect="1" noMove="1" noResize="1" noEditPoints="1" noAdjustHandles="1" noChangeArrowheads="1" noChangeShapeType="1" noTextEdit="1"/>
              </p:cNvSpPr>
              <p:nvPr/>
            </p:nvSpPr>
            <p:spPr>
              <a:xfrm>
                <a:off x="1" y="877867"/>
                <a:ext cx="12191999" cy="5262979"/>
              </a:xfrm>
              <a:prstGeom prst="rect">
                <a:avLst/>
              </a:prstGeom>
              <a:blipFill>
                <a:blip r:embed="rId2"/>
                <a:stretch>
                  <a:fillRect l="-750" t="-92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22ACE50-D9D7-47B9-803A-AD2CEE1CD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0431" y="4639234"/>
            <a:ext cx="4591691" cy="2218765"/>
          </a:xfrm>
          <a:prstGeom prst="rect">
            <a:avLst/>
          </a:prstGeom>
        </p:spPr>
      </p:pic>
    </p:spTree>
    <p:extLst>
      <p:ext uri="{BB962C8B-B14F-4D97-AF65-F5344CB8AC3E}">
        <p14:creationId xmlns:p14="http://schemas.microsoft.com/office/powerpoint/2010/main" val="3843825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normAutofit/>
          </a:bodyPr>
          <a:lstStyle/>
          <a:p>
            <a:r>
              <a:rPr lang="en-US" dirty="0"/>
              <a:t>Box Plot: Skewness</a:t>
            </a:r>
          </a:p>
        </p:txBody>
      </p:sp>
      <p:sp>
        <p:nvSpPr>
          <p:cNvPr id="4" name="Slide Number Placeholder 3"/>
          <p:cNvSpPr>
            <a:spLocks noGrp="1"/>
          </p:cNvSpPr>
          <p:nvPr>
            <p:ph type="sldNum" sz="quarter" idx="12"/>
          </p:nvPr>
        </p:nvSpPr>
        <p:spPr/>
        <p:txBody>
          <a:bodyPr/>
          <a:lstStyle/>
          <a:p>
            <a:fld id="{B841CA95-E0BC-48B5-948A-ECC494EB4D84}" type="slidenum">
              <a:rPr lang="en-US" smtClean="0"/>
              <a:t>26</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7A3B8B-FCEE-B7CD-95EA-974BE4525981}"/>
                  </a:ext>
                </a:extLst>
              </p:cNvPr>
              <p:cNvSpPr txBox="1"/>
              <p:nvPr/>
            </p:nvSpPr>
            <p:spPr>
              <a:xfrm>
                <a:off x="1" y="877867"/>
                <a:ext cx="12191999" cy="3046988"/>
              </a:xfrm>
              <a:prstGeom prst="rect">
                <a:avLst/>
              </a:prstGeom>
              <a:noFill/>
            </p:spPr>
            <p:txBody>
              <a:bodyPr wrap="square">
                <a:spAutoFit/>
              </a:bodyPr>
              <a:lstStyle/>
              <a:p>
                <a:pPr marL="342900" indent="-342900">
                  <a:buFont typeface="Arial" panose="020B0604020202020204" pitchFamily="34" charset="0"/>
                  <a:buChar char="•"/>
                </a:pPr>
                <a:r>
                  <a:rPr lang="en-US" sz="2400" dirty="0"/>
                  <a:t>Symmetric distribution: left side of the distribution mirrors the right side. </a:t>
                </a:r>
              </a:p>
              <a:p>
                <a:pPr marL="342900" indent="-342900">
                  <a:buFont typeface="Arial" panose="020B0604020202020204" pitchFamily="34" charset="0"/>
                  <a:buChar char="•"/>
                </a:pPr>
                <a:r>
                  <a:rPr lang="en-US" sz="2400" dirty="0"/>
                  <a:t>A symmetric distribution is never skewed; skewness is zero</a:t>
                </a:r>
              </a:p>
              <a:p>
                <a:pPr marL="342900" indent="-342900">
                  <a:buFont typeface="Arial" panose="020B0604020202020204" pitchFamily="34" charset="0"/>
                  <a:buChar char="•"/>
                </a:pPr>
                <a:r>
                  <a:rPr lang="en-US" sz="2400" dirty="0"/>
                  <a:t>Symmetric distribution: mean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median </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a:t> mode</a:t>
                </a:r>
              </a:p>
              <a:p>
                <a:pPr marL="342900" indent="-342900">
                  <a:buFont typeface="Arial" panose="020B0604020202020204" pitchFamily="34" charset="0"/>
                  <a:buChar char="•"/>
                </a:pPr>
                <a:r>
                  <a:rPr lang="en-US" sz="2400" dirty="0"/>
                  <a:t>Skewness refers to the tendency of a distribution to be asymmetric.</a:t>
                </a:r>
              </a:p>
              <a:p>
                <a:pPr marL="342900" indent="-342900">
                  <a:buFont typeface="Arial" panose="020B0604020202020204" pitchFamily="34" charset="0"/>
                  <a:buChar char="•"/>
                </a:pPr>
                <a:r>
                  <a:rPr lang="en-US" sz="2400" dirty="0"/>
                  <a:t>Skewness is lack of symmetry</a:t>
                </a:r>
              </a:p>
              <a:p>
                <a:pPr marL="342900" indent="-342900">
                  <a:buFont typeface="Arial" panose="020B0604020202020204" pitchFamily="34" charset="0"/>
                  <a:buChar char="•"/>
                </a:pPr>
                <a:r>
                  <a:rPr lang="en-US" sz="2400" dirty="0"/>
                  <a:t>Positive skewness indicates a right-skewed/tailed distribution</a:t>
                </a:r>
              </a:p>
              <a:p>
                <a:pPr marL="342900" indent="-342900">
                  <a:buFont typeface="Arial" panose="020B0604020202020204" pitchFamily="34" charset="0"/>
                  <a:buChar char="•"/>
                </a:pPr>
                <a:r>
                  <a:rPr lang="en-US" sz="2400" dirty="0"/>
                  <a:t>Negative skewness indicates a left-skewed/</a:t>
                </a:r>
                <a:r>
                  <a:rPr lang="en-US" sz="2400"/>
                  <a:t>tailed </a:t>
                </a:r>
              </a:p>
              <a:p>
                <a:r>
                  <a:rPr lang="en-US" sz="2400"/>
                  <a:t>distribution</a:t>
                </a:r>
                <a:endParaRPr lang="en-US" sz="2400" dirty="0"/>
              </a:p>
            </p:txBody>
          </p:sp>
        </mc:Choice>
        <mc:Fallback xmlns="">
          <p:sp>
            <p:nvSpPr>
              <p:cNvPr id="8" name="TextBox 7">
                <a:extLst>
                  <a:ext uri="{FF2B5EF4-FFF2-40B4-BE49-F238E27FC236}">
                    <a16:creationId xmlns:a16="http://schemas.microsoft.com/office/drawing/2014/main" id="{577A3B8B-FCEE-B7CD-95EA-974BE4525981}"/>
                  </a:ext>
                </a:extLst>
              </p:cNvPr>
              <p:cNvSpPr txBox="1">
                <a:spLocks noRot="1" noChangeAspect="1" noMove="1" noResize="1" noEditPoints="1" noAdjustHandles="1" noChangeArrowheads="1" noChangeShapeType="1" noTextEdit="1"/>
              </p:cNvSpPr>
              <p:nvPr/>
            </p:nvSpPr>
            <p:spPr>
              <a:xfrm>
                <a:off x="1" y="877867"/>
                <a:ext cx="12191999" cy="3046988"/>
              </a:xfrm>
              <a:prstGeom prst="rect">
                <a:avLst/>
              </a:prstGeom>
              <a:blipFill>
                <a:blip r:embed="rId2"/>
                <a:stretch>
                  <a:fillRect l="-750" t="-1600" b="-360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22ACE50-D9D7-47B9-803A-AD2CEE1CD0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584140" y="3106272"/>
            <a:ext cx="4607859" cy="3751728"/>
          </a:xfrm>
          <a:prstGeom prst="rect">
            <a:avLst/>
          </a:prstGeom>
        </p:spPr>
      </p:pic>
    </p:spTree>
    <p:extLst>
      <p:ext uri="{BB962C8B-B14F-4D97-AF65-F5344CB8AC3E}">
        <p14:creationId xmlns:p14="http://schemas.microsoft.com/office/powerpoint/2010/main" val="2700574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922" y="1"/>
            <a:ext cx="10515600" cy="1072874"/>
          </a:xfrm>
        </p:spPr>
        <p:txBody>
          <a:bodyPr>
            <a:normAutofit/>
          </a:bodyPr>
          <a:lstStyle/>
          <a:p>
            <a:r>
              <a:rPr lang="en-US" dirty="0"/>
              <a:t>Detecting and Treating Outliers</a:t>
            </a:r>
          </a:p>
        </p:txBody>
      </p:sp>
      <p:sp>
        <p:nvSpPr>
          <p:cNvPr id="4" name="Slide Number Placeholder 3"/>
          <p:cNvSpPr>
            <a:spLocks noGrp="1"/>
          </p:cNvSpPr>
          <p:nvPr>
            <p:ph type="sldNum" sz="quarter" idx="12"/>
          </p:nvPr>
        </p:nvSpPr>
        <p:spPr/>
        <p:txBody>
          <a:bodyPr/>
          <a:lstStyle/>
          <a:p>
            <a:fld id="{B841CA95-E0BC-48B5-948A-ECC494EB4D84}" type="slidenum">
              <a:rPr lang="en-US" smtClean="0"/>
              <a:t>27</a:t>
            </a:fld>
            <a:endParaRPr lang="en-US"/>
          </a:p>
        </p:txBody>
      </p:sp>
      <p:sp>
        <p:nvSpPr>
          <p:cNvPr id="8" name="TextBox 7">
            <a:extLst>
              <a:ext uri="{FF2B5EF4-FFF2-40B4-BE49-F238E27FC236}">
                <a16:creationId xmlns:a16="http://schemas.microsoft.com/office/drawing/2014/main" id="{577A3B8B-FCEE-B7CD-95EA-974BE4525981}"/>
              </a:ext>
            </a:extLst>
          </p:cNvPr>
          <p:cNvSpPr txBox="1"/>
          <p:nvPr/>
        </p:nvSpPr>
        <p:spPr>
          <a:xfrm>
            <a:off x="1" y="877867"/>
            <a:ext cx="12191999" cy="4524315"/>
          </a:xfrm>
          <a:prstGeom prst="rect">
            <a:avLst/>
          </a:prstGeom>
          <a:noFill/>
        </p:spPr>
        <p:txBody>
          <a:bodyPr wrap="square">
            <a:spAutoFit/>
          </a:bodyPr>
          <a:lstStyle/>
          <a:p>
            <a:pPr marL="342900" indent="-342900">
              <a:buFont typeface="Arial" panose="020B0604020202020204" pitchFamily="34" charset="0"/>
              <a:buChar char="•"/>
            </a:pPr>
            <a:r>
              <a:rPr lang="en-US" sz="2400" dirty="0"/>
              <a:t>Outliers are those data points which </a:t>
            </a:r>
            <a:r>
              <a:rPr lang="en-US" sz="2400" dirty="0">
                <a:solidFill>
                  <a:srgbClr val="FF0000"/>
                </a:solidFill>
              </a:rPr>
              <a:t>differs significantly from other observations </a:t>
            </a:r>
            <a:r>
              <a:rPr lang="en-US" sz="2400" dirty="0"/>
              <a:t>present in given dataset</a:t>
            </a:r>
          </a:p>
          <a:p>
            <a:pPr marL="342900" indent="-342900">
              <a:buFont typeface="Arial" panose="020B0604020202020204" pitchFamily="34" charset="0"/>
              <a:buChar char="•"/>
            </a:pPr>
            <a:r>
              <a:rPr lang="en-US" sz="2400" dirty="0"/>
              <a:t>An outlier may occur due to the </a:t>
            </a:r>
            <a:r>
              <a:rPr lang="en-US" sz="2400" dirty="0">
                <a:solidFill>
                  <a:srgbClr val="FF0000"/>
                </a:solidFill>
              </a:rPr>
              <a:t>variability</a:t>
            </a:r>
            <a:r>
              <a:rPr lang="en-US" sz="2400" dirty="0"/>
              <a:t> in the data, or due to </a:t>
            </a:r>
            <a:r>
              <a:rPr lang="en-US" sz="2400" dirty="0">
                <a:solidFill>
                  <a:srgbClr val="FF0000"/>
                </a:solidFill>
              </a:rPr>
              <a:t>experimental/human error</a:t>
            </a:r>
          </a:p>
          <a:p>
            <a:endParaRPr lang="en-US" sz="2400" dirty="0">
              <a:solidFill>
                <a:srgbClr val="FF0000"/>
              </a:solidFill>
            </a:endParaRPr>
          </a:p>
          <a:p>
            <a:pPr marL="457200" indent="-457200">
              <a:buFont typeface="+mj-lt"/>
              <a:buAutoNum type="arabicPeriod"/>
            </a:pPr>
            <a:r>
              <a:rPr lang="en-US" sz="2400" dirty="0"/>
              <a:t>Deleting observations: Trimming/ Removing the Outliers</a:t>
            </a:r>
          </a:p>
          <a:p>
            <a:pPr marL="457200" indent="-457200">
              <a:buFont typeface="+mj-lt"/>
              <a:buAutoNum type="arabicPeriod"/>
            </a:pPr>
            <a:r>
              <a:rPr lang="en-US" sz="2400" dirty="0"/>
              <a:t>Log Transforming values</a:t>
            </a:r>
          </a:p>
          <a:p>
            <a:pPr marL="457200" indent="-457200">
              <a:buFont typeface="+mj-lt"/>
              <a:buAutoNum type="arabicPeriod"/>
            </a:pPr>
            <a:r>
              <a:rPr lang="en-US" sz="2400" dirty="0"/>
              <a:t>Mean/median Imputation</a:t>
            </a:r>
          </a:p>
          <a:p>
            <a:pPr marL="457200" indent="-457200">
              <a:buFont typeface="+mj-lt"/>
              <a:buAutoNum type="arabicPeriod"/>
            </a:pPr>
            <a:r>
              <a:rPr lang="en-US" sz="2400" dirty="0"/>
              <a:t>Quantile based flooring and capping: In this technique, the outlier is capped at a certain value above the 90th percentile value or floored at a factor below the 10th percentile value. </a:t>
            </a:r>
            <a:r>
              <a:rPr lang="en-US" sz="2400" dirty="0">
                <a:solidFill>
                  <a:srgbClr val="FF0000"/>
                </a:solidFill>
              </a:rPr>
              <a:t>The data points that are less than the 10th percentile are placed with the 10th percentile value, and the data points that are greater than the 90th percentile are replaced with the 90th percentile value</a:t>
            </a:r>
          </a:p>
        </p:txBody>
      </p:sp>
    </p:spTree>
    <p:extLst>
      <p:ext uri="{BB962C8B-B14F-4D97-AF65-F5344CB8AC3E}">
        <p14:creationId xmlns:p14="http://schemas.microsoft.com/office/powerpoint/2010/main" val="3284705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a column in a Data Frame</a:t>
            </a:r>
          </a:p>
        </p:txBody>
      </p:sp>
      <p:sp>
        <p:nvSpPr>
          <p:cNvPr id="3" name="Content Placeholder 2"/>
          <p:cNvSpPr>
            <a:spLocks noGrp="1"/>
          </p:cNvSpPr>
          <p:nvPr>
            <p:ph idx="1"/>
          </p:nvPr>
        </p:nvSpPr>
        <p:spPr/>
        <p:txBody>
          <a:bodyPr/>
          <a:lstStyle/>
          <a:p>
            <a:pPr marL="0" indent="0">
              <a:buNone/>
            </a:pPr>
            <a:r>
              <a:rPr lang="en-US" i="1" dirty="0"/>
              <a:t>Method 1:   </a:t>
            </a:r>
            <a:r>
              <a:rPr lang="en-US" dirty="0"/>
              <a:t>Subset the data frame using column name:</a:t>
            </a:r>
          </a:p>
          <a:p>
            <a:pPr marL="0" indent="0">
              <a:buNone/>
            </a:pPr>
            <a:r>
              <a:rPr lang="en-US" dirty="0"/>
              <a:t>                      </a:t>
            </a:r>
            <a:r>
              <a:rPr lang="en-US" dirty="0" err="1"/>
              <a:t>df</a:t>
            </a:r>
            <a:r>
              <a:rPr lang="en-US" dirty="0"/>
              <a:t>[‘Age']</a:t>
            </a:r>
          </a:p>
          <a:p>
            <a:pPr marL="0" indent="0">
              <a:buNone/>
            </a:pPr>
            <a:endParaRPr lang="en-US" dirty="0"/>
          </a:p>
          <a:p>
            <a:pPr marL="0" indent="0">
              <a:buNone/>
            </a:pPr>
            <a:r>
              <a:rPr lang="en-US" i="1" dirty="0"/>
              <a:t>Method 2</a:t>
            </a:r>
            <a:r>
              <a:rPr lang="en-US" dirty="0"/>
              <a:t>:   Use the column name as an attribute:</a:t>
            </a:r>
          </a:p>
          <a:p>
            <a:pPr marL="0" indent="0">
              <a:buNone/>
            </a:pPr>
            <a:r>
              <a:rPr lang="en-US" dirty="0"/>
              <a:t>                      </a:t>
            </a:r>
            <a:r>
              <a:rPr lang="en-US" dirty="0" err="1"/>
              <a:t>df.Age</a:t>
            </a:r>
            <a:endParaRPr lang="en-US" dirty="0"/>
          </a:p>
          <a:p>
            <a:pPr marL="0" indent="0">
              <a:buNone/>
            </a:pPr>
            <a:endParaRPr lang="en-US" dirty="0"/>
          </a:p>
          <a:p>
            <a:pPr marL="0" indent="0">
              <a:buNone/>
            </a:pPr>
            <a:r>
              <a:rPr lang="en-US" dirty="0"/>
              <a:t>            </a:t>
            </a:r>
            <a:r>
              <a:rPr lang="en-US" sz="2000" i="1" dirty="0">
                <a:solidFill>
                  <a:schemeClr val="tx1">
                    <a:lumMod val="50000"/>
                    <a:lumOff val="50000"/>
                  </a:schemeClr>
                </a:solidFill>
              </a:rPr>
              <a:t>Note:</a:t>
            </a:r>
            <a:r>
              <a:rPr lang="en-US" sz="2000" dirty="0">
                <a:solidFill>
                  <a:schemeClr val="tx1">
                    <a:lumMod val="50000"/>
                    <a:lumOff val="50000"/>
                  </a:schemeClr>
                </a:solidFill>
              </a:rPr>
              <a:t> there is an attribute </a:t>
            </a:r>
            <a:r>
              <a:rPr lang="en-US" sz="2000" i="1" dirty="0">
                <a:solidFill>
                  <a:schemeClr val="tx1">
                    <a:lumMod val="50000"/>
                    <a:lumOff val="50000"/>
                  </a:schemeClr>
                </a:solidFill>
              </a:rPr>
              <a:t>rank</a:t>
            </a:r>
            <a:r>
              <a:rPr lang="en-US" sz="2000" dirty="0">
                <a:solidFill>
                  <a:schemeClr val="tx1">
                    <a:lumMod val="50000"/>
                    <a:lumOff val="50000"/>
                  </a:schemeClr>
                </a:solidFill>
              </a:rPr>
              <a:t> for pandas data frames, so to select a column with a name "rank" we should use method 1.</a:t>
            </a:r>
          </a:p>
        </p:txBody>
      </p:sp>
      <p:sp>
        <p:nvSpPr>
          <p:cNvPr id="4" name="Slide Number Placeholder 3"/>
          <p:cNvSpPr>
            <a:spLocks noGrp="1"/>
          </p:cNvSpPr>
          <p:nvPr>
            <p:ph type="sldNum" sz="quarter" idx="12"/>
          </p:nvPr>
        </p:nvSpPr>
        <p:spPr/>
        <p:txBody>
          <a:bodyPr/>
          <a:lstStyle/>
          <a:p>
            <a:fld id="{B841CA95-E0BC-48B5-948A-ECC494EB4D84}" type="slidenum">
              <a:rPr lang="en-US" smtClean="0"/>
              <a:t>28</a:t>
            </a:fld>
            <a:endParaRPr lang="en-US"/>
          </a:p>
        </p:txBody>
      </p:sp>
    </p:spTree>
    <p:extLst>
      <p:ext uri="{BB962C8B-B14F-4D97-AF65-F5344CB8AC3E}">
        <p14:creationId xmlns:p14="http://schemas.microsoft.com/office/powerpoint/2010/main" val="3600380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      Hands-on exercises</a:t>
            </a:r>
          </a:p>
        </p:txBody>
      </p:sp>
      <p:sp>
        <p:nvSpPr>
          <p:cNvPr id="4" name="Slide Number Placeholder 3"/>
          <p:cNvSpPr>
            <a:spLocks noGrp="1"/>
          </p:cNvSpPr>
          <p:nvPr>
            <p:ph type="sldNum" sz="quarter" idx="12"/>
          </p:nvPr>
        </p:nvSpPr>
        <p:spPr/>
        <p:txBody>
          <a:bodyPr/>
          <a:lstStyle/>
          <a:p>
            <a:fld id="{B841CA95-E0BC-48B5-948A-ECC494EB4D84}" type="slidenum">
              <a:rPr lang="en-US" smtClean="0"/>
              <a:t>29</a:t>
            </a:fld>
            <a:endParaRPr lang="en-US"/>
          </a:p>
        </p:txBody>
      </p:sp>
      <p:sp>
        <p:nvSpPr>
          <p:cNvPr id="3" name="TextBox 2"/>
          <p:cNvSpPr txBox="1"/>
          <p:nvPr/>
        </p:nvSpPr>
        <p:spPr>
          <a:xfrm>
            <a:off x="1004341" y="2013679"/>
            <a:ext cx="10418164" cy="2492990"/>
          </a:xfrm>
          <a:prstGeom prst="rect">
            <a:avLst/>
          </a:prstGeom>
          <a:noFill/>
        </p:spPr>
        <p:txBody>
          <a:bodyPr wrap="square" rtlCol="0">
            <a:spAutoFit/>
          </a:bodyPr>
          <a:lstStyle/>
          <a:p>
            <a:pPr marL="285750" indent="-285750">
              <a:lnSpc>
                <a:spcPct val="250000"/>
              </a:lnSpc>
              <a:buFont typeface="Wingdings" panose="05000000000000000000" pitchFamily="2" charset="2"/>
              <a:buChar char="ü"/>
            </a:pPr>
            <a:r>
              <a:rPr lang="en-US" sz="2400" dirty="0"/>
              <a:t>Calculate the basic statistics for the </a:t>
            </a:r>
            <a:r>
              <a:rPr lang="en-US" sz="2400" i="1" dirty="0"/>
              <a:t>salary</a:t>
            </a:r>
            <a:r>
              <a:rPr lang="en-US" sz="2400" dirty="0"/>
              <a:t> column;</a:t>
            </a:r>
          </a:p>
          <a:p>
            <a:pPr marL="285750" indent="-285750">
              <a:lnSpc>
                <a:spcPct val="200000"/>
              </a:lnSpc>
              <a:buFont typeface="Wingdings" panose="05000000000000000000" pitchFamily="2" charset="2"/>
              <a:buChar char="ü"/>
            </a:pPr>
            <a:r>
              <a:rPr lang="en-US" sz="2400" dirty="0"/>
              <a:t>Find how many values in the </a:t>
            </a:r>
            <a:r>
              <a:rPr lang="en-US" sz="2400" i="1" dirty="0"/>
              <a:t>salary</a:t>
            </a:r>
            <a:r>
              <a:rPr lang="en-US" sz="2400" dirty="0"/>
              <a:t> column (use </a:t>
            </a:r>
            <a:r>
              <a:rPr lang="en-US" sz="2400" i="1" dirty="0"/>
              <a:t>count</a:t>
            </a:r>
            <a:r>
              <a:rPr lang="en-US" sz="2400" dirty="0"/>
              <a:t> method);</a:t>
            </a:r>
          </a:p>
          <a:p>
            <a:pPr marL="285750" indent="-285750">
              <a:lnSpc>
                <a:spcPct val="200000"/>
              </a:lnSpc>
              <a:buFont typeface="Wingdings" panose="05000000000000000000" pitchFamily="2" charset="2"/>
              <a:buChar char="ü"/>
            </a:pPr>
            <a:r>
              <a:rPr lang="en-US" sz="2400" dirty="0"/>
              <a:t>Calculate the average salary;</a:t>
            </a:r>
            <a:endParaRPr lang="en-US" sz="2400" dirty="0">
              <a:solidFill>
                <a:schemeClr val="tx1">
                  <a:lumMod val="50000"/>
                  <a:lumOff val="50000"/>
                </a:schemeClr>
              </a:solidFill>
            </a:endParaRPr>
          </a:p>
        </p:txBody>
      </p:sp>
      <p:grpSp>
        <p:nvGrpSpPr>
          <p:cNvPr id="24" name="Group 23"/>
          <p:cNvGrpSpPr/>
          <p:nvPr/>
        </p:nvGrpSpPr>
        <p:grpSpPr>
          <a:xfrm rot="-8100000">
            <a:off x="1184980" y="754334"/>
            <a:ext cx="87443" cy="547143"/>
            <a:chOff x="2136098" y="5086662"/>
            <a:chExt cx="87443" cy="547143"/>
          </a:xfrm>
        </p:grpSpPr>
        <p:cxnSp>
          <p:nvCxnSpPr>
            <p:cNvPr id="11" name="Straight Connector 10"/>
            <p:cNvCxnSpPr/>
            <p:nvPr/>
          </p:nvCxnSpPr>
          <p:spPr>
            <a:xfrm flipH="1">
              <a:off x="2181067" y="5206584"/>
              <a:ext cx="2502" cy="354767"/>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2136098" y="5086662"/>
              <a:ext cx="87443" cy="8783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flipH="1">
              <a:off x="2178566" y="5581339"/>
              <a:ext cx="2" cy="52466"/>
            </a:xfrm>
            <a:prstGeom prst="line">
              <a:avLst/>
            </a:prstGeom>
            <a:ln w="79375"/>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1018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a:t>
            </a:r>
            <a:r>
              <a:rPr lang="en-US" i="1" dirty="0" err="1"/>
              <a:t>groupby</a:t>
            </a:r>
            <a:r>
              <a:rPr lang="en-US" dirty="0"/>
              <a:t> method</a:t>
            </a:r>
          </a:p>
        </p:txBody>
      </p:sp>
      <p:sp>
        <p:nvSpPr>
          <p:cNvPr id="4" name="Slide Number Placeholder 3"/>
          <p:cNvSpPr>
            <a:spLocks noGrp="1"/>
          </p:cNvSpPr>
          <p:nvPr>
            <p:ph type="sldNum" sz="quarter" idx="12"/>
          </p:nvPr>
        </p:nvSpPr>
        <p:spPr/>
        <p:txBody>
          <a:bodyPr/>
          <a:lstStyle/>
          <a:p>
            <a:fld id="{B841CA95-E0BC-48B5-948A-ECC494EB4D84}" type="slidenum">
              <a:rPr lang="en-US" smtClean="0"/>
              <a:t>30</a:t>
            </a:fld>
            <a:endParaRPr lang="en-US"/>
          </a:p>
        </p:txBody>
      </p:sp>
      <p:sp>
        <p:nvSpPr>
          <p:cNvPr id="12" name="TextBox 11"/>
          <p:cNvSpPr txBox="1"/>
          <p:nvPr/>
        </p:nvSpPr>
        <p:spPr>
          <a:xfrm>
            <a:off x="1004341" y="1361272"/>
            <a:ext cx="10418164" cy="2123658"/>
          </a:xfrm>
          <a:prstGeom prst="rect">
            <a:avLst/>
          </a:prstGeom>
          <a:noFill/>
        </p:spPr>
        <p:txBody>
          <a:bodyPr wrap="square" rtlCol="0">
            <a:spAutoFit/>
          </a:bodyPr>
          <a:lstStyle/>
          <a:p>
            <a:pPr>
              <a:lnSpc>
                <a:spcPct val="250000"/>
              </a:lnSpc>
            </a:pPr>
            <a:r>
              <a:rPr lang="en-US" sz="2400" dirty="0"/>
              <a:t>Using "group by" method we can:</a:t>
            </a:r>
          </a:p>
          <a:p>
            <a:pPr marL="800100" lvl="1" indent="-342900">
              <a:buFont typeface="Arial" panose="020B0604020202020204" pitchFamily="34" charset="0"/>
              <a:buChar char="•"/>
            </a:pPr>
            <a:r>
              <a:rPr lang="en-US" sz="2400" dirty="0"/>
              <a:t>Split the data into groups based on some criteria</a:t>
            </a:r>
          </a:p>
          <a:p>
            <a:pPr marL="800100" lvl="1" indent="-342900">
              <a:buFont typeface="Arial" panose="020B0604020202020204" pitchFamily="34" charset="0"/>
              <a:buChar char="•"/>
            </a:pPr>
            <a:r>
              <a:rPr lang="en-US" sz="2400" dirty="0"/>
              <a:t>Calculate statistics (or apply a function) to each group</a:t>
            </a:r>
          </a:p>
          <a:p>
            <a:pPr marL="800100" lvl="1" indent="-342900">
              <a:buFont typeface="Arial" panose="020B0604020202020204" pitchFamily="34" charset="0"/>
              <a:buChar char="•"/>
            </a:pPr>
            <a:r>
              <a:rPr lang="en-US" sz="2400" dirty="0"/>
              <a:t>Similar to </a:t>
            </a:r>
            <a:r>
              <a:rPr lang="en-US" sz="2400" dirty="0" err="1"/>
              <a:t>dplyr</a:t>
            </a:r>
            <a:r>
              <a:rPr lang="en-US" sz="2400" dirty="0"/>
              <a:t>() function in R</a:t>
            </a:r>
          </a:p>
        </p:txBody>
      </p:sp>
      <p:sp>
        <p:nvSpPr>
          <p:cNvPr id="13" name="TextBox 12"/>
          <p:cNvSpPr txBox="1"/>
          <p:nvPr/>
        </p:nvSpPr>
        <p:spPr>
          <a:xfrm>
            <a:off x="172201" y="3562583"/>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18091" y="3562583"/>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#Group data using rank</a:t>
            </a:r>
          </a:p>
          <a:p>
            <a:r>
              <a:rPr lang="en-US" dirty="0" err="1">
                <a:solidFill>
                  <a:schemeClr val="bg2">
                    <a:lumMod val="25000"/>
                  </a:schemeClr>
                </a:solidFill>
                <a:latin typeface="Courier New" panose="02070309020205020404" pitchFamily="49" charset="0"/>
                <a:cs typeface="Courier New" panose="02070309020205020404" pitchFamily="49" charset="0"/>
              </a:rPr>
              <a:t>df_rank</a:t>
            </a:r>
            <a:r>
              <a:rPr lang="en-US" dirty="0">
                <a:solidFill>
                  <a:schemeClr val="bg2">
                    <a:lumMod val="25000"/>
                  </a:schemeClr>
                </a:solidFill>
                <a:latin typeface="Courier New" panose="02070309020205020404" pitchFamily="49" charset="0"/>
                <a:cs typeface="Courier New" panose="02070309020205020404" pitchFamily="49" charset="0"/>
              </a:rPr>
              <a:t> = </a:t>
            </a:r>
            <a:r>
              <a:rPr lang="en-US" dirty="0" err="1">
                <a:solidFill>
                  <a:schemeClr val="bg2">
                    <a:lumMod val="25000"/>
                  </a:schemeClr>
                </a:solidFill>
                <a:latin typeface="Courier New" panose="02070309020205020404" pitchFamily="49" charset="0"/>
                <a:cs typeface="Courier New" panose="02070309020205020404" pitchFamily="49" charset="0"/>
              </a:rPr>
              <a:t>df.groupby</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'rank'</a:t>
            </a:r>
            <a:r>
              <a:rPr lang="en-US" dirty="0">
                <a:solidFill>
                  <a:schemeClr val="accent6">
                    <a:lumMod val="75000"/>
                  </a:schemeClr>
                </a:solidFill>
                <a:latin typeface="Courier New" panose="02070309020205020404" pitchFamily="49" charset="0"/>
                <a:cs typeface="Courier New" panose="02070309020205020404" pitchFamily="49" charset="0"/>
              </a:rPr>
              <a:t>])</a:t>
            </a:r>
            <a:endParaRPr lang="en-US" dirty="0">
              <a:solidFill>
                <a:schemeClr val="bg2">
                  <a:lumMod val="25000"/>
                </a:schemeClr>
              </a:solidFill>
              <a:latin typeface="Courier New" panose="02070309020205020404" pitchFamily="49" charset="0"/>
              <a:cs typeface="Courier New" panose="02070309020205020404" pitchFamily="49" charset="0"/>
            </a:endParaRPr>
          </a:p>
        </p:txBody>
      </p:sp>
      <p:sp>
        <p:nvSpPr>
          <p:cNvPr id="7" name="TextBox 6"/>
          <p:cNvSpPr txBox="1"/>
          <p:nvPr/>
        </p:nvSpPr>
        <p:spPr>
          <a:xfrm>
            <a:off x="165354" y="4403350"/>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8" name="TextBox 7"/>
          <p:cNvSpPr txBox="1"/>
          <p:nvPr/>
        </p:nvSpPr>
        <p:spPr>
          <a:xfrm>
            <a:off x="1611244" y="4403350"/>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#Calculate mean value for each numeric column per each group</a:t>
            </a:r>
          </a:p>
          <a:p>
            <a:r>
              <a:rPr lang="en-US" dirty="0" err="1">
                <a:solidFill>
                  <a:schemeClr val="bg2">
                    <a:lumMod val="25000"/>
                  </a:schemeClr>
                </a:solidFill>
                <a:latin typeface="Courier New" panose="02070309020205020404" pitchFamily="49" charset="0"/>
                <a:cs typeface="Courier New" panose="02070309020205020404" pitchFamily="49" charset="0"/>
              </a:rPr>
              <a:t>df_rank.mean</a:t>
            </a:r>
            <a:r>
              <a:rPr lang="en-US" dirty="0">
                <a:solidFill>
                  <a:schemeClr val="bg2">
                    <a:lumMod val="25000"/>
                  </a:schemeClr>
                </a:solidFill>
                <a:latin typeface="Courier New" panose="02070309020205020404" pitchFamily="49" charset="0"/>
                <a:cs typeface="Courier New" panose="02070309020205020404" pitchFamily="49" charset="0"/>
              </a:rPr>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1244" y="5244117"/>
            <a:ext cx="3185436" cy="1524132"/>
          </a:xfrm>
          <a:prstGeom prst="rect">
            <a:avLst/>
          </a:prstGeom>
        </p:spPr>
      </p:pic>
    </p:spTree>
    <p:extLst>
      <p:ext uri="{BB962C8B-B14F-4D97-AF65-F5344CB8AC3E}">
        <p14:creationId xmlns:p14="http://schemas.microsoft.com/office/powerpoint/2010/main" val="3009417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a:t>
            </a:r>
            <a:r>
              <a:rPr lang="en-US" i="1" dirty="0" err="1"/>
              <a:t>groupby</a:t>
            </a:r>
            <a:r>
              <a:rPr lang="en-US" dirty="0"/>
              <a:t> method</a:t>
            </a:r>
          </a:p>
        </p:txBody>
      </p:sp>
      <p:sp>
        <p:nvSpPr>
          <p:cNvPr id="4" name="Slide Number Placeholder 3"/>
          <p:cNvSpPr>
            <a:spLocks noGrp="1"/>
          </p:cNvSpPr>
          <p:nvPr>
            <p:ph type="sldNum" sz="quarter" idx="12"/>
          </p:nvPr>
        </p:nvSpPr>
        <p:spPr/>
        <p:txBody>
          <a:bodyPr/>
          <a:lstStyle/>
          <a:p>
            <a:fld id="{B841CA95-E0BC-48B5-948A-ECC494EB4D84}" type="slidenum">
              <a:rPr lang="en-US" smtClean="0"/>
              <a:t>31</a:t>
            </a:fld>
            <a:endParaRPr lang="en-US"/>
          </a:p>
        </p:txBody>
      </p:sp>
      <p:sp>
        <p:nvSpPr>
          <p:cNvPr id="12" name="TextBox 11"/>
          <p:cNvSpPr txBox="1"/>
          <p:nvPr/>
        </p:nvSpPr>
        <p:spPr>
          <a:xfrm>
            <a:off x="1004341" y="2013679"/>
            <a:ext cx="10418164" cy="866071"/>
          </a:xfrm>
          <a:prstGeom prst="rect">
            <a:avLst/>
          </a:prstGeom>
          <a:noFill/>
        </p:spPr>
        <p:txBody>
          <a:bodyPr wrap="square" rtlCol="0">
            <a:spAutoFit/>
          </a:bodyPr>
          <a:lstStyle/>
          <a:p>
            <a:pPr>
              <a:lnSpc>
                <a:spcPct val="250000"/>
              </a:lnSpc>
            </a:pPr>
            <a:r>
              <a:rPr lang="en-US" sz="2400" dirty="0"/>
              <a:t>Once </a:t>
            </a:r>
            <a:r>
              <a:rPr lang="en-US" sz="2400" dirty="0" err="1"/>
              <a:t>groupby</a:t>
            </a:r>
            <a:r>
              <a:rPr lang="en-US" sz="2400" dirty="0"/>
              <a:t> object is create we can calculate various statistics for each group:</a:t>
            </a:r>
          </a:p>
        </p:txBody>
      </p:sp>
      <p:sp>
        <p:nvSpPr>
          <p:cNvPr id="13" name="TextBox 12"/>
          <p:cNvSpPr txBox="1"/>
          <p:nvPr/>
        </p:nvSpPr>
        <p:spPr>
          <a:xfrm>
            <a:off x="203023" y="3244085"/>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3244085"/>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#Calculate mean salary for each professor rank:</a:t>
            </a:r>
          </a:p>
          <a:p>
            <a:r>
              <a:rPr lang="en-US" dirty="0" err="1">
                <a:solidFill>
                  <a:schemeClr val="bg2">
                    <a:lumMod val="25000"/>
                  </a:schemeClr>
                </a:solidFill>
                <a:latin typeface="Courier New" panose="02070309020205020404" pitchFamily="49" charset="0"/>
                <a:cs typeface="Courier New" panose="02070309020205020404" pitchFamily="49" charset="0"/>
              </a:rPr>
              <a:t>df.groupby</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'rank'</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'salary'</a:t>
            </a:r>
            <a:r>
              <a:rPr lang="en-US" dirty="0">
                <a:latin typeface="Courier New" panose="02070309020205020404" pitchFamily="49" charset="0"/>
                <a:cs typeface="Courier New" panose="02070309020205020404" pitchFamily="49" charset="0"/>
              </a:rPr>
              <a:t>]].mean()</a:t>
            </a:r>
          </a:p>
        </p:txBody>
      </p:sp>
      <p:sp>
        <p:nvSpPr>
          <p:cNvPr id="3" name="Rectangle 2"/>
          <p:cNvSpPr/>
          <p:nvPr/>
        </p:nvSpPr>
        <p:spPr>
          <a:xfrm>
            <a:off x="1648913" y="5935512"/>
            <a:ext cx="10217739" cy="646331"/>
          </a:xfrm>
          <a:prstGeom prst="rect">
            <a:avLst/>
          </a:prstGeom>
        </p:spPr>
        <p:txBody>
          <a:bodyPr wrap="square">
            <a:spAutoFit/>
          </a:bodyPr>
          <a:lstStyle/>
          <a:p>
            <a:r>
              <a:rPr lang="en-US" i="1" dirty="0">
                <a:solidFill>
                  <a:schemeClr val="tx1">
                    <a:lumMod val="50000"/>
                    <a:lumOff val="50000"/>
                  </a:schemeClr>
                </a:solidFill>
              </a:rPr>
              <a:t>Note:</a:t>
            </a:r>
            <a:r>
              <a:rPr lang="en-US" dirty="0">
                <a:solidFill>
                  <a:schemeClr val="tx1">
                    <a:lumMod val="50000"/>
                    <a:lumOff val="50000"/>
                  </a:schemeClr>
                </a:solidFill>
              </a:rPr>
              <a:t> If single brackets are used to specify the column (e.g. salary), then the output is Pandas Series object. When double brackets are used the output is a Data Frame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913" y="4058122"/>
            <a:ext cx="1928027" cy="1432684"/>
          </a:xfrm>
          <a:prstGeom prst="rect">
            <a:avLst/>
          </a:prstGeom>
        </p:spPr>
      </p:pic>
    </p:spTree>
    <p:extLst>
      <p:ext uri="{BB962C8B-B14F-4D97-AF65-F5344CB8AC3E}">
        <p14:creationId xmlns:p14="http://schemas.microsoft.com/office/powerpoint/2010/main" val="401138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a:t>
            </a:r>
            <a:r>
              <a:rPr lang="en-US" i="1" dirty="0" err="1"/>
              <a:t>groupby</a:t>
            </a:r>
            <a:r>
              <a:rPr lang="en-US" dirty="0"/>
              <a:t> method</a:t>
            </a:r>
          </a:p>
        </p:txBody>
      </p:sp>
      <p:sp>
        <p:nvSpPr>
          <p:cNvPr id="4" name="Slide Number Placeholder 3"/>
          <p:cNvSpPr>
            <a:spLocks noGrp="1"/>
          </p:cNvSpPr>
          <p:nvPr>
            <p:ph type="sldNum" sz="quarter" idx="12"/>
          </p:nvPr>
        </p:nvSpPr>
        <p:spPr/>
        <p:txBody>
          <a:bodyPr/>
          <a:lstStyle/>
          <a:p>
            <a:fld id="{B841CA95-E0BC-48B5-948A-ECC494EB4D84}" type="slidenum">
              <a:rPr lang="en-US" smtClean="0"/>
              <a:t>32</a:t>
            </a:fld>
            <a:endParaRPr lang="en-US"/>
          </a:p>
        </p:txBody>
      </p:sp>
      <p:sp>
        <p:nvSpPr>
          <p:cNvPr id="12" name="TextBox 11"/>
          <p:cNvSpPr txBox="1"/>
          <p:nvPr/>
        </p:nvSpPr>
        <p:spPr>
          <a:xfrm>
            <a:off x="1004341" y="2013679"/>
            <a:ext cx="10418164" cy="3416320"/>
          </a:xfrm>
          <a:prstGeom prst="rect">
            <a:avLst/>
          </a:prstGeom>
          <a:noFill/>
        </p:spPr>
        <p:txBody>
          <a:bodyPr wrap="square" rtlCol="0">
            <a:spAutoFit/>
          </a:bodyPr>
          <a:lstStyle/>
          <a:p>
            <a:pPr>
              <a:lnSpc>
                <a:spcPct val="250000"/>
              </a:lnSpc>
            </a:pPr>
            <a:r>
              <a:rPr lang="en-US" sz="2400" i="1" dirty="0" err="1"/>
              <a:t>groupby</a:t>
            </a:r>
            <a:r>
              <a:rPr lang="en-US" sz="2400" dirty="0"/>
              <a:t> performance notes:</a:t>
            </a:r>
          </a:p>
          <a:p>
            <a:pPr lvl="1"/>
            <a:r>
              <a:rPr lang="en-US" sz="2400" dirty="0"/>
              <a:t>- no grouping/splitting occurs until it's needed. Creating the </a:t>
            </a:r>
            <a:r>
              <a:rPr lang="en-US" sz="2400" i="1" dirty="0" err="1"/>
              <a:t>groupby</a:t>
            </a:r>
            <a:r>
              <a:rPr lang="en-US" sz="2400" dirty="0"/>
              <a:t> object only verifies that you have passed a valid mapping</a:t>
            </a:r>
          </a:p>
          <a:p>
            <a:pPr lvl="1"/>
            <a:r>
              <a:rPr lang="en-US" sz="2400" dirty="0"/>
              <a:t>- by default the group keys are sorted during the </a:t>
            </a:r>
            <a:r>
              <a:rPr lang="en-US" sz="2400" i="1" dirty="0" err="1"/>
              <a:t>groupby</a:t>
            </a:r>
            <a:r>
              <a:rPr lang="en-US" sz="2400" dirty="0"/>
              <a:t> operation. You may want to pass sort=False for potential speedup:</a:t>
            </a:r>
          </a:p>
          <a:p>
            <a:pPr>
              <a:lnSpc>
                <a:spcPct val="250000"/>
              </a:lnSpc>
            </a:pPr>
            <a:endParaRPr lang="en-US" sz="2400" dirty="0"/>
          </a:p>
        </p:txBody>
      </p:sp>
      <p:sp>
        <p:nvSpPr>
          <p:cNvPr id="13" name="TextBox 12"/>
          <p:cNvSpPr txBox="1"/>
          <p:nvPr/>
        </p:nvSpPr>
        <p:spPr>
          <a:xfrm>
            <a:off x="203023" y="4867404"/>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4867404"/>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#Calculate mean salary for each professor rank:</a:t>
            </a:r>
          </a:p>
          <a:p>
            <a:r>
              <a:rPr lang="en-US" dirty="0" err="1">
                <a:solidFill>
                  <a:schemeClr val="bg2">
                    <a:lumMod val="25000"/>
                  </a:schemeClr>
                </a:solidFill>
                <a:latin typeface="Courier New" panose="02070309020205020404" pitchFamily="49" charset="0"/>
                <a:cs typeface="Courier New" panose="02070309020205020404" pitchFamily="49" charset="0"/>
              </a:rPr>
              <a:t>df.groupby</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'rank']</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sort=</a:t>
            </a:r>
            <a:r>
              <a:rPr lang="en-US" dirty="0">
                <a:solidFill>
                  <a:schemeClr val="accent6">
                    <a:lumMod val="75000"/>
                  </a:schemeClr>
                </a:solidFill>
                <a:latin typeface="Courier New" panose="02070309020205020404" pitchFamily="49" charset="0"/>
                <a:cs typeface="Courier New" panose="02070309020205020404" pitchFamily="49" charset="0"/>
              </a:rPr>
              <a:t>False</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'salary'</a:t>
            </a:r>
            <a:r>
              <a:rPr lang="en-US" dirty="0">
                <a:latin typeface="Courier New" panose="02070309020205020404" pitchFamily="49" charset="0"/>
                <a:cs typeface="Courier New" panose="02070309020205020404" pitchFamily="49" charset="0"/>
              </a:rPr>
              <a:t>]].mean()</a:t>
            </a:r>
          </a:p>
        </p:txBody>
      </p:sp>
    </p:spTree>
    <p:extLst>
      <p:ext uri="{BB962C8B-B14F-4D97-AF65-F5344CB8AC3E}">
        <p14:creationId xmlns:p14="http://schemas.microsoft.com/office/powerpoint/2010/main" val="2525210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 filtering</a:t>
            </a:r>
          </a:p>
        </p:txBody>
      </p:sp>
      <p:sp>
        <p:nvSpPr>
          <p:cNvPr id="4" name="Slide Number Placeholder 3"/>
          <p:cNvSpPr>
            <a:spLocks noGrp="1"/>
          </p:cNvSpPr>
          <p:nvPr>
            <p:ph type="sldNum" sz="quarter" idx="12"/>
          </p:nvPr>
        </p:nvSpPr>
        <p:spPr/>
        <p:txBody>
          <a:bodyPr/>
          <a:lstStyle/>
          <a:p>
            <a:fld id="{B841CA95-E0BC-48B5-948A-ECC494EB4D84}" type="slidenum">
              <a:rPr lang="en-US" smtClean="0"/>
              <a:t>33</a:t>
            </a:fld>
            <a:endParaRPr lang="en-US"/>
          </a:p>
        </p:txBody>
      </p:sp>
      <p:sp>
        <p:nvSpPr>
          <p:cNvPr id="12" name="TextBox 11"/>
          <p:cNvSpPr txBox="1"/>
          <p:nvPr/>
        </p:nvSpPr>
        <p:spPr>
          <a:xfrm>
            <a:off x="1004341" y="2013679"/>
            <a:ext cx="10418164" cy="2123658"/>
          </a:xfrm>
          <a:prstGeom prst="rect">
            <a:avLst/>
          </a:prstGeom>
          <a:noFill/>
        </p:spPr>
        <p:txBody>
          <a:bodyPr wrap="square" rtlCol="0">
            <a:spAutoFit/>
          </a:bodyPr>
          <a:lstStyle/>
          <a:p>
            <a:r>
              <a:rPr lang="en-US" sz="2400" dirty="0"/>
              <a:t>To subset the data we can apply Boolean indexing. This indexing is commonly known as a filter.  For example if we want to subset the rows in which the salary value is greater than $120K: </a:t>
            </a:r>
          </a:p>
          <a:p>
            <a:pPr>
              <a:lnSpc>
                <a:spcPct val="250000"/>
              </a:lnSpc>
            </a:pPr>
            <a:endParaRPr lang="en-US" sz="2400" dirty="0"/>
          </a:p>
        </p:txBody>
      </p:sp>
      <p:sp>
        <p:nvSpPr>
          <p:cNvPr id="13" name="TextBox 12"/>
          <p:cNvSpPr txBox="1"/>
          <p:nvPr/>
        </p:nvSpPr>
        <p:spPr>
          <a:xfrm>
            <a:off x="203023" y="3423063"/>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3423063"/>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#Calculate mean salary for each professor rank:</a:t>
            </a:r>
          </a:p>
          <a:p>
            <a:r>
              <a:rPr lang="en-US" dirty="0" err="1">
                <a:solidFill>
                  <a:schemeClr val="bg2">
                    <a:lumMod val="25000"/>
                  </a:schemeClr>
                </a:solidFill>
                <a:latin typeface="Courier New" panose="02070309020205020404" pitchFamily="49" charset="0"/>
                <a:cs typeface="Courier New" panose="02070309020205020404" pitchFamily="49" charset="0"/>
              </a:rPr>
              <a:t>df_sub</a:t>
            </a:r>
            <a:r>
              <a:rPr lang="en-US" dirty="0">
                <a:solidFill>
                  <a:schemeClr val="bg2">
                    <a:lumMod val="25000"/>
                  </a:schemeClr>
                </a:solidFill>
                <a:latin typeface="Courier New" panose="02070309020205020404" pitchFamily="49" charset="0"/>
                <a:cs typeface="Courier New" panose="02070309020205020404" pitchFamily="49" charset="0"/>
              </a:rPr>
              <a:t> = </a:t>
            </a:r>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'salary'] </a:t>
            </a:r>
            <a:r>
              <a:rPr lang="en-US" dirty="0">
                <a:latin typeface="Courier New" panose="02070309020205020404" pitchFamily="49" charset="0"/>
                <a:cs typeface="Courier New" panose="02070309020205020404" pitchFamily="49" charset="0"/>
              </a:rPr>
              <a:t>&gt; 120000 ]</a:t>
            </a:r>
          </a:p>
        </p:txBody>
      </p:sp>
      <p:sp>
        <p:nvSpPr>
          <p:cNvPr id="7" name="TextBox 6"/>
          <p:cNvSpPr txBox="1"/>
          <p:nvPr/>
        </p:nvSpPr>
        <p:spPr>
          <a:xfrm>
            <a:off x="230731" y="5882251"/>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8" name="TextBox 7"/>
          <p:cNvSpPr txBox="1"/>
          <p:nvPr/>
        </p:nvSpPr>
        <p:spPr>
          <a:xfrm>
            <a:off x="1676621" y="5882251"/>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only those rows that contain female professors:</a:t>
            </a:r>
          </a:p>
          <a:p>
            <a:r>
              <a:rPr lang="en-US" dirty="0" err="1">
                <a:solidFill>
                  <a:schemeClr val="bg2">
                    <a:lumMod val="25000"/>
                  </a:schemeClr>
                </a:solidFill>
                <a:latin typeface="Courier New" panose="02070309020205020404" pitchFamily="49" charset="0"/>
                <a:cs typeface="Courier New" panose="02070309020205020404" pitchFamily="49" charset="0"/>
              </a:rPr>
              <a:t>df_f</a:t>
            </a:r>
            <a:r>
              <a:rPr lang="en-US" dirty="0">
                <a:solidFill>
                  <a:schemeClr val="bg2">
                    <a:lumMod val="25000"/>
                  </a:schemeClr>
                </a:solidFill>
                <a:latin typeface="Courier New" panose="02070309020205020404" pitchFamily="49" charset="0"/>
                <a:cs typeface="Courier New" panose="02070309020205020404" pitchFamily="49" charset="0"/>
              </a:rPr>
              <a:t> = </a:t>
            </a:r>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solidFill>
                  <a:schemeClr val="bg2">
                    <a:lumMod val="25000"/>
                  </a:schemeClr>
                </a:solidFill>
                <a:latin typeface="Courier New" panose="02070309020205020404" pitchFamily="49" charset="0"/>
                <a:cs typeface="Courier New" panose="02070309020205020404" pitchFamily="49" charset="0"/>
              </a:rPr>
              <a:t>[ </a:t>
            </a:r>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solidFill>
                  <a:schemeClr val="bg2">
                    <a:lumMod val="25000"/>
                  </a:schemeClr>
                </a:solidFill>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'sex'] </a:t>
            </a:r>
            <a:r>
              <a:rPr lang="en-US" dirty="0">
                <a:latin typeface="Courier New" panose="02070309020205020404" pitchFamily="49" charset="0"/>
                <a:cs typeface="Courier New" panose="02070309020205020404" pitchFamily="49" charset="0"/>
              </a:rPr>
              <a:t>== </a:t>
            </a:r>
            <a:r>
              <a:rPr lang="en-US" dirty="0">
                <a:solidFill>
                  <a:srgbClr val="C00000"/>
                </a:solidFill>
                <a:latin typeface="Courier New" panose="02070309020205020404" pitchFamily="49" charset="0"/>
                <a:cs typeface="Courier New" panose="02070309020205020404" pitchFamily="49" charset="0"/>
              </a:rPr>
              <a:t>'Female' </a:t>
            </a:r>
            <a:r>
              <a:rPr lang="en-US" dirty="0">
                <a:latin typeface="Courier New" panose="02070309020205020404" pitchFamily="49" charset="0"/>
                <a:cs typeface="Courier New" panose="02070309020205020404" pitchFamily="49" charset="0"/>
              </a:rPr>
              <a:t>]</a:t>
            </a:r>
          </a:p>
        </p:txBody>
      </p:sp>
      <p:sp>
        <p:nvSpPr>
          <p:cNvPr id="9" name="TextBox 8"/>
          <p:cNvSpPr txBox="1"/>
          <p:nvPr/>
        </p:nvSpPr>
        <p:spPr>
          <a:xfrm>
            <a:off x="1011267" y="4296216"/>
            <a:ext cx="10418164" cy="1569660"/>
          </a:xfrm>
          <a:prstGeom prst="rect">
            <a:avLst/>
          </a:prstGeom>
          <a:noFill/>
        </p:spPr>
        <p:txBody>
          <a:bodyPr wrap="square" rtlCol="0">
            <a:spAutoFit/>
          </a:bodyPr>
          <a:lstStyle/>
          <a:p>
            <a:r>
              <a:rPr lang="en-US" sz="2400" dirty="0"/>
              <a:t>Any Boolean operator can be used to subset the data: </a:t>
            </a:r>
          </a:p>
          <a:p>
            <a:r>
              <a:rPr lang="en-US" sz="2400" dirty="0"/>
              <a:t>&gt;   greater;     &gt;= greater or equal;</a:t>
            </a:r>
          </a:p>
          <a:p>
            <a:r>
              <a:rPr lang="en-US" sz="2400" dirty="0"/>
              <a:t>&lt;   less;           &lt;= less or equal;</a:t>
            </a:r>
          </a:p>
          <a:p>
            <a:r>
              <a:rPr lang="en-US" sz="2400" dirty="0"/>
              <a:t>== equal;        != not equal;  </a:t>
            </a:r>
          </a:p>
        </p:txBody>
      </p:sp>
    </p:spTree>
    <p:extLst>
      <p:ext uri="{BB962C8B-B14F-4D97-AF65-F5344CB8AC3E}">
        <p14:creationId xmlns:p14="http://schemas.microsoft.com/office/powerpoint/2010/main" val="2706167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Slicing</a:t>
            </a:r>
          </a:p>
        </p:txBody>
      </p:sp>
      <p:sp>
        <p:nvSpPr>
          <p:cNvPr id="4" name="Slide Number Placeholder 3"/>
          <p:cNvSpPr>
            <a:spLocks noGrp="1"/>
          </p:cNvSpPr>
          <p:nvPr>
            <p:ph type="sldNum" sz="quarter" idx="12"/>
          </p:nvPr>
        </p:nvSpPr>
        <p:spPr/>
        <p:txBody>
          <a:bodyPr/>
          <a:lstStyle/>
          <a:p>
            <a:fld id="{B841CA95-E0BC-48B5-948A-ECC494EB4D84}" type="slidenum">
              <a:rPr lang="en-US" smtClean="0"/>
              <a:t>34</a:t>
            </a:fld>
            <a:endParaRPr lang="en-US"/>
          </a:p>
        </p:txBody>
      </p:sp>
      <p:sp>
        <p:nvSpPr>
          <p:cNvPr id="12" name="TextBox 11"/>
          <p:cNvSpPr txBox="1"/>
          <p:nvPr/>
        </p:nvSpPr>
        <p:spPr>
          <a:xfrm>
            <a:off x="991089" y="2009262"/>
            <a:ext cx="10418164" cy="2677656"/>
          </a:xfrm>
          <a:prstGeom prst="rect">
            <a:avLst/>
          </a:prstGeom>
          <a:noFill/>
        </p:spPr>
        <p:txBody>
          <a:bodyPr wrap="square" rtlCol="0">
            <a:spAutoFit/>
          </a:bodyPr>
          <a:lstStyle/>
          <a:p>
            <a:r>
              <a:rPr lang="en-US" sz="2400" dirty="0"/>
              <a:t>There are a number of ways to subset the Data Frame:</a:t>
            </a:r>
          </a:p>
          <a:p>
            <a:pPr marL="800100" lvl="1" indent="-342900">
              <a:buFont typeface="Arial" panose="020B0604020202020204" pitchFamily="34" charset="0"/>
              <a:buChar char="•"/>
            </a:pPr>
            <a:r>
              <a:rPr lang="en-US" sz="2400" dirty="0"/>
              <a:t>one or more columns</a:t>
            </a:r>
          </a:p>
          <a:p>
            <a:pPr marL="800100" lvl="1" indent="-342900">
              <a:buFont typeface="Arial" panose="020B0604020202020204" pitchFamily="34" charset="0"/>
              <a:buChar char="•"/>
            </a:pPr>
            <a:r>
              <a:rPr lang="en-US" sz="2400" dirty="0"/>
              <a:t>one or more rows</a:t>
            </a:r>
          </a:p>
          <a:p>
            <a:pPr marL="800100" lvl="1" indent="-342900">
              <a:buFont typeface="Arial" panose="020B0604020202020204" pitchFamily="34" charset="0"/>
              <a:buChar char="•"/>
            </a:pPr>
            <a:r>
              <a:rPr lang="en-US" sz="2400" dirty="0"/>
              <a:t>a subset of rows and columns</a:t>
            </a:r>
          </a:p>
          <a:p>
            <a:pPr marL="800100" lvl="1" indent="-342900">
              <a:buFont typeface="Arial" panose="020B0604020202020204" pitchFamily="34" charset="0"/>
              <a:buChar char="•"/>
            </a:pPr>
            <a:endParaRPr lang="en-US" sz="2400" dirty="0"/>
          </a:p>
          <a:p>
            <a:pPr marL="800100" lvl="1" indent="-342900">
              <a:buFont typeface="Arial" panose="020B0604020202020204" pitchFamily="34" charset="0"/>
              <a:buChar char="•"/>
            </a:pPr>
            <a:endParaRPr lang="en-US" sz="2400" dirty="0"/>
          </a:p>
          <a:p>
            <a:pPr lvl="1"/>
            <a:r>
              <a:rPr lang="en-US" sz="2400" dirty="0"/>
              <a:t>Rows and columns can be selected by their position or label </a:t>
            </a:r>
          </a:p>
        </p:txBody>
      </p:sp>
    </p:spTree>
    <p:extLst>
      <p:ext uri="{BB962C8B-B14F-4D97-AF65-F5344CB8AC3E}">
        <p14:creationId xmlns:p14="http://schemas.microsoft.com/office/powerpoint/2010/main" val="3925203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Slicing</a:t>
            </a:r>
          </a:p>
        </p:txBody>
      </p:sp>
      <p:sp>
        <p:nvSpPr>
          <p:cNvPr id="4" name="Slide Number Placeholder 3"/>
          <p:cNvSpPr>
            <a:spLocks noGrp="1"/>
          </p:cNvSpPr>
          <p:nvPr>
            <p:ph type="sldNum" sz="quarter" idx="12"/>
          </p:nvPr>
        </p:nvSpPr>
        <p:spPr/>
        <p:txBody>
          <a:bodyPr/>
          <a:lstStyle/>
          <a:p>
            <a:fld id="{B841CA95-E0BC-48B5-948A-ECC494EB4D84}" type="slidenum">
              <a:rPr lang="en-US" smtClean="0"/>
              <a:t>35</a:t>
            </a:fld>
            <a:endParaRPr lang="en-US"/>
          </a:p>
        </p:txBody>
      </p:sp>
      <p:sp>
        <p:nvSpPr>
          <p:cNvPr id="12" name="TextBox 11"/>
          <p:cNvSpPr txBox="1"/>
          <p:nvPr/>
        </p:nvSpPr>
        <p:spPr>
          <a:xfrm>
            <a:off x="991089" y="2009262"/>
            <a:ext cx="10418164" cy="830997"/>
          </a:xfrm>
          <a:prstGeom prst="rect">
            <a:avLst/>
          </a:prstGeom>
          <a:noFill/>
        </p:spPr>
        <p:txBody>
          <a:bodyPr wrap="square" rtlCol="0">
            <a:spAutoFit/>
          </a:bodyPr>
          <a:lstStyle/>
          <a:p>
            <a:r>
              <a:rPr lang="en-US" sz="2400" dirty="0"/>
              <a:t>When selecting one column, it is possible to use single set of brackets, but the resulting object will be  a Series (not a </a:t>
            </a:r>
            <a:r>
              <a:rPr lang="en-US" sz="2400" dirty="0" err="1"/>
              <a:t>DataFrame</a:t>
            </a:r>
            <a:r>
              <a:rPr lang="en-US" sz="2400" dirty="0"/>
              <a:t>): </a:t>
            </a:r>
          </a:p>
        </p:txBody>
      </p:sp>
      <p:sp>
        <p:nvSpPr>
          <p:cNvPr id="13" name="TextBox 12"/>
          <p:cNvSpPr txBox="1"/>
          <p:nvPr/>
        </p:nvSpPr>
        <p:spPr>
          <a:xfrm>
            <a:off x="203023" y="2919336"/>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2919336"/>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column salary:</a:t>
            </a:r>
          </a:p>
          <a:p>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'salary'</a:t>
            </a:r>
            <a:r>
              <a:rPr lang="en-US" dirty="0">
                <a:latin typeface="Courier New" panose="02070309020205020404" pitchFamily="49" charset="0"/>
                <a:cs typeface="Courier New" panose="02070309020205020404" pitchFamily="49" charset="0"/>
              </a:rPr>
              <a:t>]</a:t>
            </a:r>
          </a:p>
        </p:txBody>
      </p:sp>
      <p:sp>
        <p:nvSpPr>
          <p:cNvPr id="7" name="TextBox 6"/>
          <p:cNvSpPr txBox="1"/>
          <p:nvPr/>
        </p:nvSpPr>
        <p:spPr>
          <a:xfrm>
            <a:off x="984466" y="4078807"/>
            <a:ext cx="10418164" cy="830997"/>
          </a:xfrm>
          <a:prstGeom prst="rect">
            <a:avLst/>
          </a:prstGeom>
          <a:noFill/>
        </p:spPr>
        <p:txBody>
          <a:bodyPr wrap="square" rtlCol="0">
            <a:spAutoFit/>
          </a:bodyPr>
          <a:lstStyle/>
          <a:p>
            <a:r>
              <a:rPr lang="en-US" sz="2400" dirty="0"/>
              <a:t>When we need to select more than one column and/or make the output to be a </a:t>
            </a:r>
            <a:r>
              <a:rPr lang="en-US" sz="2400" dirty="0" err="1"/>
              <a:t>DataFrame</a:t>
            </a:r>
            <a:r>
              <a:rPr lang="en-US" sz="2400" dirty="0"/>
              <a:t>, we should use double brackets:</a:t>
            </a:r>
          </a:p>
        </p:txBody>
      </p:sp>
      <p:sp>
        <p:nvSpPr>
          <p:cNvPr id="8" name="TextBox 7"/>
          <p:cNvSpPr txBox="1"/>
          <p:nvPr/>
        </p:nvSpPr>
        <p:spPr>
          <a:xfrm>
            <a:off x="196400" y="4988881"/>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9" name="TextBox 8"/>
          <p:cNvSpPr txBox="1"/>
          <p:nvPr/>
        </p:nvSpPr>
        <p:spPr>
          <a:xfrm>
            <a:off x="1642290" y="4988881"/>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column salary:</a:t>
            </a:r>
          </a:p>
          <a:p>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a:t>
            </a:r>
            <a:r>
              <a:rPr lang="en-US" dirty="0" err="1">
                <a:solidFill>
                  <a:srgbClr val="C00000"/>
                </a:solidFill>
                <a:latin typeface="Courier New" panose="02070309020205020404" pitchFamily="49" charset="0"/>
                <a:cs typeface="Courier New" panose="02070309020205020404" pitchFamily="49" charset="0"/>
              </a:rPr>
              <a:t>rank'</a:t>
            </a:r>
            <a:r>
              <a:rPr lang="en-US" dirty="0" err="1">
                <a:latin typeface="Courier New" panose="02070309020205020404" pitchFamily="49" charset="0"/>
                <a:cs typeface="Courier New" panose="02070309020205020404" pitchFamily="49" charset="0"/>
              </a:rPr>
              <a:t>,</a:t>
            </a:r>
            <a:r>
              <a:rPr lang="en-US" dirty="0" err="1">
                <a:solidFill>
                  <a:srgbClr val="C00000"/>
                </a:solidFill>
                <a:latin typeface="Courier New" panose="02070309020205020404" pitchFamily="49" charset="0"/>
                <a:cs typeface="Courier New" panose="02070309020205020404" pitchFamily="49" charset="0"/>
              </a:rPr>
              <a:t>'salary</a:t>
            </a:r>
            <a:r>
              <a:rPr lang="en-US" dirty="0">
                <a:solidFill>
                  <a:srgbClr val="C0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0869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Selecting rows</a:t>
            </a:r>
          </a:p>
        </p:txBody>
      </p:sp>
      <p:sp>
        <p:nvSpPr>
          <p:cNvPr id="4" name="Slide Number Placeholder 3"/>
          <p:cNvSpPr>
            <a:spLocks noGrp="1"/>
          </p:cNvSpPr>
          <p:nvPr>
            <p:ph type="sldNum" sz="quarter" idx="12"/>
          </p:nvPr>
        </p:nvSpPr>
        <p:spPr/>
        <p:txBody>
          <a:bodyPr/>
          <a:lstStyle/>
          <a:p>
            <a:fld id="{B841CA95-E0BC-48B5-948A-ECC494EB4D84}" type="slidenum">
              <a:rPr lang="en-US" smtClean="0"/>
              <a:t>36</a:t>
            </a:fld>
            <a:endParaRPr lang="en-US"/>
          </a:p>
        </p:txBody>
      </p:sp>
      <p:sp>
        <p:nvSpPr>
          <p:cNvPr id="12" name="TextBox 11"/>
          <p:cNvSpPr txBox="1"/>
          <p:nvPr/>
        </p:nvSpPr>
        <p:spPr>
          <a:xfrm>
            <a:off x="991089" y="2009262"/>
            <a:ext cx="10418164" cy="461665"/>
          </a:xfrm>
          <a:prstGeom prst="rect">
            <a:avLst/>
          </a:prstGeom>
          <a:noFill/>
        </p:spPr>
        <p:txBody>
          <a:bodyPr wrap="square" rtlCol="0">
            <a:spAutoFit/>
          </a:bodyPr>
          <a:lstStyle/>
          <a:p>
            <a:r>
              <a:rPr lang="en-US" sz="2400" dirty="0"/>
              <a:t>If we need to select a range of rows, we can specify the range using ":" </a:t>
            </a:r>
          </a:p>
        </p:txBody>
      </p:sp>
      <p:sp>
        <p:nvSpPr>
          <p:cNvPr id="13" name="TextBox 12"/>
          <p:cNvSpPr txBox="1"/>
          <p:nvPr/>
        </p:nvSpPr>
        <p:spPr>
          <a:xfrm>
            <a:off x="203023" y="2919336"/>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2919336"/>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rows by their position:</a:t>
            </a:r>
          </a:p>
          <a:p>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10:20</a:t>
            </a:r>
            <a:r>
              <a:rPr lang="en-US" dirty="0">
                <a:latin typeface="Courier New" panose="02070309020205020404" pitchFamily="49" charset="0"/>
                <a:cs typeface="Courier New" panose="02070309020205020404" pitchFamily="49" charset="0"/>
              </a:rPr>
              <a:t>]</a:t>
            </a:r>
          </a:p>
        </p:txBody>
      </p:sp>
      <p:sp>
        <p:nvSpPr>
          <p:cNvPr id="7" name="TextBox 6"/>
          <p:cNvSpPr txBox="1"/>
          <p:nvPr/>
        </p:nvSpPr>
        <p:spPr>
          <a:xfrm>
            <a:off x="984466" y="4078807"/>
            <a:ext cx="10418164" cy="1200329"/>
          </a:xfrm>
          <a:prstGeom prst="rect">
            <a:avLst/>
          </a:prstGeom>
          <a:noFill/>
        </p:spPr>
        <p:txBody>
          <a:bodyPr wrap="square" rtlCol="0">
            <a:spAutoFit/>
          </a:bodyPr>
          <a:lstStyle/>
          <a:p>
            <a:r>
              <a:rPr lang="en-US" sz="2400" dirty="0"/>
              <a:t>Notice that the first row has a position 0, and the last value in the range is omitted:</a:t>
            </a:r>
          </a:p>
          <a:p>
            <a:r>
              <a:rPr lang="en-US" sz="2400" dirty="0"/>
              <a:t>So for 0:10 range the first 10 rows are returned with the positions starting with 0 and ending with 9</a:t>
            </a:r>
          </a:p>
        </p:txBody>
      </p:sp>
    </p:spTree>
    <p:extLst>
      <p:ext uri="{BB962C8B-B14F-4D97-AF65-F5344CB8AC3E}">
        <p14:creationId xmlns:p14="http://schemas.microsoft.com/office/powerpoint/2010/main" val="111005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method </a:t>
            </a:r>
            <a:r>
              <a:rPr lang="en-US" dirty="0" err="1"/>
              <a:t>loc</a:t>
            </a: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37</a:t>
            </a:fld>
            <a:endParaRPr lang="en-US"/>
          </a:p>
        </p:txBody>
      </p:sp>
      <p:sp>
        <p:nvSpPr>
          <p:cNvPr id="12" name="TextBox 11"/>
          <p:cNvSpPr txBox="1"/>
          <p:nvPr/>
        </p:nvSpPr>
        <p:spPr>
          <a:xfrm>
            <a:off x="991089" y="2009262"/>
            <a:ext cx="10418164" cy="461665"/>
          </a:xfrm>
          <a:prstGeom prst="rect">
            <a:avLst/>
          </a:prstGeom>
          <a:noFill/>
        </p:spPr>
        <p:txBody>
          <a:bodyPr wrap="square" rtlCol="0">
            <a:spAutoFit/>
          </a:bodyPr>
          <a:lstStyle/>
          <a:p>
            <a:r>
              <a:rPr lang="en-US" sz="2400" dirty="0"/>
              <a:t>If we need to select a range of rows, using their labels we can use method </a:t>
            </a:r>
            <a:r>
              <a:rPr lang="en-US" sz="2400" dirty="0" err="1"/>
              <a:t>loc</a:t>
            </a:r>
            <a:r>
              <a:rPr lang="en-US" sz="2400" dirty="0"/>
              <a:t>:</a:t>
            </a:r>
          </a:p>
        </p:txBody>
      </p:sp>
      <p:sp>
        <p:nvSpPr>
          <p:cNvPr id="13" name="TextBox 12"/>
          <p:cNvSpPr txBox="1"/>
          <p:nvPr/>
        </p:nvSpPr>
        <p:spPr>
          <a:xfrm>
            <a:off x="203023" y="2919336"/>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2919336"/>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rows by their labels:</a:t>
            </a:r>
          </a:p>
          <a:p>
            <a:r>
              <a:rPr lang="en-US" dirty="0" err="1">
                <a:solidFill>
                  <a:schemeClr val="bg2">
                    <a:lumMod val="25000"/>
                  </a:schemeClr>
                </a:solidFill>
                <a:latin typeface="Courier New" panose="02070309020205020404" pitchFamily="49" charset="0"/>
                <a:cs typeface="Courier New" panose="02070309020205020404" pitchFamily="49" charset="0"/>
              </a:rPr>
              <a:t>df_sub.loc</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10:20</a:t>
            </a:r>
            <a:r>
              <a:rPr lang="en-US" dirty="0">
                <a:solidFill>
                  <a:srgbClr val="C0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a:t>
            </a:r>
            <a:r>
              <a:rPr lang="en-US" dirty="0">
                <a:solidFill>
                  <a:srgbClr val="C00000"/>
                </a:solidFill>
                <a:latin typeface="Courier New" panose="02070309020205020404" pitchFamily="49" charset="0"/>
                <a:cs typeface="Courier New" panose="02070309020205020404" pitchFamily="49" charset="0"/>
              </a:rPr>
              <a:t>'</a:t>
            </a:r>
            <a:r>
              <a:rPr lang="en-US" dirty="0" err="1">
                <a:solidFill>
                  <a:srgbClr val="C00000"/>
                </a:solidFill>
                <a:latin typeface="Courier New" panose="02070309020205020404" pitchFamily="49" charset="0"/>
                <a:cs typeface="Courier New" panose="02070309020205020404" pitchFamily="49" charset="0"/>
              </a:rPr>
              <a:t>rank','sex','salary</a:t>
            </a:r>
            <a:r>
              <a:rPr lang="en-US" dirty="0">
                <a:solidFill>
                  <a:srgbClr val="C0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a:t>
            </a:r>
          </a:p>
        </p:txBody>
      </p:sp>
      <p:sp>
        <p:nvSpPr>
          <p:cNvPr id="8" name="TextBox 7"/>
          <p:cNvSpPr txBox="1"/>
          <p:nvPr/>
        </p:nvSpPr>
        <p:spPr>
          <a:xfrm>
            <a:off x="231693" y="4044276"/>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9476" y="3565667"/>
            <a:ext cx="2286319" cy="2553056"/>
          </a:xfrm>
          <a:prstGeom prst="rect">
            <a:avLst/>
          </a:prstGeom>
        </p:spPr>
      </p:pic>
    </p:spTree>
    <p:extLst>
      <p:ext uri="{BB962C8B-B14F-4D97-AF65-F5344CB8AC3E}">
        <p14:creationId xmlns:p14="http://schemas.microsoft.com/office/powerpoint/2010/main" val="483466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method </a:t>
            </a:r>
            <a:r>
              <a:rPr lang="en-US" dirty="0" err="1"/>
              <a:t>iloc</a:t>
            </a:r>
            <a:endParaRPr lang="en-US" dirty="0"/>
          </a:p>
        </p:txBody>
      </p:sp>
      <p:sp>
        <p:nvSpPr>
          <p:cNvPr id="4" name="Slide Number Placeholder 3"/>
          <p:cNvSpPr>
            <a:spLocks noGrp="1"/>
          </p:cNvSpPr>
          <p:nvPr>
            <p:ph type="sldNum" sz="quarter" idx="12"/>
          </p:nvPr>
        </p:nvSpPr>
        <p:spPr/>
        <p:txBody>
          <a:bodyPr/>
          <a:lstStyle/>
          <a:p>
            <a:fld id="{B841CA95-E0BC-48B5-948A-ECC494EB4D84}" type="slidenum">
              <a:rPr lang="en-US" smtClean="0"/>
              <a:t>38</a:t>
            </a:fld>
            <a:endParaRPr lang="en-US"/>
          </a:p>
        </p:txBody>
      </p:sp>
      <p:sp>
        <p:nvSpPr>
          <p:cNvPr id="12" name="TextBox 11"/>
          <p:cNvSpPr txBox="1"/>
          <p:nvPr/>
        </p:nvSpPr>
        <p:spPr>
          <a:xfrm>
            <a:off x="991089" y="2009262"/>
            <a:ext cx="10418164" cy="830997"/>
          </a:xfrm>
          <a:prstGeom prst="rect">
            <a:avLst/>
          </a:prstGeom>
          <a:noFill/>
        </p:spPr>
        <p:txBody>
          <a:bodyPr wrap="square" rtlCol="0">
            <a:spAutoFit/>
          </a:bodyPr>
          <a:lstStyle/>
          <a:p>
            <a:r>
              <a:rPr lang="en-US" sz="2400" dirty="0"/>
              <a:t>If we need to select a range of rows and/or columns, using their positions we can use method </a:t>
            </a:r>
            <a:r>
              <a:rPr lang="en-US" sz="2400" dirty="0" err="1"/>
              <a:t>iloc</a:t>
            </a:r>
            <a:r>
              <a:rPr lang="en-US" sz="2400" dirty="0"/>
              <a:t>:</a:t>
            </a:r>
          </a:p>
        </p:txBody>
      </p:sp>
      <p:sp>
        <p:nvSpPr>
          <p:cNvPr id="13" name="TextBox 12"/>
          <p:cNvSpPr txBox="1"/>
          <p:nvPr/>
        </p:nvSpPr>
        <p:spPr>
          <a:xfrm>
            <a:off x="203023" y="2919336"/>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4" name="TextBox 13"/>
          <p:cNvSpPr txBox="1"/>
          <p:nvPr/>
        </p:nvSpPr>
        <p:spPr>
          <a:xfrm>
            <a:off x="1648913" y="2919336"/>
            <a:ext cx="10268267" cy="646331"/>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#Select rows by their labels:</a:t>
            </a:r>
          </a:p>
          <a:p>
            <a:r>
              <a:rPr lang="en-US" dirty="0" err="1">
                <a:solidFill>
                  <a:schemeClr val="bg2">
                    <a:lumMod val="25000"/>
                  </a:schemeClr>
                </a:solidFill>
                <a:latin typeface="Courier New" panose="02070309020205020404" pitchFamily="49" charset="0"/>
                <a:cs typeface="Courier New" panose="02070309020205020404" pitchFamily="49" charset="0"/>
              </a:rPr>
              <a:t>df_sub.iloc</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10:20</a:t>
            </a:r>
            <a:r>
              <a:rPr lang="en-US" dirty="0">
                <a:solidFill>
                  <a:srgbClr val="C0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0, 3, 4, 5</a:t>
            </a:r>
            <a:r>
              <a:rPr lang="en-US" dirty="0">
                <a:latin typeface="Courier New" panose="02070309020205020404" pitchFamily="49" charset="0"/>
                <a:cs typeface="Courier New" panose="02070309020205020404" pitchFamily="49" charset="0"/>
              </a:rPr>
              <a:t>]]</a:t>
            </a:r>
          </a:p>
        </p:txBody>
      </p:sp>
      <p:sp>
        <p:nvSpPr>
          <p:cNvPr id="8" name="TextBox 7"/>
          <p:cNvSpPr txBox="1"/>
          <p:nvPr/>
        </p:nvSpPr>
        <p:spPr>
          <a:xfrm>
            <a:off x="179738" y="4044276"/>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913" y="3612849"/>
            <a:ext cx="2400508" cy="3139712"/>
          </a:xfrm>
          <a:prstGeom prst="rect">
            <a:avLst/>
          </a:prstGeom>
        </p:spPr>
      </p:pic>
    </p:spTree>
    <p:extLst>
      <p:ext uri="{BB962C8B-B14F-4D97-AF65-F5344CB8AC3E}">
        <p14:creationId xmlns:p14="http://schemas.microsoft.com/office/powerpoint/2010/main" val="2229965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method </a:t>
            </a:r>
            <a:r>
              <a:rPr lang="en-US" dirty="0" err="1"/>
              <a:t>iloc</a:t>
            </a:r>
            <a:r>
              <a:rPr lang="en-US" dirty="0"/>
              <a:t> (summary)</a:t>
            </a:r>
          </a:p>
        </p:txBody>
      </p:sp>
      <p:sp>
        <p:nvSpPr>
          <p:cNvPr id="4" name="Slide Number Placeholder 3"/>
          <p:cNvSpPr>
            <a:spLocks noGrp="1"/>
          </p:cNvSpPr>
          <p:nvPr>
            <p:ph type="sldNum" sz="quarter" idx="12"/>
          </p:nvPr>
        </p:nvSpPr>
        <p:spPr/>
        <p:txBody>
          <a:bodyPr/>
          <a:lstStyle/>
          <a:p>
            <a:fld id="{B841CA95-E0BC-48B5-948A-ECC494EB4D84}" type="slidenum">
              <a:rPr lang="en-US" smtClean="0"/>
              <a:t>39</a:t>
            </a:fld>
            <a:endParaRPr lang="en-US"/>
          </a:p>
        </p:txBody>
      </p:sp>
      <p:sp>
        <p:nvSpPr>
          <p:cNvPr id="14" name="TextBox 13"/>
          <p:cNvSpPr txBox="1"/>
          <p:nvPr/>
        </p:nvSpPr>
        <p:spPr>
          <a:xfrm>
            <a:off x="838200" y="1797118"/>
            <a:ext cx="10268267" cy="1200329"/>
          </a:xfrm>
          <a:prstGeom prst="rect">
            <a:avLst/>
          </a:prstGeom>
          <a:noFill/>
          <a:ln>
            <a:solidFill>
              <a:schemeClr val="bg2">
                <a:lumMod val="90000"/>
              </a:schemeClr>
            </a:solidFill>
          </a:ln>
        </p:spPr>
        <p:txBody>
          <a:bodyPr wrap="square" rtlCol="0">
            <a:spAutoFit/>
          </a:bodyPr>
          <a:lstStyle/>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 First row of a data frame</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#(i+1)</a:t>
            </a:r>
            <a:r>
              <a:rPr lang="en-US" i="1" dirty="0" err="1">
                <a:solidFill>
                  <a:schemeClr val="accent1">
                    <a:lumMod val="75000"/>
                  </a:schemeClr>
                </a:solidFill>
                <a:latin typeface="Courier New" panose="02070309020205020404" pitchFamily="49" charset="0"/>
                <a:cs typeface="Courier New" panose="02070309020205020404" pitchFamily="49" charset="0"/>
              </a:rPr>
              <a:t>th</a:t>
            </a:r>
            <a:r>
              <a:rPr lang="en-US" i="1" dirty="0">
                <a:solidFill>
                  <a:schemeClr val="accent1">
                    <a:lumMod val="75000"/>
                  </a:schemeClr>
                </a:solidFill>
                <a:latin typeface="Courier New" panose="02070309020205020404" pitchFamily="49" charset="0"/>
                <a:cs typeface="Courier New" panose="02070309020205020404" pitchFamily="49" charset="0"/>
              </a:rPr>
              <a:t> row </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 Last row </a:t>
            </a:r>
          </a:p>
          <a:p>
            <a:endParaRPr lang="en-US" dirty="0">
              <a:latin typeface="Courier New" panose="02070309020205020404" pitchFamily="49" charset="0"/>
              <a:cs typeface="Courier New" panose="02070309020205020404" pitchFamily="49" charset="0"/>
            </a:endParaRPr>
          </a:p>
        </p:txBody>
      </p:sp>
      <p:sp>
        <p:nvSpPr>
          <p:cNvPr id="9" name="TextBox 8"/>
          <p:cNvSpPr txBox="1"/>
          <p:nvPr/>
        </p:nvSpPr>
        <p:spPr>
          <a:xfrm>
            <a:off x="834735" y="3269170"/>
            <a:ext cx="10268267" cy="923330"/>
          </a:xfrm>
          <a:prstGeom prst="rect">
            <a:avLst/>
          </a:prstGeom>
          <a:noFill/>
          <a:ln>
            <a:solidFill>
              <a:schemeClr val="bg2">
                <a:lumMod val="90000"/>
              </a:schemeClr>
            </a:solidFill>
          </a:ln>
        </p:spPr>
        <p:txBody>
          <a:bodyPr wrap="square" rtlCol="0">
            <a:spAutoFit/>
          </a:bodyPr>
          <a:lstStyle/>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 </a:t>
            </a:r>
            <a:r>
              <a:rPr lang="en-US" dirty="0">
                <a:solidFill>
                  <a:schemeClr val="accent6">
                    <a:lumMod val="75000"/>
                  </a:schemeClr>
                </a:solidFill>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 First column</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 </a:t>
            </a:r>
            <a:r>
              <a:rPr lang="en-US" dirty="0">
                <a:solidFill>
                  <a:schemeClr val="accent6">
                    <a:lumMod val="75000"/>
                  </a:schemeClr>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 Last column </a:t>
            </a:r>
          </a:p>
          <a:p>
            <a:endParaRPr lang="en-US" dirty="0">
              <a:latin typeface="Courier New" panose="02070309020205020404" pitchFamily="49" charset="0"/>
              <a:cs typeface="Courier New" panose="02070309020205020404" pitchFamily="49" charset="0"/>
            </a:endParaRPr>
          </a:p>
        </p:txBody>
      </p:sp>
      <p:sp>
        <p:nvSpPr>
          <p:cNvPr id="10" name="TextBox 9"/>
          <p:cNvSpPr txBox="1"/>
          <p:nvPr/>
        </p:nvSpPr>
        <p:spPr>
          <a:xfrm>
            <a:off x="834735" y="4588817"/>
            <a:ext cx="10268267" cy="1754326"/>
          </a:xfrm>
          <a:prstGeom prst="rect">
            <a:avLst/>
          </a:prstGeom>
          <a:noFill/>
          <a:ln>
            <a:solidFill>
              <a:schemeClr val="bg2">
                <a:lumMod val="90000"/>
              </a:schemeClr>
            </a:solidFill>
          </a:ln>
        </p:spPr>
        <p:txBody>
          <a:bodyPr wrap="square" rtlCol="0">
            <a:spAutoFit/>
          </a:bodyPr>
          <a:lstStyle/>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0:7</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#First 7 rows </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 0:2</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#First 2 columns</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1:3, 0:2</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#Second through third rows and first 2 columns</a:t>
            </a:r>
          </a:p>
          <a:p>
            <a:r>
              <a:rPr lang="en-US" dirty="0" err="1">
                <a:solidFill>
                  <a:schemeClr val="bg2">
                    <a:lumMod val="25000"/>
                  </a:schemeClr>
                </a:solidFill>
                <a:latin typeface="Courier New" panose="02070309020205020404" pitchFamily="49" charset="0"/>
                <a:cs typeface="Courier New" panose="02070309020205020404" pitchFamily="49" charset="0"/>
              </a:rPr>
              <a:t>df.iloc</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0,5</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r>
              <a:rPr lang="en-US" i="1" dirty="0">
                <a:solidFill>
                  <a:schemeClr val="accent6">
                    <a:lumMod val="75000"/>
                  </a:schemeClr>
                </a:solidFill>
                <a:latin typeface="Courier New" panose="02070309020205020404" pitchFamily="49" charset="0"/>
                <a:cs typeface="Courier New" panose="02070309020205020404" pitchFamily="49" charset="0"/>
              </a:rPr>
              <a:t>1,3</a:t>
            </a:r>
            <a:r>
              <a:rPr lang="en-US" dirty="0">
                <a:latin typeface="Courier New" panose="02070309020205020404" pitchFamily="49" charset="0"/>
                <a:cs typeface="Courier New" panose="02070309020205020404" pitchFamily="49" charset="0"/>
              </a:rPr>
              <a:t>]]  </a:t>
            </a:r>
            <a:r>
              <a:rPr lang="en-US" i="1" dirty="0">
                <a:solidFill>
                  <a:schemeClr val="accent1">
                    <a:lumMod val="75000"/>
                  </a:schemeClr>
                </a:solidFill>
                <a:latin typeface="Courier New" panose="02070309020205020404" pitchFamily="49" charset="0"/>
                <a:cs typeface="Courier New" panose="02070309020205020404" pitchFamily="49" charset="0"/>
              </a:rPr>
              <a:t>#1</a:t>
            </a:r>
            <a:r>
              <a:rPr lang="en-US" i="1" baseline="30000" dirty="0">
                <a:solidFill>
                  <a:schemeClr val="accent1">
                    <a:lumMod val="75000"/>
                  </a:schemeClr>
                </a:solidFill>
                <a:latin typeface="Courier New" panose="02070309020205020404" pitchFamily="49" charset="0"/>
                <a:cs typeface="Courier New" panose="02070309020205020404" pitchFamily="49" charset="0"/>
              </a:rPr>
              <a:t>st</a:t>
            </a:r>
            <a:r>
              <a:rPr lang="en-US" i="1" dirty="0">
                <a:solidFill>
                  <a:schemeClr val="accent1">
                    <a:lumMod val="75000"/>
                  </a:schemeClr>
                </a:solidFill>
                <a:latin typeface="Courier New" panose="02070309020205020404" pitchFamily="49" charset="0"/>
                <a:cs typeface="Courier New" panose="02070309020205020404" pitchFamily="49" charset="0"/>
              </a:rPr>
              <a:t> and 6</a:t>
            </a:r>
            <a:r>
              <a:rPr lang="en-US" i="1" baseline="30000" dirty="0">
                <a:solidFill>
                  <a:schemeClr val="accent1">
                    <a:lumMod val="75000"/>
                  </a:schemeClr>
                </a:solidFill>
                <a:latin typeface="Courier New" panose="02070309020205020404" pitchFamily="49" charset="0"/>
                <a:cs typeface="Courier New" panose="02070309020205020404" pitchFamily="49" charset="0"/>
              </a:rPr>
              <a:t>th</a:t>
            </a:r>
            <a:r>
              <a:rPr lang="en-US" i="1" dirty="0">
                <a:solidFill>
                  <a:schemeClr val="accent1">
                    <a:lumMod val="75000"/>
                  </a:schemeClr>
                </a:solidFill>
                <a:latin typeface="Courier New" panose="02070309020205020404" pitchFamily="49" charset="0"/>
                <a:cs typeface="Courier New" panose="02070309020205020404" pitchFamily="49" charset="0"/>
              </a:rPr>
              <a:t> rows and 2</a:t>
            </a:r>
            <a:r>
              <a:rPr lang="en-US" i="1" baseline="30000" dirty="0">
                <a:solidFill>
                  <a:schemeClr val="accent1">
                    <a:lumMod val="75000"/>
                  </a:schemeClr>
                </a:solidFill>
                <a:latin typeface="Courier New" panose="02070309020205020404" pitchFamily="49" charset="0"/>
                <a:cs typeface="Courier New" panose="02070309020205020404" pitchFamily="49" charset="0"/>
              </a:rPr>
              <a:t>nd</a:t>
            </a:r>
            <a:r>
              <a:rPr lang="en-US" i="1" dirty="0">
                <a:solidFill>
                  <a:schemeClr val="accent1">
                    <a:lumMod val="75000"/>
                  </a:schemeClr>
                </a:solidFill>
                <a:latin typeface="Courier New" panose="02070309020205020404" pitchFamily="49" charset="0"/>
                <a:cs typeface="Courier New" panose="02070309020205020404" pitchFamily="49" charset="0"/>
              </a:rPr>
              <a:t> and 4</a:t>
            </a:r>
            <a:r>
              <a:rPr lang="en-US" i="1" baseline="30000" dirty="0">
                <a:solidFill>
                  <a:schemeClr val="accent1">
                    <a:lumMod val="75000"/>
                  </a:schemeClr>
                </a:solidFill>
                <a:latin typeface="Courier New" panose="02070309020205020404" pitchFamily="49" charset="0"/>
                <a:cs typeface="Courier New" panose="02070309020205020404" pitchFamily="49" charset="0"/>
              </a:rPr>
              <a:t>th</a:t>
            </a:r>
            <a:r>
              <a:rPr lang="en-US" i="1" dirty="0">
                <a:solidFill>
                  <a:schemeClr val="accent1">
                    <a:lumMod val="75000"/>
                  </a:schemeClr>
                </a:solidFill>
                <a:latin typeface="Courier New" panose="02070309020205020404" pitchFamily="49" charset="0"/>
                <a:cs typeface="Courier New" panose="02070309020205020404" pitchFamily="49" charset="0"/>
              </a:rPr>
              <a:t> columns</a:t>
            </a:r>
          </a:p>
          <a:p>
            <a:endParaRPr lang="en-US" i="1" dirty="0">
              <a:solidFill>
                <a:schemeClr val="accent1">
                  <a:lumMod val="75000"/>
                </a:schemeClr>
              </a:solidFill>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86444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Sorting</a:t>
            </a:r>
          </a:p>
        </p:txBody>
      </p:sp>
      <p:sp>
        <p:nvSpPr>
          <p:cNvPr id="4" name="Slide Number Placeholder 3"/>
          <p:cNvSpPr>
            <a:spLocks noGrp="1"/>
          </p:cNvSpPr>
          <p:nvPr>
            <p:ph type="sldNum" sz="quarter" idx="12"/>
          </p:nvPr>
        </p:nvSpPr>
        <p:spPr/>
        <p:txBody>
          <a:bodyPr/>
          <a:lstStyle/>
          <a:p>
            <a:fld id="{B841CA95-E0BC-48B5-948A-ECC494EB4D84}" type="slidenum">
              <a:rPr lang="en-US" smtClean="0"/>
              <a:t>40</a:t>
            </a:fld>
            <a:endParaRPr lang="en-US"/>
          </a:p>
        </p:txBody>
      </p:sp>
      <p:sp>
        <p:nvSpPr>
          <p:cNvPr id="7" name="TextBox 6"/>
          <p:cNvSpPr txBox="1"/>
          <p:nvPr/>
        </p:nvSpPr>
        <p:spPr>
          <a:xfrm>
            <a:off x="991089" y="2009262"/>
            <a:ext cx="10418164" cy="830997"/>
          </a:xfrm>
          <a:prstGeom prst="rect">
            <a:avLst/>
          </a:prstGeom>
          <a:noFill/>
        </p:spPr>
        <p:txBody>
          <a:bodyPr wrap="square" rtlCol="0">
            <a:spAutoFit/>
          </a:bodyPr>
          <a:lstStyle/>
          <a:p>
            <a:r>
              <a:rPr lang="en-US" sz="2400" dirty="0"/>
              <a:t>We can sort the data by a value in the column. By default the sorting will occur in ascending order and a new data frame is return. </a:t>
            </a:r>
          </a:p>
        </p:txBody>
      </p:sp>
      <p:sp>
        <p:nvSpPr>
          <p:cNvPr id="8" name="TextBox 7"/>
          <p:cNvSpPr txBox="1"/>
          <p:nvPr/>
        </p:nvSpPr>
        <p:spPr>
          <a:xfrm>
            <a:off x="203023" y="3147936"/>
            <a:ext cx="10453566"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1" name="TextBox 10"/>
          <p:cNvSpPr txBox="1"/>
          <p:nvPr/>
        </p:nvSpPr>
        <p:spPr>
          <a:xfrm>
            <a:off x="1648913" y="3147936"/>
            <a:ext cx="10268267" cy="923330"/>
          </a:xfrm>
          <a:prstGeom prst="rect">
            <a:avLst/>
          </a:prstGeom>
          <a:noFill/>
          <a:ln>
            <a:solidFill>
              <a:schemeClr val="bg2">
                <a:lumMod val="90000"/>
              </a:schemeClr>
            </a:solidFill>
          </a:ln>
        </p:spPr>
        <p:txBody>
          <a:bodyPr wrap="square" rtlCol="0">
            <a:spAutoFit/>
          </a:bodyPr>
          <a:lstStyle/>
          <a:p>
            <a:r>
              <a:rPr lang="en-US" i="1" dirty="0">
                <a:solidFill>
                  <a:schemeClr val="accent1">
                    <a:lumMod val="75000"/>
                  </a:schemeClr>
                </a:solidFill>
                <a:latin typeface="Courier New" panose="02070309020205020404" pitchFamily="49" charset="0"/>
                <a:cs typeface="Courier New" panose="02070309020205020404" pitchFamily="49" charset="0"/>
              </a:rPr>
              <a:t># Create a new data frame from the original sorted by the column Salary</a:t>
            </a:r>
          </a:p>
          <a:p>
            <a:r>
              <a:rPr lang="en-US" dirty="0" err="1">
                <a:solidFill>
                  <a:schemeClr val="bg2">
                    <a:lumMod val="25000"/>
                  </a:schemeClr>
                </a:solidFill>
                <a:latin typeface="Courier New" panose="02070309020205020404" pitchFamily="49" charset="0"/>
                <a:cs typeface="Courier New" panose="02070309020205020404" pitchFamily="49" charset="0"/>
              </a:rPr>
              <a:t>df_sorted</a:t>
            </a:r>
            <a:r>
              <a:rPr lang="en-US" dirty="0">
                <a:solidFill>
                  <a:schemeClr val="bg2">
                    <a:lumMod val="25000"/>
                  </a:schemeClr>
                </a:solidFill>
                <a:latin typeface="Courier New" panose="02070309020205020404" pitchFamily="49" charset="0"/>
                <a:cs typeface="Courier New" panose="02070309020205020404" pitchFamily="49" charset="0"/>
              </a:rPr>
              <a:t> = </a:t>
            </a:r>
            <a:r>
              <a:rPr lang="en-US" dirty="0" err="1">
                <a:solidFill>
                  <a:schemeClr val="bg2">
                    <a:lumMod val="25000"/>
                  </a:schemeClr>
                </a:solidFill>
                <a:latin typeface="Courier New" panose="02070309020205020404" pitchFamily="49" charset="0"/>
                <a:cs typeface="Courier New" panose="02070309020205020404" pitchFamily="49" charset="0"/>
              </a:rPr>
              <a:t>df</a:t>
            </a:r>
            <a:r>
              <a:rPr lang="en-US" dirty="0" err="1">
                <a:latin typeface="Courier New" panose="02070309020205020404" pitchFamily="49" charset="0"/>
                <a:cs typeface="Courier New" panose="02070309020205020404" pitchFamily="49" charset="0"/>
              </a:rPr>
              <a:t>.sort_values</a:t>
            </a:r>
            <a:r>
              <a:rPr lang="en-US" dirty="0">
                <a:latin typeface="Courier New" panose="02070309020205020404" pitchFamily="49" charset="0"/>
                <a:cs typeface="Courier New" panose="02070309020205020404" pitchFamily="49" charset="0"/>
              </a:rPr>
              <a:t>( by</a:t>
            </a:r>
            <a:r>
              <a:rPr lang="en-US" dirty="0">
                <a:solidFill>
                  <a:schemeClr val="accent6">
                    <a:lumMod val="75000"/>
                  </a:schemeClr>
                </a:solidFill>
                <a:latin typeface="Courier New" panose="02070309020205020404" pitchFamily="49" charset="0"/>
                <a:cs typeface="Courier New" panose="02070309020205020404" pitchFamily="49" charset="0"/>
              </a:rPr>
              <a:t> =</a:t>
            </a:r>
            <a:r>
              <a:rPr lang="en-US" dirty="0">
                <a:solidFill>
                  <a:srgbClr val="C00000"/>
                </a:solidFill>
                <a:latin typeface="Courier New" panose="02070309020205020404" pitchFamily="49" charset="0"/>
                <a:cs typeface="Courier New" panose="02070309020205020404" pitchFamily="49" charset="0"/>
              </a:rPr>
              <a:t>'service'</a:t>
            </a:r>
            <a:r>
              <a:rPr lang="en-US" dirty="0">
                <a:latin typeface="Courier New" panose="02070309020205020404" pitchFamily="49" charset="0"/>
                <a:cs typeface="Courier New" panose="02070309020205020404" pitchFamily="49" charset="0"/>
              </a:rPr>
              <a:t>)</a:t>
            </a:r>
          </a:p>
          <a:p>
            <a:r>
              <a:rPr lang="en-US" dirty="0" err="1">
                <a:latin typeface="Courier New" panose="02070309020205020404" pitchFamily="49" charset="0"/>
                <a:cs typeface="Courier New" panose="02070309020205020404" pitchFamily="49" charset="0"/>
              </a:rPr>
              <a:t>df_sorted.head</a:t>
            </a:r>
            <a:r>
              <a:rPr lang="en-US" dirty="0">
                <a:latin typeface="Courier New" panose="02070309020205020404" pitchFamily="49" charset="0"/>
                <a:cs typeface="Courier New" panose="02070309020205020404" pitchFamily="49" charset="0"/>
              </a:rPr>
              <a:t>()</a:t>
            </a:r>
          </a:p>
        </p:txBody>
      </p:sp>
      <p:sp>
        <p:nvSpPr>
          <p:cNvPr id="12" name="TextBox 11"/>
          <p:cNvSpPr txBox="1"/>
          <p:nvPr/>
        </p:nvSpPr>
        <p:spPr>
          <a:xfrm>
            <a:off x="231693" y="4272876"/>
            <a:ext cx="10453566"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913" y="4378943"/>
            <a:ext cx="3566469" cy="1661304"/>
          </a:xfrm>
          <a:prstGeom prst="rect">
            <a:avLst/>
          </a:prstGeom>
        </p:spPr>
      </p:pic>
    </p:spTree>
    <p:extLst>
      <p:ext uri="{BB962C8B-B14F-4D97-AF65-F5344CB8AC3E}">
        <p14:creationId xmlns:p14="http://schemas.microsoft.com/office/powerpoint/2010/main" val="486049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Frames: Sorting</a:t>
            </a:r>
          </a:p>
        </p:txBody>
      </p:sp>
      <p:sp>
        <p:nvSpPr>
          <p:cNvPr id="4" name="Slide Number Placeholder 3"/>
          <p:cNvSpPr>
            <a:spLocks noGrp="1"/>
          </p:cNvSpPr>
          <p:nvPr>
            <p:ph type="sldNum" sz="quarter" idx="12"/>
          </p:nvPr>
        </p:nvSpPr>
        <p:spPr/>
        <p:txBody>
          <a:bodyPr/>
          <a:lstStyle/>
          <a:p>
            <a:fld id="{B841CA95-E0BC-48B5-948A-ECC494EB4D84}" type="slidenum">
              <a:rPr lang="en-US" smtClean="0"/>
              <a:t>41</a:t>
            </a:fld>
            <a:endParaRPr lang="en-US"/>
          </a:p>
        </p:txBody>
      </p:sp>
      <p:sp>
        <p:nvSpPr>
          <p:cNvPr id="7" name="TextBox 6"/>
          <p:cNvSpPr txBox="1"/>
          <p:nvPr/>
        </p:nvSpPr>
        <p:spPr>
          <a:xfrm>
            <a:off x="991089" y="2009262"/>
            <a:ext cx="10418164" cy="461665"/>
          </a:xfrm>
          <a:prstGeom prst="rect">
            <a:avLst/>
          </a:prstGeom>
          <a:noFill/>
        </p:spPr>
        <p:txBody>
          <a:bodyPr wrap="square" rtlCol="0">
            <a:spAutoFit/>
          </a:bodyPr>
          <a:lstStyle/>
          <a:p>
            <a:r>
              <a:rPr lang="en-US" sz="2400" dirty="0"/>
              <a:t>We can sort the data using 2 or more columns:</a:t>
            </a:r>
          </a:p>
        </p:txBody>
      </p:sp>
      <p:sp>
        <p:nvSpPr>
          <p:cNvPr id="8" name="TextBox 7"/>
          <p:cNvSpPr txBox="1"/>
          <p:nvPr/>
        </p:nvSpPr>
        <p:spPr>
          <a:xfrm>
            <a:off x="-77533" y="2566042"/>
            <a:ext cx="10846184"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1" name="TextBox 10"/>
          <p:cNvSpPr txBox="1"/>
          <p:nvPr/>
        </p:nvSpPr>
        <p:spPr>
          <a:xfrm>
            <a:off x="1368357" y="2566042"/>
            <a:ext cx="10653925" cy="615553"/>
          </a:xfrm>
          <a:prstGeom prst="rect">
            <a:avLst/>
          </a:prstGeom>
          <a:noFill/>
          <a:ln>
            <a:solidFill>
              <a:schemeClr val="bg2">
                <a:lumMod val="90000"/>
              </a:schemeClr>
            </a:solidFill>
          </a:ln>
        </p:spPr>
        <p:txBody>
          <a:bodyPr wrap="square" rtlCol="0">
            <a:spAutoFit/>
          </a:bodyPr>
          <a:lstStyle/>
          <a:p>
            <a:r>
              <a:rPr lang="en-US" sz="1600" dirty="0" err="1">
                <a:solidFill>
                  <a:schemeClr val="bg2">
                    <a:lumMod val="25000"/>
                  </a:schemeClr>
                </a:solidFill>
                <a:latin typeface="Courier New" panose="02070309020205020404" pitchFamily="49" charset="0"/>
                <a:cs typeface="Courier New" panose="02070309020205020404" pitchFamily="49" charset="0"/>
              </a:rPr>
              <a:t>df_sorted</a:t>
            </a:r>
            <a:r>
              <a:rPr lang="en-US" sz="1600" dirty="0">
                <a:solidFill>
                  <a:schemeClr val="bg2">
                    <a:lumMod val="25000"/>
                  </a:schemeClr>
                </a:solidFill>
                <a:latin typeface="Courier New" panose="02070309020205020404" pitchFamily="49" charset="0"/>
                <a:cs typeface="Courier New" panose="02070309020205020404" pitchFamily="49" charset="0"/>
              </a:rPr>
              <a:t> = </a:t>
            </a:r>
            <a:r>
              <a:rPr lang="en-US" sz="1600" dirty="0" err="1">
                <a:solidFill>
                  <a:schemeClr val="bg2">
                    <a:lumMod val="25000"/>
                  </a:schemeClr>
                </a:solidFill>
                <a:latin typeface="Courier New" panose="02070309020205020404" pitchFamily="49" charset="0"/>
                <a:cs typeface="Courier New" panose="02070309020205020404" pitchFamily="49" charset="0"/>
              </a:rPr>
              <a:t>df</a:t>
            </a:r>
            <a:r>
              <a:rPr lang="en-US" sz="1600" dirty="0" err="1">
                <a:latin typeface="Courier New" panose="02070309020205020404" pitchFamily="49" charset="0"/>
                <a:cs typeface="Courier New" panose="02070309020205020404" pitchFamily="49" charset="0"/>
              </a:rPr>
              <a:t>.sort_values</a:t>
            </a:r>
            <a:r>
              <a:rPr lang="en-US" sz="1600" dirty="0">
                <a:latin typeface="Courier New" panose="02070309020205020404" pitchFamily="49" charset="0"/>
                <a:cs typeface="Courier New" panose="02070309020205020404" pitchFamily="49" charset="0"/>
              </a:rPr>
              <a:t>( by</a:t>
            </a:r>
            <a:r>
              <a:rPr lang="en-US" sz="1600" dirty="0">
                <a:solidFill>
                  <a:schemeClr val="accent6">
                    <a:lumMod val="75000"/>
                  </a:schemeClr>
                </a:solidFill>
                <a:latin typeface="Courier New" panose="02070309020205020404" pitchFamily="49" charset="0"/>
                <a:cs typeface="Courier New" panose="02070309020205020404" pitchFamily="49" charset="0"/>
              </a:rPr>
              <a:t> =[</a:t>
            </a:r>
            <a:r>
              <a:rPr lang="en-US" sz="1600" dirty="0">
                <a:solidFill>
                  <a:srgbClr val="C00000"/>
                </a:solidFill>
                <a:latin typeface="Courier New" panose="02070309020205020404" pitchFamily="49" charset="0"/>
                <a:cs typeface="Courier New" panose="02070309020205020404" pitchFamily="49" charset="0"/>
              </a:rPr>
              <a:t>'service'</a:t>
            </a:r>
            <a:r>
              <a:rPr lang="en-US" sz="1600" dirty="0">
                <a:latin typeface="Courier New" panose="02070309020205020404" pitchFamily="49" charset="0"/>
                <a:cs typeface="Courier New" panose="02070309020205020404" pitchFamily="49" charset="0"/>
              </a:rPr>
              <a:t>,</a:t>
            </a:r>
            <a:r>
              <a:rPr lang="en-US" sz="1600" dirty="0">
                <a:solidFill>
                  <a:srgbClr val="C00000"/>
                </a:solidFill>
                <a:latin typeface="Courier New" panose="02070309020205020404" pitchFamily="49" charset="0"/>
                <a:cs typeface="Courier New" panose="02070309020205020404" pitchFamily="49" charset="0"/>
              </a:rPr>
              <a:t> 'salary</a:t>
            </a:r>
            <a:r>
              <a:rPr lang="en-US" sz="1600" dirty="0">
                <a:latin typeface="Courier New" panose="02070309020205020404" pitchFamily="49" charset="0"/>
                <a:cs typeface="Courier New" panose="02070309020205020404" pitchFamily="49" charset="0"/>
              </a:rPr>
              <a:t>'], ascending = [</a:t>
            </a:r>
            <a:r>
              <a:rPr lang="en-US" sz="1600" b="1" dirty="0">
                <a:solidFill>
                  <a:schemeClr val="accent6">
                    <a:lumMod val="75000"/>
                  </a:schemeClr>
                </a:solidFill>
                <a:latin typeface="Courier New" panose="02070309020205020404" pitchFamily="49" charset="0"/>
                <a:cs typeface="Courier New" panose="02070309020205020404" pitchFamily="49" charset="0"/>
              </a:rPr>
              <a:t>True</a:t>
            </a:r>
            <a:r>
              <a:rPr lang="en-US" sz="1600" dirty="0">
                <a:latin typeface="Courier New" panose="02070309020205020404" pitchFamily="49" charset="0"/>
                <a:cs typeface="Courier New" panose="02070309020205020404" pitchFamily="49" charset="0"/>
              </a:rPr>
              <a:t>,</a:t>
            </a:r>
            <a:r>
              <a:rPr lang="en-US" sz="1600" dirty="0">
                <a:solidFill>
                  <a:srgbClr val="C00000"/>
                </a:solidFill>
                <a:latin typeface="Courier New" panose="02070309020205020404" pitchFamily="49" charset="0"/>
                <a:cs typeface="Courier New" panose="02070309020205020404" pitchFamily="49" charset="0"/>
              </a:rPr>
              <a:t> </a:t>
            </a:r>
            <a:r>
              <a:rPr lang="en-US" sz="1600" b="1" dirty="0">
                <a:solidFill>
                  <a:schemeClr val="accent6">
                    <a:lumMod val="75000"/>
                  </a:schemeClr>
                </a:solidFill>
                <a:latin typeface="Courier New" panose="02070309020205020404" pitchFamily="49" charset="0"/>
                <a:cs typeface="Courier New" panose="02070309020205020404" pitchFamily="49" charset="0"/>
              </a:rPr>
              <a:t>False</a:t>
            </a:r>
            <a:r>
              <a:rPr lang="en-US" sz="1600" dirty="0">
                <a:latin typeface="Courier New" panose="02070309020205020404" pitchFamily="49" charset="0"/>
                <a:cs typeface="Courier New" panose="02070309020205020404" pitchFamily="49" charset="0"/>
              </a:rPr>
              <a:t>])</a:t>
            </a:r>
          </a:p>
          <a:p>
            <a:r>
              <a:rPr lang="en-US" dirty="0" err="1">
                <a:latin typeface="Courier New" panose="02070309020205020404" pitchFamily="49" charset="0"/>
                <a:cs typeface="Courier New" panose="02070309020205020404" pitchFamily="49" charset="0"/>
              </a:rPr>
              <a:t>df_sorted.head</a:t>
            </a:r>
            <a:r>
              <a:rPr lang="en-US" dirty="0">
                <a:latin typeface="Courier New" panose="02070309020205020404" pitchFamily="49" charset="0"/>
                <a:cs typeface="Courier New" panose="02070309020205020404" pitchFamily="49" charset="0"/>
              </a:rPr>
              <a:t>(</a:t>
            </a:r>
            <a:r>
              <a:rPr lang="en-US" dirty="0">
                <a:solidFill>
                  <a:schemeClr val="accent6">
                    <a:lumMod val="75000"/>
                  </a:schemeClr>
                </a:solidFill>
                <a:latin typeface="Courier New" panose="02070309020205020404" pitchFamily="49" charset="0"/>
                <a:cs typeface="Courier New" panose="02070309020205020404" pitchFamily="49" charset="0"/>
              </a:rPr>
              <a:t>10</a:t>
            </a:r>
            <a:r>
              <a:rPr lang="en-US" dirty="0">
                <a:latin typeface="Courier New" panose="02070309020205020404" pitchFamily="49" charset="0"/>
                <a:cs typeface="Courier New" panose="02070309020205020404" pitchFamily="49" charset="0"/>
              </a:rPr>
              <a:t>)</a:t>
            </a:r>
          </a:p>
        </p:txBody>
      </p:sp>
      <p:sp>
        <p:nvSpPr>
          <p:cNvPr id="12" name="TextBox 11"/>
          <p:cNvSpPr txBox="1"/>
          <p:nvPr/>
        </p:nvSpPr>
        <p:spPr>
          <a:xfrm>
            <a:off x="-48863" y="3690982"/>
            <a:ext cx="10846184"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357" y="3578891"/>
            <a:ext cx="3642676" cy="3101609"/>
          </a:xfrm>
          <a:prstGeom prst="rect">
            <a:avLst/>
          </a:prstGeom>
        </p:spPr>
      </p:pic>
    </p:spTree>
    <p:extLst>
      <p:ext uri="{BB962C8B-B14F-4D97-AF65-F5344CB8AC3E}">
        <p14:creationId xmlns:p14="http://schemas.microsoft.com/office/powerpoint/2010/main" val="4088247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4" name="Slide Number Placeholder 3"/>
          <p:cNvSpPr>
            <a:spLocks noGrp="1"/>
          </p:cNvSpPr>
          <p:nvPr>
            <p:ph type="sldNum" sz="quarter" idx="12"/>
          </p:nvPr>
        </p:nvSpPr>
        <p:spPr/>
        <p:txBody>
          <a:bodyPr/>
          <a:lstStyle/>
          <a:p>
            <a:fld id="{B841CA95-E0BC-48B5-948A-ECC494EB4D84}" type="slidenum">
              <a:rPr lang="en-US" smtClean="0"/>
              <a:t>42</a:t>
            </a:fld>
            <a:endParaRPr lang="en-US"/>
          </a:p>
        </p:txBody>
      </p:sp>
      <p:sp>
        <p:nvSpPr>
          <p:cNvPr id="7" name="TextBox 6"/>
          <p:cNvSpPr txBox="1"/>
          <p:nvPr/>
        </p:nvSpPr>
        <p:spPr>
          <a:xfrm>
            <a:off x="991089" y="1770269"/>
            <a:ext cx="10418164" cy="461665"/>
          </a:xfrm>
          <a:prstGeom prst="rect">
            <a:avLst/>
          </a:prstGeom>
          <a:noFill/>
        </p:spPr>
        <p:txBody>
          <a:bodyPr wrap="square" rtlCol="0">
            <a:spAutoFit/>
          </a:bodyPr>
          <a:lstStyle/>
          <a:p>
            <a:r>
              <a:rPr lang="en-US" sz="2400" dirty="0"/>
              <a:t>Missing values are marked as </a:t>
            </a:r>
            <a:r>
              <a:rPr lang="en-US" sz="2400" dirty="0" err="1"/>
              <a:t>NaN</a:t>
            </a:r>
            <a:endParaRPr lang="en-US" sz="2400" dirty="0"/>
          </a:p>
        </p:txBody>
      </p:sp>
      <p:sp>
        <p:nvSpPr>
          <p:cNvPr id="8" name="TextBox 7"/>
          <p:cNvSpPr txBox="1"/>
          <p:nvPr/>
        </p:nvSpPr>
        <p:spPr>
          <a:xfrm>
            <a:off x="-77533" y="2327049"/>
            <a:ext cx="10846184"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1" name="TextBox 10"/>
          <p:cNvSpPr txBox="1"/>
          <p:nvPr/>
        </p:nvSpPr>
        <p:spPr>
          <a:xfrm>
            <a:off x="1368357" y="2327049"/>
            <a:ext cx="10653925" cy="584775"/>
          </a:xfrm>
          <a:prstGeom prst="rect">
            <a:avLst/>
          </a:prstGeom>
          <a:noFill/>
          <a:ln>
            <a:solidFill>
              <a:schemeClr val="bg2">
                <a:lumMod val="90000"/>
              </a:schemeClr>
            </a:solidFill>
          </a:ln>
        </p:spPr>
        <p:txBody>
          <a:bodyPr wrap="square" rtlCol="0">
            <a:spAutoFit/>
          </a:bodyPr>
          <a:lstStyle/>
          <a:p>
            <a:r>
              <a:rPr lang="en-US" sz="1600" dirty="0">
                <a:solidFill>
                  <a:schemeClr val="accent6">
                    <a:lumMod val="75000"/>
                  </a:schemeClr>
                </a:solidFill>
                <a:latin typeface="Courier New" panose="02070309020205020404" pitchFamily="49" charset="0"/>
                <a:cs typeface="Courier New" panose="02070309020205020404" pitchFamily="49" charset="0"/>
              </a:rPr>
              <a:t># Read a dataset with missing values</a:t>
            </a:r>
          </a:p>
          <a:p>
            <a:r>
              <a:rPr lang="en-US" sz="1600" dirty="0">
                <a:solidFill>
                  <a:schemeClr val="bg2">
                    <a:lumMod val="25000"/>
                  </a:schemeClr>
                </a:solidFill>
                <a:latin typeface="Courier New" panose="02070309020205020404" pitchFamily="49" charset="0"/>
                <a:cs typeface="Courier New" panose="02070309020205020404" pitchFamily="49" charset="0"/>
              </a:rPr>
              <a:t>flights = </a:t>
            </a:r>
            <a:r>
              <a:rPr lang="en-US" sz="1600" dirty="0" err="1">
                <a:solidFill>
                  <a:schemeClr val="bg2">
                    <a:lumMod val="25000"/>
                  </a:schemeClr>
                </a:solidFill>
                <a:latin typeface="Courier New" panose="02070309020205020404" pitchFamily="49" charset="0"/>
                <a:cs typeface="Courier New" panose="02070309020205020404" pitchFamily="49" charset="0"/>
              </a:rPr>
              <a:t>pd.read_csv</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a:solidFill>
                  <a:srgbClr val="C00000"/>
                </a:solidFill>
                <a:latin typeface="Courier New" panose="02070309020205020404" pitchFamily="49" charset="0"/>
                <a:cs typeface="Courier New" panose="02070309020205020404" pitchFamily="49" charset="0"/>
              </a:rPr>
              <a:t>"http://rcs.bu.edu/examples/python/</a:t>
            </a:r>
            <a:r>
              <a:rPr lang="en-US" sz="1600" dirty="0" err="1">
                <a:solidFill>
                  <a:srgbClr val="C00000"/>
                </a:solidFill>
                <a:latin typeface="Courier New" panose="02070309020205020404" pitchFamily="49" charset="0"/>
                <a:cs typeface="Courier New" panose="02070309020205020404" pitchFamily="49" charset="0"/>
              </a:rPr>
              <a:t>data_analysis</a:t>
            </a:r>
            <a:r>
              <a:rPr lang="en-US" sz="1600" dirty="0">
                <a:solidFill>
                  <a:srgbClr val="C00000"/>
                </a:solidFill>
                <a:latin typeface="Courier New" panose="02070309020205020404" pitchFamily="49" charset="0"/>
                <a:cs typeface="Courier New" panose="02070309020205020404" pitchFamily="49" charset="0"/>
              </a:rPr>
              <a:t>/flights.csv"</a:t>
            </a:r>
            <a:r>
              <a:rPr lang="en-US" sz="1600" dirty="0">
                <a:solidFill>
                  <a:schemeClr val="bg2">
                    <a:lumMod val="25000"/>
                  </a:schemeClr>
                </a:solidFill>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9" name="TextBox 8"/>
          <p:cNvSpPr txBox="1"/>
          <p:nvPr/>
        </p:nvSpPr>
        <p:spPr>
          <a:xfrm>
            <a:off x="-91389" y="3237992"/>
            <a:ext cx="10846184"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10" name="TextBox 9"/>
          <p:cNvSpPr txBox="1"/>
          <p:nvPr/>
        </p:nvSpPr>
        <p:spPr>
          <a:xfrm>
            <a:off x="1354501" y="3237992"/>
            <a:ext cx="10653925" cy="584775"/>
          </a:xfrm>
          <a:prstGeom prst="rect">
            <a:avLst/>
          </a:prstGeom>
          <a:noFill/>
          <a:ln>
            <a:solidFill>
              <a:schemeClr val="bg2">
                <a:lumMod val="90000"/>
              </a:schemeClr>
            </a:solidFill>
          </a:ln>
        </p:spPr>
        <p:txBody>
          <a:bodyPr wrap="square" rtlCol="0">
            <a:spAutoFit/>
          </a:bodyPr>
          <a:lstStyle/>
          <a:p>
            <a:r>
              <a:rPr lang="en-US" sz="1600" dirty="0">
                <a:solidFill>
                  <a:schemeClr val="accent6">
                    <a:lumMod val="75000"/>
                  </a:schemeClr>
                </a:solidFill>
                <a:latin typeface="Courier New" panose="02070309020205020404" pitchFamily="49" charset="0"/>
                <a:cs typeface="Courier New" panose="02070309020205020404" pitchFamily="49" charset="0"/>
              </a:rPr>
              <a:t># Select the rows that have at least one missing value</a:t>
            </a:r>
          </a:p>
          <a:p>
            <a:r>
              <a:rPr lang="en-US" sz="1600" dirty="0">
                <a:solidFill>
                  <a:schemeClr val="bg2">
                    <a:lumMod val="25000"/>
                  </a:schemeClr>
                </a:solidFill>
                <a:latin typeface="Courier New" panose="02070309020205020404" pitchFamily="49" charset="0"/>
                <a:cs typeface="Courier New" panose="02070309020205020404" pitchFamily="49" charset="0"/>
              </a:rPr>
              <a:t>flights[</a:t>
            </a:r>
            <a:r>
              <a:rPr lang="en-US" sz="1600" dirty="0" err="1">
                <a:solidFill>
                  <a:schemeClr val="bg2">
                    <a:lumMod val="25000"/>
                  </a:schemeClr>
                </a:solidFill>
                <a:latin typeface="Courier New" panose="02070309020205020404" pitchFamily="49" charset="0"/>
                <a:cs typeface="Courier New" panose="02070309020205020404" pitchFamily="49" charset="0"/>
              </a:rPr>
              <a:t>flights.isnull</a:t>
            </a:r>
            <a:r>
              <a:rPr lang="en-US" sz="1600" dirty="0">
                <a:solidFill>
                  <a:schemeClr val="bg2">
                    <a:lumMod val="25000"/>
                  </a:schemeClr>
                </a:solidFill>
                <a:latin typeface="Courier New" panose="02070309020205020404" pitchFamily="49" charset="0"/>
                <a:cs typeface="Courier New" panose="02070309020205020404" pitchFamily="49" charset="0"/>
              </a:rPr>
              <a:t>().any(axis=1)].head()</a:t>
            </a:r>
            <a:endParaRPr lang="en-US" dirty="0">
              <a:latin typeface="Courier New" panose="02070309020205020404" pitchFamily="49" charset="0"/>
              <a:cs typeface="Courier New" panose="02070309020205020404" pitchFamily="49" charset="0"/>
            </a:endParaRPr>
          </a:p>
        </p:txBody>
      </p:sp>
      <p:sp>
        <p:nvSpPr>
          <p:cNvPr id="13" name="TextBox 12"/>
          <p:cNvSpPr txBox="1"/>
          <p:nvPr/>
        </p:nvSpPr>
        <p:spPr>
          <a:xfrm>
            <a:off x="-80036" y="3992320"/>
            <a:ext cx="10846184"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4501" y="4079954"/>
            <a:ext cx="8740897" cy="1737511"/>
          </a:xfrm>
          <a:prstGeom prst="rect">
            <a:avLst/>
          </a:prstGeom>
        </p:spPr>
      </p:pic>
    </p:spTree>
    <p:extLst>
      <p:ext uri="{BB962C8B-B14F-4D97-AF65-F5344CB8AC3E}">
        <p14:creationId xmlns:p14="http://schemas.microsoft.com/office/powerpoint/2010/main" val="3307902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4" name="Slide Number Placeholder 3"/>
          <p:cNvSpPr>
            <a:spLocks noGrp="1"/>
          </p:cNvSpPr>
          <p:nvPr>
            <p:ph type="sldNum" sz="quarter" idx="12"/>
          </p:nvPr>
        </p:nvSpPr>
        <p:spPr/>
        <p:txBody>
          <a:bodyPr/>
          <a:lstStyle/>
          <a:p>
            <a:fld id="{B841CA95-E0BC-48B5-948A-ECC494EB4D84}" type="slidenum">
              <a:rPr lang="en-US" smtClean="0"/>
              <a:t>43</a:t>
            </a:fld>
            <a:endParaRPr lang="en-US"/>
          </a:p>
        </p:txBody>
      </p:sp>
      <p:sp>
        <p:nvSpPr>
          <p:cNvPr id="7" name="TextBox 6"/>
          <p:cNvSpPr txBox="1"/>
          <p:nvPr/>
        </p:nvSpPr>
        <p:spPr>
          <a:xfrm>
            <a:off x="991089" y="1770269"/>
            <a:ext cx="10418164" cy="461665"/>
          </a:xfrm>
          <a:prstGeom prst="rect">
            <a:avLst/>
          </a:prstGeom>
          <a:noFill/>
        </p:spPr>
        <p:txBody>
          <a:bodyPr wrap="square" rtlCol="0">
            <a:spAutoFit/>
          </a:bodyPr>
          <a:lstStyle/>
          <a:p>
            <a:r>
              <a:rPr lang="en-US" sz="2400" dirty="0"/>
              <a:t>There are a number of methods to deal with missing values in the data frame:</a:t>
            </a:r>
          </a:p>
        </p:txBody>
      </p:sp>
      <p:graphicFrame>
        <p:nvGraphicFramePr>
          <p:cNvPr id="12" name="Table 11"/>
          <p:cNvGraphicFramePr>
            <a:graphicFrameLocks noGrp="1"/>
          </p:cNvGraphicFramePr>
          <p:nvPr>
            <p:extLst>
              <p:ext uri="{D42A27DB-BD31-4B8C-83A1-F6EECF244321}">
                <p14:modId xmlns:p14="http://schemas.microsoft.com/office/powerpoint/2010/main" val="3160167797"/>
              </p:ext>
            </p:extLst>
          </p:nvPr>
        </p:nvGraphicFramePr>
        <p:xfrm>
          <a:off x="927725" y="2418414"/>
          <a:ext cx="8431134" cy="4165425"/>
        </p:xfrm>
        <a:graphic>
          <a:graphicData uri="http://schemas.openxmlformats.org/drawingml/2006/table">
            <a:tbl>
              <a:tblPr firstRow="1" bandRow="1">
                <a:tableStyleId>{B301B821-A1FF-4177-AEE7-76D212191A09}</a:tableStyleId>
              </a:tblPr>
              <a:tblGrid>
                <a:gridCol w="2564983">
                  <a:extLst>
                    <a:ext uri="{9D8B030D-6E8A-4147-A177-3AD203B41FA5}">
                      <a16:colId xmlns:a16="http://schemas.microsoft.com/office/drawing/2014/main" val="20000"/>
                    </a:ext>
                  </a:extLst>
                </a:gridCol>
                <a:gridCol w="5866151">
                  <a:extLst>
                    <a:ext uri="{9D8B030D-6E8A-4147-A177-3AD203B41FA5}">
                      <a16:colId xmlns:a16="http://schemas.microsoft.com/office/drawing/2014/main" val="20001"/>
                    </a:ext>
                  </a:extLst>
                </a:gridCol>
              </a:tblGrid>
              <a:tr h="578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df.method</a:t>
                      </a:r>
                      <a:r>
                        <a:rPr lang="en-US" sz="2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83804">
                <a:tc>
                  <a:txBody>
                    <a:bodyPr/>
                    <a:lstStyle/>
                    <a:p>
                      <a:r>
                        <a:rPr lang="en-US" dirty="0" err="1"/>
                        <a:t>dropna</a:t>
                      </a:r>
                      <a:r>
                        <a:rPr lang="en-US" dirty="0"/>
                        <a:t>()</a:t>
                      </a:r>
                    </a:p>
                  </a:txBody>
                  <a:tcPr/>
                </a:tc>
                <a:tc>
                  <a:txBody>
                    <a:bodyPr/>
                    <a:lstStyle/>
                    <a:p>
                      <a:r>
                        <a:rPr lang="en-US" dirty="0"/>
                        <a:t>Drop missing observations</a:t>
                      </a:r>
                    </a:p>
                  </a:txBody>
                  <a:tcPr/>
                </a:tc>
                <a:extLst>
                  <a:ext uri="{0D108BD9-81ED-4DB2-BD59-A6C34878D82A}">
                    <a16:rowId xmlns:a16="http://schemas.microsoft.com/office/drawing/2014/main" val="10001"/>
                  </a:ext>
                </a:extLst>
              </a:tr>
              <a:tr h="483804">
                <a:tc>
                  <a:txBody>
                    <a:bodyPr/>
                    <a:lstStyle/>
                    <a:p>
                      <a:r>
                        <a:rPr lang="en-US" dirty="0" err="1"/>
                        <a:t>dropna</a:t>
                      </a:r>
                      <a:r>
                        <a:rPr lang="en-US" dirty="0"/>
                        <a:t>(how='all')</a:t>
                      </a:r>
                    </a:p>
                  </a:txBody>
                  <a:tcPr/>
                </a:tc>
                <a:tc>
                  <a:txBody>
                    <a:bodyPr/>
                    <a:lstStyle/>
                    <a:p>
                      <a:r>
                        <a:rPr lang="en-US" dirty="0"/>
                        <a:t>Drop observations where all cells is NA</a:t>
                      </a:r>
                    </a:p>
                  </a:txBody>
                  <a:tcPr/>
                </a:tc>
                <a:extLst>
                  <a:ext uri="{0D108BD9-81ED-4DB2-BD59-A6C34878D82A}">
                    <a16:rowId xmlns:a16="http://schemas.microsoft.com/office/drawing/2014/main" val="10002"/>
                  </a:ext>
                </a:extLst>
              </a:tr>
              <a:tr h="531003">
                <a:tc>
                  <a:txBody>
                    <a:bodyPr/>
                    <a:lstStyle/>
                    <a:p>
                      <a:r>
                        <a:rPr lang="en-US" dirty="0" err="1"/>
                        <a:t>dropna</a:t>
                      </a:r>
                      <a:r>
                        <a:rPr lang="en-US" dirty="0"/>
                        <a:t>(axis=1, how='all')</a:t>
                      </a:r>
                    </a:p>
                  </a:txBody>
                  <a:tcPr/>
                </a:tc>
                <a:tc>
                  <a:txBody>
                    <a:bodyPr/>
                    <a:lstStyle/>
                    <a:p>
                      <a:r>
                        <a:rPr lang="en-US" dirty="0"/>
                        <a:t>Drop column if all the values are</a:t>
                      </a:r>
                      <a:r>
                        <a:rPr lang="en-US" baseline="0" dirty="0"/>
                        <a:t> missing</a:t>
                      </a:r>
                      <a:endParaRPr lang="en-US" dirty="0"/>
                    </a:p>
                  </a:txBody>
                  <a:tcPr/>
                </a:tc>
                <a:extLst>
                  <a:ext uri="{0D108BD9-81ED-4DB2-BD59-A6C34878D82A}">
                    <a16:rowId xmlns:a16="http://schemas.microsoft.com/office/drawing/2014/main" val="10003"/>
                  </a:ext>
                </a:extLst>
              </a:tr>
              <a:tr h="542803">
                <a:tc>
                  <a:txBody>
                    <a:bodyPr/>
                    <a:lstStyle/>
                    <a:p>
                      <a:r>
                        <a:rPr lang="en-US" dirty="0" err="1"/>
                        <a:t>dropna</a:t>
                      </a:r>
                      <a:r>
                        <a:rPr lang="en-US" dirty="0"/>
                        <a:t>(thresh = 5)</a:t>
                      </a:r>
                    </a:p>
                  </a:txBody>
                  <a:tcPr/>
                </a:tc>
                <a:tc>
                  <a:txBody>
                    <a:bodyPr/>
                    <a:lstStyle/>
                    <a:p>
                      <a:r>
                        <a:rPr lang="en-US" dirty="0"/>
                        <a:t>Drop rows that contain less than 5 non-missing values</a:t>
                      </a:r>
                    </a:p>
                  </a:txBody>
                  <a:tcPr/>
                </a:tc>
                <a:extLst>
                  <a:ext uri="{0D108BD9-81ED-4DB2-BD59-A6C34878D82A}">
                    <a16:rowId xmlns:a16="http://schemas.microsoft.com/office/drawing/2014/main" val="10004"/>
                  </a:ext>
                </a:extLst>
              </a:tr>
              <a:tr h="542803">
                <a:tc>
                  <a:txBody>
                    <a:bodyPr/>
                    <a:lstStyle/>
                    <a:p>
                      <a:r>
                        <a:rPr lang="en-US" dirty="0" err="1"/>
                        <a:t>fillna</a:t>
                      </a:r>
                      <a:r>
                        <a:rPr lang="en-US" dirty="0"/>
                        <a:t>(0)</a:t>
                      </a:r>
                    </a:p>
                  </a:txBody>
                  <a:tcPr/>
                </a:tc>
                <a:tc>
                  <a:txBody>
                    <a:bodyPr/>
                    <a:lstStyle/>
                    <a:p>
                      <a:r>
                        <a:rPr lang="en-US" dirty="0"/>
                        <a:t>Replace missing values with zeros</a:t>
                      </a:r>
                    </a:p>
                  </a:txBody>
                  <a:tcPr/>
                </a:tc>
                <a:extLst>
                  <a:ext uri="{0D108BD9-81ED-4DB2-BD59-A6C34878D82A}">
                    <a16:rowId xmlns:a16="http://schemas.microsoft.com/office/drawing/2014/main" val="10005"/>
                  </a:ext>
                </a:extLst>
              </a:tr>
              <a:tr h="501503">
                <a:tc>
                  <a:txBody>
                    <a:bodyPr/>
                    <a:lstStyle/>
                    <a:p>
                      <a:r>
                        <a:rPr lang="en-US" dirty="0" err="1"/>
                        <a:t>isnull</a:t>
                      </a:r>
                      <a:r>
                        <a:rPr lang="en-US" dirty="0"/>
                        <a:t>()</a:t>
                      </a:r>
                    </a:p>
                  </a:txBody>
                  <a:tcPr/>
                </a:tc>
                <a:tc>
                  <a:txBody>
                    <a:bodyPr/>
                    <a:lstStyle/>
                    <a:p>
                      <a:r>
                        <a:rPr lang="en-US" dirty="0"/>
                        <a:t>returns True if the value is missing</a:t>
                      </a:r>
                    </a:p>
                  </a:txBody>
                  <a:tcPr/>
                </a:tc>
                <a:extLst>
                  <a:ext uri="{0D108BD9-81ED-4DB2-BD59-A6C34878D82A}">
                    <a16:rowId xmlns:a16="http://schemas.microsoft.com/office/drawing/2014/main" val="10006"/>
                  </a:ext>
                </a:extLst>
              </a:tr>
              <a:tr h="501503">
                <a:tc>
                  <a:txBody>
                    <a:bodyPr/>
                    <a:lstStyle/>
                    <a:p>
                      <a:r>
                        <a:rPr lang="en-US" dirty="0" err="1"/>
                        <a:t>notnull</a:t>
                      </a:r>
                      <a:r>
                        <a:rPr lang="en-US" dirty="0"/>
                        <a:t>()</a:t>
                      </a:r>
                    </a:p>
                  </a:txBody>
                  <a:tcPr/>
                </a:tc>
                <a:tc>
                  <a:txBody>
                    <a:bodyPr/>
                    <a:lstStyle/>
                    <a:p>
                      <a:r>
                        <a:rPr lang="en-US" dirty="0"/>
                        <a:t>Returns True for non-missing values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92060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Missing Values</a:t>
            </a:r>
          </a:p>
        </p:txBody>
      </p:sp>
      <p:sp>
        <p:nvSpPr>
          <p:cNvPr id="4" name="Slide Number Placeholder 3"/>
          <p:cNvSpPr>
            <a:spLocks noGrp="1"/>
          </p:cNvSpPr>
          <p:nvPr>
            <p:ph type="sldNum" sz="quarter" idx="12"/>
          </p:nvPr>
        </p:nvSpPr>
        <p:spPr/>
        <p:txBody>
          <a:bodyPr/>
          <a:lstStyle/>
          <a:p>
            <a:fld id="{B841CA95-E0BC-48B5-948A-ECC494EB4D84}" type="slidenum">
              <a:rPr lang="en-US" smtClean="0"/>
              <a:t>44</a:t>
            </a:fld>
            <a:endParaRPr lang="en-US"/>
          </a:p>
        </p:txBody>
      </p:sp>
      <p:sp>
        <p:nvSpPr>
          <p:cNvPr id="7" name="TextBox 6"/>
          <p:cNvSpPr txBox="1"/>
          <p:nvPr/>
        </p:nvSpPr>
        <p:spPr>
          <a:xfrm>
            <a:off x="991089" y="1770269"/>
            <a:ext cx="10418164"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When summing the data, missing values will be treated as zero</a:t>
            </a:r>
          </a:p>
          <a:p>
            <a:pPr marL="342900" indent="-342900">
              <a:buFont typeface="Arial" panose="020B0604020202020204" pitchFamily="34" charset="0"/>
              <a:buChar char="•"/>
            </a:pPr>
            <a:r>
              <a:rPr lang="en-US" sz="2400" dirty="0"/>
              <a:t>If all values are missing, the sum will be equal to </a:t>
            </a:r>
            <a:r>
              <a:rPr lang="en-US" sz="2400" dirty="0" err="1"/>
              <a:t>NaN</a:t>
            </a:r>
            <a:endParaRPr lang="en-US" sz="2400" dirty="0"/>
          </a:p>
          <a:p>
            <a:pPr marL="342900" indent="-342900">
              <a:buFont typeface="Arial" panose="020B0604020202020204" pitchFamily="34" charset="0"/>
              <a:buChar char="•"/>
            </a:pPr>
            <a:r>
              <a:rPr lang="en-US" sz="2400" dirty="0" err="1"/>
              <a:t>cumsum</a:t>
            </a:r>
            <a:r>
              <a:rPr lang="en-US" sz="2400" dirty="0"/>
              <a:t>() and </a:t>
            </a:r>
            <a:r>
              <a:rPr lang="en-US" sz="2400" dirty="0" err="1"/>
              <a:t>cumprod</a:t>
            </a:r>
            <a:r>
              <a:rPr lang="en-US" sz="2400" dirty="0"/>
              <a:t>() methods ignore missing values but preserve them in the resulting arrays</a:t>
            </a:r>
          </a:p>
          <a:p>
            <a:pPr marL="342900" indent="-342900">
              <a:buFont typeface="Arial" panose="020B0604020202020204" pitchFamily="34" charset="0"/>
              <a:buChar char="•"/>
            </a:pPr>
            <a:r>
              <a:rPr lang="en-US" sz="2400" dirty="0"/>
              <a:t>Missing values in </a:t>
            </a:r>
            <a:r>
              <a:rPr lang="en-US" sz="2400" dirty="0" err="1"/>
              <a:t>GroupBy</a:t>
            </a:r>
            <a:r>
              <a:rPr lang="en-US" sz="2400" dirty="0"/>
              <a:t> method are excluded (just like in R)</a:t>
            </a:r>
          </a:p>
          <a:p>
            <a:pPr marL="342900" indent="-342900">
              <a:buFont typeface="Arial" panose="020B0604020202020204" pitchFamily="34" charset="0"/>
              <a:buChar char="•"/>
            </a:pPr>
            <a:r>
              <a:rPr lang="en-US" sz="2400" dirty="0"/>
              <a:t>Many descriptive statistics methods have </a:t>
            </a:r>
            <a:r>
              <a:rPr lang="en-US" sz="2400" i="1" dirty="0" err="1"/>
              <a:t>skipna</a:t>
            </a:r>
            <a:r>
              <a:rPr lang="en-US" sz="2400" i="1" dirty="0"/>
              <a:t> </a:t>
            </a:r>
            <a:r>
              <a:rPr lang="en-US" sz="2400" dirty="0"/>
              <a:t>option to control if missing data should be excluded . This value is set to </a:t>
            </a:r>
            <a:r>
              <a:rPr lang="en-US" sz="2400" i="1" dirty="0"/>
              <a:t>True </a:t>
            </a:r>
            <a:r>
              <a:rPr lang="en-US" sz="2400" dirty="0"/>
              <a:t>by default (unlike R)</a:t>
            </a:r>
          </a:p>
        </p:txBody>
      </p:sp>
    </p:spTree>
    <p:extLst>
      <p:ext uri="{BB962C8B-B14F-4D97-AF65-F5344CB8AC3E}">
        <p14:creationId xmlns:p14="http://schemas.microsoft.com/office/powerpoint/2010/main" val="3615251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Functions in Pandas</a:t>
            </a:r>
          </a:p>
        </p:txBody>
      </p:sp>
      <p:sp>
        <p:nvSpPr>
          <p:cNvPr id="4" name="Slide Number Placeholder 3"/>
          <p:cNvSpPr>
            <a:spLocks noGrp="1"/>
          </p:cNvSpPr>
          <p:nvPr>
            <p:ph type="sldNum" sz="quarter" idx="12"/>
          </p:nvPr>
        </p:nvSpPr>
        <p:spPr/>
        <p:txBody>
          <a:bodyPr/>
          <a:lstStyle/>
          <a:p>
            <a:fld id="{B841CA95-E0BC-48B5-948A-ECC494EB4D84}" type="slidenum">
              <a:rPr lang="en-US" smtClean="0"/>
              <a:t>45</a:t>
            </a:fld>
            <a:endParaRPr lang="en-US"/>
          </a:p>
        </p:txBody>
      </p:sp>
      <p:sp>
        <p:nvSpPr>
          <p:cNvPr id="7" name="TextBox 6"/>
          <p:cNvSpPr txBox="1"/>
          <p:nvPr/>
        </p:nvSpPr>
        <p:spPr>
          <a:xfrm>
            <a:off x="991089" y="1770269"/>
            <a:ext cx="10418164" cy="4154984"/>
          </a:xfrm>
          <a:prstGeom prst="rect">
            <a:avLst/>
          </a:prstGeom>
          <a:noFill/>
        </p:spPr>
        <p:txBody>
          <a:bodyPr wrap="square" rtlCol="0">
            <a:spAutoFit/>
          </a:bodyPr>
          <a:lstStyle/>
          <a:p>
            <a:r>
              <a:rPr lang="en-US" sz="2400" dirty="0"/>
              <a:t>Aggregation - computing a summary statistic about each group, i.e.</a:t>
            </a:r>
          </a:p>
          <a:p>
            <a:pPr marL="800100" lvl="1" indent="-342900">
              <a:buFont typeface="Arial" panose="020B0604020202020204" pitchFamily="34" charset="0"/>
              <a:buChar char="•"/>
            </a:pPr>
            <a:r>
              <a:rPr lang="en-US" sz="2400" dirty="0"/>
              <a:t>compute group sums or means</a:t>
            </a:r>
          </a:p>
          <a:p>
            <a:pPr marL="800100" lvl="1" indent="-342900">
              <a:buFont typeface="Arial" panose="020B0604020202020204" pitchFamily="34" charset="0"/>
              <a:buChar char="•"/>
            </a:pPr>
            <a:r>
              <a:rPr lang="en-US" sz="2400" dirty="0"/>
              <a:t>compute group sizes/counts</a:t>
            </a:r>
          </a:p>
          <a:p>
            <a:pPr lvl="1"/>
            <a:endParaRPr lang="en-US" sz="2400" dirty="0"/>
          </a:p>
          <a:p>
            <a:r>
              <a:rPr lang="en-US" sz="2400" dirty="0"/>
              <a:t>Common aggregation functions:</a:t>
            </a:r>
          </a:p>
          <a:p>
            <a:endParaRPr lang="en-US" sz="2400" dirty="0"/>
          </a:p>
          <a:p>
            <a:pPr lvl="1"/>
            <a:r>
              <a:rPr lang="en-US" sz="2400" dirty="0"/>
              <a:t>min, max</a:t>
            </a:r>
          </a:p>
          <a:p>
            <a:pPr lvl="1"/>
            <a:r>
              <a:rPr lang="en-US" sz="2400" dirty="0"/>
              <a:t>count, sum, prod</a:t>
            </a:r>
          </a:p>
          <a:p>
            <a:pPr lvl="1"/>
            <a:r>
              <a:rPr lang="en-US" sz="2400" dirty="0"/>
              <a:t>mean, median, mode, mad</a:t>
            </a:r>
          </a:p>
          <a:p>
            <a:pPr lvl="1"/>
            <a:r>
              <a:rPr lang="en-US" sz="2400" dirty="0" err="1"/>
              <a:t>std</a:t>
            </a:r>
            <a:r>
              <a:rPr lang="en-US" sz="2400" dirty="0"/>
              <a:t>, </a:t>
            </a:r>
            <a:r>
              <a:rPr lang="en-US" sz="2400" dirty="0" err="1"/>
              <a:t>var</a:t>
            </a:r>
            <a:endParaRPr lang="en-US" sz="2400" dirty="0"/>
          </a:p>
          <a:p>
            <a:r>
              <a:rPr lang="en-US" sz="2400" dirty="0"/>
              <a:t> </a:t>
            </a:r>
          </a:p>
        </p:txBody>
      </p:sp>
    </p:spTree>
    <p:extLst>
      <p:ext uri="{BB962C8B-B14F-4D97-AF65-F5344CB8AC3E}">
        <p14:creationId xmlns:p14="http://schemas.microsoft.com/office/powerpoint/2010/main" val="2097279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Functions in Pandas</a:t>
            </a:r>
          </a:p>
        </p:txBody>
      </p:sp>
      <p:sp>
        <p:nvSpPr>
          <p:cNvPr id="4" name="Slide Number Placeholder 3"/>
          <p:cNvSpPr>
            <a:spLocks noGrp="1"/>
          </p:cNvSpPr>
          <p:nvPr>
            <p:ph type="sldNum" sz="quarter" idx="12"/>
          </p:nvPr>
        </p:nvSpPr>
        <p:spPr/>
        <p:txBody>
          <a:bodyPr/>
          <a:lstStyle/>
          <a:p>
            <a:fld id="{B841CA95-E0BC-48B5-948A-ECC494EB4D84}" type="slidenum">
              <a:rPr lang="en-US" smtClean="0"/>
              <a:t>46</a:t>
            </a:fld>
            <a:endParaRPr lang="en-US"/>
          </a:p>
        </p:txBody>
      </p:sp>
      <p:sp>
        <p:nvSpPr>
          <p:cNvPr id="7" name="TextBox 6"/>
          <p:cNvSpPr txBox="1"/>
          <p:nvPr/>
        </p:nvSpPr>
        <p:spPr>
          <a:xfrm>
            <a:off x="991089" y="1770269"/>
            <a:ext cx="10418164" cy="830997"/>
          </a:xfrm>
          <a:prstGeom prst="rect">
            <a:avLst/>
          </a:prstGeom>
          <a:noFill/>
        </p:spPr>
        <p:txBody>
          <a:bodyPr wrap="square" rtlCol="0">
            <a:spAutoFit/>
          </a:bodyPr>
          <a:lstStyle/>
          <a:p>
            <a:r>
              <a:rPr lang="en-US" sz="2400" dirty="0" err="1"/>
              <a:t>agg</a:t>
            </a:r>
            <a:r>
              <a:rPr lang="en-US" sz="2400" dirty="0"/>
              <a:t>() method are useful when multiple statistics are computed per column:</a:t>
            </a:r>
          </a:p>
          <a:p>
            <a:pPr lvl="1"/>
            <a:endParaRPr lang="en-US" sz="2400" dirty="0"/>
          </a:p>
        </p:txBody>
      </p:sp>
      <p:sp>
        <p:nvSpPr>
          <p:cNvPr id="5" name="TextBox 4"/>
          <p:cNvSpPr txBox="1"/>
          <p:nvPr/>
        </p:nvSpPr>
        <p:spPr>
          <a:xfrm>
            <a:off x="-77533" y="2327049"/>
            <a:ext cx="10846184"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6" name="TextBox 5"/>
          <p:cNvSpPr txBox="1"/>
          <p:nvPr/>
        </p:nvSpPr>
        <p:spPr>
          <a:xfrm>
            <a:off x="1368357" y="2327049"/>
            <a:ext cx="10653925" cy="338554"/>
          </a:xfrm>
          <a:prstGeom prst="rect">
            <a:avLst/>
          </a:prstGeom>
          <a:noFill/>
          <a:ln>
            <a:solidFill>
              <a:schemeClr val="bg2">
                <a:lumMod val="90000"/>
              </a:schemeClr>
            </a:solidFill>
          </a:ln>
        </p:spPr>
        <p:txBody>
          <a:bodyPr wrap="square" rtlCol="0">
            <a:spAutoFit/>
          </a:bodyPr>
          <a:lstStyle/>
          <a:p>
            <a:r>
              <a:rPr lang="en-US" sz="1600" dirty="0">
                <a:solidFill>
                  <a:schemeClr val="bg2">
                    <a:lumMod val="25000"/>
                  </a:schemeClr>
                </a:solidFill>
                <a:latin typeface="Courier New" panose="02070309020205020404" pitchFamily="49" charset="0"/>
                <a:cs typeface="Courier New" panose="02070309020205020404" pitchFamily="49" charset="0"/>
              </a:rPr>
              <a:t>flights[[</a:t>
            </a:r>
            <a:r>
              <a:rPr lang="en-US" sz="1600" dirty="0">
                <a:solidFill>
                  <a:srgbClr val="C00000"/>
                </a:solidFill>
                <a:latin typeface="Courier New" panose="02070309020205020404" pitchFamily="49" charset="0"/>
                <a:cs typeface="Courier New" panose="02070309020205020404" pitchFamily="49" charset="0"/>
              </a:rPr>
              <a:t>'dep_delay'</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a:solidFill>
                  <a:srgbClr val="C00000"/>
                </a:solidFill>
                <a:latin typeface="Courier New" panose="02070309020205020404" pitchFamily="49" charset="0"/>
                <a:cs typeface="Courier New" panose="02070309020205020404" pitchFamily="49" charset="0"/>
              </a:rPr>
              <a:t>'</a:t>
            </a:r>
            <a:r>
              <a:rPr lang="en-US" sz="1600" dirty="0" err="1">
                <a:solidFill>
                  <a:srgbClr val="C00000"/>
                </a:solidFill>
                <a:latin typeface="Courier New" panose="02070309020205020404" pitchFamily="49" charset="0"/>
                <a:cs typeface="Courier New" panose="02070309020205020404" pitchFamily="49" charset="0"/>
              </a:rPr>
              <a:t>arr_delay</a:t>
            </a:r>
            <a:r>
              <a:rPr lang="en-US" sz="1600" dirty="0">
                <a:solidFill>
                  <a:srgbClr val="C00000"/>
                </a:solidFill>
                <a:latin typeface="Courier New" panose="02070309020205020404" pitchFamily="49" charset="0"/>
                <a:cs typeface="Courier New" panose="02070309020205020404" pitchFamily="49" charset="0"/>
              </a:rPr>
              <a:t>'</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err="1">
                <a:solidFill>
                  <a:schemeClr val="bg2">
                    <a:lumMod val="25000"/>
                  </a:schemeClr>
                </a:solidFill>
                <a:latin typeface="Courier New" panose="02070309020205020404" pitchFamily="49" charset="0"/>
                <a:cs typeface="Courier New" panose="02070309020205020404" pitchFamily="49" charset="0"/>
              </a:rPr>
              <a:t>agg</a:t>
            </a:r>
            <a:r>
              <a:rPr lang="en-US" sz="1600" dirty="0">
                <a:solidFill>
                  <a:schemeClr val="bg2">
                    <a:lumMod val="25000"/>
                  </a:schemeClr>
                </a:solidFill>
                <a:latin typeface="Courier New" panose="02070309020205020404" pitchFamily="49" charset="0"/>
                <a:cs typeface="Courier New" panose="02070309020205020404" pitchFamily="49" charset="0"/>
              </a:rPr>
              <a:t>([</a:t>
            </a:r>
            <a:r>
              <a:rPr lang="en-US" sz="1600" dirty="0">
                <a:solidFill>
                  <a:srgbClr val="C00000"/>
                </a:solidFill>
                <a:latin typeface="Courier New" panose="02070309020205020404" pitchFamily="49" charset="0"/>
                <a:cs typeface="Courier New" panose="02070309020205020404" pitchFamily="49" charset="0"/>
              </a:rPr>
              <a:t>'</a:t>
            </a:r>
            <a:r>
              <a:rPr lang="en-US" sz="1600" dirty="0" err="1">
                <a:solidFill>
                  <a:srgbClr val="C00000"/>
                </a:solidFill>
                <a:latin typeface="Courier New" panose="02070309020205020404" pitchFamily="49" charset="0"/>
                <a:cs typeface="Courier New" panose="02070309020205020404" pitchFamily="49" charset="0"/>
              </a:rPr>
              <a:t>min'</a:t>
            </a:r>
            <a:r>
              <a:rPr lang="en-US" sz="1600" dirty="0" err="1">
                <a:solidFill>
                  <a:schemeClr val="bg2">
                    <a:lumMod val="25000"/>
                  </a:schemeClr>
                </a:solidFill>
                <a:latin typeface="Courier New" panose="02070309020205020404" pitchFamily="49" charset="0"/>
                <a:cs typeface="Courier New" panose="02070309020205020404" pitchFamily="49" charset="0"/>
              </a:rPr>
              <a:t>,</a:t>
            </a:r>
            <a:r>
              <a:rPr lang="en-US" sz="1600" dirty="0" err="1">
                <a:solidFill>
                  <a:srgbClr val="C00000"/>
                </a:solidFill>
                <a:latin typeface="Courier New" panose="02070309020205020404" pitchFamily="49" charset="0"/>
                <a:cs typeface="Courier New" panose="02070309020205020404" pitchFamily="49" charset="0"/>
              </a:rPr>
              <a:t>'mean'</a:t>
            </a:r>
            <a:r>
              <a:rPr lang="en-US" sz="1600" dirty="0" err="1">
                <a:solidFill>
                  <a:schemeClr val="bg2">
                    <a:lumMod val="25000"/>
                  </a:schemeClr>
                </a:solidFill>
                <a:latin typeface="Courier New" panose="02070309020205020404" pitchFamily="49" charset="0"/>
                <a:cs typeface="Courier New" panose="02070309020205020404" pitchFamily="49" charset="0"/>
              </a:rPr>
              <a:t>,</a:t>
            </a:r>
            <a:r>
              <a:rPr lang="en-US" sz="1600" dirty="0" err="1">
                <a:solidFill>
                  <a:srgbClr val="C00000"/>
                </a:solidFill>
                <a:latin typeface="Courier New" panose="02070309020205020404" pitchFamily="49" charset="0"/>
                <a:cs typeface="Courier New" panose="02070309020205020404" pitchFamily="49" charset="0"/>
              </a:rPr>
              <a:t>'max</a:t>
            </a:r>
            <a:r>
              <a:rPr lang="en-US" sz="1600" dirty="0">
                <a:solidFill>
                  <a:srgbClr val="C00000"/>
                </a:solidFill>
                <a:latin typeface="Courier New" panose="02070309020205020404" pitchFamily="49" charset="0"/>
                <a:cs typeface="Courier New" panose="02070309020205020404" pitchFamily="49" charset="0"/>
              </a:rPr>
              <a:t>'</a:t>
            </a:r>
            <a:r>
              <a:rPr lang="en-US" sz="1600" dirty="0">
                <a:solidFill>
                  <a:schemeClr val="bg2">
                    <a:lumMod val="25000"/>
                  </a:schemeClr>
                </a:solidFill>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8" name="TextBox 7"/>
          <p:cNvSpPr txBox="1"/>
          <p:nvPr/>
        </p:nvSpPr>
        <p:spPr>
          <a:xfrm>
            <a:off x="-80036" y="3046744"/>
            <a:ext cx="10846184" cy="369332"/>
          </a:xfrm>
          <a:prstGeom prst="rect">
            <a:avLst/>
          </a:prstGeom>
          <a:noFill/>
          <a:ln>
            <a:noFill/>
          </a:ln>
        </p:spPr>
        <p:txBody>
          <a:bodyPr wrap="square" rtlCol="0">
            <a:spAutoFit/>
          </a:bodyPr>
          <a:lstStyle/>
          <a:p>
            <a:r>
              <a:rPr lang="en-US" dirty="0"/>
              <a:t>         </a:t>
            </a:r>
            <a:r>
              <a:rPr lang="en-US" sz="1600" dirty="0">
                <a:solidFill>
                  <a:srgbClr val="C00000"/>
                </a:solidFill>
                <a:latin typeface="Courier New" panose="02070309020205020404" pitchFamily="49" charset="0"/>
                <a:cs typeface="Courier New" panose="02070309020205020404" pitchFamily="49" charset="0"/>
              </a:rPr>
              <a:t>Out[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2898" y="3034395"/>
            <a:ext cx="2534004" cy="1476581"/>
          </a:xfrm>
          <a:prstGeom prst="rect">
            <a:avLst/>
          </a:prstGeom>
        </p:spPr>
      </p:pic>
    </p:spTree>
    <p:extLst>
      <p:ext uri="{BB962C8B-B14F-4D97-AF65-F5344CB8AC3E}">
        <p14:creationId xmlns:p14="http://schemas.microsoft.com/office/powerpoint/2010/main" val="403119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Descriptive Statistics</a:t>
            </a:r>
          </a:p>
        </p:txBody>
      </p:sp>
      <p:sp>
        <p:nvSpPr>
          <p:cNvPr id="4" name="Slide Number Placeholder 3"/>
          <p:cNvSpPr>
            <a:spLocks noGrp="1"/>
          </p:cNvSpPr>
          <p:nvPr>
            <p:ph type="sldNum" sz="quarter" idx="12"/>
          </p:nvPr>
        </p:nvSpPr>
        <p:spPr/>
        <p:txBody>
          <a:bodyPr/>
          <a:lstStyle/>
          <a:p>
            <a:fld id="{B841CA95-E0BC-48B5-948A-ECC494EB4D84}" type="slidenum">
              <a:rPr lang="en-US" smtClean="0"/>
              <a:t>47</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667612433"/>
              </p:ext>
            </p:extLst>
          </p:nvPr>
        </p:nvGraphicFramePr>
        <p:xfrm>
          <a:off x="838200" y="1690688"/>
          <a:ext cx="8431134" cy="4165425"/>
        </p:xfrm>
        <a:graphic>
          <a:graphicData uri="http://schemas.openxmlformats.org/drawingml/2006/table">
            <a:tbl>
              <a:tblPr firstRow="1" bandRow="1">
                <a:tableStyleId>{B301B821-A1FF-4177-AEE7-76D212191A09}</a:tableStyleId>
              </a:tblPr>
              <a:tblGrid>
                <a:gridCol w="2564983">
                  <a:extLst>
                    <a:ext uri="{9D8B030D-6E8A-4147-A177-3AD203B41FA5}">
                      <a16:colId xmlns:a16="http://schemas.microsoft.com/office/drawing/2014/main" val="20000"/>
                    </a:ext>
                  </a:extLst>
                </a:gridCol>
                <a:gridCol w="5866151">
                  <a:extLst>
                    <a:ext uri="{9D8B030D-6E8A-4147-A177-3AD203B41FA5}">
                      <a16:colId xmlns:a16="http://schemas.microsoft.com/office/drawing/2014/main" val="20001"/>
                    </a:ext>
                  </a:extLst>
                </a:gridCol>
              </a:tblGrid>
              <a:tr h="5782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err="1"/>
                        <a:t>df.method</a:t>
                      </a:r>
                      <a:r>
                        <a:rPr lang="en-US" sz="2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483804">
                <a:tc>
                  <a:txBody>
                    <a:bodyPr/>
                    <a:lstStyle/>
                    <a:p>
                      <a:r>
                        <a:rPr lang="en-US" dirty="0"/>
                        <a:t>describe</a:t>
                      </a:r>
                    </a:p>
                  </a:txBody>
                  <a:tcPr/>
                </a:tc>
                <a:tc>
                  <a:txBody>
                    <a:bodyPr/>
                    <a:lstStyle/>
                    <a:p>
                      <a:r>
                        <a:rPr lang="en-US" dirty="0"/>
                        <a:t>Basic statistics (count, mean, </a:t>
                      </a:r>
                      <a:r>
                        <a:rPr lang="en-US" dirty="0" err="1"/>
                        <a:t>std</a:t>
                      </a:r>
                      <a:r>
                        <a:rPr lang="en-US" dirty="0"/>
                        <a:t>, min, quantiles, max)</a:t>
                      </a:r>
                    </a:p>
                  </a:txBody>
                  <a:tcPr/>
                </a:tc>
                <a:extLst>
                  <a:ext uri="{0D108BD9-81ED-4DB2-BD59-A6C34878D82A}">
                    <a16:rowId xmlns:a16="http://schemas.microsoft.com/office/drawing/2014/main" val="10001"/>
                  </a:ext>
                </a:extLst>
              </a:tr>
              <a:tr h="483804">
                <a:tc>
                  <a:txBody>
                    <a:bodyPr/>
                    <a:lstStyle/>
                    <a:p>
                      <a:r>
                        <a:rPr lang="en-US" dirty="0"/>
                        <a:t>min, max</a:t>
                      </a:r>
                    </a:p>
                  </a:txBody>
                  <a:tcPr/>
                </a:tc>
                <a:tc>
                  <a:txBody>
                    <a:bodyPr/>
                    <a:lstStyle/>
                    <a:p>
                      <a:r>
                        <a:rPr lang="en-US" dirty="0"/>
                        <a:t>Minimum</a:t>
                      </a:r>
                      <a:r>
                        <a:rPr lang="en-US" baseline="0" dirty="0"/>
                        <a:t> and maximum values</a:t>
                      </a:r>
                      <a:endParaRPr lang="en-US" dirty="0"/>
                    </a:p>
                  </a:txBody>
                  <a:tcPr/>
                </a:tc>
                <a:extLst>
                  <a:ext uri="{0D108BD9-81ED-4DB2-BD59-A6C34878D82A}">
                    <a16:rowId xmlns:a16="http://schemas.microsoft.com/office/drawing/2014/main" val="10002"/>
                  </a:ext>
                </a:extLst>
              </a:tr>
              <a:tr h="531003">
                <a:tc>
                  <a:txBody>
                    <a:bodyPr/>
                    <a:lstStyle/>
                    <a:p>
                      <a:r>
                        <a:rPr lang="en-US" dirty="0"/>
                        <a:t>mean, median, mode</a:t>
                      </a:r>
                    </a:p>
                  </a:txBody>
                  <a:tcPr/>
                </a:tc>
                <a:tc>
                  <a:txBody>
                    <a:bodyPr/>
                    <a:lstStyle/>
                    <a:p>
                      <a:r>
                        <a:rPr lang="en-US" dirty="0"/>
                        <a:t>Arithmetic average, median and mode</a:t>
                      </a:r>
                    </a:p>
                  </a:txBody>
                  <a:tcPr/>
                </a:tc>
                <a:extLst>
                  <a:ext uri="{0D108BD9-81ED-4DB2-BD59-A6C34878D82A}">
                    <a16:rowId xmlns:a16="http://schemas.microsoft.com/office/drawing/2014/main" val="10003"/>
                  </a:ext>
                </a:extLst>
              </a:tr>
              <a:tr h="542803">
                <a:tc>
                  <a:txBody>
                    <a:bodyPr/>
                    <a:lstStyle/>
                    <a:p>
                      <a:r>
                        <a:rPr lang="en-US" dirty="0" err="1"/>
                        <a:t>var</a:t>
                      </a:r>
                      <a:r>
                        <a:rPr lang="en-US" dirty="0"/>
                        <a:t>, </a:t>
                      </a:r>
                      <a:r>
                        <a:rPr lang="en-US" dirty="0" err="1"/>
                        <a:t>std</a:t>
                      </a:r>
                      <a:endParaRPr lang="en-US" dirty="0"/>
                    </a:p>
                  </a:txBody>
                  <a:tcPr/>
                </a:tc>
                <a:tc>
                  <a:txBody>
                    <a:bodyPr/>
                    <a:lstStyle/>
                    <a:p>
                      <a:r>
                        <a:rPr lang="en-US" dirty="0"/>
                        <a:t>Variance and standard deviation</a:t>
                      </a:r>
                    </a:p>
                  </a:txBody>
                  <a:tcPr/>
                </a:tc>
                <a:extLst>
                  <a:ext uri="{0D108BD9-81ED-4DB2-BD59-A6C34878D82A}">
                    <a16:rowId xmlns:a16="http://schemas.microsoft.com/office/drawing/2014/main" val="10004"/>
                  </a:ext>
                </a:extLst>
              </a:tr>
              <a:tr h="542803">
                <a:tc>
                  <a:txBody>
                    <a:bodyPr/>
                    <a:lstStyle/>
                    <a:p>
                      <a:r>
                        <a:rPr lang="en-US" dirty="0" err="1"/>
                        <a:t>sem</a:t>
                      </a:r>
                      <a:endParaRPr lang="en-US" dirty="0"/>
                    </a:p>
                  </a:txBody>
                  <a:tcPr/>
                </a:tc>
                <a:tc>
                  <a:txBody>
                    <a:bodyPr/>
                    <a:lstStyle/>
                    <a:p>
                      <a:r>
                        <a:rPr lang="en-US" dirty="0"/>
                        <a:t>Standard error of mean</a:t>
                      </a:r>
                    </a:p>
                  </a:txBody>
                  <a:tcPr/>
                </a:tc>
                <a:extLst>
                  <a:ext uri="{0D108BD9-81ED-4DB2-BD59-A6C34878D82A}">
                    <a16:rowId xmlns:a16="http://schemas.microsoft.com/office/drawing/2014/main" val="10005"/>
                  </a:ext>
                </a:extLst>
              </a:tr>
              <a:tr h="501503">
                <a:tc>
                  <a:txBody>
                    <a:bodyPr/>
                    <a:lstStyle/>
                    <a:p>
                      <a:r>
                        <a:rPr lang="en-US" dirty="0"/>
                        <a:t>skew</a:t>
                      </a:r>
                    </a:p>
                  </a:txBody>
                  <a:tcPr/>
                </a:tc>
                <a:tc>
                  <a:txBody>
                    <a:bodyPr/>
                    <a:lstStyle/>
                    <a:p>
                      <a:r>
                        <a:rPr lang="en-US" dirty="0"/>
                        <a:t>Sample skewness</a:t>
                      </a:r>
                    </a:p>
                  </a:txBody>
                  <a:tcPr/>
                </a:tc>
                <a:extLst>
                  <a:ext uri="{0D108BD9-81ED-4DB2-BD59-A6C34878D82A}">
                    <a16:rowId xmlns:a16="http://schemas.microsoft.com/office/drawing/2014/main" val="10006"/>
                  </a:ext>
                </a:extLst>
              </a:tr>
              <a:tr h="501503">
                <a:tc>
                  <a:txBody>
                    <a:bodyPr/>
                    <a:lstStyle/>
                    <a:p>
                      <a:r>
                        <a:rPr lang="en-US" dirty="0" err="1"/>
                        <a:t>kurt</a:t>
                      </a:r>
                      <a:endParaRPr lang="en-US" dirty="0"/>
                    </a:p>
                  </a:txBody>
                  <a:tcPr/>
                </a:tc>
                <a:tc>
                  <a:txBody>
                    <a:bodyPr/>
                    <a:lstStyle/>
                    <a:p>
                      <a:r>
                        <a:rPr lang="en-US" dirty="0"/>
                        <a:t>kurtosis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05387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 to explore the data</a:t>
            </a:r>
          </a:p>
        </p:txBody>
      </p:sp>
      <p:sp>
        <p:nvSpPr>
          <p:cNvPr id="4" name="Slide Number Placeholder 3"/>
          <p:cNvSpPr>
            <a:spLocks noGrp="1"/>
          </p:cNvSpPr>
          <p:nvPr>
            <p:ph type="sldNum" sz="quarter" idx="12"/>
          </p:nvPr>
        </p:nvSpPr>
        <p:spPr/>
        <p:txBody>
          <a:bodyPr/>
          <a:lstStyle/>
          <a:p>
            <a:fld id="{B841CA95-E0BC-48B5-948A-ECC494EB4D84}" type="slidenum">
              <a:rPr lang="en-US" smtClean="0"/>
              <a:t>48</a:t>
            </a:fld>
            <a:endParaRPr lang="en-US"/>
          </a:p>
        </p:txBody>
      </p:sp>
      <p:sp>
        <p:nvSpPr>
          <p:cNvPr id="7" name="TextBox 6"/>
          <p:cNvSpPr txBox="1"/>
          <p:nvPr/>
        </p:nvSpPr>
        <p:spPr>
          <a:xfrm>
            <a:off x="991089" y="3993925"/>
            <a:ext cx="10418164" cy="461665"/>
          </a:xfrm>
          <a:prstGeom prst="rect">
            <a:avLst/>
          </a:prstGeom>
          <a:noFill/>
        </p:spPr>
        <p:txBody>
          <a:bodyPr wrap="square" rtlCol="0">
            <a:spAutoFit/>
          </a:bodyPr>
          <a:lstStyle/>
          <a:p>
            <a:r>
              <a:rPr lang="en-US" sz="2400" dirty="0"/>
              <a:t>To show graphs within Python notebook include inline directive:</a:t>
            </a:r>
          </a:p>
        </p:txBody>
      </p:sp>
      <p:sp>
        <p:nvSpPr>
          <p:cNvPr id="5" name="TextBox 4"/>
          <p:cNvSpPr txBox="1"/>
          <p:nvPr/>
        </p:nvSpPr>
        <p:spPr>
          <a:xfrm>
            <a:off x="-77533" y="4893603"/>
            <a:ext cx="10846184" cy="369332"/>
          </a:xfrm>
          <a:prstGeom prst="rect">
            <a:avLst/>
          </a:prstGeom>
          <a:noFill/>
          <a:ln>
            <a:noFill/>
          </a:ln>
        </p:spPr>
        <p:txBody>
          <a:bodyPr wrap="square" rtlCol="0">
            <a:spAutoFit/>
          </a:bodyPr>
          <a:lstStyle/>
          <a:p>
            <a:r>
              <a:rPr lang="en-US" dirty="0"/>
              <a:t>         </a:t>
            </a:r>
            <a:r>
              <a:rPr lang="en-US" sz="1600" dirty="0">
                <a:solidFill>
                  <a:schemeClr val="accent5">
                    <a:lumMod val="75000"/>
                  </a:schemeClr>
                </a:solidFill>
                <a:latin typeface="Courier New" panose="02070309020205020404" pitchFamily="49" charset="0"/>
                <a:cs typeface="Courier New" panose="02070309020205020404" pitchFamily="49" charset="0"/>
              </a:rPr>
              <a:t>In [ ]:</a:t>
            </a:r>
          </a:p>
        </p:txBody>
      </p:sp>
      <p:sp>
        <p:nvSpPr>
          <p:cNvPr id="6" name="TextBox 5"/>
          <p:cNvSpPr txBox="1"/>
          <p:nvPr/>
        </p:nvSpPr>
        <p:spPr>
          <a:xfrm>
            <a:off x="1368357" y="4893603"/>
            <a:ext cx="10653925" cy="338554"/>
          </a:xfrm>
          <a:prstGeom prst="rect">
            <a:avLst/>
          </a:prstGeom>
          <a:noFill/>
          <a:ln>
            <a:solidFill>
              <a:schemeClr val="bg2">
                <a:lumMod val="90000"/>
              </a:schemeClr>
            </a:solidFill>
          </a:ln>
        </p:spPr>
        <p:txBody>
          <a:bodyPr wrap="square" rtlCol="0">
            <a:spAutoFit/>
          </a:bodyPr>
          <a:lstStyle/>
          <a:p>
            <a:r>
              <a:rPr lang="en-US" sz="1600" dirty="0">
                <a:solidFill>
                  <a:srgbClr val="7030A0"/>
                </a:solidFill>
                <a:latin typeface="Courier New" panose="02070309020205020404" pitchFamily="49" charset="0"/>
                <a:cs typeface="Courier New" panose="02070309020205020404" pitchFamily="49" charset="0"/>
              </a:rPr>
              <a:t>%</a:t>
            </a:r>
            <a:r>
              <a:rPr lang="en-US" sz="1600" dirty="0" err="1">
                <a:solidFill>
                  <a:schemeClr val="bg2">
                    <a:lumMod val="25000"/>
                  </a:schemeClr>
                </a:solidFill>
                <a:latin typeface="Courier New" panose="02070309020205020404" pitchFamily="49" charset="0"/>
                <a:cs typeface="Courier New" panose="02070309020205020404" pitchFamily="49" charset="0"/>
              </a:rPr>
              <a:t>matplotlib</a:t>
            </a:r>
            <a:r>
              <a:rPr lang="en-US" sz="1600" dirty="0">
                <a:solidFill>
                  <a:schemeClr val="bg2">
                    <a:lumMod val="25000"/>
                  </a:schemeClr>
                </a:solidFill>
                <a:latin typeface="Courier New" panose="02070309020205020404" pitchFamily="49" charset="0"/>
                <a:cs typeface="Courier New" panose="02070309020205020404" pitchFamily="49" charset="0"/>
              </a:rPr>
              <a:t> inline</a:t>
            </a:r>
            <a:endParaRPr lang="en-US" dirty="0">
              <a:latin typeface="Courier New" panose="02070309020205020404" pitchFamily="49" charset="0"/>
              <a:cs typeface="Courier New" panose="02070309020205020404" pitchFamily="49" charset="0"/>
            </a:endParaRPr>
          </a:p>
        </p:txBody>
      </p:sp>
      <p:sp>
        <p:nvSpPr>
          <p:cNvPr id="9" name="TextBox 8"/>
          <p:cNvSpPr txBox="1"/>
          <p:nvPr/>
        </p:nvSpPr>
        <p:spPr>
          <a:xfrm>
            <a:off x="991089" y="1931399"/>
            <a:ext cx="8817929" cy="1477328"/>
          </a:xfrm>
          <a:prstGeom prst="rect">
            <a:avLst/>
          </a:prstGeom>
          <a:noFill/>
        </p:spPr>
        <p:txBody>
          <a:bodyPr wrap="square" rtlCol="0">
            <a:spAutoFit/>
          </a:bodyPr>
          <a:lstStyle/>
          <a:p>
            <a:r>
              <a:rPr lang="en-US" sz="2400" dirty="0" err="1"/>
              <a:t>Seaborn</a:t>
            </a:r>
            <a:r>
              <a:rPr lang="en-US" sz="2400" dirty="0"/>
              <a:t> package is built on </a:t>
            </a:r>
            <a:r>
              <a:rPr lang="en-US" sz="2400" dirty="0" err="1"/>
              <a:t>matplotlib</a:t>
            </a:r>
            <a:r>
              <a:rPr lang="en-US" sz="2400" dirty="0"/>
              <a:t> but provides high level interface for drawing attractive statistical graphics, similar to ggplot2 library in R. It specifically targets statistical data visualization</a:t>
            </a:r>
          </a:p>
          <a:p>
            <a:r>
              <a:rPr lang="en-US" dirty="0"/>
              <a:t>  </a:t>
            </a:r>
          </a:p>
        </p:txBody>
      </p:sp>
    </p:spTree>
    <p:extLst>
      <p:ext uri="{BB962C8B-B14F-4D97-AF65-F5344CB8AC3E}">
        <p14:creationId xmlns:p14="http://schemas.microsoft.com/office/powerpoint/2010/main" val="14135621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a:t>
            </a:r>
          </a:p>
        </p:txBody>
      </p:sp>
      <p:sp>
        <p:nvSpPr>
          <p:cNvPr id="4" name="Slide Number Placeholder 3"/>
          <p:cNvSpPr>
            <a:spLocks noGrp="1"/>
          </p:cNvSpPr>
          <p:nvPr>
            <p:ph type="sldNum" sz="quarter" idx="12"/>
          </p:nvPr>
        </p:nvSpPr>
        <p:spPr/>
        <p:txBody>
          <a:bodyPr/>
          <a:lstStyle/>
          <a:p>
            <a:fld id="{B841CA95-E0BC-48B5-948A-ECC494EB4D84}" type="slidenum">
              <a:rPr lang="en-US" smtClean="0"/>
              <a:t>49</a:t>
            </a:fld>
            <a:endParaRPr lang="en-US"/>
          </a:p>
        </p:txBody>
      </p:sp>
      <p:sp>
        <p:nvSpPr>
          <p:cNvPr id="9" name="TextBox 8"/>
          <p:cNvSpPr txBox="1"/>
          <p:nvPr/>
        </p:nvSpPr>
        <p:spPr>
          <a:xfrm>
            <a:off x="991089" y="1931399"/>
            <a:ext cx="8817929" cy="369332"/>
          </a:xfrm>
          <a:prstGeom prst="rect">
            <a:avLst/>
          </a:prstGeom>
          <a:noFill/>
        </p:spPr>
        <p:txBody>
          <a:bodyPr wrap="square" rtlCol="0">
            <a:spAutoFit/>
          </a:bodyPr>
          <a:lstStyle/>
          <a:p>
            <a:r>
              <a:rPr lang="en-US" dirty="0"/>
              <a:t>  </a:t>
            </a:r>
          </a:p>
        </p:txBody>
      </p:sp>
      <p:graphicFrame>
        <p:nvGraphicFramePr>
          <p:cNvPr id="8" name="Table 7"/>
          <p:cNvGraphicFramePr>
            <a:graphicFrameLocks noGrp="1"/>
          </p:cNvGraphicFramePr>
          <p:nvPr>
            <p:extLst>
              <p:ext uri="{D42A27DB-BD31-4B8C-83A1-F6EECF244321}">
                <p14:modId xmlns:p14="http://schemas.microsoft.com/office/powerpoint/2010/main" val="2794000170"/>
              </p:ext>
            </p:extLst>
          </p:nvPr>
        </p:nvGraphicFramePr>
        <p:xfrm>
          <a:off x="838200" y="1690688"/>
          <a:ext cx="7730067" cy="4457341"/>
        </p:xfrm>
        <a:graphic>
          <a:graphicData uri="http://schemas.openxmlformats.org/drawingml/2006/table">
            <a:tbl>
              <a:tblPr firstRow="1" bandRow="1">
                <a:tableStyleId>{B301B821-A1FF-4177-AEE7-76D212191A09}</a:tableStyleId>
              </a:tblPr>
              <a:tblGrid>
                <a:gridCol w="1556058">
                  <a:extLst>
                    <a:ext uri="{9D8B030D-6E8A-4147-A177-3AD203B41FA5}">
                      <a16:colId xmlns:a16="http://schemas.microsoft.com/office/drawing/2014/main" val="20000"/>
                    </a:ext>
                  </a:extLst>
                </a:gridCol>
                <a:gridCol w="6174009">
                  <a:extLst>
                    <a:ext uri="{9D8B030D-6E8A-4147-A177-3AD203B41FA5}">
                      <a16:colId xmlns:a16="http://schemas.microsoft.com/office/drawing/2014/main" val="20001"/>
                    </a:ext>
                  </a:extLst>
                </a:gridCol>
              </a:tblGrid>
              <a:tr h="4717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description</a:t>
                      </a:r>
                    </a:p>
                  </a:txBody>
                  <a:tcPr/>
                </a:tc>
                <a:extLst>
                  <a:ext uri="{0D108BD9-81ED-4DB2-BD59-A6C34878D82A}">
                    <a16:rowId xmlns:a16="http://schemas.microsoft.com/office/drawing/2014/main" val="10000"/>
                  </a:ext>
                </a:extLst>
              </a:tr>
              <a:tr h="394724">
                <a:tc>
                  <a:txBody>
                    <a:bodyPr/>
                    <a:lstStyle/>
                    <a:p>
                      <a:r>
                        <a:rPr lang="en-US" dirty="0" err="1"/>
                        <a:t>distplot</a:t>
                      </a:r>
                      <a:endParaRPr lang="en-US" dirty="0"/>
                    </a:p>
                  </a:txBody>
                  <a:tcPr/>
                </a:tc>
                <a:tc>
                  <a:txBody>
                    <a:bodyPr/>
                    <a:lstStyle/>
                    <a:p>
                      <a:r>
                        <a:rPr lang="en-US" dirty="0"/>
                        <a:t>histogram</a:t>
                      </a:r>
                    </a:p>
                  </a:txBody>
                  <a:tcPr/>
                </a:tc>
                <a:extLst>
                  <a:ext uri="{0D108BD9-81ED-4DB2-BD59-A6C34878D82A}">
                    <a16:rowId xmlns:a16="http://schemas.microsoft.com/office/drawing/2014/main" val="10001"/>
                  </a:ext>
                </a:extLst>
              </a:tr>
              <a:tr h="394724">
                <a:tc>
                  <a:txBody>
                    <a:bodyPr/>
                    <a:lstStyle/>
                    <a:p>
                      <a:r>
                        <a:rPr lang="en-US" dirty="0" err="1"/>
                        <a:t>barplot</a:t>
                      </a:r>
                      <a:endParaRPr lang="en-US" dirty="0"/>
                    </a:p>
                  </a:txBody>
                  <a:tcPr/>
                </a:tc>
                <a:tc>
                  <a:txBody>
                    <a:bodyPr/>
                    <a:lstStyle/>
                    <a:p>
                      <a:r>
                        <a:rPr lang="en-US" sz="1800" b="0" i="0" kern="1200" dirty="0">
                          <a:solidFill>
                            <a:schemeClr val="dk1"/>
                          </a:solidFill>
                          <a:effectLst/>
                          <a:latin typeface="+mn-lt"/>
                          <a:ea typeface="+mn-ea"/>
                          <a:cs typeface="+mn-cs"/>
                        </a:rPr>
                        <a:t>estimate of central tendency for a numeric variable</a:t>
                      </a:r>
                      <a:endParaRPr lang="en-US" dirty="0"/>
                    </a:p>
                  </a:txBody>
                  <a:tcPr/>
                </a:tc>
                <a:extLst>
                  <a:ext uri="{0D108BD9-81ED-4DB2-BD59-A6C34878D82A}">
                    <a16:rowId xmlns:a16="http://schemas.microsoft.com/office/drawing/2014/main" val="10002"/>
                  </a:ext>
                </a:extLst>
              </a:tr>
              <a:tr h="433232">
                <a:tc>
                  <a:txBody>
                    <a:bodyPr/>
                    <a:lstStyle/>
                    <a:p>
                      <a:r>
                        <a:rPr lang="en-US" dirty="0" err="1"/>
                        <a:t>violinplot</a:t>
                      </a:r>
                      <a:endParaRPr lang="en-US" dirty="0"/>
                    </a:p>
                  </a:txBody>
                  <a:tcPr/>
                </a:tc>
                <a:tc>
                  <a:txBody>
                    <a:bodyPr/>
                    <a:lstStyle/>
                    <a:p>
                      <a:r>
                        <a:rPr lang="en-US" sz="1800" b="0" i="0" kern="1200" dirty="0">
                          <a:solidFill>
                            <a:schemeClr val="dk1"/>
                          </a:solidFill>
                          <a:effectLst/>
                          <a:latin typeface="+mn-lt"/>
                          <a:ea typeface="+mn-ea"/>
                          <a:cs typeface="+mn-cs"/>
                        </a:rPr>
                        <a:t> similar to boxplot, also shows the probability density of the data</a:t>
                      </a:r>
                      <a:endParaRPr lang="en-US" dirty="0"/>
                    </a:p>
                  </a:txBody>
                  <a:tcPr/>
                </a:tc>
                <a:extLst>
                  <a:ext uri="{0D108BD9-81ED-4DB2-BD59-A6C34878D82A}">
                    <a16:rowId xmlns:a16="http://schemas.microsoft.com/office/drawing/2014/main" val="10003"/>
                  </a:ext>
                </a:extLst>
              </a:tr>
              <a:tr h="442860">
                <a:tc>
                  <a:txBody>
                    <a:bodyPr/>
                    <a:lstStyle/>
                    <a:p>
                      <a:r>
                        <a:rPr lang="en-US" dirty="0" err="1"/>
                        <a:t>jointplot</a:t>
                      </a:r>
                      <a:endParaRPr lang="en-US" dirty="0"/>
                    </a:p>
                  </a:txBody>
                  <a:tcPr/>
                </a:tc>
                <a:tc>
                  <a:txBody>
                    <a:bodyPr/>
                    <a:lstStyle/>
                    <a:p>
                      <a:r>
                        <a:rPr lang="en-US" dirty="0"/>
                        <a:t>Scatterplot</a:t>
                      </a:r>
                    </a:p>
                  </a:txBody>
                  <a:tcPr/>
                </a:tc>
                <a:extLst>
                  <a:ext uri="{0D108BD9-81ED-4DB2-BD59-A6C34878D82A}">
                    <a16:rowId xmlns:a16="http://schemas.microsoft.com/office/drawing/2014/main" val="10004"/>
                  </a:ext>
                </a:extLst>
              </a:tr>
              <a:tr h="442860">
                <a:tc>
                  <a:txBody>
                    <a:bodyPr/>
                    <a:lstStyle/>
                    <a:p>
                      <a:r>
                        <a:rPr lang="en-US" dirty="0" err="1"/>
                        <a:t>regplot</a:t>
                      </a:r>
                      <a:endParaRPr lang="en-US" dirty="0"/>
                    </a:p>
                  </a:txBody>
                  <a:tcPr/>
                </a:tc>
                <a:tc>
                  <a:txBody>
                    <a:bodyPr/>
                    <a:lstStyle/>
                    <a:p>
                      <a:r>
                        <a:rPr lang="en-US" dirty="0"/>
                        <a:t>Regression plot</a:t>
                      </a:r>
                    </a:p>
                  </a:txBody>
                  <a:tcPr/>
                </a:tc>
                <a:extLst>
                  <a:ext uri="{0D108BD9-81ED-4DB2-BD59-A6C34878D82A}">
                    <a16:rowId xmlns:a16="http://schemas.microsoft.com/office/drawing/2014/main" val="10005"/>
                  </a:ext>
                </a:extLst>
              </a:tr>
              <a:tr h="442860">
                <a:tc>
                  <a:txBody>
                    <a:bodyPr/>
                    <a:lstStyle/>
                    <a:p>
                      <a:r>
                        <a:rPr lang="en-US" dirty="0" err="1"/>
                        <a:t>pairplot</a:t>
                      </a:r>
                      <a:endParaRPr lang="en-US" dirty="0"/>
                    </a:p>
                  </a:txBody>
                  <a:tcPr/>
                </a:tc>
                <a:tc>
                  <a:txBody>
                    <a:bodyPr/>
                    <a:lstStyle/>
                    <a:p>
                      <a:r>
                        <a:rPr lang="en-US" dirty="0" err="1"/>
                        <a:t>Pairplot</a:t>
                      </a:r>
                      <a:endParaRPr lang="en-US" dirty="0"/>
                    </a:p>
                  </a:txBody>
                  <a:tcPr/>
                </a:tc>
                <a:extLst>
                  <a:ext uri="{0D108BD9-81ED-4DB2-BD59-A6C34878D82A}">
                    <a16:rowId xmlns:a16="http://schemas.microsoft.com/office/drawing/2014/main" val="10006"/>
                  </a:ext>
                </a:extLst>
              </a:tr>
              <a:tr h="409164">
                <a:tc>
                  <a:txBody>
                    <a:bodyPr/>
                    <a:lstStyle/>
                    <a:p>
                      <a:r>
                        <a:rPr lang="en-US" dirty="0"/>
                        <a:t>boxplot</a:t>
                      </a:r>
                    </a:p>
                  </a:txBody>
                  <a:tcPr/>
                </a:tc>
                <a:tc>
                  <a:txBody>
                    <a:bodyPr/>
                    <a:lstStyle/>
                    <a:p>
                      <a:r>
                        <a:rPr lang="en-US" dirty="0"/>
                        <a:t>boxplot</a:t>
                      </a:r>
                    </a:p>
                  </a:txBody>
                  <a:tcPr/>
                </a:tc>
                <a:extLst>
                  <a:ext uri="{0D108BD9-81ED-4DB2-BD59-A6C34878D82A}">
                    <a16:rowId xmlns:a16="http://schemas.microsoft.com/office/drawing/2014/main" val="10007"/>
                  </a:ext>
                </a:extLst>
              </a:tr>
              <a:tr h="409164">
                <a:tc>
                  <a:txBody>
                    <a:bodyPr/>
                    <a:lstStyle/>
                    <a:p>
                      <a:r>
                        <a:rPr lang="en-US" dirty="0" err="1"/>
                        <a:t>swarmplot</a:t>
                      </a:r>
                      <a:endParaRPr lang="en-US" dirty="0"/>
                    </a:p>
                  </a:txBody>
                  <a:tcPr/>
                </a:tc>
                <a:tc>
                  <a:txBody>
                    <a:bodyPr/>
                    <a:lstStyle/>
                    <a:p>
                      <a:r>
                        <a:rPr lang="en-US" dirty="0"/>
                        <a:t>categorical scatterplot</a:t>
                      </a:r>
                    </a:p>
                  </a:txBody>
                  <a:tcPr/>
                </a:tc>
                <a:extLst>
                  <a:ext uri="{0D108BD9-81ED-4DB2-BD59-A6C34878D82A}">
                    <a16:rowId xmlns:a16="http://schemas.microsoft.com/office/drawing/2014/main" val="10008"/>
                  </a:ext>
                </a:extLst>
              </a:tr>
              <a:tr h="409164">
                <a:tc>
                  <a:txBody>
                    <a:bodyPr/>
                    <a:lstStyle/>
                    <a:p>
                      <a:r>
                        <a:rPr lang="en-US" dirty="0" err="1"/>
                        <a:t>factorplot</a:t>
                      </a:r>
                      <a:endParaRPr lang="en-US" dirty="0"/>
                    </a:p>
                  </a:txBody>
                  <a:tcPr/>
                </a:tc>
                <a:tc>
                  <a:txBody>
                    <a:bodyPr/>
                    <a:lstStyle/>
                    <a:p>
                      <a:r>
                        <a:rPr lang="en-US" dirty="0"/>
                        <a:t>General categorical plot</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79425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4120</TotalTime>
  <Words>3556</Words>
  <Application>Microsoft Office PowerPoint</Application>
  <PresentationFormat>Widescreen</PresentationFormat>
  <Paragraphs>497</Paragraphs>
  <Slides>49</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Calibri Light</vt:lpstr>
      <vt:lpstr>Cambria Math</vt:lpstr>
      <vt:lpstr>Courier New</vt:lpstr>
      <vt:lpstr>Lato</vt:lpstr>
      <vt:lpstr>Wingdings</vt:lpstr>
      <vt:lpstr>Office Theme</vt:lpstr>
      <vt:lpstr>Python for Data Analysis</vt:lpstr>
      <vt:lpstr>Tutorial Content</vt:lpstr>
      <vt:lpstr>Python Libraries for Data Science</vt:lpstr>
      <vt:lpstr>Python Libraries for Data Science</vt:lpstr>
      <vt:lpstr>Python Libraries for Data Science</vt:lpstr>
      <vt:lpstr>Python Libraries for Data Science</vt:lpstr>
      <vt:lpstr>Python Libraries for Data Science</vt:lpstr>
      <vt:lpstr>Python Libraries for Data Science</vt:lpstr>
      <vt:lpstr>Python Libraries for Data Science</vt:lpstr>
      <vt:lpstr>Start Jupyter notebook</vt:lpstr>
      <vt:lpstr>Loading Python Libraries</vt:lpstr>
      <vt:lpstr>Reading data using pandas</vt:lpstr>
      <vt:lpstr>Exploring data frames</vt:lpstr>
      <vt:lpstr>      Hands-on exercises</vt:lpstr>
      <vt:lpstr>Data Frame data types</vt:lpstr>
      <vt:lpstr>Data Frame data types</vt:lpstr>
      <vt:lpstr>Data Frames attributes</vt:lpstr>
      <vt:lpstr> Mid/Final Questions</vt:lpstr>
      <vt:lpstr>Data Frames methods/functions</vt:lpstr>
      <vt:lpstr>      Mid/Final Questions</vt:lpstr>
      <vt:lpstr>Handle missing/ null values: Data Cleaning</vt:lpstr>
      <vt:lpstr>Handle missing/ null values: Data Cleaning</vt:lpstr>
      <vt:lpstr>Handle missing/ null values: Data Cleaning</vt:lpstr>
      <vt:lpstr>Handle missing/ null values: KNNImputer</vt:lpstr>
      <vt:lpstr>Box and Whisker Plots: Outlier Detection</vt:lpstr>
      <vt:lpstr>Box Plot: Skewness</vt:lpstr>
      <vt:lpstr>Detecting and Treating Outliers</vt:lpstr>
      <vt:lpstr>Selecting a column in a Data Frame</vt:lpstr>
      <vt:lpstr>      Hands-on exercises</vt:lpstr>
      <vt:lpstr>Data Frames groupby method</vt:lpstr>
      <vt:lpstr>Data Frames groupby method</vt:lpstr>
      <vt:lpstr>Data Frames groupby method</vt:lpstr>
      <vt:lpstr>Data Frame: filtering</vt:lpstr>
      <vt:lpstr>Data Frames: Slicing</vt:lpstr>
      <vt:lpstr>Data Frames: Slicing</vt:lpstr>
      <vt:lpstr>Data Frames: Selecting rows</vt:lpstr>
      <vt:lpstr>Data Frames: method loc</vt:lpstr>
      <vt:lpstr>Data Frames: method iloc</vt:lpstr>
      <vt:lpstr>Data Frames: method iloc (summary)</vt:lpstr>
      <vt:lpstr>Data Frames: Sorting</vt:lpstr>
      <vt:lpstr>Data Frames: Sorting</vt:lpstr>
      <vt:lpstr>Missing Values</vt:lpstr>
      <vt:lpstr>Missing Values</vt:lpstr>
      <vt:lpstr>Missing Values</vt:lpstr>
      <vt:lpstr>Aggregation Functions in Pandas</vt:lpstr>
      <vt:lpstr>Aggregation Functions in Pandas</vt:lpstr>
      <vt:lpstr>Basic Descriptive Statistics</vt:lpstr>
      <vt:lpstr>Graphics to explore the data</vt:lpstr>
      <vt:lpstr>Graphics</vt:lpstr>
    </vt:vector>
  </TitlesOfParts>
  <Company>Boston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for Data Analysis</dc:title>
  <dc:creator>Oleinik, Katia</dc:creator>
  <cp:lastModifiedBy>Towsif Khan, Sami</cp:lastModifiedBy>
  <cp:revision>97</cp:revision>
  <dcterms:created xsi:type="dcterms:W3CDTF">2017-08-29T17:00:17Z</dcterms:created>
  <dcterms:modified xsi:type="dcterms:W3CDTF">2025-03-01T14:06:56Z</dcterms:modified>
</cp:coreProperties>
</file>