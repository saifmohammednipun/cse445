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charts/chart4.xml" ContentType="application/vnd.openxmlformats-officedocument.drawingml.chart+xml"/>
  <Override PartName="/ppt/drawings/drawing1.xml" ContentType="application/vnd.openxmlformats-officedocument.drawingml.chartshapes+xml"/>
  <Override PartName="/ppt/charts/chart5.xml" ContentType="application/vnd.openxmlformats-officedocument.drawingml.chart+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charts/chart6.xml" ContentType="application/vnd.openxmlformats-officedocument.drawingml.chart+xml"/>
  <Override PartName="/ppt/charts/chart7.xml" ContentType="application/vnd.openxmlformats-officedocument.drawingml.chart+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charts/chart8.xml" ContentType="application/vnd.openxmlformats-officedocument.drawingml.chart+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335" r:id="rId39"/>
    <p:sldId id="296" r:id="rId40"/>
    <p:sldId id="297" r:id="rId41"/>
    <p:sldId id="298" r:id="rId42"/>
    <p:sldId id="299" r:id="rId43"/>
    <p:sldId id="300" r:id="rId44"/>
    <p:sldId id="301" r:id="rId45"/>
    <p:sldId id="302" r:id="rId46"/>
    <p:sldId id="303"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20" r:id="rId62"/>
    <p:sldId id="321" r:id="rId63"/>
    <p:sldId id="328" r:id="rId64"/>
    <p:sldId id="326" r:id="rId65"/>
    <p:sldId id="327" r:id="rId66"/>
    <p:sldId id="322" r:id="rId67"/>
    <p:sldId id="337" r:id="rId68"/>
    <p:sldId id="331" r:id="rId69"/>
    <p:sldId id="325" r:id="rId70"/>
    <p:sldId id="323" r:id="rId71"/>
    <p:sldId id="324" r:id="rId72"/>
    <p:sldId id="334" r:id="rId73"/>
    <p:sldId id="336" r:id="rId74"/>
    <p:sldId id="332" r:id="rId75"/>
    <p:sldId id="333"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D7E7A7-9ECC-4D6B-8409-3F8DEAE89167}" v="9" dt="2025-03-10T15:44:39.3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860E07C6-5A0A-4211-93F5-493F47B1526E}"/>
    <pc:docChg chg="undo custSel addSld delSld modSld">
      <pc:chgData name="Riasat Khan" userId="826ac62dfbb52e43" providerId="LiveId" clId="{860E07C6-5A0A-4211-93F5-493F47B1526E}" dt="2023-02-13T06:02:06.704" v="107" actId="207"/>
      <pc:docMkLst>
        <pc:docMk/>
      </pc:docMkLst>
      <pc:sldChg chg="addSp delSp modSp add mod">
        <pc:chgData name="Riasat Khan" userId="826ac62dfbb52e43" providerId="LiveId" clId="{860E07C6-5A0A-4211-93F5-493F47B1526E}" dt="2023-02-13T05:59:57.961" v="76" actId="207"/>
        <pc:sldMkLst>
          <pc:docMk/>
          <pc:sldMk cId="265801704" sldId="332"/>
        </pc:sldMkLst>
      </pc:sldChg>
      <pc:sldChg chg="modSp add del mod">
        <pc:chgData name="Riasat Khan" userId="826ac62dfbb52e43" providerId="LiveId" clId="{860E07C6-5A0A-4211-93F5-493F47B1526E}" dt="2023-02-13T06:00:20.983" v="80" actId="47"/>
        <pc:sldMkLst>
          <pc:docMk/>
          <pc:sldMk cId="543603027" sldId="333"/>
        </pc:sldMkLst>
      </pc:sldChg>
      <pc:sldChg chg="addSp delSp modSp new mod">
        <pc:chgData name="Riasat Khan" userId="826ac62dfbb52e43" providerId="LiveId" clId="{860E07C6-5A0A-4211-93F5-493F47B1526E}" dt="2023-02-13T06:02:06.704" v="107" actId="207"/>
        <pc:sldMkLst>
          <pc:docMk/>
          <pc:sldMk cId="1403008840" sldId="333"/>
        </pc:sldMkLst>
      </pc:sldChg>
    </pc:docChg>
  </pc:docChgLst>
  <pc:docChgLst>
    <pc:chgData name="Riasat Khan" userId="826ac62dfbb52e43" providerId="LiveId" clId="{EBD7E7A7-9ECC-4D6B-8409-3F8DEAE89167}"/>
    <pc:docChg chg="undo custSel modSld">
      <pc:chgData name="Riasat Khan" userId="826ac62dfbb52e43" providerId="LiveId" clId="{EBD7E7A7-9ECC-4D6B-8409-3F8DEAE89167}" dt="2025-03-10T16:00:37.846" v="23" actId="20577"/>
      <pc:docMkLst>
        <pc:docMk/>
      </pc:docMkLst>
      <pc:sldChg chg="addSp modSp mod">
        <pc:chgData name="Riasat Khan" userId="826ac62dfbb52e43" providerId="LiveId" clId="{EBD7E7A7-9ECC-4D6B-8409-3F8DEAE89167}" dt="2025-03-10T15:42:38.353" v="2" actId="14100"/>
        <pc:sldMkLst>
          <pc:docMk/>
          <pc:sldMk cId="2407102612" sldId="262"/>
        </pc:sldMkLst>
        <pc:cxnChg chg="add mod">
          <ac:chgData name="Riasat Khan" userId="826ac62dfbb52e43" providerId="LiveId" clId="{EBD7E7A7-9ECC-4D6B-8409-3F8DEAE89167}" dt="2025-03-10T15:42:38.353" v="2" actId="14100"/>
          <ac:cxnSpMkLst>
            <pc:docMk/>
            <pc:sldMk cId="2407102612" sldId="262"/>
            <ac:cxnSpMk id="6" creationId="{9104CBAF-3474-9C62-7EE2-05811DC2C94C}"/>
          </ac:cxnSpMkLst>
        </pc:cxnChg>
      </pc:sldChg>
      <pc:sldChg chg="modSp">
        <pc:chgData name="Riasat Khan" userId="826ac62dfbb52e43" providerId="LiveId" clId="{EBD7E7A7-9ECC-4D6B-8409-3F8DEAE89167}" dt="2025-03-10T15:44:39.302" v="10" actId="20577"/>
        <pc:sldMkLst>
          <pc:docMk/>
          <pc:sldMk cId="2665187354" sldId="271"/>
        </pc:sldMkLst>
        <pc:spChg chg="mod">
          <ac:chgData name="Riasat Khan" userId="826ac62dfbb52e43" providerId="LiveId" clId="{EBD7E7A7-9ECC-4D6B-8409-3F8DEAE89167}" dt="2025-03-10T15:44:39.302" v="10" actId="20577"/>
          <ac:spMkLst>
            <pc:docMk/>
            <pc:sldMk cId="2665187354" sldId="271"/>
            <ac:spMk id="11" creationId="{00000000-0000-0000-0000-000000000000}"/>
          </ac:spMkLst>
        </pc:spChg>
      </pc:sldChg>
      <pc:sldChg chg="modSp mod">
        <pc:chgData name="Riasat Khan" userId="826ac62dfbb52e43" providerId="LiveId" clId="{EBD7E7A7-9ECC-4D6B-8409-3F8DEAE89167}" dt="2025-03-10T15:46:04.595" v="13" actId="20577"/>
        <pc:sldMkLst>
          <pc:docMk/>
          <pc:sldMk cId="1003854678" sldId="276"/>
        </pc:sldMkLst>
        <pc:spChg chg="mod">
          <ac:chgData name="Riasat Khan" userId="826ac62dfbb52e43" providerId="LiveId" clId="{EBD7E7A7-9ECC-4D6B-8409-3F8DEAE89167}" dt="2025-03-10T15:46:04.595" v="13" actId="20577"/>
          <ac:spMkLst>
            <pc:docMk/>
            <pc:sldMk cId="1003854678" sldId="276"/>
            <ac:spMk id="44" creationId="{00000000-0000-0000-0000-000000000000}"/>
          </ac:spMkLst>
        </pc:spChg>
      </pc:sldChg>
      <pc:sldChg chg="modSp mod">
        <pc:chgData name="Riasat Khan" userId="826ac62dfbb52e43" providerId="LiveId" clId="{EBD7E7A7-9ECC-4D6B-8409-3F8DEAE89167}" dt="2025-03-10T16:00:37.846" v="23" actId="20577"/>
        <pc:sldMkLst>
          <pc:docMk/>
          <pc:sldMk cId="3412255732" sldId="331"/>
        </pc:sldMkLst>
        <pc:spChg chg="mod">
          <ac:chgData name="Riasat Khan" userId="826ac62dfbb52e43" providerId="LiveId" clId="{EBD7E7A7-9ECC-4D6B-8409-3F8DEAE89167}" dt="2025-03-10T16:00:37.846" v="23" actId="20577"/>
          <ac:spMkLst>
            <pc:docMk/>
            <pc:sldMk cId="3412255732" sldId="331"/>
            <ac:spMk id="7" creationId="{B88D480A-410B-B22D-ACFE-DDCD25166683}"/>
          </ac:spMkLst>
        </pc:spChg>
        <pc:picChg chg="mod">
          <ac:chgData name="Riasat Khan" userId="826ac62dfbb52e43" providerId="LiveId" clId="{EBD7E7A7-9ECC-4D6B-8409-3F8DEAE89167}" dt="2025-03-10T16:00:16.345" v="16" actId="1076"/>
          <ac:picMkLst>
            <pc:docMk/>
            <pc:sldMk cId="3412255732" sldId="331"/>
            <ac:picMk id="4" creationId="{1C07EB13-F828-3009-ACDC-124B3D6BFE88}"/>
          </ac:picMkLst>
        </pc:picChg>
      </pc:sldChg>
    </pc:docChg>
  </pc:docChgLst>
  <pc:docChgLst>
    <pc:chgData name="Riasat Khan" userId="826ac62dfbb52e43" providerId="LiveId" clId="{38D6AA2C-883C-4E1F-8457-11A2117C0249}"/>
    <pc:docChg chg="undo custSel addSld delSld modSld">
      <pc:chgData name="Riasat Khan" userId="826ac62dfbb52e43" providerId="LiveId" clId="{38D6AA2C-883C-4E1F-8457-11A2117C0249}" dt="2023-03-29T06:07:11.630" v="886" actId="20577"/>
      <pc:docMkLst>
        <pc:docMk/>
      </pc:docMkLst>
      <pc:sldChg chg="modSp mod">
        <pc:chgData name="Riasat Khan" userId="826ac62dfbb52e43" providerId="LiveId" clId="{38D6AA2C-883C-4E1F-8457-11A2117C0249}" dt="2023-03-22T07:23:38.888" v="465" actId="20577"/>
        <pc:sldMkLst>
          <pc:docMk/>
          <pc:sldMk cId="3760922600" sldId="267"/>
        </pc:sldMkLst>
      </pc:sldChg>
      <pc:sldChg chg="modSp mod">
        <pc:chgData name="Riasat Khan" userId="826ac62dfbb52e43" providerId="LiveId" clId="{38D6AA2C-883C-4E1F-8457-11A2117C0249}" dt="2023-03-22T07:25:24.342" v="475" actId="6549"/>
        <pc:sldMkLst>
          <pc:docMk/>
          <pc:sldMk cId="3946624430" sldId="273"/>
        </pc:sldMkLst>
      </pc:sldChg>
      <pc:sldChg chg="modSp mod">
        <pc:chgData name="Riasat Khan" userId="826ac62dfbb52e43" providerId="LiveId" clId="{38D6AA2C-883C-4E1F-8457-11A2117C0249}" dt="2023-03-22T07:26:29.675" v="476" actId="207"/>
        <pc:sldMkLst>
          <pc:docMk/>
          <pc:sldMk cId="832924786" sldId="274"/>
        </pc:sldMkLst>
      </pc:sldChg>
      <pc:sldChg chg="modSp mod">
        <pc:chgData name="Riasat Khan" userId="826ac62dfbb52e43" providerId="LiveId" clId="{38D6AA2C-883C-4E1F-8457-11A2117C0249}" dt="2023-03-22T07:27:21.737" v="488" actId="20577"/>
        <pc:sldMkLst>
          <pc:docMk/>
          <pc:sldMk cId="3902883291" sldId="275"/>
        </pc:sldMkLst>
      </pc:sldChg>
      <pc:sldChg chg="modSp mod">
        <pc:chgData name="Riasat Khan" userId="826ac62dfbb52e43" providerId="LiveId" clId="{38D6AA2C-883C-4E1F-8457-11A2117C0249}" dt="2023-03-22T07:27:38.434" v="489" actId="20577"/>
        <pc:sldMkLst>
          <pc:docMk/>
          <pc:sldMk cId="1003854678" sldId="276"/>
        </pc:sldMkLst>
      </pc:sldChg>
      <pc:sldChg chg="addSp modSp mod">
        <pc:chgData name="Riasat Khan" userId="826ac62dfbb52e43" providerId="LiveId" clId="{38D6AA2C-883C-4E1F-8457-11A2117C0249}" dt="2023-03-20T08:04:12.405" v="51" actId="1076"/>
        <pc:sldMkLst>
          <pc:docMk/>
          <pc:sldMk cId="837662148" sldId="277"/>
        </pc:sldMkLst>
      </pc:sldChg>
      <pc:sldChg chg="modSp mod modAnim">
        <pc:chgData name="Riasat Khan" userId="826ac62dfbb52e43" providerId="LiveId" clId="{38D6AA2C-883C-4E1F-8457-11A2117C0249}" dt="2023-03-22T07:35:49.448" v="581" actId="20577"/>
        <pc:sldMkLst>
          <pc:docMk/>
          <pc:sldMk cId="1481513728" sldId="278"/>
        </pc:sldMkLst>
      </pc:sldChg>
      <pc:sldChg chg="addSp delSp modSp mod delAnim modAnim">
        <pc:chgData name="Riasat Khan" userId="826ac62dfbb52e43" providerId="LiveId" clId="{38D6AA2C-883C-4E1F-8457-11A2117C0249}" dt="2023-03-20T08:13:27.035" v="99" actId="692"/>
        <pc:sldMkLst>
          <pc:docMk/>
          <pc:sldMk cId="1627966991" sldId="283"/>
        </pc:sldMkLst>
      </pc:sldChg>
      <pc:sldChg chg="modSp mod">
        <pc:chgData name="Riasat Khan" userId="826ac62dfbb52e43" providerId="LiveId" clId="{38D6AA2C-883C-4E1F-8457-11A2117C0249}" dt="2023-03-22T07:52:45.621" v="582" actId="207"/>
        <pc:sldMkLst>
          <pc:docMk/>
          <pc:sldMk cId="4089822287" sldId="289"/>
        </pc:sldMkLst>
      </pc:sldChg>
      <pc:sldChg chg="modSp">
        <pc:chgData name="Riasat Khan" userId="826ac62dfbb52e43" providerId="LiveId" clId="{38D6AA2C-883C-4E1F-8457-11A2117C0249}" dt="2023-03-20T08:16:09.373" v="101" actId="1076"/>
        <pc:sldMkLst>
          <pc:docMk/>
          <pc:sldMk cId="2926511695" sldId="290"/>
        </pc:sldMkLst>
      </pc:sldChg>
      <pc:sldChg chg="addSp modSp mod">
        <pc:chgData name="Riasat Khan" userId="826ac62dfbb52e43" providerId="LiveId" clId="{38D6AA2C-883C-4E1F-8457-11A2117C0249}" dt="2023-03-20T08:19:02.925" v="106" actId="14100"/>
        <pc:sldMkLst>
          <pc:docMk/>
          <pc:sldMk cId="1215241412" sldId="291"/>
        </pc:sldMkLst>
      </pc:sldChg>
      <pc:sldChg chg="addSp delSp modSp mod">
        <pc:chgData name="Riasat Khan" userId="826ac62dfbb52e43" providerId="LiveId" clId="{38D6AA2C-883C-4E1F-8457-11A2117C0249}" dt="2023-03-22T08:16:46.767" v="610" actId="478"/>
        <pc:sldMkLst>
          <pc:docMk/>
          <pc:sldMk cId="3527775264" sldId="294"/>
        </pc:sldMkLst>
      </pc:sldChg>
      <pc:sldChg chg="modSp">
        <pc:chgData name="Riasat Khan" userId="826ac62dfbb52e43" providerId="LiveId" clId="{38D6AA2C-883C-4E1F-8457-11A2117C0249}" dt="2023-03-22T08:17:13.468" v="611" actId="207"/>
        <pc:sldMkLst>
          <pc:docMk/>
          <pc:sldMk cId="1360546660" sldId="298"/>
        </pc:sldMkLst>
      </pc:sldChg>
      <pc:sldChg chg="addSp modSp mod">
        <pc:chgData name="Riasat Khan" userId="826ac62dfbb52e43" providerId="LiveId" clId="{38D6AA2C-883C-4E1F-8457-11A2117C0249}" dt="2023-03-22T08:17:49.542" v="613" actId="1076"/>
        <pc:sldMkLst>
          <pc:docMk/>
          <pc:sldMk cId="3580711826" sldId="299"/>
        </pc:sldMkLst>
      </pc:sldChg>
      <pc:sldChg chg="addSp modSp mod">
        <pc:chgData name="Riasat Khan" userId="826ac62dfbb52e43" providerId="LiveId" clId="{38D6AA2C-883C-4E1F-8457-11A2117C0249}" dt="2023-03-22T08:17:57.796" v="615" actId="1076"/>
        <pc:sldMkLst>
          <pc:docMk/>
          <pc:sldMk cId="2194566597" sldId="300"/>
        </pc:sldMkLst>
      </pc:sldChg>
      <pc:sldChg chg="addSp modSp mod">
        <pc:chgData name="Riasat Khan" userId="826ac62dfbb52e43" providerId="LiveId" clId="{38D6AA2C-883C-4E1F-8457-11A2117C0249}" dt="2023-03-22T08:18:03.080" v="617" actId="1076"/>
        <pc:sldMkLst>
          <pc:docMk/>
          <pc:sldMk cId="3636248680" sldId="301"/>
        </pc:sldMkLst>
      </pc:sldChg>
      <pc:sldChg chg="addSp modSp mod">
        <pc:chgData name="Riasat Khan" userId="826ac62dfbb52e43" providerId="LiveId" clId="{38D6AA2C-883C-4E1F-8457-11A2117C0249}" dt="2023-03-21T05:51:25.579" v="351" actId="692"/>
        <pc:sldMkLst>
          <pc:docMk/>
          <pc:sldMk cId="3448513952" sldId="302"/>
        </pc:sldMkLst>
      </pc:sldChg>
      <pc:sldChg chg="addSp delSp modSp mod">
        <pc:chgData name="Riasat Khan" userId="826ac62dfbb52e43" providerId="LiveId" clId="{38D6AA2C-883C-4E1F-8457-11A2117C0249}" dt="2023-03-22T08:20:41.548" v="618" actId="207"/>
        <pc:sldMkLst>
          <pc:docMk/>
          <pc:sldMk cId="2293887822" sldId="303"/>
        </pc:sldMkLst>
      </pc:sldChg>
      <pc:sldChg chg="modSp mod">
        <pc:chgData name="Riasat Khan" userId="826ac62dfbb52e43" providerId="LiveId" clId="{38D6AA2C-883C-4E1F-8457-11A2117C0249}" dt="2023-03-21T09:00:23.507" v="456" actId="20577"/>
        <pc:sldMkLst>
          <pc:docMk/>
          <pc:sldMk cId="1425029434" sldId="305"/>
        </pc:sldMkLst>
      </pc:sldChg>
      <pc:sldChg chg="modSp mod">
        <pc:chgData name="Riasat Khan" userId="826ac62dfbb52e43" providerId="LiveId" clId="{38D6AA2C-883C-4E1F-8457-11A2117C0249}" dt="2023-03-22T08:32:59.505" v="679" actId="20577"/>
        <pc:sldMkLst>
          <pc:docMk/>
          <pc:sldMk cId="1980968631" sldId="306"/>
        </pc:sldMkLst>
      </pc:sldChg>
      <pc:sldChg chg="addSp modSp mod">
        <pc:chgData name="Riasat Khan" userId="826ac62dfbb52e43" providerId="LiveId" clId="{38D6AA2C-883C-4E1F-8457-11A2117C0249}" dt="2023-03-22T08:33:44.673" v="687" actId="1076"/>
        <pc:sldMkLst>
          <pc:docMk/>
          <pc:sldMk cId="1833905499" sldId="307"/>
        </pc:sldMkLst>
      </pc:sldChg>
      <pc:sldChg chg="addSp modSp mod">
        <pc:chgData name="Riasat Khan" userId="826ac62dfbb52e43" providerId="LiveId" clId="{38D6AA2C-883C-4E1F-8457-11A2117C0249}" dt="2023-03-22T08:33:52.115" v="689" actId="1076"/>
        <pc:sldMkLst>
          <pc:docMk/>
          <pc:sldMk cId="1353276762" sldId="308"/>
        </pc:sldMkLst>
      </pc:sldChg>
      <pc:sldChg chg="addSp modSp mod">
        <pc:chgData name="Riasat Khan" userId="826ac62dfbb52e43" providerId="LiveId" clId="{38D6AA2C-883C-4E1F-8457-11A2117C0249}" dt="2023-03-22T08:33:58.150" v="691" actId="1076"/>
        <pc:sldMkLst>
          <pc:docMk/>
          <pc:sldMk cId="1790218619" sldId="309"/>
        </pc:sldMkLst>
      </pc:sldChg>
      <pc:sldChg chg="addSp modSp mod">
        <pc:chgData name="Riasat Khan" userId="826ac62dfbb52e43" providerId="LiveId" clId="{38D6AA2C-883C-4E1F-8457-11A2117C0249}" dt="2023-03-22T08:34:03.870" v="693" actId="1076"/>
        <pc:sldMkLst>
          <pc:docMk/>
          <pc:sldMk cId="2947788667" sldId="310"/>
        </pc:sldMkLst>
      </pc:sldChg>
      <pc:sldChg chg="addSp modSp mod">
        <pc:chgData name="Riasat Khan" userId="826ac62dfbb52e43" providerId="LiveId" clId="{38D6AA2C-883C-4E1F-8457-11A2117C0249}" dt="2023-03-22T08:34:30.546" v="704" actId="1038"/>
        <pc:sldMkLst>
          <pc:docMk/>
          <pc:sldMk cId="3871439714" sldId="311"/>
        </pc:sldMkLst>
      </pc:sldChg>
      <pc:sldChg chg="addSp delSp modSp mod">
        <pc:chgData name="Riasat Khan" userId="826ac62dfbb52e43" providerId="LiveId" clId="{38D6AA2C-883C-4E1F-8457-11A2117C0249}" dt="2023-03-22T08:34:36.630" v="706" actId="1076"/>
        <pc:sldMkLst>
          <pc:docMk/>
          <pc:sldMk cId="3253659648" sldId="312"/>
        </pc:sldMkLst>
      </pc:sldChg>
      <pc:sldChg chg="modSp mod">
        <pc:chgData name="Riasat Khan" userId="826ac62dfbb52e43" providerId="LiveId" clId="{38D6AA2C-883C-4E1F-8457-11A2117C0249}" dt="2023-03-20T08:31:02.095" v="167" actId="20577"/>
        <pc:sldMkLst>
          <pc:docMk/>
          <pc:sldMk cId="3986259270" sldId="313"/>
        </pc:sldMkLst>
      </pc:sldChg>
      <pc:sldChg chg="addSp delSp modSp mod">
        <pc:chgData name="Riasat Khan" userId="826ac62dfbb52e43" providerId="LiveId" clId="{38D6AA2C-883C-4E1F-8457-11A2117C0249}" dt="2023-03-20T11:10:39.946" v="310" actId="14100"/>
        <pc:sldMkLst>
          <pc:docMk/>
          <pc:sldMk cId="3306427459" sldId="316"/>
        </pc:sldMkLst>
      </pc:sldChg>
      <pc:sldChg chg="addSp modSp mod">
        <pc:chgData name="Riasat Khan" userId="826ac62dfbb52e43" providerId="LiveId" clId="{38D6AA2C-883C-4E1F-8457-11A2117C0249}" dt="2023-03-29T02:34:34.595" v="729" actId="1037"/>
        <pc:sldMkLst>
          <pc:docMk/>
          <pc:sldMk cId="3711321463" sldId="317"/>
        </pc:sldMkLst>
      </pc:sldChg>
      <pc:sldChg chg="delSp mod">
        <pc:chgData name="Riasat Khan" userId="826ac62dfbb52e43" providerId="LiveId" clId="{38D6AA2C-883C-4E1F-8457-11A2117C0249}" dt="2023-03-22T08:40:27.096" v="713" actId="478"/>
        <pc:sldMkLst>
          <pc:docMk/>
          <pc:sldMk cId="3613433349" sldId="318"/>
        </pc:sldMkLst>
      </pc:sldChg>
      <pc:sldChg chg="addSp delSp modSp mod">
        <pc:chgData name="Riasat Khan" userId="826ac62dfbb52e43" providerId="LiveId" clId="{38D6AA2C-883C-4E1F-8457-11A2117C0249}" dt="2023-03-29T06:07:11.630" v="886" actId="20577"/>
        <pc:sldMkLst>
          <pc:docMk/>
          <pc:sldMk cId="3037380025" sldId="322"/>
        </pc:sldMkLst>
      </pc:sldChg>
      <pc:sldChg chg="modSp mod">
        <pc:chgData name="Riasat Khan" userId="826ac62dfbb52e43" providerId="LiveId" clId="{38D6AA2C-883C-4E1F-8457-11A2117C0249}" dt="2023-03-29T05:25:02.644" v="736" actId="207"/>
        <pc:sldMkLst>
          <pc:docMk/>
          <pc:sldMk cId="1154799591" sldId="323"/>
        </pc:sldMkLst>
      </pc:sldChg>
      <pc:sldChg chg="addSp modSp mod">
        <pc:chgData name="Riasat Khan" userId="826ac62dfbb52e43" providerId="LiveId" clId="{38D6AA2C-883C-4E1F-8457-11A2117C0249}" dt="2023-03-21T06:23:47.523" v="432" actId="207"/>
        <pc:sldMkLst>
          <pc:docMk/>
          <pc:sldMk cId="3889605981" sldId="327"/>
        </pc:sldMkLst>
      </pc:sldChg>
      <pc:sldChg chg="del">
        <pc:chgData name="Riasat Khan" userId="826ac62dfbb52e43" providerId="LiveId" clId="{38D6AA2C-883C-4E1F-8457-11A2117C0249}" dt="2023-03-29T02:36:43.165" v="731" actId="47"/>
        <pc:sldMkLst>
          <pc:docMk/>
          <pc:sldMk cId="3370105307" sldId="329"/>
        </pc:sldMkLst>
      </pc:sldChg>
      <pc:sldChg chg="new del">
        <pc:chgData name="Riasat Khan" userId="826ac62dfbb52e43" providerId="LiveId" clId="{38D6AA2C-883C-4E1F-8457-11A2117C0249}" dt="2023-03-20T08:48:32.730" v="210" actId="47"/>
        <pc:sldMkLst>
          <pc:docMk/>
          <pc:sldMk cId="485578910" sldId="334"/>
        </pc:sldMkLst>
      </pc:sldChg>
      <pc:sldChg chg="addSp delSp modSp add mod">
        <pc:chgData name="Riasat Khan" userId="826ac62dfbb52e43" providerId="LiveId" clId="{38D6AA2C-883C-4E1F-8457-11A2117C0249}" dt="2023-03-21T05:53:56.310" v="358" actId="20577"/>
        <pc:sldMkLst>
          <pc:docMk/>
          <pc:sldMk cId="2251386296" sldId="334"/>
        </pc:sldMkLst>
      </pc:sldChg>
      <pc:sldChg chg="modSp add del mod">
        <pc:chgData name="Riasat Khan" userId="826ac62dfbb52e43" providerId="LiveId" clId="{38D6AA2C-883C-4E1F-8457-11A2117C0249}" dt="2023-03-21T06:18:11.648" v="362" actId="47"/>
        <pc:sldMkLst>
          <pc:docMk/>
          <pc:sldMk cId="2373380761" sldId="335"/>
        </pc:sldMkLst>
      </pc:sldChg>
      <pc:sldChg chg="add">
        <pc:chgData name="Riasat Khan" userId="826ac62dfbb52e43" providerId="LiveId" clId="{38D6AA2C-883C-4E1F-8457-11A2117C0249}" dt="2023-03-22T08:16:43.502" v="608" actId="2890"/>
        <pc:sldMkLst>
          <pc:docMk/>
          <pc:sldMk cId="3165579961" sldId="335"/>
        </pc:sldMkLst>
      </pc:sldChg>
      <pc:sldChg chg="modSp add mod">
        <pc:chgData name="Riasat Khan" userId="826ac62dfbb52e43" providerId="LiveId" clId="{38D6AA2C-883C-4E1F-8457-11A2117C0249}" dt="2023-03-29T05:26:25.214" v="773" actId="20577"/>
        <pc:sldMkLst>
          <pc:docMk/>
          <pc:sldMk cId="345476881" sldId="336"/>
        </pc:sldMkLst>
      </pc:sldChg>
      <pc:sldChg chg="new del">
        <pc:chgData name="Riasat Khan" userId="826ac62dfbb52e43" providerId="LiveId" clId="{38D6AA2C-883C-4E1F-8457-11A2117C0249}" dt="2023-03-22T08:30:18.011" v="620" actId="47"/>
        <pc:sldMkLst>
          <pc:docMk/>
          <pc:sldMk cId="1836944591" sldId="336"/>
        </pc:sldMkLst>
      </pc:sldChg>
      <pc:sldChg chg="add">
        <pc:chgData name="Riasat Khan" userId="826ac62dfbb52e43" providerId="LiveId" clId="{38D6AA2C-883C-4E1F-8457-11A2117C0249}" dt="2023-03-29T05:34:44.348" v="774" actId="2890"/>
        <pc:sldMkLst>
          <pc:docMk/>
          <pc:sldMk cId="1347205565" sldId="337"/>
        </pc:sldMkLst>
      </pc:sldChg>
    </pc:docChg>
  </pc:docChgLst>
  <pc:docChgLst>
    <pc:chgData name="Riasat Khan" userId="826ac62dfbb52e43" providerId="LiveId" clId="{0F88F866-F136-4AF9-9162-64425A6FF8A3}"/>
    <pc:docChg chg="modSld">
      <pc:chgData name="Riasat Khan" userId="826ac62dfbb52e43" providerId="LiveId" clId="{0F88F866-F136-4AF9-9162-64425A6FF8A3}" dt="2023-05-03T07:56:43.935" v="1"/>
      <pc:docMkLst>
        <pc:docMk/>
      </pc:docMkLst>
      <pc:sldChg chg="modSp">
        <pc:chgData name="Riasat Khan" userId="826ac62dfbb52e43" providerId="LiveId" clId="{0F88F866-F136-4AF9-9162-64425A6FF8A3}" dt="2023-05-03T07:56:43.935" v="1"/>
        <pc:sldMkLst>
          <pc:docMk/>
          <pc:sldMk cId="3902883291" sldId="275"/>
        </pc:sldMkLst>
      </pc:sldChg>
    </pc:docChg>
  </pc:docChgLst>
  <pc:docChgLst>
    <pc:chgData name="Riasat Khan" userId="826ac62dfbb52e43" providerId="LiveId" clId="{3C39A87D-B590-46E1-AFF0-A9CAC4CD3E28}"/>
    <pc:docChg chg="undo custSel addSld delSld modSld sldOrd">
      <pc:chgData name="Riasat Khan" userId="826ac62dfbb52e43" providerId="LiveId" clId="{3C39A87D-B590-46E1-AFF0-A9CAC4CD3E28}" dt="2024-05-06T14:02:48.068" v="1565"/>
      <pc:docMkLst>
        <pc:docMk/>
      </pc:docMkLst>
      <pc:sldChg chg="delSp modSp mod">
        <pc:chgData name="Riasat Khan" userId="826ac62dfbb52e43" providerId="LiveId" clId="{3C39A87D-B590-46E1-AFF0-A9CAC4CD3E28}" dt="2024-04-20T13:08:52.153" v="1417"/>
        <pc:sldMkLst>
          <pc:docMk/>
          <pc:sldMk cId="149382416" sldId="257"/>
        </pc:sldMkLst>
      </pc:sldChg>
      <pc:sldChg chg="addSp modSp mod">
        <pc:chgData name="Riasat Khan" userId="826ac62dfbb52e43" providerId="LiveId" clId="{3C39A87D-B590-46E1-AFF0-A9CAC4CD3E28}" dt="2024-04-20T13:09:17.338" v="1447" actId="20577"/>
        <pc:sldMkLst>
          <pc:docMk/>
          <pc:sldMk cId="1156950008" sldId="259"/>
        </pc:sldMkLst>
      </pc:sldChg>
      <pc:sldChg chg="addSp modSp mod">
        <pc:chgData name="Riasat Khan" userId="826ac62dfbb52e43" providerId="LiveId" clId="{3C39A87D-B590-46E1-AFF0-A9CAC4CD3E28}" dt="2024-04-20T13:09:48.363" v="1456" actId="207"/>
        <pc:sldMkLst>
          <pc:docMk/>
          <pc:sldMk cId="3554582195" sldId="260"/>
        </pc:sldMkLst>
      </pc:sldChg>
      <pc:sldChg chg="addSp modSp mod">
        <pc:chgData name="Riasat Khan" userId="826ac62dfbb52e43" providerId="LiveId" clId="{3C39A87D-B590-46E1-AFF0-A9CAC4CD3E28}" dt="2023-03-20T00:24:24.457" v="1183" actId="692"/>
        <pc:sldMkLst>
          <pc:docMk/>
          <pc:sldMk cId="684639028" sldId="261"/>
        </pc:sldMkLst>
      </pc:sldChg>
      <pc:sldChg chg="addSp modSp mod">
        <pc:chgData name="Riasat Khan" userId="826ac62dfbb52e43" providerId="LiveId" clId="{3C39A87D-B590-46E1-AFF0-A9CAC4CD3E28}" dt="2023-03-20T00:28:23.404" v="1277" actId="14100"/>
        <pc:sldMkLst>
          <pc:docMk/>
          <pc:sldMk cId="2407102612" sldId="262"/>
        </pc:sldMkLst>
      </pc:sldChg>
      <pc:sldChg chg="addSp delSp modSp">
        <pc:chgData name="Riasat Khan" userId="826ac62dfbb52e43" providerId="LiveId" clId="{3C39A87D-B590-46E1-AFF0-A9CAC4CD3E28}" dt="2023-03-20T00:25:25.455" v="1185"/>
        <pc:sldMkLst>
          <pc:docMk/>
          <pc:sldMk cId="958769057" sldId="263"/>
        </pc:sldMkLst>
      </pc:sldChg>
      <pc:sldChg chg="addSp modSp mod">
        <pc:chgData name="Riasat Khan" userId="826ac62dfbb52e43" providerId="LiveId" clId="{3C39A87D-B590-46E1-AFF0-A9CAC4CD3E28}" dt="2023-03-20T00:30:56.697" v="1341" actId="20577"/>
        <pc:sldMkLst>
          <pc:docMk/>
          <pc:sldMk cId="1819754582" sldId="265"/>
        </pc:sldMkLst>
      </pc:sldChg>
      <pc:sldChg chg="modSp mod">
        <pc:chgData name="Riasat Khan" userId="826ac62dfbb52e43" providerId="LiveId" clId="{3C39A87D-B590-46E1-AFF0-A9CAC4CD3E28}" dt="2022-11-08T13:28:55.066" v="18" actId="1076"/>
        <pc:sldMkLst>
          <pc:docMk/>
          <pc:sldMk cId="3839927515" sldId="266"/>
        </pc:sldMkLst>
      </pc:sldChg>
      <pc:sldChg chg="addSp modSp mod">
        <pc:chgData name="Riasat Khan" userId="826ac62dfbb52e43" providerId="LiveId" clId="{3C39A87D-B590-46E1-AFF0-A9CAC4CD3E28}" dt="2024-04-20T13:11:38.985" v="1464" actId="14100"/>
        <pc:sldMkLst>
          <pc:docMk/>
          <pc:sldMk cId="3760922600" sldId="267"/>
        </pc:sldMkLst>
      </pc:sldChg>
      <pc:sldChg chg="mod modShow">
        <pc:chgData name="Riasat Khan" userId="826ac62dfbb52e43" providerId="LiveId" clId="{3C39A87D-B590-46E1-AFF0-A9CAC4CD3E28}" dt="2022-11-13T13:53:07.804" v="791" actId="729"/>
        <pc:sldMkLst>
          <pc:docMk/>
          <pc:sldMk cId="566894548" sldId="268"/>
        </pc:sldMkLst>
      </pc:sldChg>
      <pc:sldChg chg="del">
        <pc:chgData name="Riasat Khan" userId="826ac62dfbb52e43" providerId="LiveId" clId="{3C39A87D-B590-46E1-AFF0-A9CAC4CD3E28}" dt="2022-11-08T13:35:31.790" v="161" actId="47"/>
        <pc:sldMkLst>
          <pc:docMk/>
          <pc:sldMk cId="1297585878" sldId="269"/>
        </pc:sldMkLst>
      </pc:sldChg>
      <pc:sldChg chg="modSp mod">
        <pc:chgData name="Riasat Khan" userId="826ac62dfbb52e43" providerId="LiveId" clId="{3C39A87D-B590-46E1-AFF0-A9CAC4CD3E28}" dt="2022-11-13T14:01:14.109" v="869" actId="20577"/>
        <pc:sldMkLst>
          <pc:docMk/>
          <pc:sldMk cId="2989199307" sldId="270"/>
        </pc:sldMkLst>
      </pc:sldChg>
      <pc:sldChg chg="modSp mod">
        <pc:chgData name="Riasat Khan" userId="826ac62dfbb52e43" providerId="LiveId" clId="{3C39A87D-B590-46E1-AFF0-A9CAC4CD3E28}" dt="2022-11-08T13:38:43.623" v="169" actId="20577"/>
        <pc:sldMkLst>
          <pc:docMk/>
          <pc:sldMk cId="3946624430" sldId="273"/>
        </pc:sldMkLst>
      </pc:sldChg>
      <pc:sldChg chg="mod modShow">
        <pc:chgData name="Riasat Khan" userId="826ac62dfbb52e43" providerId="LiveId" clId="{3C39A87D-B590-46E1-AFF0-A9CAC4CD3E28}" dt="2022-11-13T14:04:52.762" v="871" actId="729"/>
        <pc:sldMkLst>
          <pc:docMk/>
          <pc:sldMk cId="832924786" sldId="274"/>
        </pc:sldMkLst>
      </pc:sldChg>
      <pc:sldChg chg="addSp modSp mod modAnim">
        <pc:chgData name="Riasat Khan" userId="826ac62dfbb52e43" providerId="LiveId" clId="{3C39A87D-B590-46E1-AFF0-A9CAC4CD3E28}" dt="2022-11-13T14:06:47.805" v="1087" actId="20577"/>
        <pc:sldMkLst>
          <pc:docMk/>
          <pc:sldMk cId="3902883291" sldId="275"/>
        </pc:sldMkLst>
      </pc:sldChg>
      <pc:sldChg chg="modSp mod">
        <pc:chgData name="Riasat Khan" userId="826ac62dfbb52e43" providerId="LiveId" clId="{3C39A87D-B590-46E1-AFF0-A9CAC4CD3E28}" dt="2022-11-13T14:08:17.173" v="1090" actId="20577"/>
        <pc:sldMkLst>
          <pc:docMk/>
          <pc:sldMk cId="1003854678" sldId="276"/>
        </pc:sldMkLst>
      </pc:sldChg>
      <pc:sldChg chg="modSp mod">
        <pc:chgData name="Riasat Khan" userId="826ac62dfbb52e43" providerId="LiveId" clId="{3C39A87D-B590-46E1-AFF0-A9CAC4CD3E28}" dt="2024-04-22T13:05:31.746" v="1497" actId="20577"/>
        <pc:sldMkLst>
          <pc:docMk/>
          <pc:sldMk cId="1481513728" sldId="278"/>
        </pc:sldMkLst>
      </pc:sldChg>
      <pc:sldChg chg="add del">
        <pc:chgData name="Riasat Khan" userId="826ac62dfbb52e43" providerId="LiveId" clId="{3C39A87D-B590-46E1-AFF0-A9CAC4CD3E28}" dt="2022-11-08T13:49:38.340" v="190" actId="47"/>
        <pc:sldMkLst>
          <pc:docMk/>
          <pc:sldMk cId="1745679618" sldId="279"/>
        </pc:sldMkLst>
      </pc:sldChg>
      <pc:sldChg chg="addSp delSp modSp mod">
        <pc:chgData name="Riasat Khan" userId="826ac62dfbb52e43" providerId="LiveId" clId="{3C39A87D-B590-46E1-AFF0-A9CAC4CD3E28}" dt="2024-04-20T13:34:26.593" v="1468" actId="207"/>
        <pc:sldMkLst>
          <pc:docMk/>
          <pc:sldMk cId="970382681" sldId="280"/>
        </pc:sldMkLst>
      </pc:sldChg>
      <pc:sldChg chg="mod modShow">
        <pc:chgData name="Riasat Khan" userId="826ac62dfbb52e43" providerId="LiveId" clId="{3C39A87D-B590-46E1-AFF0-A9CAC4CD3E28}" dt="2022-11-08T13:53:48.480" v="291" actId="729"/>
        <pc:sldMkLst>
          <pc:docMk/>
          <pc:sldMk cId="605118478" sldId="281"/>
        </pc:sldMkLst>
      </pc:sldChg>
      <pc:sldChg chg="mod modShow">
        <pc:chgData name="Riasat Khan" userId="826ac62dfbb52e43" providerId="LiveId" clId="{3C39A87D-B590-46E1-AFF0-A9CAC4CD3E28}" dt="2022-11-08T13:53:48.480" v="291" actId="729"/>
        <pc:sldMkLst>
          <pc:docMk/>
          <pc:sldMk cId="97632881" sldId="282"/>
        </pc:sldMkLst>
      </pc:sldChg>
      <pc:sldChg chg="addSp modSp mod">
        <pc:chgData name="Riasat Khan" userId="826ac62dfbb52e43" providerId="LiveId" clId="{3C39A87D-B590-46E1-AFF0-A9CAC4CD3E28}" dt="2024-04-20T13:47:29.397" v="1474" actId="20577"/>
        <pc:sldMkLst>
          <pc:docMk/>
          <pc:sldMk cId="1627966991" sldId="283"/>
        </pc:sldMkLst>
      </pc:sldChg>
      <pc:sldChg chg="modSp mod">
        <pc:chgData name="Riasat Khan" userId="826ac62dfbb52e43" providerId="LiveId" clId="{3C39A87D-B590-46E1-AFF0-A9CAC4CD3E28}" dt="2022-11-13T14:28:45.711" v="1132" actId="20577"/>
        <pc:sldMkLst>
          <pc:docMk/>
          <pc:sldMk cId="563889120" sldId="286"/>
        </pc:sldMkLst>
      </pc:sldChg>
      <pc:sldChg chg="modSp">
        <pc:chgData name="Riasat Khan" userId="826ac62dfbb52e43" providerId="LiveId" clId="{3C39A87D-B590-46E1-AFF0-A9CAC4CD3E28}" dt="2024-04-20T13:49:13.474" v="1475"/>
        <pc:sldMkLst>
          <pc:docMk/>
          <pc:sldMk cId="1215241412" sldId="291"/>
        </pc:sldMkLst>
      </pc:sldChg>
      <pc:sldChg chg="del">
        <pc:chgData name="Riasat Khan" userId="826ac62dfbb52e43" providerId="LiveId" clId="{3C39A87D-B590-46E1-AFF0-A9CAC4CD3E28}" dt="2022-11-08T14:10:43.016" v="295" actId="47"/>
        <pc:sldMkLst>
          <pc:docMk/>
          <pc:sldMk cId="1675830428" sldId="295"/>
        </pc:sldMkLst>
      </pc:sldChg>
      <pc:sldChg chg="modSp mod">
        <pc:chgData name="Riasat Khan" userId="826ac62dfbb52e43" providerId="LiveId" clId="{3C39A87D-B590-46E1-AFF0-A9CAC4CD3E28}" dt="2024-04-22T13:09:04.451" v="1520" actId="20577"/>
        <pc:sldMkLst>
          <pc:docMk/>
          <pc:sldMk cId="2642485702" sldId="297"/>
        </pc:sldMkLst>
      </pc:sldChg>
      <pc:sldChg chg="modSp">
        <pc:chgData name="Riasat Khan" userId="826ac62dfbb52e43" providerId="LiveId" clId="{3C39A87D-B590-46E1-AFF0-A9CAC4CD3E28}" dt="2022-11-13T14:32:28.988" v="1138" actId="207"/>
        <pc:sldMkLst>
          <pc:docMk/>
          <pc:sldMk cId="1360546660" sldId="298"/>
        </pc:sldMkLst>
      </pc:sldChg>
      <pc:sldChg chg="modSp mod">
        <pc:chgData name="Riasat Khan" userId="826ac62dfbb52e43" providerId="LiveId" clId="{3C39A87D-B590-46E1-AFF0-A9CAC4CD3E28}" dt="2022-11-13T14:32:47.760" v="1140" actId="1076"/>
        <pc:sldMkLst>
          <pc:docMk/>
          <pc:sldMk cId="3580711826" sldId="299"/>
        </pc:sldMkLst>
      </pc:sldChg>
      <pc:sldChg chg="modSp mod">
        <pc:chgData name="Riasat Khan" userId="826ac62dfbb52e43" providerId="LiveId" clId="{3C39A87D-B590-46E1-AFF0-A9CAC4CD3E28}" dt="2022-11-08T14:16:03.467" v="296" actId="207"/>
        <pc:sldMkLst>
          <pc:docMk/>
          <pc:sldMk cId="3448513952" sldId="302"/>
        </pc:sldMkLst>
      </pc:sldChg>
      <pc:sldChg chg="modSp mod">
        <pc:chgData name="Riasat Khan" userId="826ac62dfbb52e43" providerId="LiveId" clId="{3C39A87D-B590-46E1-AFF0-A9CAC4CD3E28}" dt="2024-04-22T13:11:25.798" v="1527" actId="20577"/>
        <pc:sldMkLst>
          <pc:docMk/>
          <pc:sldMk cId="2293887822" sldId="303"/>
        </pc:sldMkLst>
      </pc:sldChg>
      <pc:sldChg chg="del">
        <pc:chgData name="Riasat Khan" userId="826ac62dfbb52e43" providerId="LiveId" clId="{3C39A87D-B590-46E1-AFF0-A9CAC4CD3E28}" dt="2022-11-08T14:19:16.934" v="297" actId="47"/>
        <pc:sldMkLst>
          <pc:docMk/>
          <pc:sldMk cId="2997456674" sldId="304"/>
        </pc:sldMkLst>
      </pc:sldChg>
      <pc:sldChg chg="addSp modSp mod">
        <pc:chgData name="Riasat Khan" userId="826ac62dfbb52e43" providerId="LiveId" clId="{3C39A87D-B590-46E1-AFF0-A9CAC4CD3E28}" dt="2024-04-22T13:13:24.418" v="1538" actId="1035"/>
        <pc:sldMkLst>
          <pc:docMk/>
          <pc:sldMk cId="1980968631" sldId="306"/>
        </pc:sldMkLst>
      </pc:sldChg>
      <pc:sldChg chg="modSp mod">
        <pc:chgData name="Riasat Khan" userId="826ac62dfbb52e43" providerId="LiveId" clId="{3C39A87D-B590-46E1-AFF0-A9CAC4CD3E28}" dt="2023-03-27T00:33:27.522" v="1371" actId="1076"/>
        <pc:sldMkLst>
          <pc:docMk/>
          <pc:sldMk cId="3711321463" sldId="317"/>
        </pc:sldMkLst>
      </pc:sldChg>
      <pc:sldChg chg="modSp del mod">
        <pc:chgData name="Riasat Khan" userId="826ac62dfbb52e43" providerId="LiveId" clId="{3C39A87D-B590-46E1-AFF0-A9CAC4CD3E28}" dt="2023-03-27T00:34:11.007" v="1372" actId="47"/>
        <pc:sldMkLst>
          <pc:docMk/>
          <pc:sldMk cId="3358403318" sldId="319"/>
        </pc:sldMkLst>
      </pc:sldChg>
      <pc:sldChg chg="addSp modSp add mod">
        <pc:chgData name="Riasat Khan" userId="826ac62dfbb52e43" providerId="LiveId" clId="{3C39A87D-B590-46E1-AFF0-A9CAC4CD3E28}" dt="2024-04-22T13:47:32.155" v="1541" actId="2711"/>
        <pc:sldMkLst>
          <pc:docMk/>
          <pc:sldMk cId="3037380025" sldId="322"/>
        </pc:sldMkLst>
      </pc:sldChg>
      <pc:sldChg chg="addSp delSp modSp add mod">
        <pc:chgData name="Riasat Khan" userId="826ac62dfbb52e43" providerId="LiveId" clId="{3C39A87D-B590-46E1-AFF0-A9CAC4CD3E28}" dt="2024-04-20T14:29:39.479" v="1486" actId="692"/>
        <pc:sldMkLst>
          <pc:docMk/>
          <pc:sldMk cId="1154799591" sldId="323"/>
        </pc:sldMkLst>
      </pc:sldChg>
      <pc:sldChg chg="add del">
        <pc:chgData name="Riasat Khan" userId="826ac62dfbb52e43" providerId="LiveId" clId="{3C39A87D-B590-46E1-AFF0-A9CAC4CD3E28}" dt="2022-11-12T06:21:09.305" v="457" actId="47"/>
        <pc:sldMkLst>
          <pc:docMk/>
          <pc:sldMk cId="4064247548" sldId="323"/>
        </pc:sldMkLst>
      </pc:sldChg>
      <pc:sldChg chg="modSp add mod">
        <pc:chgData name="Riasat Khan" userId="826ac62dfbb52e43" providerId="LiveId" clId="{3C39A87D-B590-46E1-AFF0-A9CAC4CD3E28}" dt="2024-05-06T13:59:19.988" v="1553" actId="20577"/>
        <pc:sldMkLst>
          <pc:docMk/>
          <pc:sldMk cId="601659122" sldId="324"/>
        </pc:sldMkLst>
      </pc:sldChg>
      <pc:sldChg chg="addSp delSp modSp add mod setBg">
        <pc:chgData name="Riasat Khan" userId="826ac62dfbb52e43" providerId="LiveId" clId="{3C39A87D-B590-46E1-AFF0-A9CAC4CD3E28}" dt="2022-11-12T06:58:43.746" v="671" actId="14826"/>
        <pc:sldMkLst>
          <pc:docMk/>
          <pc:sldMk cId="3592124264" sldId="325"/>
        </pc:sldMkLst>
      </pc:sldChg>
      <pc:sldChg chg="addSp modSp add mod setBg">
        <pc:chgData name="Riasat Khan" userId="826ac62dfbb52e43" providerId="LiveId" clId="{3C39A87D-B590-46E1-AFF0-A9CAC4CD3E28}" dt="2022-11-13T15:49:02.221" v="1144" actId="26606"/>
        <pc:sldMkLst>
          <pc:docMk/>
          <pc:sldMk cId="1680614892" sldId="326"/>
        </pc:sldMkLst>
      </pc:sldChg>
      <pc:sldChg chg="addSp delSp modSp add mod">
        <pc:chgData name="Riasat Khan" userId="826ac62dfbb52e43" providerId="LiveId" clId="{3C39A87D-B590-46E1-AFF0-A9CAC4CD3E28}" dt="2022-11-13T15:49:29.059" v="1150" actId="962"/>
        <pc:sldMkLst>
          <pc:docMk/>
          <pc:sldMk cId="3889605981" sldId="327"/>
        </pc:sldMkLst>
      </pc:sldChg>
      <pc:sldChg chg="modSp mod">
        <pc:chgData name="Riasat Khan" userId="826ac62dfbb52e43" providerId="LiveId" clId="{3C39A87D-B590-46E1-AFF0-A9CAC4CD3E28}" dt="2023-03-27T00:34:52.754" v="1373" actId="20577"/>
        <pc:sldMkLst>
          <pc:docMk/>
          <pc:sldMk cId="4084036124" sldId="328"/>
        </pc:sldMkLst>
      </pc:sldChg>
      <pc:sldChg chg="modSp mod">
        <pc:chgData name="Riasat Khan" userId="826ac62dfbb52e43" providerId="LiveId" clId="{3C39A87D-B590-46E1-AFF0-A9CAC4CD3E28}" dt="2023-03-27T00:43:16.513" v="1415" actId="207"/>
        <pc:sldMkLst>
          <pc:docMk/>
          <pc:sldMk cId="3370105307" sldId="329"/>
        </pc:sldMkLst>
      </pc:sldChg>
      <pc:sldChg chg="del">
        <pc:chgData name="Riasat Khan" userId="826ac62dfbb52e43" providerId="LiveId" clId="{3C39A87D-B590-46E1-AFF0-A9CAC4CD3E28}" dt="2024-04-20T14:13:15.259" v="1478" actId="47"/>
        <pc:sldMkLst>
          <pc:docMk/>
          <pc:sldMk cId="3702220251" sldId="330"/>
        </pc:sldMkLst>
      </pc:sldChg>
      <pc:sldChg chg="ord">
        <pc:chgData name="Riasat Khan" userId="826ac62dfbb52e43" providerId="LiveId" clId="{3C39A87D-B590-46E1-AFF0-A9CAC4CD3E28}" dt="2024-05-06T13:58:33.887" v="1547"/>
        <pc:sldMkLst>
          <pc:docMk/>
          <pc:sldMk cId="3412255732" sldId="331"/>
        </pc:sldMkLst>
      </pc:sldChg>
      <pc:sldChg chg="addSp modSp mod">
        <pc:chgData name="Riasat Khan" userId="826ac62dfbb52e43" providerId="LiveId" clId="{3C39A87D-B590-46E1-AFF0-A9CAC4CD3E28}" dt="2024-05-06T14:02:48.068" v="1565"/>
        <pc:sldMkLst>
          <pc:docMk/>
          <pc:sldMk cId="345476881" sldId="336"/>
        </pc:sldMkLst>
      </pc:sldChg>
      <pc:sldChg chg="modSp mod">
        <pc:chgData name="Riasat Khan" userId="826ac62dfbb52e43" providerId="LiveId" clId="{3C39A87D-B590-46E1-AFF0-A9CAC4CD3E28}" dt="2024-05-06T13:55:06.769" v="1545" actId="1076"/>
        <pc:sldMkLst>
          <pc:docMk/>
          <pc:sldMk cId="1347205565" sldId="337"/>
        </pc:sldMkLst>
      </pc:sldChg>
      <pc:sldChg chg="new del">
        <pc:chgData name="Riasat Khan" userId="826ac62dfbb52e43" providerId="LiveId" clId="{3C39A87D-B590-46E1-AFF0-A9CAC4CD3E28}" dt="2024-05-06T13:46:22.079" v="1543" actId="2696"/>
        <pc:sldMkLst>
          <pc:docMk/>
          <pc:sldMk cId="1046584224" sldId="338"/>
        </pc:sldMkLst>
      </pc:sldChg>
    </pc:docChg>
  </pc:docChgLst>
  <pc:docChgLst>
    <pc:chgData name="Riasat Khan" userId="826ac62dfbb52e43" providerId="LiveId" clId="{C258F155-3060-4189-8C74-87F0CB648A4E}"/>
    <pc:docChg chg="undo custSel addSld delSld modSld">
      <pc:chgData name="Riasat Khan" userId="826ac62dfbb52e43" providerId="LiveId" clId="{C258F155-3060-4189-8C74-87F0CB648A4E}" dt="2022-11-14T03:37:48.669" v="91" actId="962"/>
      <pc:docMkLst>
        <pc:docMk/>
      </pc:docMkLst>
      <pc:sldChg chg="addSp delSp new del">
        <pc:chgData name="Riasat Khan" userId="826ac62dfbb52e43" providerId="LiveId" clId="{C258F155-3060-4189-8C74-87F0CB648A4E}" dt="2022-11-14T02:05:22.873" v="3" actId="47"/>
        <pc:sldMkLst>
          <pc:docMk/>
          <pc:sldMk cId="1882979032" sldId="328"/>
        </pc:sldMkLst>
      </pc:sldChg>
      <pc:sldChg chg="addSp delSp modSp add mod">
        <pc:chgData name="Riasat Khan" userId="826ac62dfbb52e43" providerId="LiveId" clId="{C258F155-3060-4189-8C74-87F0CB648A4E}" dt="2022-11-14T02:07:44.111" v="28" actId="20577"/>
        <pc:sldMkLst>
          <pc:docMk/>
          <pc:sldMk cId="4084036124" sldId="328"/>
        </pc:sldMkLst>
      </pc:sldChg>
      <pc:sldChg chg="modSp add mod">
        <pc:chgData name="Riasat Khan" userId="826ac62dfbb52e43" providerId="LiveId" clId="{C258F155-3060-4189-8C74-87F0CB648A4E}" dt="2022-11-14T02:09:23.176" v="37" actId="207"/>
        <pc:sldMkLst>
          <pc:docMk/>
          <pc:sldMk cId="3370105307" sldId="329"/>
        </pc:sldMkLst>
      </pc:sldChg>
      <pc:sldChg chg="addSp delSp modSp add mod">
        <pc:chgData name="Riasat Khan" userId="826ac62dfbb52e43" providerId="LiveId" clId="{C258F155-3060-4189-8C74-87F0CB648A4E}" dt="2022-11-14T02:44:11.772" v="84" actId="20577"/>
        <pc:sldMkLst>
          <pc:docMk/>
          <pc:sldMk cId="3702220251" sldId="330"/>
        </pc:sldMkLst>
      </pc:sldChg>
      <pc:sldChg chg="addSp modSp add mod">
        <pc:chgData name="Riasat Khan" userId="826ac62dfbb52e43" providerId="LiveId" clId="{C258F155-3060-4189-8C74-87F0CB648A4E}" dt="2022-11-14T03:37:48.669" v="91" actId="962"/>
        <pc:sldMkLst>
          <pc:docMk/>
          <pc:sldMk cId="3412255732" sldId="331"/>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Public\Documents\ml-class\lectures-slides\assets\2.2.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C450-4987-B314-55B3F21F7C7F}"/>
            </c:ext>
          </c:extLst>
        </c:ser>
        <c:dLbls>
          <c:showLegendKey val="0"/>
          <c:showVal val="0"/>
          <c:showCatName val="0"/>
          <c:showSerName val="0"/>
          <c:showPercent val="0"/>
          <c:showBubbleSize val="0"/>
        </c:dLbls>
        <c:axId val="320658160"/>
        <c:axId val="320656592"/>
      </c:scatterChart>
      <c:valAx>
        <c:axId val="320658160"/>
        <c:scaling>
          <c:orientation val="minMax"/>
        </c:scaling>
        <c:delete val="0"/>
        <c:axPos val="b"/>
        <c:numFmt formatCode="General" sourceLinked="1"/>
        <c:majorTickMark val="cross"/>
        <c:minorTickMark val="none"/>
        <c:tickLblPos val="nextTo"/>
        <c:spPr>
          <a:ln w="38100"/>
        </c:spPr>
        <c:crossAx val="320656592"/>
        <c:crosses val="autoZero"/>
        <c:crossBetween val="midCat"/>
        <c:majorUnit val="1"/>
      </c:valAx>
      <c:valAx>
        <c:axId val="320656592"/>
        <c:scaling>
          <c:orientation val="minMax"/>
        </c:scaling>
        <c:delete val="0"/>
        <c:axPos val="l"/>
        <c:majorGridlines>
          <c:spPr>
            <a:ln>
              <a:noFill/>
            </a:ln>
          </c:spPr>
        </c:majorGridlines>
        <c:numFmt formatCode="General" sourceLinked="1"/>
        <c:majorTickMark val="cross"/>
        <c:minorTickMark val="none"/>
        <c:tickLblPos val="nextTo"/>
        <c:spPr>
          <a:ln w="38100"/>
        </c:spPr>
        <c:crossAx val="320658160"/>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02C2-4B93-8DD0-6AD5FED6AF22}"/>
            </c:ext>
          </c:extLst>
        </c:ser>
        <c:dLbls>
          <c:showLegendKey val="0"/>
          <c:showVal val="0"/>
          <c:showCatName val="0"/>
          <c:showSerName val="0"/>
          <c:showPercent val="0"/>
          <c:showBubbleSize val="0"/>
        </c:dLbls>
        <c:axId val="320653064"/>
        <c:axId val="320658552"/>
      </c:scatterChart>
      <c:valAx>
        <c:axId val="320653064"/>
        <c:scaling>
          <c:orientation val="minMax"/>
        </c:scaling>
        <c:delete val="0"/>
        <c:axPos val="b"/>
        <c:numFmt formatCode="General" sourceLinked="1"/>
        <c:majorTickMark val="cross"/>
        <c:minorTickMark val="none"/>
        <c:tickLblPos val="nextTo"/>
        <c:spPr>
          <a:ln w="38100"/>
        </c:spPr>
        <c:crossAx val="320658552"/>
        <c:crosses val="autoZero"/>
        <c:crossBetween val="midCat"/>
        <c:majorUnit val="1"/>
      </c:valAx>
      <c:valAx>
        <c:axId val="320658552"/>
        <c:scaling>
          <c:orientation val="minMax"/>
        </c:scaling>
        <c:delete val="0"/>
        <c:axPos val="l"/>
        <c:majorGridlines>
          <c:spPr>
            <a:ln>
              <a:noFill/>
            </a:ln>
          </c:spPr>
        </c:majorGridlines>
        <c:numFmt formatCode="General" sourceLinked="1"/>
        <c:majorTickMark val="cross"/>
        <c:minorTickMark val="none"/>
        <c:tickLblPos val="nextTo"/>
        <c:spPr>
          <a:ln w="38100"/>
        </c:spPr>
        <c:crossAx val="320653064"/>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5714-4ED9-B52C-A5E7C9AF0F35}"/>
            </c:ext>
          </c:extLst>
        </c:ser>
        <c:dLbls>
          <c:showLegendKey val="0"/>
          <c:showVal val="0"/>
          <c:showCatName val="0"/>
          <c:showSerName val="0"/>
          <c:showPercent val="0"/>
          <c:showBubbleSize val="0"/>
        </c:dLbls>
        <c:axId val="320658944"/>
        <c:axId val="320659336"/>
      </c:scatterChart>
      <c:valAx>
        <c:axId val="320658944"/>
        <c:scaling>
          <c:orientation val="minMax"/>
        </c:scaling>
        <c:delete val="0"/>
        <c:axPos val="b"/>
        <c:numFmt formatCode="General" sourceLinked="1"/>
        <c:majorTickMark val="cross"/>
        <c:minorTickMark val="none"/>
        <c:tickLblPos val="nextTo"/>
        <c:spPr>
          <a:ln w="38100"/>
        </c:spPr>
        <c:crossAx val="320659336"/>
        <c:crosses val="autoZero"/>
        <c:crossBetween val="midCat"/>
        <c:majorUnit val="1"/>
      </c:valAx>
      <c:valAx>
        <c:axId val="320659336"/>
        <c:scaling>
          <c:orientation val="minMax"/>
        </c:scaling>
        <c:delete val="0"/>
        <c:axPos val="l"/>
        <c:majorGridlines>
          <c:spPr>
            <a:ln>
              <a:noFill/>
            </a:ln>
          </c:spPr>
        </c:majorGridlines>
        <c:numFmt formatCode="General" sourceLinked="1"/>
        <c:majorTickMark val="cross"/>
        <c:minorTickMark val="none"/>
        <c:tickLblPos val="nextTo"/>
        <c:spPr>
          <a:ln w="38100"/>
        </c:spPr>
        <c:crossAx val="320658944"/>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63F9-41AF-88BD-8E06F60B4031}"/>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63F9-41AF-88BD-8E06F60B4031}"/>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63F9-41AF-88BD-8E06F60B4031}"/>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63F9-41AF-88BD-8E06F60B4031}"/>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63F9-41AF-88BD-8E06F60B4031}"/>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63F9-41AF-88BD-8E06F60B4031}"/>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63F9-41AF-88BD-8E06F60B4031}"/>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63F9-41AF-88BD-8E06F60B4031}"/>
            </c:ext>
          </c:extLst>
        </c:ser>
        <c:dLbls>
          <c:showLegendKey val="0"/>
          <c:showVal val="0"/>
          <c:showCatName val="0"/>
          <c:showSerName val="0"/>
          <c:showPercent val="0"/>
          <c:showBubbleSize val="0"/>
        </c:dLbls>
        <c:axId val="245352296"/>
        <c:axId val="245358960"/>
      </c:scatterChart>
      <c:valAx>
        <c:axId val="245352296"/>
        <c:scaling>
          <c:orientation val="minMax"/>
          <c:max val="3"/>
        </c:scaling>
        <c:delete val="0"/>
        <c:axPos val="b"/>
        <c:numFmt formatCode="General" sourceLinked="1"/>
        <c:majorTickMark val="cross"/>
        <c:minorTickMark val="none"/>
        <c:tickLblPos val="nextTo"/>
        <c:spPr>
          <a:ln w="38100"/>
        </c:spPr>
        <c:crossAx val="245358960"/>
        <c:crosses val="autoZero"/>
        <c:crossBetween val="midCat"/>
        <c:majorUnit val="1"/>
      </c:valAx>
      <c:valAx>
        <c:axId val="245358960"/>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245352296"/>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8B16-447B-A265-79EAB36DBF3D}"/>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8B16-447B-A265-79EAB36DBF3D}"/>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8B16-447B-A265-79EAB36DBF3D}"/>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8B16-447B-A265-79EAB36DBF3D}"/>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8B16-447B-A265-79EAB36DBF3D}"/>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8B16-447B-A265-79EAB36DBF3D}"/>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8B16-447B-A265-79EAB36DBF3D}"/>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8B16-447B-A265-79EAB36DBF3D}"/>
            </c:ext>
          </c:extLst>
        </c:ser>
        <c:dLbls>
          <c:showLegendKey val="0"/>
          <c:showVal val="0"/>
          <c:showCatName val="0"/>
          <c:showSerName val="0"/>
          <c:showPercent val="0"/>
          <c:showBubbleSize val="0"/>
        </c:dLbls>
        <c:axId val="245353080"/>
        <c:axId val="245353472"/>
      </c:scatterChart>
      <c:valAx>
        <c:axId val="245353080"/>
        <c:scaling>
          <c:orientation val="minMax"/>
          <c:max val="2.5"/>
          <c:min val="-0.5"/>
        </c:scaling>
        <c:delete val="0"/>
        <c:axPos val="b"/>
        <c:numFmt formatCode="General" sourceLinked="1"/>
        <c:majorTickMark val="cross"/>
        <c:minorTickMark val="none"/>
        <c:tickLblPos val="nextTo"/>
        <c:spPr>
          <a:ln w="38100"/>
        </c:spPr>
        <c:crossAx val="245353472"/>
        <c:crosses val="autoZero"/>
        <c:crossBetween val="midCat"/>
        <c:majorUnit val="0.5"/>
      </c:valAx>
      <c:valAx>
        <c:axId val="245353472"/>
        <c:scaling>
          <c:orientation val="minMax"/>
          <c:max val="3"/>
          <c:min val="0"/>
        </c:scaling>
        <c:delete val="0"/>
        <c:axPos val="l"/>
        <c:majorGridlines>
          <c:spPr>
            <a:ln>
              <a:noFill/>
            </a:ln>
          </c:spPr>
        </c:majorGridlines>
        <c:numFmt formatCode="General" sourceLinked="1"/>
        <c:majorTickMark val="cross"/>
        <c:minorTickMark val="none"/>
        <c:tickLblPos val="nextTo"/>
        <c:spPr>
          <a:ln w="38100"/>
        </c:spPr>
        <c:crossAx val="245353080"/>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1D5D-44B9-9CEB-91B5EC96F65D}"/>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1D5D-44B9-9CEB-91B5EC96F65D}"/>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1D5D-44B9-9CEB-91B5EC96F65D}"/>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1D5D-44B9-9CEB-91B5EC96F65D}"/>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1D5D-44B9-9CEB-91B5EC96F65D}"/>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1D5D-44B9-9CEB-91B5EC96F65D}"/>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1D5D-44B9-9CEB-91B5EC96F65D}"/>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1D5D-44B9-9CEB-91B5EC96F65D}"/>
            </c:ext>
          </c:extLst>
        </c:ser>
        <c:dLbls>
          <c:showLegendKey val="0"/>
          <c:showVal val="0"/>
          <c:showCatName val="0"/>
          <c:showSerName val="0"/>
          <c:showPercent val="0"/>
          <c:showBubbleSize val="0"/>
        </c:dLbls>
        <c:axId val="245351120"/>
        <c:axId val="245353864"/>
      </c:scatterChart>
      <c:valAx>
        <c:axId val="245351120"/>
        <c:scaling>
          <c:orientation val="minMax"/>
          <c:max val="3"/>
        </c:scaling>
        <c:delete val="0"/>
        <c:axPos val="b"/>
        <c:numFmt formatCode="General" sourceLinked="1"/>
        <c:majorTickMark val="cross"/>
        <c:minorTickMark val="none"/>
        <c:tickLblPos val="nextTo"/>
        <c:spPr>
          <a:ln w="38100"/>
        </c:spPr>
        <c:crossAx val="245353864"/>
        <c:crosses val="autoZero"/>
        <c:crossBetween val="midCat"/>
        <c:majorUnit val="1"/>
      </c:valAx>
      <c:valAx>
        <c:axId val="245353864"/>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245351120"/>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C142-4A93-BE03-D9AD93413278}"/>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C142-4A93-BE03-D9AD93413278}"/>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C142-4A93-BE03-D9AD93413278}"/>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C142-4A93-BE03-D9AD93413278}"/>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C142-4A93-BE03-D9AD93413278}"/>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C142-4A93-BE03-D9AD93413278}"/>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C142-4A93-BE03-D9AD93413278}"/>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C142-4A93-BE03-D9AD93413278}"/>
            </c:ext>
          </c:extLst>
        </c:ser>
        <c:dLbls>
          <c:showLegendKey val="0"/>
          <c:showVal val="0"/>
          <c:showCatName val="0"/>
          <c:showSerName val="0"/>
          <c:showPercent val="0"/>
          <c:showBubbleSize val="0"/>
        </c:dLbls>
        <c:axId val="245360920"/>
        <c:axId val="245357000"/>
      </c:scatterChart>
      <c:valAx>
        <c:axId val="245360920"/>
        <c:scaling>
          <c:orientation val="minMax"/>
          <c:max val="2.5"/>
          <c:min val="-0.5"/>
        </c:scaling>
        <c:delete val="0"/>
        <c:axPos val="b"/>
        <c:numFmt formatCode="General" sourceLinked="1"/>
        <c:majorTickMark val="cross"/>
        <c:minorTickMark val="none"/>
        <c:tickLblPos val="nextTo"/>
        <c:spPr>
          <a:ln w="38100"/>
        </c:spPr>
        <c:crossAx val="245357000"/>
        <c:crosses val="autoZero"/>
        <c:crossBetween val="midCat"/>
        <c:majorUnit val="0.5"/>
      </c:valAx>
      <c:valAx>
        <c:axId val="245357000"/>
        <c:scaling>
          <c:orientation val="minMax"/>
          <c:max val="3"/>
          <c:min val="0"/>
        </c:scaling>
        <c:delete val="0"/>
        <c:axPos val="l"/>
        <c:majorGridlines>
          <c:spPr>
            <a:ln>
              <a:noFill/>
            </a:ln>
          </c:spPr>
        </c:majorGridlines>
        <c:numFmt formatCode="General" sourceLinked="1"/>
        <c:majorTickMark val="cross"/>
        <c:minorTickMark val="none"/>
        <c:tickLblPos val="nextTo"/>
        <c:spPr>
          <a:ln w="38100"/>
        </c:spPr>
        <c:crossAx val="245360920"/>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0636-4057-9F33-9E16E8446ADD}"/>
            </c:ext>
          </c:extLst>
        </c:ser>
        <c:dLbls>
          <c:showLegendKey val="0"/>
          <c:showVal val="0"/>
          <c:showCatName val="0"/>
          <c:showSerName val="0"/>
          <c:showPercent val="0"/>
          <c:showBubbleSize val="0"/>
        </c:dLbls>
        <c:axId val="328229440"/>
        <c:axId val="328230224"/>
      </c:scatterChart>
      <c:valAx>
        <c:axId val="328229440"/>
        <c:scaling>
          <c:orientation val="minMax"/>
          <c:max val="3000"/>
        </c:scaling>
        <c:delete val="0"/>
        <c:axPos val="b"/>
        <c:numFmt formatCode="General" sourceLinked="1"/>
        <c:majorTickMark val="out"/>
        <c:minorTickMark val="none"/>
        <c:tickLblPos val="nextTo"/>
        <c:spPr>
          <a:ln w="25400"/>
        </c:spPr>
        <c:crossAx val="328230224"/>
        <c:crosses val="autoZero"/>
        <c:crossBetween val="midCat"/>
      </c:valAx>
      <c:valAx>
        <c:axId val="328230224"/>
        <c:scaling>
          <c:orientation val="minMax"/>
          <c:max val="500000"/>
        </c:scaling>
        <c:delete val="0"/>
        <c:axPos val="l"/>
        <c:majorGridlines/>
        <c:numFmt formatCode="General" sourceLinked="0"/>
        <c:majorTickMark val="out"/>
        <c:minorTickMark val="none"/>
        <c:tickLblPos val="nextTo"/>
        <c:spPr>
          <a:ln w="25400"/>
        </c:spPr>
        <c:crossAx val="328229440"/>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drawings/_rels/drawing1.xml.rels><?xml version="1.0" encoding="UTF-8" standalone="yes"?>
<Relationships xmlns="http://schemas.openxmlformats.org/package/2006/relationships"><Relationship Id="rId1" Type="http://schemas.openxmlformats.org/officeDocument/2006/relationships/image" Target="../media/image36.png"/></Relationships>
</file>

<file path=ppt/drawings/drawing1.xml><?xml version="1.0" encoding="utf-8"?>
<c:userShapes xmlns:c="http://schemas.openxmlformats.org/drawingml/2006/chart">
  <cdr:relSizeAnchor xmlns:cdr="http://schemas.openxmlformats.org/drawingml/2006/chartDrawing">
    <cdr:from>
      <cdr:x>0.69132</cdr:x>
      <cdr:y>0.50295</cdr:y>
    </cdr:from>
    <cdr:to>
      <cdr:x>1</cdr:x>
      <cdr:y>0.68169</cdr:y>
    </cdr:to>
    <cdr:pic>
      <cdr:nvPicPr>
        <cdr:cNvPr id="2" name="chart">
          <a:extLst xmlns:a="http://schemas.openxmlformats.org/drawingml/2006/main">
            <a:ext uri="{FF2B5EF4-FFF2-40B4-BE49-F238E27FC236}">
              <a16:creationId xmlns:a16="http://schemas.microsoft.com/office/drawing/2014/main" id="{5156B5C3-32EE-3C79-F07F-C9479198C47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921903" y="1801269"/>
          <a:ext cx="1304657" cy="640135"/>
        </a:xfrm>
        <a:prstGeom xmlns:a="http://schemas.openxmlformats.org/drawingml/2006/main" prst="rect">
          <a:avLst/>
        </a:prstGeom>
      </cdr:spPr>
    </cdr:pic>
  </cdr:relSizeAnchor>
</c:userShapes>
</file>

<file path=ppt/ink/ink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13T21:58:39.646"/>
    </inkml:context>
    <inkml:brush xml:id="br0">
      <inkml:brushProperty name="width" value="0.05292" units="cm"/>
      <inkml:brushProperty name="height" value="0.05292" units="cm"/>
      <inkml:brushProperty name="color" value="#FF0000"/>
    </inkml:brush>
  </inkml:definitions>
  <inkml:trace contextRef="#ctx0" brushRef="#br0">19566 8875 960,'-27'-27'1442,"27"27"-577,-28 0-513,28 0-96,0 0 0,0-25 161,0 25 63,0 0 225,0-27-64,0 27 416,0 0-129,0-26-127,0 26-96,0 0-33,-24 0-191,24 0-65,0 0 193,0 0-1,0 0-95,0 0 64,0-27-1,0 27-128,0 0-95,-26 0 63,26 0 97,0 0-97,0 0 65,0 0 63,0 0-128,0 0 1,0 0-161,0 0-32,0 0-64,0 0-63,0 0-1,0 0 64,0 0 0,0 0 32,0 27-32,0-27 0,0 0-160,0 0 32,0 0 33,0 0-33,0 26 64,0-26-96,0 0 64,0 0-64,26 0 32,-26 27-64,0-27 224,0 0-160,0 0 32,24 0-64,-24 0-32,0 25 160,0-25-96,0 0 96,28 0-32,-28 27 129,0-27-161,27 0 64,0 27-96,-1-27 96,0 26-224,0 1 96,1-27 0,0 27 0,25-2 32,-26 3 0,1-3-64,26 2 128,-27 0-224,0-1 160,1 1 0,28 0-96,-31-2 64,2 3 0,2-3 0,26 2 0,-29 0-32,28-1 64,-26-26 0,0 27-32,-27-27-32,25 0 128,-25 27-96,0-27-96,27 0 160,-27 0-32,0 0 32,0 0 32,0 0-64,0 0 0,0 0-64,0 0 32,-27-27 0,27 27-192,0 0 128,-25-27 0,25 27-64,-27 0-33,0-26 97,1 26-96,-1-27 96,2 27 0,-2-27-96,0 2 128,-1 25 64,2-28-32,-25 28 96,23-25-192,-25-2 96,27 0 32,-27 1-32,0-1 64,1 0-32,25 2 0,-26-3 0,27 3 64,26-2-64,-26 0 128,-1 1-224,0-1 96,-1 27 0,4-27 0,24 2 97,-26 25-193,26-27 64,-27 27 0,27 0 0,0 0 32,0 0-161,27 0 97,-27 0 64,26 27 0,-2-27-32,-24 0 0,28 25-32,-1 2 32,0-27 129,25 27-258,-26-1 129,1 1-32,26 25 64,-27-24-32,27-3 32,0 29-96,-1-28 64,3 28 0,-4-29-32,-25 3 64,29-3-128,-3 2 160,-25 0-128,26-1 160,-26-26-224,-2 0 96,-25 27 32,27-27 0,-27 0-96,0 0 96,0 0-192,0 0-96,0 0-737,0 0-769,-27-27-897,27 27-3330</inkml:trace>
  <inkml:trace contextRef="#ctx0" brushRef="#br0" timeOffset="1">20281 8743 4868,'0'0'513,"0"0"-161,0 0 1762,0 0-352,0 0-930,-27 0-287,27 27 63,-27-27-63,27 26-161,0-26-95,-26 27-97,-1-2-32,2-25 64,-2 27 129,0 26-1,-27-26-64,30 25 0,-31 1 1,2-26-225,27 26 32,-27-26-64,26 25 0,1-24 0,0-3 160,0 2-32,26 0 64,-27-27-127,27 26-65,0-26 0,0 0-32,0 0 32,0 0-32,0 0 0,0 0-64,0 0 0,0 0-1,0 0 1,0 0 64,0 0-128,0 0-32,0 0-32,0-26 160,27 26 32,-1-27-32,-26 0-32,26 27-32,0-25-64,1-3 63,0-24 97,25 25 0,-26 1-32,29-28 0,-28 29 0,23-28 64,5 26 0,-3-26-64,1 26 32,1 0-32,-2 2 32,-26-2 32,1 1-32,0 26 0,-27-27 32,0 27 0,0 0 65,0 0 31,0 0-64,-27 0-96,27 27 0,-27-27 32,1 26-32,-1 1 0,-25-2 32,-1 2 0,1 0 32,-2-1-32,-24 28 32,23-1 128,-24-1 128,-1 1 0,28-26-63,-28 25 95,28-24-128,26 24-64,-1-25 0,0-1-96,-1 1-32,28-27 32,0 27-64,-24-27 32,24 0 32,0 26 0,0-26 32,0 0-64,-26 0 0,26 0-96,0 0 96,-27 26 0,27-26-32,0 0-32,0 0-32,0-26-96,27 26 64,-27-26 32,26-1 32,-2 0-64,4 1 96,26-28-97,-2 29 33,1-28 64,0-1 32,-1 1-64,28 1 64,-28-28 0,3 53 0,-4-26 64,3 26-32,-27 2-32,0-2 32,-2 27 32,-25-26 1,27 26-33,-27 0 32,0 0-96,0 0-32,-27 0-65,2 26 97,25-26-32,-54 27 64,26-2-32,-22 2 32,23 0 0,-28 26 0,3-1 0,-1-24 0,0 24-32,1-25 64,-2 26-32,2-26-32,26 26-128,-1-28-801,0 2-416,27 0-1602</inkml:trace>
</inkml:ink>
</file>

<file path=ppt/ink/ink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13T21:59:52.231"/>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definitions>
  <inkml:trace contextRef="#ctx0" brushRef="#br0">13278 8378 5925,'-24'0'128,"-4"0"-32,28 0 993,0 0 929,0 0-608,0 0-385,0 0-193,0 0-287,0 0 95,28 0-31,-4-25-161,29 25-159,2 0-97,-3 0-64,28-27 96,25 27-96,1 0 257,26 0-321,1 0 32,26 27 0,-1-27 96,26 0 417,-24 0-417,-1 0 256,0 0-127,-26 0-321,-28-27 0,-25 27 0,-1 0-128,-26 0 160,-1 27-225,2-27-127,-26 0 128,-4 0-353,-24 0-448,0 0-960,0 25-2147</inkml:trace>
  <inkml:trace contextRef="#ctx0" brushRef="#br0" timeOffset="1883.1">14338 4537 2562,'25'0'897,"-25"0"-257,0 0 1987,0 0-545,0 0-961,0 0-288,0 0-65,0 0-255,0 0-353,0 0-128,0 0-64,0 0 32,0 0 0,0 0 96,0 26 32,0-26 64,0 0 161,0 27-1,0 0-64,-25-1-127,25 0-161,-27 0 64,1 1-64,26 26 32,-27-26 0,0-2 0,2 29-64,-2-28 0,-26 26 32,26 3-64,-25-2 32,26 1 32,-29 24 0,4-24 0,-3-1-97,3-1 97,-4 1-160,2 1-96,1-2 96,-1-24 160,26 24 0,-25 1 0,-1-26-32,26 25 64,-25-24-64,-3 24 32,29 0-128,-1-24 128,-25 25 0,25-28-32,1 29 32,-1-28 0,-25 28 0,25-2 0,1-26 0,-1 28 0,2-26 0,-2 24 32,-26 0-32,26 2-32,2-2 64,-2-26-64,0 28 64,-1-2-32,2-25 0,2 26-32,-3-1 96,-1-25-96,1 26 64,1-26 0,26 26 0,-26-27-32,26 2 0,-26-3-32,26-25 32,0 27 0,0-27-192,-27 0-257,27 0-63,0 28 31,0-28 225,0 0 64,0 0-257,-27 0-1665,27 0-4772</inkml:trace>
  <inkml:trace contextRef="#ctx0" brushRef="#br0" timeOffset="2222.12">12538 6603 8936,'0'0'128,"0"0"-833,0 0 1122,0 0 127,0 27-608,0-27 96,0 53 96,0-1 385,0-25 256,0 26-225,0 1-224,27-28-31,-1 28-97,0-29 0,0 2 64,1-27 33,28 0-65,-31 0-32,30 0-32,-27 0-128,0-27-448,-2 27-769,2-25-2114</inkml:trace>
  <inkml:trace contextRef="#ctx0" brushRef="#br0" timeOffset="8814.5">759 13441 6149,'-26'0'1506,"26"0"800,-27 0 0,27 0-448,-27 0-417,27 0-256,-25-28-96,25 28-480,0 0-481,0 0 96,25 0 129,2 0-161,0 0-96,26 0-32,-1 0 0,29-27-64,-2 27 32,0 0-64,1 0-192,-2-25-449,-24 25-512,-2 0-384,-26 0-609,1 0-2050,0-28-3780</inkml:trace>
  <inkml:trace contextRef="#ctx0" brushRef="#br0" timeOffset="9045.51">1209 13386 8872,'-52'27'224,"25"1"64,27-3 1282,0 2-129,27 0-928,-1 26-321,0-26-96,0-2 0,1 2-64,-27 26 32,27-26 64,-27-2 64,0 28 161,0-26 159,-27 0-95,0-1-225,1 0-64,-26 2-96,-28-3 0,28-25-64,-3 28-833,4-28-1569,-3 25-3908</inkml:trace>
  <inkml:trace contextRef="#ctx0" brushRef="#br0" timeOffset="9398.53">1950 13361 2114,'-27'0'8904,"1"0"-9577,0 0 737,0 0 1025,26 25 353,-27-25-770,0 55 65,1-30 160,0 29-288,0 26-65,26-28-224,0 28-288,-27-28 32,27 1-64,0 26-32,27-51-192,-27 25-513,26-28-672,26 3-1025,-25-28-4773</inkml:trace>
  <inkml:trace contextRef="#ctx0" brushRef="#br0" timeOffset="9738.54">2321 13652 13100,'26'-27'448,"-26"27"-608,-26 0 0,-1 0 608,2 27-159,-2-1-289,0 28 0,27-2 0,-26 1-64,26 0 96,26 1-32,28-29-32,-2 3 160,1-3 64,-1-25 385,28 0 159,-1-25-31,-25-28 64,-27-1-97,0 1 129,-27 26-321,-27-26-223,0 28-289,-1-29-64,-22 28-33,23 26 129,-1-27-128,1 27-64,-26 0-737,28 0-864,-2 0-353,0 0-1218,27 27-4771</inkml:trace>
  <inkml:trace contextRef="#ctx0" brushRef="#br0" timeOffset="9910.56">2930 13810 16751,'27'0'-512,"-27"0"576,0 0 288,0 27 321,0-27-865,0 0-545,0 27-1217,25-27-1986</inkml:trace>
  <inkml:trace contextRef="#ctx0" brushRef="#br0" timeOffset="10328.59">3327 13520 10570,'52'-27'-353,"-25"0"385,0 27 417,-1-25 704,1-3-897,-27 28-256,25 0 96,-25 0 224,-25 0-288,25 0-480,-53 28 256,26-28 192,-25 25 0,25 2-64,1 26 64,-1-26 64,27 0 160,0-2 96,27 28 33,-1-26 127,26 0-96,2-2-95,-1 2-161,-1-1-32,1 28-96,-26-28 96,1 0-160,-4-26 64,-24 28 641,0-3 384,-52 3-417,25-28 65,-26 25-321,26-25-288,-25 0-96,26 28-512,-1-28-962,0 0-1793,2 0-4773</inkml:trace>
  <inkml:trace contextRef="#ctx0" brushRef="#br0" timeOffset="10653.6">3670 13228 2017,'53'-27'11051,"-53"27"-11371,28-27 864,-1 27 641,-27 27 289,24 0-674,4 26-319,25-1 31,-26 1 1,-2 27-257,2 0 0,0-26 65,-1 24-257,1-24 0,-27 24 160,0-24-128,-27 26 160,1-27-224,-1-28-32,-25 29-32,25-28-288,1 1-289,-1 0-640,-1-1-865,-23-26-2626</inkml:trace>
  <inkml:trace contextRef="#ctx0" brushRef="#br0" timeOffset="11187.63">4650 13757 13068,'0'0'1185,"0"0"-1858,0 27 1474,27-27 705,-27 0-514,52 0-543,-26 26-33,1-26-63,28 0-161,-5 27-96,-23-27-64,28 0-128,-3 0-609,-26 0-928,1 0-994,-27-27-3427</inkml:trace>
  <inkml:trace contextRef="#ctx0" brushRef="#br0" timeOffset="11360.64">4809 14076 13388,'78'26'641,"-23"-26"768,24 0 833,-26 0-352,0 0-1538,-1 0-480,-25 0-544,0 0-1506,-1 27-2563</inkml:trace>
  <inkml:trace contextRef="#ctx0" brushRef="#br0" timeOffset="12836.73">6213 13174 6470,'25'-26'1057,"-25"26"-2114,0 0 1153,0 0 929,0 0-577,0 0-224,0 26 833,0 1 225,0 0-193,0-1-257,0 28-351,0-29-97,0 28-224,0-26-96,0 26-32,0-26-64,0 0 32,0-1-64,27-26-288,-27 27-321,0-27-544,26 0-801,-26 0-2914</inkml:trace>
  <inkml:trace contextRef="#ctx0" brushRef="#br0" timeOffset="13132.75">5841 13705 10473,'0'0'673,"0"0"-865,0 0 1217,0 0 192,26 0-672,1 0-225,28 0 32,23 0 97,0 0-161,3 0-224,-2 0 64,26 0 0,27 0-32,-24 0 0,-3-27-32,1 27-64,-28-26-96,29 26-96,-55 0-320,3 0-673,-2 0-801,-29 0-1442,-24 0-3842</inkml:trace>
  <inkml:trace contextRef="#ctx0" brushRef="#br0" timeOffset="13608.77">6054 13969 9352,'0'28'481,"0"-28"-641,0 0 1857,27 0 193,-3 0-1025,4 0-641,25 0-128,-26 0 224,-2 0 1,2 0-321,-1 25-64,1-25 96,-27 28-32,0-2 32,0-26 64,0 26-32,-27 1 96,1 0-32,-1-1 0,2 1 129,-2-2-65,27-25-192,-27 27-32,27-27 0,27 27 192,0-27 128,-2 0-192,2 0-32,-1 0-32,28 0-128,-29 26-448,2-26-641,-1 0-737,1 0-1666,1 0-4804</inkml:trace>
  <inkml:trace contextRef="#ctx0" brushRef="#br0" timeOffset="14142.8">6662 14102 10954,'0'27'-64,"0"0"128,0-1 737,0 1 384,0-2-929,0 2-160,0 0-32,0-1 192,0-26 1,0 27 63,0-27-128,0 0 257,0-27-129,0 27-288,0-26-128,0-28-64,27 29-257,-27-2 193,26-26 160,1 26 128,-2 27 64,2-26 289,0 26 191,-1 0-191,-26 26-129,27-26-64,-2 27-96,-25 26 160,27-26-320,-27-2-32,27-25 64,-27 27 0,0-27 0,26 0-96,-26 0 128,0 0-32,27 0-64,1-27 0,-28 2 64,24-2-64,31-26 32,-29 26 32,25 27 320,-23-26 577,-1 26-256,-1 0-353,-26 26 193,27 28 255,-27-28-383,0 26-193,0-25-32,0 26-256,0-26-129,0 0-543,0-2-1058,0 2-1121,25-27-2946</inkml:trace>
  <inkml:trace contextRef="#ctx0" brushRef="#br0" timeOffset="14892.84">7906 13361 10537,'-27'0'1442,"27"0"-1378,27 0 897,-27 0 768,53 0-896,-27 0-352,27 0-161,0-28-192,-1 28-96,2 0-32,0 0-224,-30 0-577,4 0-480,-28 0-1153,0 28-1602,-28-28-3587</inkml:trace>
  <inkml:trace contextRef="#ctx0" brushRef="#br0" timeOffset="15202.84">7933 13386 6021,'0'27'288,"26"1"802,-26-3 1344,26 2-673,-26 0-832,26 26-416,-26-1 159,0 28 65,0-1-256,0 1-225,0 25 0,0-24-96,0-29 289,0 2 31,0-1 1,0-1-1,27-25-224,-27-1 33,0-26-33,27 27 32,-1-27-128,-26 0 64,52 0-95,-25 0-97,28 0-64,-5 0 0,5 27-289,-2-27-800,-1 0-1153,2 25-1185,-28-25-7271</inkml:trace>
  <inkml:trace contextRef="#ctx0" brushRef="#br0" timeOffset="26576.52">6502 8695 6245,'0'0'1826,"0"-25"-1986,0 25 608,0 0 1538,0 0-1153,0 0-641,0 0 65,0 0 191,0 0-224,0 25 128,0 2-95,0 1-193,27 25-32,-27-2 0,0 4 0,26-2 64,-26-1-64,28 28 0,-28-27 32,0 26-64,27-26 64,-27-26-64,0-2 0,24 3 32,-24-1 32,0-27 0,0 0 0,0 0 64,0 0 33,0 0-97,0-27-96,0-1 0,-24 3-32,24-2-33,0-26 33,-27 0-192,27-26-32,0 26 160,0 1 96,-28-2 32,28 1 64,0 25 160,0 3 0,0 25-160,0-26 32,0 26-32,0 0-32,0 0-96,0 0-64,0 0-192,0 0 192,0 26 96,28-1-64,-28 30-193,0-2 161,0 26 128,0-26 0,0 26 0,0 1 32,0-27-32,-28 0 32,28-1-64,0-25 64,0 0 0,0-27 33,0 26-1,0-26 192,0-26-128,0-1-64,0-25-32,0-3-64,0 3 64,0-1-128,0-26-32,0-1-96,0 2 63,-26-2 65,26 0 128,0 26 129,0 29 223,-27-3 0,27 28 97,0 0-1,0 0-480,0 28-64,0-3-32,27 3 96,-27 23-32,0 4-128,26 25 32,-26-2 64,0 2-96,0-1-65,0 1 1,0 0 192,0-28 32,0 1 0,0-26 0,0-27 32,0 0-32,0 0 96,0 0 64,0-27-96,28 1-32,-28-1-32,0-25 0,27-3 32,-27-23-32,0 24-32,0-24 32,0-2-32,0 1 64,0-1-32,0 1-32,0-2 32,0 29 32,0-1 32,0 53 97,-27-27 319,27 27-256,0 27-384,0-1 160,0 26 32,0 28-32,0-1 32,0 29-64,0-29 32,0 27 32,0-27-32,0 1 0,0-27 0,0-26 0,0-2 0,0 2 0,0-27 96,0 0 96,-28 0-31,28 0-354,0-27-95,0 2 32,0-30 32,0 3-65,-26-1 1,26-26-160,0-27-193,0 27 1,0 26 640,-27-2 384,27 4 353,0 23 224,0 28-65,0 0-864,0 28-32,27-2 129,-27 27-33,0 27 32,0-1 0,0 1-64,0 25 64,0-25-64,-27 25-32,27 2-32,0-54 0,0 1 32,0-29-64,0 2-64,0-27-192,0 0-545,27 0-1281,-27-27-5093</inkml:trace>
  <inkml:trace contextRef="#ctx0" brushRef="#br0" timeOffset="28798.64">9679 6233 3555,'27'-27'0,"-27"27"929,0 0 1089,0 0-641,0 0-672,0 0 480,0 0-128,0 0-609,0 0-160,0 0 353,0 27-96,0 1-353,0-3-64,0 2-96,27 25 64,-27 2 0,0 24 160,25 2 33,-25 26-65,0 26-96,0 2-32,0-2-64,0-26 0,0 26 0,0-53 32,0 29-32,0-29 0,0-26 0,27 26-64,-27-26 0,0-1 0,26 1 64,-26 1-64,0-28 32,0 26-192,0 2-128,0-28 160,0 1 63,0-27-127,0 0 64,0 0-32,0 0-705,0-27-32,0 1-160,0-28-160,0 2 288,0-1 545,0 26 416,0-26 96,0 28-128,0-29 0,0 28 96,0-28-128,0 1-64,0 0 224,0 2-96,0-4 192,0 2 32,0-26 224,-26-1-351,26-26-1,-27 2-128,27 24 288,-25-27 288,-2 27 385,27 28 128,-27-1-512,27-1-353,0 2-160,0-2 128,-26 2 64,26 26-192,0-28-64,0 27-32,0 2 0,0-2-32,0 27 32,0 0 32,0 0 32,0 0 64,0 0-64,0 0-32,0 27 96,0-2 160,26 2-63,-26 27-129,0 24 0,27-24 0,-27 52-32,27-28 0,-27 29-64,0 0 32,0 25 32,0-26 32,0 26 96,0 0 224,-27-26-64,27 0-160,0 1-128,-27-28-32,27-26 32,0 26-64,0-26 64,0-26 32,0 26-32,0-28 32,0-25 0,0 28 0,0-28-96,0 26-160,0-26-96,0 0 96,0 0 128,0-26 128,-26 26-96,26-28-65,0-24 97,0-1 32,0 0 0,0-26 0,0-1 0,-27 1 32,27-26 257,0 24 127,27-25 0,-27 1-191,26-2 223,-26 1-128,27 2-159,-27 24-33,0-27-32,0 0-32,0 29-128,0-2-32,-27 0 32,27 28 32,-26 0 0,26 24 64,0 1 0,-27 27 0,27-25-32,0 25-96,0 0-257,0 25 33,0 2 288,27 27 0,-27 24 32,26 2 32,-26 0-32,27 25 32,0 28 0,-27 1 0,25-2 32,-25 0 0,0 0 160,0 0 161,-25 1-1,25-1-160,-27 1-160,27-54-64,0 1-64,0-1 32,0-26-64,0-26 0,27-1-32,-27-26 64,25 0-96,-25-26 224,0-1 0,0 2-256,0-29-257,0 1-63,0 0-65,0-1-320,-25 2-160,25-1 32,0 0-1121,0 1-2274</inkml:trace>
  <inkml:trace contextRef="#ctx0" brushRef="#br0" timeOffset="31510.8">12670 3954 672,'0'0'2883,"0"0"-2371,0 0 641,0 0 193,0 27-738,0-27-223,0 26-97,28 0-64,-28 0 353,0 2-65,0-2 1,27 27-33,-27 0-63,0-1-353,0 28 32,0 0 64,0-1-288,0 28 128,-27-2-32,27 0 64,0 2 32,-28-2-64,28 29 0,0-28 96,-27 0-64,27 0-192,0 0 288,0 0-224,0-26 224,0 26 64,0-1 160,0 2 193,-26-29-385,26 29-128,0-28-32,-26 1 0,26 0-32,0-2 32,0-24 0,0-1 64,0-1-64,0 1 96,-26 1-32,26-2-64,-27 1 64,27 2 32,-27-3 33,1 0 127,26 2-160,0-28-64,0 0-32,0 1 32,0 0 0,0-27-128,0 0 32,0 0 64,0 0 64,0 0-64,0 0-64,0 0 64,26-27-32,-26 0-32,0 1 64,0 0 0,0-28-64,0 2 64,27-28 64,-27 0-192,0 1-1,0-28 97,0 2 32,0-28 65,0 1 31,0 0 192,0 0-64,0 25 289,27-26-225,-27 29-160,0-28 128,0 24 0,0 2-127,0 1-33,0-2-224,26 1 288,-26 0-128,0-26-192,0 26-65,0 0-63,0 0 192,0 26 96,0 1 32,0 26 0,0 26 32,0-26 0,0 27 32,0 26 32,0-28-32,0 28-96,0 0-96,0 0-128,0 28 160,0-2 32,0 0-32,0 54 64,26 0 0,-26-1-32,0 28 32,0 25-32,0 0 64,0 1 32,0 26 0,0-26 0,0 26-32,0 1-160,-26-28 128,26 26 0,-26 1 32,26 0 0,0-27 0,0-26 0,0 0-32,0-26 32,0-2 0,0 2-32,0-26 0,0-2 32,0-24 64,0-3-64,0 2 32,0-27-64,0 0 97,0 0-97,0 0 0,0-27-32,0-26-33,0 1 98,0-2 31,0-26-32,0 2 0,0-28 64,0 0 32,0-26-64,0-2-64,0-24 0,0-2 96,26 2-64,-26 0-32,0-2 32,0 1-160,0 0 224,0-1 160,26 55-160,-26-28-96,0 54 32,0-1 32,0 27 97,0-1-1,0 2-64,0-1 0,0 0-64,0 27-32,0-2 0,0 3 32,0-2-64,0 1 0,0 26-32,0-26 32,0 26-192,0 26 160,0 0 96,0 1 0,0 26-32,26 26 0,-26 1 64,0 27-160,27-2 64,-27 0 0,0 27 64,0 28-32,0 26-64,0-1 31,-27 2 66,1 25-66,26-27 66,-26 0 31,0-26 64,-1-26 0,27-1-64,0-26 96,0-1 192,0-25 1,0-1-129,0 1-160,0 0 32,0-28-96,27-24-32,-27 24 32,0-52-32,0 0-32,0 0 32,0 0 160,0 0-32,0-26-128,0 0 64,-27-28-64,27 1 32,0 0-64,0-27 0,0-26-160,0 26-65,27-25 1,-27 0 192,0-27 64,26 0 0,0-2 96,-26 1-64,26-26 64,1 1-64,-27-2 0,28 1 32,-1 0-192,-27 27 384,24-28-192,-24 28 0,0 26 32,0-26 32,0 52-160,0 1 64,0-1-32,0 27 0,0-1 32,0 29 0,26 25 0,-26-27-32,0 27-64,0 0 0,0 27 0,0-27-32,28 0 32,-28 25 96,0 3 0,0-2 32,0 0-32,0 28 32,0 24 0,0 4-32,0 23 0,0 27 0,0 27 96,0-1-96,0 2 0,0 26 0,-28-26-96,28 24 128,-26-24 288,26-2 225,-24-26 191,24 2-351,-27-2-353,27-52 192,0 25-32,0-25 0,0-1-63,0 1-129,0 0 64,0-28-96,0-24 128,0-3-160,0 2 96,27-1-128,-27-26-193,0 0-63,0 0 320,0 0 32,0 0 96,0 0-160,0 0-160,0 0-289,0 0-480,0 0-864,0 0-2339</inkml:trace>
  <inkml:trace contextRef="#ctx0" brushRef="#br0" timeOffset="34424.96">5973 8722 1121,'26'0'1249,"-26"0"-577,0 0 33,0 0-321,0 0 97,0 0 288,0 0 159,0 0 226,0 0 447,0 0-31,0 0-353,0-27-320,0 27-129,0 0-95,0 0-321,-26 0-448,26 0-128,-24 0-160,24 0-1,-27 0-31,-1 27 96,1-27 31,27 28 65,-26-3-256,-1 3-97,27-28 65,0 26 127,0-1-31,0 3-65,0-28 1,27 27 224,-1-27-1,-26 26 161,27-26 0,-27 27-192,0-27-545,0 27 257,0-2 640,0-25 192,0 27 128,-27-1 161,1-26 95,-1 27-95,2 0-481,-2-27-64,27 26-32,-27-26 0,27 26-192,0-26-641,0 0-384,27 0 1185,-27 0 96,27 0-32,-2 0 32,2 0-32,-27 0 640,0 26-31,0 1 320,0 26-417,0-26 33,-27 26 63,27 26-63,0-26 128,-25-26-193,25 26 129,0-27-161,0 2-288,0-3-128,25 2 224,2-1 33,-1-26-289,1 0-225,1 27-159,-28-27-545,27 0-1281,-27 0-3940</inkml:trace>
  <inkml:trace contextRef="#ctx0" brushRef="#br0" timeOffset="35702.04">7034 8458 6470,'0'0'1281,"0"0"-961,0 0 1762,0 0-32,0 0-1025,0 0-545,0 0 1,24 0-33,-24-27-191,55 1-97,-29 26-96,25-27 64,4 2 0,-2-2-64,-1 0 0,-25 1-64,26-1-32,-28 2 0,29 25 0,-54-28-224,26 28-257,-26 0-223,0 0-161,0 0-96,0 0-128,-26 0-513,26 28-480,-27-28-2722</inkml:trace>
  <inkml:trace contextRef="#ctx0" brushRef="#br0" timeOffset="36170.06">7271 8087 6181,'0'0'993,"0"0"-929,0 0 481,0 0 128,-26 0-33,26 0-416,0 0-64,0 0 193,-27 27 95,27-2-320,0-25-96,-28 28-64,28-2-32,-24 2 0,-3-3-96,27 2-128,-26-1-193,-2 1 417,1 0 96,27-2 32,-24 2 225,24-1-1,0-26 0,0 0-128,24 0 193,-24 27 95,27-27-128,1 0 1,25 0-33,-29 0 64,4 0-159,-1 0-97,-1 27-96,26-1-64,-52-26-129,27 26-287,0-26-481,-27 0-352,26 0-1954</inkml:trace>
  <inkml:trace contextRef="#ctx0" brushRef="#br0" timeOffset="37259.11">7746 7929 3555,'0'-27'1441,"0"27"289,0-27 512,0 1-608,0 26-513,0-27-128,0 27-97,0 0-95,0 0-256,0 0-353,0 0-480,0 0-1,0 27 289,0-1-32,0 28-96,28-28-192,-28 0 96,27 0 96,-27 1-97,26-27 65,0 27 64,0-27 64,1 0 96,-27 0 0,27-27 224,-27 27-63,0-27 95,0 1-128,0 0-128,0 0-32,0-1-64,0 0-64,0 1-160,0 26-96,0 0 127,0 0-383,0 26 223,0-26 385,26 54-32,-26-28 0,26 26 32,0-25-32,-26 0 64,27 26-32,0-28 96,-27 3 65,0-2 159,0 27 192,0-26 65,-27-27-1,27 26-63,-27 1-161,1-27-96,0 0-159,0 0-65,-1 0-161,0 0-351,-25 0-289,26 27-416,26-27-1377,-27 0-5222</inkml:trace>
  <inkml:trace contextRef="#ctx0" brushRef="#br0" timeOffset="37759.15">8011 7398 5829,'0'-52'1698,"0"52"-1026,-26 0 1090,26-27-289,0 27-832,0 27-513,-26-27-96,26 25 256,0 2 33,0 26-33,0-26-160,0 26-64,0 1-32,26-29-64,0 3-32,1 24-256,0-52-449,-27 27-736,26-27-2243</inkml:trace>
  <inkml:trace contextRef="#ctx0" brushRef="#br0" timeOffset="37924.15">8197 7451 10826,'28'55'-96,"-28"-55"160,0 25 96,26 1-192,-26 2-417,24-3-1088,4-25-833,-1 28-673</inkml:trace>
  <inkml:trace contextRef="#ctx0" brushRef="#br0" timeOffset="38284.18">8143 7107 11146,'0'0'128,"27"0"-32,-27 0 577,27 26 224,1-26-641,-2 0-256,-2 0-224,4 0 64,-28 0 128,27 28-193,-27-28-447,27 0-449,-27 26-2082</inkml:trace>
  <inkml:trace contextRef="#ctx0" brushRef="#br0" timeOffset="38904.21">8383 6974 8423,'26'-25'1410,"-26"25"-1474,26 0 1729,1 0 65,-27 0-513,27 0-448,-1 25-289,26 2-63,-25 26-97,26 0-128,-27 1-64,0 24-64,1-24 64,0-1-31,1 26-161,-28-26-193,0 0-287,0 1-802,0-1-1376,0-1-6727</inkml:trace>
  <inkml:trace contextRef="#ctx0" brushRef="#br0" timeOffset="39942.28">6689 9677 10409,'-27'-27'-64,"27"2"128,-28-3 1570,4 28-1058,-3 0-287,-1 0-257,2 0 96,-25 0 160,23 28-64,28-3-192,-27 2-64,27-1 0,0 28 32,0-28-32,27 26 32,25-24 96,1-28-96,2 26 32,-3-26 0,1-26 65,-1-2 95,-25 2 160,26-26-128,-53 25 257,27-26 544,-54 26-289,1-26-223,-1 27-65,-25 0-191,-1-1-225,-2 27-32,-24 0 32,26 27-289,29-1 65,-4 0 96,28 27-64,0-26-128,0-1-97,52 1 193,1-27 96,2 0 64,-3 0 64,-25 0 32,26-27 64,-28 27 193,-25-26 127,0-1-96,0 2-31,-25 25-33,-28-28-32,26 2-96,-25 0-224,25 26 0,-27 0-32,27 0-128,3 26-32,24 0 95,0 2 1,0-3 64,24 2 32,3-1 96,27-26 32,-27 0 0,-3 0-32,4 0 64,-28 0-32,27 0 65,-27 0 63,0 0 0,-27 0-224,27 0-32,-28 0-192,28 0-257,-24 0 129,24 0 192,0 27 95,0-27-447,0 0-1026,0 27-383,24-27-1507,-24 0-5028</inkml:trace>
  <inkml:trace contextRef="#ctx0" brushRef="#br0" timeOffset="40478.31">7350 9835 11691,'-27'0'2017,"27"0"-1568,-25 0 352,25 0-449,25 0-32,-25 28 97,54-2-65,-28 0 32,53 1 1,-26-27-225,-1 25-128,30 3 32,-32-28-128,32 27-32,-30-27-256,-26 25-33,1-25-191,-27 0-257,27 0-352,-54 0-1474,0 0-8614</inkml:trace>
  <inkml:trace contextRef="#ctx0" brushRef="#br0" timeOffset="40816.33">7323 10154 11851,'0'0'1665,"0"0"-1665,0 0 385,0-27 608,-25 27 160,25-26-705,-27-28-160,27 29 129,-26-30-33,-1 30-320,-1-28-32,28-1-32,-24 28 0,24-26-32,-27 52-32,27-27-64,27 0-96,-3 1 64,4 26 32,25 0 63,-1 0-31,2 0 32,-1 0 32,-1 0 0,1 26-64,-1-26-256,2 0-513,-26 27-512,-2-27-1442,-2 0-6213</inkml:trace>
  <inkml:trace contextRef="#ctx0" brushRef="#br0" timeOffset="41378.36">8143 9730 11883,'0'-80'801,"-24"55"-994,24-3 418,0 28 447,0 0-352,0 0-832,24 28 512,3-3 96,0 28-32,1 27-32,22 0-96,-22-1-160,-28 1-64,27-28 224,-27 1 96,27-26 0,-27-2 192,0-25 192,0 0 673,0 0-96,0-25-801,0-2-256,0 1-256,26-28-160,-26 29-161,26-2 193,27-1 31,-26 28 257,-1 0 160,0 0 64,0 28 128,1-1 64,0-2-256,-1 2-64,0 0-192,0 26-641,-26-28-1857,27 3-3460</inkml:trace>
  <inkml:trace contextRef="#ctx0" brushRef="#br0" timeOffset="42164.41">9018 9942 9801,'-27'0'192,"27"0"481,0 0 1441,-26 0-1506,26 0-512,0 25 64,-28-25 321,28 28 159,-24-1 33,24 25-128,0-25-385,-27-1-128,27 1-32,27-2-32,-27 29-32,24-26-128,4-3-257,25-25-63,-26 27-33,25-27 65,1 0 191,-26 0 1,-1 0 64,26-27 128,-25 2 96,-27-3 128,28 2 64,-28-2 192,0-24 65,-28 26-65,1-28-63,-25 29-33,26-2 224,-28 27-191,1 0-225,1 0 64,25 27-96,-27-27-32,30 25-32,24 2-32,0-27 32,24 27 96,4-1 0,25-26-64,-26 27 32,25-27-160,1 0-224,-26 0-449,25 0-704,-26 0-1282,1 0-4804</inkml:trace>
  <inkml:trace contextRef="#ctx0" brushRef="#br0" timeOffset="42467.42">9415 9386 11691,'0'-27'256,"0"-1"705,-28 28 800,28 0-992,0 28-769,0-1 32,-26 25 417,26 1 127,0 27-95,26-1-1,-26 1-192,28-1-96,-1-25-192,24-2 0,-23 0 0,25-24-448,-26-1-513,25-2-512,-26-25-673,1 0-3043</inkml:trace>
  <inkml:trace contextRef="#ctx0" brushRef="#br0" timeOffset="42712.44">9758 9730 9160,'0'0'545,"0"0"448,27 27 1377,-1-27-737,1 26-415,1 0-193,-4 0-545,3 2-384,27-2 0,-27 0-256,-3-26-609,31 27-384,-29-27-640,-26 0-1539,27 0-4996</inkml:trace>
  <inkml:trace contextRef="#ctx0" brushRef="#br0" timeOffset="42900.45">10022 9571 13933,'-24'54'-192,"-3"-29"544,27 2 1794,-28 26-929,2 0-1121,-1-1-32,3 2-128,24-28-224,-28 26-1025,28-24-1250,0-1-2626</inkml:trace>
  <inkml:trace contextRef="#ctx0" brushRef="#br0" timeOffset="43247.47">10077 9147 7655,'0'-26'1217,"0"-1"-1185,0 27 2755,0 27-1666,0-27-737,0 52 513,0-26 352,-27 28-32,27-1-224,0 0-384,27-1-545,-27-25-32,26 26 32,1-26-352,-2 0-737,29-1-929,-28-26-1153,1 0-5573</inkml:trace>
  <inkml:trace contextRef="#ctx0" brushRef="#br0" timeOffset="43421.48">10394 9279 12587,'28'52'673,"-28"-24"-417,0-1 1058,24-2-706,-24 2-608,27 0-640,-27-1-1058,28 1-2562</inkml:trace>
  <inkml:trace contextRef="#ctx0" brushRef="#br0" timeOffset="43585.49">10473 9121 3203,'-27'0'12780,"27"0"-13325,0 0 449,0 0 96,0 0-512,27 26-3492</inkml:trace>
  <inkml:trace contextRef="#ctx0" brushRef="#br0" timeOffset="43831.5">10578 9014 14541,'0'0'-576,"28"27"800,-28-27 833,27 26 96,-1 1-801,1 0-224,-2 25-63,-25-26-65,27 28-129,-27-28-287,27 26-161,-27-24-31,0-1-97,0-2-128,0 2-768,0-27-4645</inkml:trace>
  <inkml:trace contextRef="#ctx0" brushRef="#br0" timeOffset="44191.52">10738 8829 11915,'0'0'2306,"27"0"-2562,-1 25 960,1 30 1122,25-29-32,-25 28-833,26 24-545,-28-24-128,29 24-127,-26 29-97,-2-27-64,-2 25-96,3-25-97,-27 26-159,0-26 0,0-2-225,-27-24-448,27-1-1217,-24 0-2530</inkml:trace>
  <inkml:trace contextRef="#ctx0" brushRef="#br0" timeOffset="46578.66">8753 13546 7591,'0'-26'480,"0"26"1250,0 26-449,-27-26-512,27 27-257,-27 0 225,27-2 128,-26 28-129,26 1-223,0-29-97,0 28-95,0 1-193,0-2-96,0 1-32,26 0-64,1-25-225,0-2 1,1 0-256,-4 1-481,-24-27-833,26 0-2242</inkml:trace>
  <inkml:trace contextRef="#ctx0" brushRef="#br0" timeOffset="47062.68">9177 13784 10121,'0'-27'513,"-27"27"-321,27 0 1505,0 0-992,-27 0-609,27 27-96,-26-1 64,26 1 0,0 0 64,0 25-96,26-24-32,1 25 96,0-28-96,-1 3 65,26-28 31,3 0 64,-4 0 32,-25 0 160,29-28 193,-28 3-97,-3-3 33,4 3-33,-28-3-160,-28-24-192,4 25-31,-3 0-65,-28 1 128,5 26-128,23 0-64,-28 0-193,55 0-736,-26 26-704,26-26-1122,26 27-2210</inkml:trace>
  <inkml:trace contextRef="#ctx0" brushRef="#br0" timeOffset="47257.7">9785 13864 8872,'26'26'1826,"-26"-26"-1634,0 0 1858,0 0-673,0 0-1153,0 0-256,0 0-320,0 0-1666,27-26-5157</inkml:trace>
  <inkml:trace contextRef="#ctx0" brushRef="#br0" timeOffset="47682.71">10077 13678 9192,'26'-26'-416,"-26"26"576,27-27 1217,-2 27-800,2-25-449,-27 25-96,27 0 64,-27 0 0,0 0-32,0 0-320,-27 0 128,0 0 128,-25 25 0,26 2-96,-1-1 32,-1 1 32,4 0 32,24-2-64,0 2 64,24-1 128,4 1 128,-1 0 64,26-1-128,-1 0-63,1 2-161,1-3 160,-29-25-64,2 28-64,-1-3 96,-26 3 576,0-2 289,-26-26-256,-26 26-289,25 1-223,-26-27-129,26 27-64,-25-27-417,25 0-608,1 26-1409,-1-26-3524</inkml:trace>
  <inkml:trace contextRef="#ctx0" brushRef="#br0" timeOffset="48138.75">10659 13837 11787,'0'27'1057,"0"-27"-1442,27 0 834,-27 0 864,25 0-704,2 0-353,26 0-160,-26 0-128,25 0-256,-25 0-1218,-1 0-3619</inkml:trace>
  <inkml:trace contextRef="#ctx0" brushRef="#br0" timeOffset="48375.75">11162 13625 8936,'27'0'3587,"-27"0"-3907,0 0 1089,0 27 1153,0 26-545,0-26-608,0 25-289,-27 1-288,27 0-96,0 1 0,0-29-448,27 3-417,-27-3-640,26 3-801,0-28-2274</inkml:trace>
  <inkml:trace contextRef="#ctx0" brushRef="#br0" timeOffset="48657.78">11347 13493 13132,'27'0'-288,"-2"27"576,-25-27 1378,27 26-545,26 1-641,-25 25-192,-4 1 385,3 1-161,0-2-159,-27 28-97,28-28-192,-28 29-96,-28-28-160,28-1-321,-27-25-223,27 26-129,0-26-352,-27-27-641,27 25-2915</inkml:trace>
  <inkml:trace contextRef="#ctx0" brushRef="#br0" timeOffset="49010.8">11639 13361 11755,'52'-28'-513,"-25"28"705,-27-25 1442,27 25-513,-1 25-609,0 3-95,0-3 95,1 2-31,-27 1-193,27-3-256,-27 29-64,0-28-32,-27 1 96,27-27 0,0 27 0,-27-27 32,27 0 64,27 25 449,0-25 31,-1 0-95,0 0-161,0 0-288,1 0 0,26 0-544,-27 27-1346,-26-27-1825,26 0-8329</inkml:trace>
  <inkml:trace contextRef="#ctx0" brushRef="#br0" timeOffset="49667.84">12459 13810 5637,'0'0'3011,"26"0"-2595,-26 0 2403,0 0-353,0 0-1281,0 0 64,26 0 33,1 0-674,26-26-63,-1 26-225,3 0-128,-4 0-192,30-27 96,-54 27-160,25 0-224,-26 0-481,1 0-480,0 0-641,-27 0-576,0 0-2243</inkml:trace>
  <inkml:trace contextRef="#ctx0" brushRef="#br0" timeOffset="49998.85">12698 13600 2146,'0'25'320,"0"-25"-32,27 0 2307,-27 0-642,0 0-671,0 0 223,0 27 97,0-27-257,0 26 0,0 1-480,0 25-385,0-25-95,24 26-225,-24 0-128,0-27-96,26 27-192,-26-25-385,28-3-416,-28 3-320,27-28-833,-27 26-3364</inkml:trace>
  <inkml:trace contextRef="#ctx0" brushRef="#br0" timeOffset="52487">6662 9703 1281,'27'0'1121,"-27"0"-545,0 0 866,0-26 223,0 26-223,0 0-321,0-27-256,0 27-33,0-25-63,0 25-160,0 0-129,0 0-32,-27 0-159,27-28-193,-28 28-128,28 28-32,-24-28-225,-3 0 97,27 0 0,-28 25 96,28-25 64,-26 27-64,26-1 32,0 1 32,-27 0-32,27-1-32,27 0 32,-27 0-32,26 2-65,2-2 1,-1-26 96,-3 0 64,4 0 64,-1 0 64,-1-26-32,1-2 97,-2 2 31,-25 0-32,0-27-160,0 26 64,0 1 0,-25-1-96,-28 2-64,26-3 64,-25 28 0,-3 0 0,29 0 0,-1 28-64,-25-28 32,52 25-64,-27 2 96,27-1-32,0 1 0,27 0 64,-27-1 0,28 0 64,23 0 0,-25-26 64,2 0-64,-1 28 97,-3-28 127,4-28 128,-1 28-95,-27-26 95,26 0-64,-26 0-95,0-1-65,-26 0-128,26 1-96,-27-1-64,-1 2 64,4-3 0,-3 2-96,-1 26 32,2 0-64,-1 0-129,3 26 97,-4 2 64,28-3 32,0 2-32,0 26 32,0-26 0,28-1 0,-4 0 64,3 0-32,27 2 32,-27-2 0,-3-26 32,4 0 32,-28 0 64,27 0 0,-27-26 0,26-2 32,-26 2-63,0 0-33,-26 0 0,26-1-32,-27 0-64,-1 1-32,4-1 64,-3 27-97,-1 0 1,28 0-192,0 27-1089,-26-27-1794,26 26-6630</inkml:trace>
  <inkml:trace contextRef="#ctx0" brushRef="#br1" timeOffset="54586.11">6265 8326 1281,'0'0'1761,"0"0"-1280,0 0 1441,0 0 192,0 0-1217,0 0-481,0 0 64,0 0 1,0 0-65,0 0 129,0-27 95,0 27-95,0 0-65,0 0-31,0 0-97,0 0-224,0 0 64,0 0-160,0 0 32,0 0 33,0 0 95,0 0 64,0 0-96,0 0 0,0 27 193,26-27-129,-26 0-96,0 27 32,27-27-96,-27 25 0,27 2 32,-2-1 0,2-26 0,-1 27 129,1 0-129,1 25 64,-4-26-64,29 1-96,-25 0 64,-1-1-32,25 1-32,-25-2 32,-27 2-32,26 1 0,1-3 64,-2-25-64,2 28 0,-27-28 0,27 26 0,-27-26 0,0 0-192,26 25-224,-26-25-33,0 0-127,0 0-289,0 0-512,0 0-930,0 0-6725</inkml:trace>
  <inkml:trace contextRef="#ctx0" brushRef="#br1" timeOffset="55227.15">6318 8882 128,'-27'0'1025,"1"0"-129,26 0 450,0 0-97,0 0-96,-27 27-448,27-27 256,0 0 608,0 0-608,27 0-320,-27-27-1,0 27 33,0 0-225,0 0-320,26-28-96,-26 28 32,27 0 1,-27-25-33,27-1-32,-2-2 32,2 3-32,26-3 64,-1-24-64,1-1 0,2-1 0,-3 2 96,1-1 96,-1 26 0,2-26 96,-28 28-95,1-2-193,-2 27 0,-25 0-193,0 0-2081,-25 0-3075</inkml:trace>
  <inkml:trace contextRef="#ctx0" brushRef="#br0" timeOffset="59427.39">13729 13361 3363,'0'-28'5285,"0"28"-5157,0 0 576,-27 0 578,2 0-353,-2 28-545,0-3 32,1 30 193,-28-3 32,29 1 287,25 1-383,-27 24 31,27-24-63,0 24-97,27-24-223,-27 26-97,25-27-32,29-28-32,-28 3-96,28-2-417,-29 0-512,28 1-416,-26-27-769,-27 0-2915</inkml:trace>
  <inkml:trace contextRef="#ctx0" brushRef="#br0" timeOffset="59695.41">13942 13493 5829,'24'0'5701,"-24"-27"-5669,0 27 321,0 27 1120,0 0-544,0 26-192,28-1 96,-28 1-129,0 26-255,0 1-225,0-1-224,0-26-32,0 0-256,27-25-289,-1-2-224,-26 0-224,27-26-512,-2 0-1987,-25-26-5604</inkml:trace>
  <inkml:trace contextRef="#ctx0" brushRef="#br0" timeOffset="59876.42">14206 13837 12427,'25'0'289,"2"0"768,-27 27 896,27-27-960,-1 0-833,26 0-160,-25 0 0,0-27-160,27 27-993,-30 0-2146,-24-27-7047</inkml:trace>
  <inkml:trace contextRef="#ctx0" brushRef="#br0" timeOffset="60156.44">14577 13573 128,'26'0'12652,"0"0"-12332,27 0 1217,-26 0 193,26 0-1121,-28 27-641,2-2 64,0-25-32,-1 53-161,2-26-95,-28 0 0,0 25 64,-28-26 192,2 28 32,-1-28 32,27 0 32,-27 2 32,27-28 0,0 25-64,0-25 0,27 0-32,0 0-224,27 0-1089,-30 0-1442,30 0-4580</inkml:trace>
  <inkml:trace contextRef="#ctx0" brushRef="#br0" timeOffset="60424.45">15001 13466 10217,'26'0'192,"-2"27"1154,4 0 575,-1-1-799,0 1-258,-1 25 257,0 1-192,0 1-288,1-2-225,-27 1-384,0 0 128,0 1-160,0-1-128,-27 0-288,27-1-417,-26-25-448,26-27-449,-26 27-1889,0-27-6887</inkml:trace>
  <inkml:trace contextRef="#ctx0" brushRef="#br0" timeOffset="60763.47">15185 13254 9993,'26'-26'544,"1"26"97,0-27 2082,-1 27-898,0-27-1152,0 27-417,1 27-224,0 0 0,-27 26-64,0-26-96,0 26-128,0-28 160,0 30 96,0-30 0,0 2 0,26 0 64,-26-27-32,0 0 32,26 26 64,-26-26 0,53-26-64,-26 26-64,1 0-32,-4 0-352,2 0-1122,-26 0-1697,0 0-8358</inkml:trace>
  <inkml:trace contextRef="#ctx0" brushRef="#br0" timeOffset="63279.61">9811 8378 1665,'0'0'769,"27"0"608,-27 0 577,0 0 128,0 0-352,0 0-225,0 0 64,0-25-287,0 25-129,-27 0-192,27 0-353,-26-27-384,26 27-127,-27 0-65,27 0-64,-25-27 0,-2 27-97,0 27 1,27-27-32,-26 27 0,-1-2 32,27 2 96,0 26-64,0-26-32,0-1 96,27 0 0,26 0 32,-26-26 32,25 0 96,-26 0 0,29 0 0,-31-26-64,3 26 96,-1-26 160,-26 0-63,0-1-1,0 0-128,0 1 96,-26-1-64,-1 2-448,3-29 608,-4 28-576,1-1 64,-26 27 160,28 0-512,-2 0-1,0 0 225,1 27 95,26 26 97,-27-26 64,27-2-32,27 2 32,-27-1-32,26 1 32,1 0 0,0-1 64,-2-26-32,2 0 160,-1 0 64,1 0 96,1-26 1,-28-1-97,24 0 0,-24 1 96,0-1-159,0 2-65,-24-2 32,-4 0-96,28 1-96,-27 26-97,-26 0-95,28 26 32,-2-26-64,0 27 159,27-27 33,0 27 0,0-2-32,0 2 160,0-27-96,27 26 96,0 1 0,-2-27-32,2 0 160,-1 0-64,1 0 128,-27 0 32,28-27 65,-28 27-1,0-26 64,0-1-127,-28 2-225,1 25-32,1-27 0,-1 27-1,2 0-63,-2 0 64,0 0-128,1 0-32,26 27-64,0-2 96,0 2-161,0-27 1,26 26 0,1-26-161,0 27 225,-2-27 64,2 0-32,-27 0-449,0 0-929,0 27-1216,0-27-4229</inkml:trace>
  <inkml:trace contextRef="#ctx0" brushRef="#br0" timeOffset="64752.7">10155 6179 96,'0'0'5829,"0"0"-4772,0 0 2114,0 0-673,0 0-864,0 0-673,0 0-128,0 0-513,27 0-224,-27-26 64,27 26-96,26 0-64,-26 0-32,-2 0 64,28-26-64,-26 26-32,1 0-96,23-26-96,-23 26-32,-2 0-417,-26 0-288,0 0-288,27 0-1410,-27 0-3170</inkml:trace>
  <inkml:trace contextRef="#ctx0" brushRef="#br0" timeOffset="65126.71">10394 5942 6438,'28'0'2594,"-28"0"-2850,0 0 672,0 25 801,-28-25-1056,1 0-194,27 27 33,-53 0-64,28-1-160,-2 1 128,-26-27 96,26 27-64,0-1-64,2 0-96,-2-26 128,27 26 0,0-26 31,0 27 1,0-27 225,27 0 63,-27 27 320,25 1 65,2-28-257,0 25-128,26-25 1,-26 27-33,-2-2-160,2-25-160,-1 27-1153,1-27-4037</inkml:trace>
  <inkml:trace contextRef="#ctx0" brushRef="#br0" timeOffset="66331.78">15979 13810 6726,'0'0'2082,"0"0"-417,0 0 674,0 0-482,0 0-768,0 0-352,0 0-288,0 0-33,26 0-128,0 0 0,1 27-95,1-27-97,23 0 32,-25 0-96,29 0-32,-3 0-160,1 0-353,-26 0-480,0-27-576,-2 27-481,-25-26-2018</inkml:trace>
  <inkml:trace contextRef="#ctx0" brushRef="#br0" timeOffset="66518.8">16218 13546 10954,'0'54'352,"0"-29"769,0 2 961,0 26-801,-27-1-832,27 1-321,0 1-128,0 26-224,0-27-961,0 0-1154,0-27-5476</inkml:trace>
  <inkml:trace contextRef="#ctx0" brushRef="#br0" timeOffset="68869.92">17011 13466 7174,'0'-25'1057,"0"25"545,-26-28 512,26 28-769,0-27-160,0 27-128,0 0-288,0 0 0,0 0-129,0 0-223,0 0-353,0 0 32,-27 27-32,27 1 64,-25 24 160,-2 1-192,27 1 193,-27-2 127,1 28-288,26-28-64,0 1 96,0 26-128,0-26 97,26 0-129,-26 1-33,27-28 33,0 28 0,-2-54-64,2 26-64,-1 1-288,-26-27-449,27 0-480,-27 0-577,0 0-769,0-27-4387</inkml:trace>
  <inkml:trace contextRef="#ctx0" brushRef="#br0" timeOffset="69136.95">17249 13573 10698,'0'-27'1089,"-27"1"-769,27 26 1410,0 26-353,0 1-448,0 0 32,0 25-129,-24 1-287,24-1-225,0 1-224,0 1-32,0-2-160,0 1 64,24 0-320,-24-25-128,0-2-353,0 0-513,27 1-768,-27-27-2274</inkml:trace>
  <inkml:trace contextRef="#ctx0" brushRef="#br0" timeOffset="69281.95">17462 13916 13708,'0'0'769,"0"28"-961,0-28 288,0 0-128,0 25-929,0 3-2274</inkml:trace>
  <inkml:trace contextRef="#ctx0" brushRef="#br0" timeOffset="69692.98">17751 13678 13580,'0'0'449,"0"0"-513,0-26 768,0 26 65,27 0-769,0-27-32,1 27-128,-2 0 64,-2-25-192,3 25-193,-27 0-288,0 0 65,-27 25 608,3-25 128,-30 27 192,27-1 160,0 28-128,3-29-159,24 2-33,0 26-96,0-26 32,24-1-129,30 0-63,-26 27-128,22-25 96,5-3 160,-28 3 64,-1-28 32,1 26 32,-27 0 640,-27-26 129,1 27 64,-29-27-128,4 0-385,25 27-320,-29-27-128,28 0-288,3 0-1346,24 0-1601,0 0-6983</inkml:trace>
  <inkml:trace contextRef="#ctx0" brushRef="#br0" timeOffset="69908.98">18175 13944 13164,'0'0'1121,"27"0"-1025,-27 0 1954,0 0-641,27 0-864,-1-28-417,26 28-96,-25 0-96,28-26-961,-29 26-1537,-2 0-2467</inkml:trace>
  <inkml:trace contextRef="#ctx0" brushRef="#br0" timeOffset="70313.02">18494 13652 11370,'0'0'897,"0"0"-96,0 0 1729,27-27-1441,-1 27-736,0 0-289,27 0 0,-26 0 0,-1 0-128,0 27-32,0-1 64,-26-26-32,0 27-33,0 0 33,-26-2 32,26 28 32,0-26-64,-26 0-64,26-1-64,26 0 96,-26-26 32,26 28 0,1-3 64,0 3-64,-1-3 32,-26-25-96,26 28-1,-26-2 97,0-26 97,0 26 31,-26-26 32,-27 27 32,26 0-96,-25-1 32,26-26-160,-28 27-288,28-27-385,0 25-1313,26-25-4196</inkml:trace>
  <inkml:trace contextRef="#ctx0" brushRef="#br0" timeOffset="70861.05">18863 13466 10634,'0'0'1217,"0"0"-833,27 0 1762,-27 0-993,28 0-608,-1 0-129,-3 27 193,2 0 95,29 26-127,-28-26-129,-27 25 65,26 1-417,-26 26 0,26-26 0,-26 0 0,-26 26-160,26-26 64,0-25-224,0 24-128,-26-25-257,26 0-416,-27-1-384,0 1-289,27-27-640,0 0-4356</inkml:trace>
  <inkml:trace contextRef="#ctx0" brushRef="#br0" timeOffset="71188.07">19050 13281 10505,'27'-27'1122,"-27"1"-1090,26 26 1633,-26 0-320,26 26-704,0 1-321,1 0 1,-27-2-1,0 3-224,27-3-32,-27 2-32,0 1 0,0-3 0,26-25 32,-26 27-32,0-27 32,0 0 0,26 0-64,0 0-480,-26 0-609,27 0-833,0 0-1601,-27 0-3940</inkml:trace>
  <inkml:trace contextRef="#ctx0" brushRef="#br0" timeOffset="71741.1">19393 13148 11242,'-26'-26'-160,"26"26"672,0 0 1763,26-26-1507,0 26-255,1 0-1,1 0 33,-1 0-97,-3 0-320,2 0-128,2 0 129,-1 0-97,-27 0-97,27 26 65,-27-26 33,0 26-1,0-26 0,0 26-32,0 1 0,0 26 0,0-26 0,25 25 0,-25 1-32,0 2 64,0-3-32,0 28 0,27-28 0,-27 28-32,0-1-97,26-26 33,-26 26 64,0 2-96,27-28 32,-27-1 96,0 2 32,27-1-32,-27-28 96,0 29-32,0-28 193,0 1-65,0 0 0,0-2-32,0 2-64,0-1-96,0 1 32,-27 0 0,27-27 64,-27 0 128,1 0-191,26 0-1,-27 0-321,2 0 33,-29 0-449,26 0-480,-22 0-416,-32 0-1058,30 26-6533</inkml:trace>
  <inkml:trace contextRef="#ctx0" brushRef="#br0" timeOffset="73574.2">1341 15480 11146,'0'0'448,"0"0"257,0 0 1185,0 0-705,0 0-448,0 26 31,26-26-95,1 0-353,0 0-223,1 0-194,-2 0-319,-2 27-993,3-27-705,1 0-1666</inkml:trace>
  <inkml:trace contextRef="#ctx0" brushRef="#br0" timeOffset="73732.2">1421 15717 12171,'0'55'224,"0"-55"737,28 0 448,-2 0-832,-2 0-577,31-28-705,-28 1-1793,-1 27-3299</inkml:trace>
  <inkml:trace contextRef="#ctx0" brushRef="#br0" timeOffset="74331.25">3195 14817 5797,'-28'-27'2402,"28"27"-1857,-26 0-33,26 27 1,-27-27 384,3 27-257,24 26-63,-28-1-1,28 1 33,0-26-289,0 26-128,0-27-128,0 0-32,0 28-96,0-1-288,28-28-737,-28 3-1377,24-1-5510</inkml:trace>
  <inkml:trace contextRef="#ctx0" brushRef="#br0" timeOffset="74648.25">2453 15453 13356,'-52'27'513,"25"-27"-1378,27 26 673,-27-26 512,27 27 224,27-27-31,0 0-193,25 0 129,1 0-97,26 0-96,2 0-64,24 0 1,27 0-161,27 0 64,-26-27 0,26 27-96,-27-26-128,0 26-481,1 0-192,-27-27-192,-1 27 33,-52 0 31,26 0-481,-52 0-1056,-1 0-481</inkml:trace>
  <inkml:trace contextRef="#ctx0" brushRef="#br0" timeOffset="75196.3">2401 15984 12203,'-27'25'513,"27"-25"-738,0 0 450,27 0 191,-2 0 160,2 0-159,26 0-289,-25 0-96,23 27-32,3-27 0,-27 26 64,0 1 0,-3 0 96,4 26 129,-28-1-65,0-25 64,-28 26-64,4-1-96,-30 3 289,26-30-1,2 2-160,2-1 129,-3 0-65,-1 2-256,28-2-288,0-26 96,0 0 320,0 0-96,28 26-32,-1-26 32,-3 0-128,2 0 0,2 28-256,-1-28-609,0 0-416,-3 25-513,4-25-1986,-2 0-5604</inkml:trace>
  <inkml:trace contextRef="#ctx0" brushRef="#br0" timeOffset="75529.32">3114 16116 1665,'0'26'11403,"0"-26"-11820,0 0 289,0 0 897,0 0 288,0 0-448,27 0-257,-1 27 64,29-27-95,-31 25-225,4 2-32,25 0-64,-26-27 0,-2 26-224,29 1-257,-28 0-448,1-2-416,-27-25-1121,25 27-3044</inkml:trace>
  <inkml:trace contextRef="#ctx0" brushRef="#br0" timeOffset="75753.33">3486 16062 13516,'0'0'-608,"0"0"287,0 0 770,-27 27 480,1 0-577,-1-1-224,-25 26 192,25 2-159,1 26-225,-1-28-993,27 1-1346,-28-26-4611</inkml:trace>
  <inkml:trace contextRef="#ctx0" brushRef="#br0" timeOffset="76228.36">3618 15876 13516,'0'0'-192,"28"-26"96,-28 26 1313,0 0-736,0 0-481,0 0 32,24-26-32,3 26 0,-1 0-32,29-26-96,-31 26-193,4 26-191,-1-26 159,-1 52 193,1-24 160,-27 25 32,0-1-32,0 1 0,0 1 32,-27-1-96,27-28 96,27 2-32,-2 26-96,2-26 96,0 0 64,-1-2-64,1 2-64,-2 1 64,2-3 320,-27-25 97,0 27-33,-27-1 65,2 28-289,-28-28-128,-1 0-384,2 2-1346,-1-3-4836</inkml:trace>
  <inkml:trace contextRef="#ctx0" brushRef="#br1" timeOffset="78666.48">6662 14605 4804,'-28'0'2370,"28"0"-2178,0 25 1314,0-25 640,0 0-865,0 0-800,0 0-129,0 0 353,28 0-97,-28-25-31,27 25-65,-1 0-224,26 25 1,2-25 95,-1 28-128,-1-28-31,28 27-65,-1-27 32,2 0-96,-29 0 0,28 0-64,-1 0 0,-26 0-64,-28 0-32,2-27-641,0 27-928,-27 0-1442,0 27-6566</inkml:trace>
  <inkml:trace contextRef="#ctx0" brushRef="#br1" timeOffset="79696.55">3646 17148 9577,'0'0'224,"0"0"545,0 0 1377,-28 0-1025,28 0-673,0 0-160,0 0 225,0 0-33,28 0-127,-28 0-161,24 0 32,29 0 96,-25-26-224,23 26-96,4 0 64,23 0 33,-24 0-65,-1 0-97,-1 0-383,1 0-641,-26 0-1153,25 0-5317</inkml:trace>
  <inkml:trace contextRef="#ctx0" brushRef="#br0" timeOffset="83702.78">5153 15162 7238,'0'-28'1057,"0"28"-929,0 0 609,0 0-320,-26 0-33,26 28-32,-26-2-31,26 0 127,-27 26 161,27 3-1,0 25 1,0 25-257,0-26 0,0 28-95,0-1-161,27 0-32,-1-26-128,-26-2-385,52 2-864,-25-28-1313,0 2-2980</inkml:trace>
  <inkml:trace contextRef="#ctx0" brushRef="#br0" timeOffset="84352.82">5735 15426 12619,'-26'0'865,"-1"0"-737,27 0 641,-25 0 384,25-25-961,0 25-320,25 0 32,2 0-64,-1 0 32,28 0 32,-29 0-353,2 0-255,-1 0 415,1 0-191,1 0 192,-28 25 320,0 2-32,0 0 96,0 26 64,-28-28-192,28 29 64,0-1-96,0-26 96,0 25 0,28-24-32,-1-2 0,-3 0 32,2 0 0,-26 28-64,28-28 160,-28 1 353,0-27 127,-28 27 1,2-2-129,2 2-352,-31-27-32,28 26-384,-26-26-1409,28 0-1122,-29 0-7463</inkml:trace>
  <inkml:trace contextRef="#ctx0" brushRef="#br0" timeOffset="84553.83">6345 15798 14253,'25'0'480,"2"26"-480,-27-26 801,0 0 192,0 26-865,0-26-224,0 0-512,0 0-578,0 26-1600,0-26-6919</inkml:trace>
  <inkml:trace contextRef="#ctx0" brushRef="#br0" timeOffset="84994.86">6767 15453 12203,'27'0'384,"0"0"-320,-1-27 769,1 27 192,-2-25-480,2 25-449,0 0-96,-1-28 32,-26 28 32,27 0-128,-27 0-128,-27 0 64,1 0 64,-28 28 31,29-3-31,-28 29 32,26-28-96,0 26 32,2-25 64,25 0-64,0-1 64,25 28 0,29-29-32,-1 2-32,-1 1-128,28-2 63,-28 0 33,-25 0-64,1 0 64,-2 2 224,-26-2 256,-26 1 129,-29 0 63,3-2-223,-1 2-289,-26-1-64,26 1-545,-1-27-1313,2 27-3939</inkml:trace>
  <inkml:trace contextRef="#ctx0" brushRef="#br0" timeOffset="85354.88">7245 15348 8872,'-27'-54'3876,"-1"26"-4101,28 28 610,0 0 1569,0-25-897,0 25-385,28 0-159,-1 0-1,-1 25 1,26-25-257,-25 55 32,26-28-96,-1 51-96,2-24 1,-28 51-33,26-25 96,-25 27-224,-27-3-545,27 4 321,-27-3-289,0-25-384,-27-1 321,0 1 127,2-28-1248,-28 1-2788</inkml:trace>
  <inkml:trace contextRef="#ctx0" brushRef="#br0" timeOffset="86884.96">8541 15850 3299,'-52'54'5733,"52"-54"-5605,-27 0 1282,27 26 1024,0-26-673,0 0-1056,0 0 352,0 0 128,27 0-512,-1 0-417,26 0-224,-25-26-64,26 26 32,-27 0-256,27 0-673,2 26-672,-31-26-385,2 0-2242</inkml:trace>
  <inkml:trace contextRef="#ctx0" brushRef="#br0" timeOffset="87034.97">8621 16089 14445,'0'53'-192,"0"-26"352,26-27 673,0 0-353,0 0-384,1 0-1409,28 0-1794,-5 0-6149</inkml:trace>
  <inkml:trace contextRef="#ctx0" brushRef="#br0" timeOffset="87748.01">9811 14870 13196,'-53'27'32,"28"-27"-160,25 0 320,0 0 353,0 0-353,25 0 0,2 0-64,26 0-128,-25 0 0,23 0-128,3 0-160,-27 27 31,-3-2 33,4 2-32,-1-1 96,-27 1 128,0 26 0,0-27 64,0 0-32,0 2-32,0-2-96,26 0-32,-26 1-65,27-2-31,-27 3 128,25 26 32,29-29 64,-54 3 32,26-3 160,-26-25 384,0 27 417,0 0 96,-26-1-192,-28 1-641,2-27-256,26 25-288,-29-25-641,31 0-672,-3 0-2659</inkml:trace>
  <inkml:trace contextRef="#ctx0" brushRef="#br0" timeOffset="87965.03">10606 15241 14189,'0'25'1345,"0"-25"-1409,0 0 288,0 0-288,0 0-1377,0 0-705,27 0-1474</inkml:trace>
  <inkml:trace contextRef="#ctx0" brushRef="#br0" timeOffset="88354.05">10897 14976 3971,'26'0'7880,"1"-27"-7784,-27 27 192,25-25 513,2 25-545,0-27-192,1 0 64,-2 27-64,-2-26 64,-24 26-128,0 0-32,-24 0-320,-2 26 32,-2 1 256,-26 25-225,2-25-287,26 26 160,-1 0 223,0-27 129,27 0-192,0 2 32,0-2 160,27 0 64,0 1 64,26-2 0,-1 3-64,3-1 0,-29-27 0,25 27 224,-23-2 32,-28-25 353,0 28 64,-28-28-417,28 25-224,-51-25-32,25 27-96,-2 0-1282,-26-27-2529</inkml:trace>
  <inkml:trace contextRef="#ctx0" brushRef="#br0" timeOffset="88686.07">9917 15850 13452,'-79'26'-160,"52"2"-192,27-28 768,27 0 609,1-28-641,23 28-319,30 0-33,-2-26 64,26 26 352,27 0-96,0-26-288,0 26 33,1 0-65,-26-26-32,25 26-129,-53-26-543,-1 26-513,-23 0-417,-28 0-1409,-1 0-3715</inkml:trace>
  <inkml:trace contextRef="#ctx0" brushRef="#br0" timeOffset="89118.09">10501 16116 11114,'-28'26'416,"1"1"-1376,27-2 639,-24 2 545,-4 26 33,28 26 63,-27-24-352,27 23 160,27 2 224,1-26 97,-4-2-193,3 1-96,27-26 289,-3-1 447,4-26-31,-2 0 32,-28 0-224,2-26-33,0-1-159,-27 0-97,0 1-128,-54-1-95,29 2-322,-28-3-287,-26 2-225,26 0-480,-2 26-640,3 0-2307</inkml:trace>
  <inkml:trace contextRef="#ctx0" brushRef="#br0" timeOffset="89709.13">11823 15744 13933,'27'0'384,"-27"28"-448,0-28 737,0 0 31,0 0-608,0-28 129,0 28 287,27 0-96,-1-27-223,0 2 63,-26-2-160,53-26-64,-26 26-64,-27-25-128,26 25-128,0 1-1,-26-1-159,26 27 192,-26 27 192,0-1 0,0 26 31,27 2 33,-27-1-64,0-26 32,27 25 32,1-24 64,-28-28 193,24 26 223,2-26 1,2-26-1,-1-2 129,0 1-129,-3 2-128,-24-2-320,28 0-128,-28-26-544,26 26-802,-26 2-576,0 25-1185,0 0-3779</inkml:trace>
  <inkml:trace contextRef="#ctx0" brushRef="#br0" timeOffset="90084.15">12114 16116 14413,'-79'78'417,"26"-78"-706,53 27 513,-27-27 97,27 0-193,0-27-256,27 2-257,0-2 353,-1-26 32,26 26 96,2 1-63,-2 26 31,-26 0 32,2 0-64,-1 26 32,0 1-64,-27 0 0,24-1 0,-24 26 32,0-25 32,28 26 384,-28-26 257,0-27 288,26 0-224,-26 0-225,27 0 1,0-27-33,-27-26-352,26 26-192,0-25-64,0 26-576,-26-1-994,27-26-672,-27 53-897,0-27-5157</inkml:trace>
  <inkml:trace contextRef="#ctx0" brushRef="#br0" timeOffset="91462.23">13518 15665 8359,'0'27'545,"-27"-27"-1890,1 0 1217,-1 25 928,-1 2-447,-23 27-353,23-2 256,2 2 769,-1 26-64,27-28-193,0 28-319,0-27-257,27-1 224,-1-25 449,29-1 96,-3-26-32,28 0-160,-28-26-161,1-1-63,1-25 160,-2-1-65,-26-1-159,-26 1-129,0 1-128,-26-1-160,-26 25-128,25 2 32,-26 0-96,-1 26-128,2 0-289,-1 0-800,1 26-1089,25-26-1794</inkml:trace>
  <inkml:trace contextRef="#ctx0" brushRef="#br0" timeOffset="91643.24">14126 15984 14445,'27'78'1057,"-1"-78"-993,-26 27 577,0-27 320,27 27-929,-27-27-641,0 0-1473,0 0-1121,0 0-5669</inkml:trace>
  <inkml:trace contextRef="#ctx0" brushRef="#br0" timeOffset="92183.27">14603 15744 7559,'26'-52'224,"-26"25"-192,26 0 512,-26 1 1186,0 26-289,0-27-320,0 27-288,0 0-288,0 27-33,0-27-320,-26 26-192,26 28 0,-26-2 32,26 28 1,-26 0-1,26 0-64,0-2-1,0-24 33,0-1-320,52 26 160,-26-53-32,28 28-32,-1-29 224,-1-25 64,-25 0 96,27 0 128,-30-25 193,-24-2 191,0 27 97,0-27-289,-24 1-191,-4-1-289,-25-25-385,1 25-640,-1 27-384,-1-26-481,28 26-2050</inkml:trace>
  <inkml:trace contextRef="#ctx0" brushRef="#br0" timeOffset="92688.3">15317 15772 10634,'0'-80'-32,"-26"53"832,0 0 1250,-1 1-929,-26-1-576,27 27-321,-27 0-192,26 27-64,-1-1-64,28 1 64,0 0 0,0 25-64,28-24-64,26-2-33,-2 26-31,1-26 64,26 28-96,-26 0 96,0-2 0,-27-26-33,0 28-127,1-1 256,-27-1 128,-27-25 192,1 26 513,-26-26 288,-2-2 96,2 2-192,-1 1-96,0-28-513,1 0 33,25-28-225,0 1-224,27-25-161,0-1 1,54-26-224,-28 26-257,26-27-64,28 1 161,-28 26 288,28-1 223,-28 2 129,-25-2 0,0 2 65,-27 25 95,0 0-192,-27 27 64,-26 0-96,1 0-577,-2 0-2081,-24 27-7784</inkml:trace>
  <inkml:trace contextRef="#ctx0" brushRef="#br1" timeOffset="99488.69">13410 16857 10249,'-51'27'513,"51"-27"-33,-28 0 641,28 0-32,0 0-512,28 0 63,-1 0-63,25 0-193,1-27-224,26 27-31,28 0 95,-2 0-32,28 0-96,-27 0 64,52 0-64,-26 27-64,28-27 0,-2 26-32,0-26 32,1 27 64,-26 0-63,-27-27-33,26 25-97,-52-25-31,-2 27-256,-24-27-353,-2 0-640,-26 0-2307</inkml:trace>
</inkml:ink>
</file>

<file path=ppt/ink/ink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13T22:02:05.776"/>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definitions>
  <inkml:trace contextRef="#ctx0" brushRef="#br0">11155 14739 3427,'0'0'1217,"0"0"160,-26 0 929,26 0-384,0 0-609,0 0-352,-26 0-256,26 0-160,0 0-225,0 0-160,0 0-32,-27-27-64,27 27-32,0 0 128,0 0-32,0 27 193,0-27 127,27-27-160,-27 27-127,26-53-161,26 25 64,2 2-64,-1-26 32,-1 26 0,1-29-32,26 30 0,2-29-32,-29 1 0,2 26-32,-28 27-97,-26 0 1,0 27 32,-26 0 96,-28 53 32,2 0 0,-29 24 32,2-23 128,-1 24 193,2-25 191,24 26-159,2-53-161,26-1-160,26-25 128,0-27-96,52-27-128,28-25 64,-2-1-192,30-26 128,24-28 32,-26 2 0,-28 24 0,2 3-96,-1 24 64,-52 27-128,-1 27 160,-26 27 0,0 1 0,-26 24 96,-28 0 64,28 29 96,-26-2 257,-2 1-289,2-27-224,26-1 32,-1 1-32,0-26 32,54-27 64,0-27-96,25 1 32,1-28-96,26 2 0,1-28 64,-28 27-96,1-26 64,2 25-96,-31 28-65,2 0 290,-26 26-1,-26 52 64,2 2 32,-4 0-32,1 24-96,0-24 0,1-1-96,26-1 0,0-25 32,0-1 64,0-26-704,0 27-1,0-27-1057,0 0-960,0 0-1858</inkml:trace>
  <inkml:trace contextRef="#ctx0" brushRef="#br0" timeOffset="586.03">12663 14553 11979,'-51'0'705,"23"0"-193,28 0 609,-27 0 0,27 0-160,0 0-577,27-26-95,1 26-193,-1 0-96,-3 0 0,2 0-32,2 0-192,-1 0-577,25 0-256,-52 0-160,27 0-97,-27 0-31,0 0-449,0 26-384,-27-26-1217,2 0-288</inkml:trace>
  <inkml:trace contextRef="#ctx0" brushRef="#br0" timeOffset="901.04">12689 14579 1345,'-77'0'2082,"49"26"224,1-26 417,1 0-994,0 26-704,26-26-224,-26 28-161,26-2-63,0 1-32,0-27-33,0 27-32,-27-27-63,27 25 31,0 2-95,0-1-97,27 1-96,-27 26-128,52-26 32,-26-2-64,29 2-64,-4 0 0,3-1-32,0 1 32,-29 0 0,28-2 64,-53 2 64,27 1 32,-27-28 0,-27 25 0,-26 2 96,28-1 65,-29-26-1,0 26-96,3-26-160,-4 0-64,3 0-449,26 0-448,26 0-608,0-26-577,26 26-2659</inkml:trace>
  <inkml:trace contextRef="#ctx0" brushRef="#br0" timeOffset="1406.07">13192 14659 6149,'-24'-54'2339,"-4"28"-1955,1 26 545,1 0 224,-1 0-256,-25 0-609,25 26-288,27 0 0,-26-26 256,26 28 97,26-2 63,1 1-64,0 0-95,25-2 63,1 2-192,-1-1-32,1 28-32,2-28 0,-31 26-32,4-25 192,-28 26 193,0-26 223,-28 25 1,4-25-161,-3 1-95,-27-3-193,3 2-160,-4-27 0,29 0 32,-1 0-96,27-27-64,0 2-192,27-30 32,-1 3 31,29-28-63,-4 28 96,3-28 96,-3 0 96,4 28 96,-29-1 0,-26-1 0,-26 28-64,-1 0 32,-1 0-160,-23 26-384,-3 0-1698,-25 0-1986</inkml:trace>
  <inkml:trace contextRef="#ctx0" brushRef="#br1" timeOffset="4524.25">20392 7717 960,'-25'0'609,"25"0"1569,0 0 96,0 0-448,-27 0-705,27 0-288,0 0 0,0 0-97,0 0-127,0 0 96,0 0-97,0 0 65,0 0-1,0 0-255,0 0 95,-27 0-95,27 0-65,0 0 96,0 0 1,0 0-65,0 0-128,0 0-192,0 0 449,0 0-385,0 0 64,0 0 65,0 0-65,27 0 32,-27 0-64,0 26 32,27-26-64,-2 0 33,2 26-65,-1-26 96,1 26-64,1-26-96,-4 27-32,31 0 160,-29-1-96,1-26-64,25 27 160,-25-2-224,-1 2 160,1 0-96,-2-1 96,29 1-288,-28-27 577,1 27-449,-2-2 480,2-25-320,0 28-32,-1-1 0,2-27 0,-4 0-32,3 25 0,-27-25 0,0 0 64,27 0-96,-27 0 32,0 0 0,0 0 0,0 0 33,0 0 31,0 0-224,0 0 63,0 0-319,0 0-321,0 0-416,0-25-897,0 25-288,0-27-1922</inkml:trace>
  <inkml:trace contextRef="#ctx0" brushRef="#br1" timeOffset="5729.32">20445 8219 1345,'0'0'128,"-26"0"352,26 0 2083,0 0-1410,26 0-577,-26 0 545,0 0 385,0 0-65,0 0-384,0 0-352,0 0 32,0 0 63,0 0-255,0 0-161,0 0 33,0 0-33,0 0 32,0-26-31,27 26 63,-27 0-63,0-27-33,28 27-160,-4-25 0,-24-2 32,27 27-191,1-28 31,25 3 0,-29-2 64,4-26 0,25 26 0,-1 0 64,-25 2 32,26-2 1,-26 1 31,25-1-64,1 0-32,-25 1-32,23 0 64,-24 26-95,1-26-65,-2 26 64,1-27-160,-27 27 128,0 0 0,0 0-128,0 0-321,0 0-736,0 0-1057,0 0-1153,0 27-5029</inkml:trace>
  <inkml:trace contextRef="#ctx0" brushRef="#br1" timeOffset="13093.74">18513 13678 4804,'0'0'2338,"27"-26"-736,-27-1 576,0 0-416,0 1-257,27-1-128,-27 2-192,0-2-416,0 27-32,-27-27-97,27 27-415,-27-26 159,1 26-736,0 0 448,0 26-128,-28 1-289,26 25 97,-22 1 32,22 1 192,1 24 0,27-24-64,0 25 64,0 1 0,0-27-32,27 0 0,1 1 32,-2-29 0,26-25 32,2 28 0,24-3 32,2-25 32,-1 0-32,26-25-32,-23-28-32,-4-1 64,-24-52-32,-28 52 32,-26-25-128,-26-1 32,-1 2-96,-28 24-32,-22 1 96,-4 28-192,-25-2 96,28 27 288,-2 0 0,1 52-224,0-25 32,53 26 32,-2 0-65,28-27 130,28 27-66,-2-26 130,26-1-1,28 1-96,-28-1 256,28-26-96,-28 26-96,2-26-96,-2 0 64,1 0-320,2 0-897,-29 0-993,-2 0-737,4 0-2851</inkml:trace>
  <inkml:trace contextRef="#ctx0" brushRef="#br1" timeOffset="13361.76">19415 13969 12908,'0'0'576,"0"27"-608,0-2 1762,0 3-97,0-1-896,0 0-256,24-2-129,-24 3-224,0-3-32,0 29-128,26-28-224,-26 26-545,0-25-832,0 0-1058,28-1-3395</inkml:trace>
  <inkml:trace contextRef="#ctx0" brushRef="#br1" timeOffset="13714.78">19889 13757 11787,'-26'0'2882,"26"0"-2305,0 0 1121,0 0-1,26-27-928,1 27-289,25 0-223,3 0-129,-2 27-160,-1-27-32,1 27-577,1-27-864,-2 0-1346,1 0-2306</inkml:trace>
  <inkml:trace contextRef="#ctx0" brushRef="#br1" timeOffset="13879.79">20076 13917 10473,'0'26'481,"0"0"1313,0-26 672,27 0-576,25 27-1090,1-27-319,-26 0-289,25 0-192,1 0-480,-26 0-1795,-27 0-3074</inkml:trace>
  <inkml:trace contextRef="#ctx0" brushRef="#br1" timeOffset="14543.83">21267 13625 4612,'0'-53'5733,"0"53"-4708,0-27 993,-27 27-416,0 0-545,2 0-641,-2 0-352,1 27-96,-2-1-32,1 1 32,0 26-64,27-1 96,0 2 0,27-1 0,-27-1 0,55 2 32,-29-28 0,1 26 0,25-52 96,-25 28 289,-1-28 351,26 0-31,28-28-128,-28-24-257,2 0-64,-28 24-96,-26-24-64,-26-1-96,-28-1-32,2 28-64,26 0 64,-28 0-128,2 26-672,26 0-834,-1 0-1057,0 26-1729</inkml:trace>
  <inkml:trace contextRef="#ctx0" brushRef="#br1" timeOffset="14954.84">21901 13306 13965,'-26'28'736,"26"-56"97,26 3 1249,1 25-929,0-27-768,25 27-289,-26-26-64,28 26 0,-28 26-160,26 1 64,-52-2 32,27 29 0,-27-29 32,-27 3 128,27 25-160,-26-26 128,0 25 320,0-25-96,-1-1-31,27 1-65,0 0-64,0-27-32,27 26-64,-1 0-64,26-26-160,3 26-705,-28 1-1313,23 0-2530</inkml:trace>
  <inkml:trace contextRef="#ctx0" brushRef="#br1" timeOffset="15085.84">22325 14076 14765,'0'27'289,"27"-2"383,-27-25 578,0 0-1090,27 28-929,-27-28-3395</inkml:trace>
  <inkml:trace contextRef="#ctx0" brushRef="#br1" timeOffset="15878.9">18248 15135 11082,'-79'-27'577,"53"2"-161,-1 25 513,0-27 640,2 27-416,25 0-704,0 0-193,0 0 0,25 0-192,2 0-64,26 0 64,-1 0 0,2 0-64,0 0 0,-2 0-96,2-27-288,-28 27-128,-26 0-545,0 0-545,-26 0 481,-1 0 448,0 27 385,-1 0 192,4-2 64,-2 30 64,-2-3 160,28 0 0,0 2 1,28 25-129,-2-26-64,-2 1 64,4-1 256,-1-28 192,-27 2 225,27 0 384,-27-1 32,0-26-256,-27 27-513,0 0-319,-25-2-65,-2-25-161,27 27-415,-24-27-417,23 0-577,2 0-704,-1 0-1537</inkml:trace>
  <inkml:trace contextRef="#ctx0" brushRef="#br1" timeOffset="16173.92">19096 15215 7815,'27'-52'1537,"-1"24"65,-26 1 31,-26 27-864,26 0-417,-27 27-31,0 1 95,1 24 161,0 0-225,26 28 0,-26 0 1,26-27-225,-27 0-32,27-1-64,27 2-32,-27-28-64,26 28-481,0-29-704,0 2-737,1-27-2146</inkml:trace>
  <inkml:trace contextRef="#ctx0" brushRef="#br1" timeOffset="16649.95">19757 15295 11370,'27'-28'705,"-27"2"-641,0 26 897,0-26-128,-27 26-321,1 0-512,-1 26 0,2-26 64,-2 54 64,0-28 0,1 28-31,-1-29 95,27 28-64,-25 27-96,25-28 96,0-25-96,25 26-32,2-26-32,-1 0 0,28-2 32,-2 2 32,1-27 64,-1 0 0,1 0 0,2 0 96,-4-27 97,3 2 159,-27-29 65,0 28 31,-27-28-224,0 2-127,0-1 191,-27 0 193,-26 1-289,-2 24-224,3 2-256,-1 26 0,1 0-1218,-2 0-928,1 26-1025,28 2-7303</inkml:trace>
  <inkml:trace contextRef="#ctx0" brushRef="#br1" timeOffset="17219.98">20367 14976 10089,'-27'-52'833,"0"52"-353,27 0 1122,0-27-417,0 27-897,0 0 417,27 0-32,0 27-1,-2-2-95,28 29-161,2-1-192,-4-1 33,3 28-33,-27-27-96,-3 27 64,4-1-96,-28-26 32,0 27-64,0-28-32,-28 2-32,4-1-64,-3-1-352,1-25-289,-29 26-832,31-53-1410,-4 27-4164</inkml:trace>
  <inkml:trace contextRef="#ctx0" brushRef="#br1" timeOffset="17539">21080 15347 11370,'-27'-26'1378,"3"26"-161,24 0 865,-28 0-96,28 0-1122,0 0-223,28 0 0,23 0-449,-24 0-96,27 0 0,-2 0-192,2 0-96,-1 0-737,-1 0-1089,-25 0-1345,-1 0-5093</inkml:trace>
  <inkml:trace contextRef="#ctx0" brushRef="#br1" timeOffset="17682">21188 15347 11979,'-81'53'833,"81"-26"-289,0-1 1442,0-26-160,54 27-961,-27-27-769,25 0-128,1 0-545,-1 0-1185,-25-27-2434</inkml:trace>
  <inkml:trace contextRef="#ctx0" brushRef="#br1" timeOffset="18064.03">21636 14897 9833,'-27'-53'224,"27"53"673,0-27 1825,54 27-1152,0 0-705,-2 27-545,2-27-160,24 27-160,-24-1 0,-2 1 0,-26-2-64,-26 2 64,0 26 96,0-26 64,-26 0 33,0-2 191,0 2 0,-28 1 97,28-3-289,26 2 0,0-27 128,0 26-63,0-26-97,26 26-128,28-26 0,-28 28-64,0-28-288,0 0-481,1 26-1057,0-26-1345,-1 26-3844</inkml:trace>
  <inkml:trace contextRef="#ctx0" brushRef="#br1" timeOffset="18303.04">22033 15665 14061,'-26'54'704,"26"-29"1122,0 2 288,26-27-1569,1 0-449,-27 28-769,27-28-1665,-27 0-5285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DAD46-4A3C-417E-936D-3BECB31DED1F}" type="datetimeFigureOut">
              <a:rPr lang="en-US" smtClean="0"/>
              <a:t>3/10/2025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A6827-7A76-40FF-B990-8DD503F9A203}" type="slidenum">
              <a:rPr lang="en-US" smtClean="0"/>
              <a:t>‹#›</a:t>
            </a:fld>
            <a:endParaRPr lang="en-US"/>
          </a:p>
        </p:txBody>
      </p:sp>
    </p:spTree>
    <p:extLst>
      <p:ext uri="{BB962C8B-B14F-4D97-AF65-F5344CB8AC3E}">
        <p14:creationId xmlns:p14="http://schemas.microsoft.com/office/powerpoint/2010/main" val="270134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pPr/>
              <a:t>2</a:t>
            </a:fld>
            <a:endParaRPr lang="en-US"/>
          </a:p>
        </p:txBody>
      </p:sp>
    </p:spTree>
    <p:extLst>
      <p:ext uri="{BB962C8B-B14F-4D97-AF65-F5344CB8AC3E}">
        <p14:creationId xmlns:p14="http://schemas.microsoft.com/office/powerpoint/2010/main" val="1383429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26</a:t>
            </a:fld>
            <a:endParaRPr lang="en-US"/>
          </a:p>
        </p:txBody>
      </p:sp>
    </p:spTree>
    <p:extLst>
      <p:ext uri="{BB962C8B-B14F-4D97-AF65-F5344CB8AC3E}">
        <p14:creationId xmlns:p14="http://schemas.microsoft.com/office/powerpoint/2010/main" val="3189377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29</a:t>
            </a:fld>
            <a:endParaRPr lang="en-US"/>
          </a:p>
        </p:txBody>
      </p:sp>
    </p:spTree>
    <p:extLst>
      <p:ext uri="{BB962C8B-B14F-4D97-AF65-F5344CB8AC3E}">
        <p14:creationId xmlns:p14="http://schemas.microsoft.com/office/powerpoint/2010/main" val="4287262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324BCD14-5A93-4938-87CE-709050061C51}" type="slidenum">
              <a:rPr lang="en-US" smtClean="0">
                <a:solidFill>
                  <a:prstClr val="black"/>
                </a:solidFill>
                <a:latin typeface="Arial" pitchFamily="34" charset="0"/>
              </a:rPr>
              <a:pPr/>
              <a:t>42</a:t>
            </a:fld>
            <a:endParaRPr lang="en-US">
              <a:solidFill>
                <a:prstClr val="black"/>
              </a:solidFill>
              <a:latin typeface="Arial" pitchFamily="3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311699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90F41B15-6F5C-47EB-9972-9BA42C6AE2E6}" type="slidenum">
              <a:rPr lang="en-US" smtClean="0">
                <a:solidFill>
                  <a:prstClr val="black"/>
                </a:solidFill>
                <a:latin typeface="Arial" pitchFamily="34" charset="0"/>
              </a:rPr>
              <a:pPr/>
              <a:t>43</a:t>
            </a:fld>
            <a:endParaRPr lang="en-US">
              <a:solidFill>
                <a:prstClr val="black"/>
              </a:solidFill>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166298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90F41B15-6F5C-47EB-9972-9BA42C6AE2E6}" type="slidenum">
              <a:rPr lang="en-US" smtClean="0">
                <a:solidFill>
                  <a:prstClr val="black"/>
                </a:solidFill>
                <a:latin typeface="Arial" pitchFamily="34" charset="0"/>
              </a:rPr>
              <a:pPr/>
              <a:t>44</a:t>
            </a:fld>
            <a:endParaRPr lang="en-US">
              <a:solidFill>
                <a:prstClr val="black"/>
              </a:solidFill>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63578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1BEC38E-79FE-4A4C-BE49-430AC8528ACA}" type="datetimeFigureOut">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1440108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EC38E-79FE-4A4C-BE49-430AC8528ACA}" type="datetimeFigureOut">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1563549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BEC38E-79FE-4A4C-BE49-430AC8528ACA}" type="datetimeFigureOut">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3104910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BEC38E-79FE-4A4C-BE49-430AC8528ACA}" type="datetimeFigureOut">
              <a:rPr lang="en-US" smtClean="0"/>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1765555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BEC38E-79FE-4A4C-BE49-430AC8528ACA}" type="datetimeFigureOut">
              <a:rPr lang="en-US" smtClean="0"/>
              <a:t>3/10/2025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3963298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BEC38E-79FE-4A4C-BE49-430AC8528ACA}" type="datetimeFigureOut">
              <a:rPr lang="en-US" smtClean="0"/>
              <a:t>3/10/2025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4245001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BEC38E-79FE-4A4C-BE49-430AC8528ACA}" type="datetimeFigureOut">
              <a:rPr lang="en-US" smtClean="0"/>
              <a:t>3/10/2025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350249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BEC38E-79FE-4A4C-BE49-430AC8528ACA}" type="datetimeFigureOut">
              <a:rPr lang="en-US" smtClean="0"/>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1104552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BEC38E-79FE-4A4C-BE49-430AC8528ACA}" type="datetimeFigureOut">
              <a:rPr lang="en-US" smtClean="0"/>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3165338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EC38E-79FE-4A4C-BE49-430AC8528ACA}" type="datetimeFigureOut">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287833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EC38E-79FE-4A4C-BE49-430AC8528ACA}" type="datetimeFigureOut">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799C8-025B-4285-8AB5-6CE74B17C463}" type="slidenum">
              <a:rPr lang="en-US" smtClean="0"/>
              <a:t>‹#›</a:t>
            </a:fld>
            <a:endParaRPr lang="en-US"/>
          </a:p>
        </p:txBody>
      </p:sp>
    </p:spTree>
    <p:extLst>
      <p:ext uri="{BB962C8B-B14F-4D97-AF65-F5344CB8AC3E}">
        <p14:creationId xmlns:p14="http://schemas.microsoft.com/office/powerpoint/2010/main" val="630391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BEC38E-79FE-4A4C-BE49-430AC8528ACA}" type="datetimeFigureOut">
              <a:rPr lang="en-US" smtClean="0"/>
              <a:t>3/10/2025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A799C8-025B-4285-8AB5-6CE74B17C463}" type="slidenum">
              <a:rPr lang="en-US" smtClean="0"/>
              <a:t>‹#›</a:t>
            </a:fld>
            <a:endParaRPr lang="en-US"/>
          </a:p>
        </p:txBody>
      </p:sp>
    </p:spTree>
    <p:extLst>
      <p:ext uri="{BB962C8B-B14F-4D97-AF65-F5344CB8AC3E}">
        <p14:creationId xmlns:p14="http://schemas.microsoft.com/office/powerpoint/2010/main" val="4096245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7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3.png"/><Relationship Id="rId3" Type="http://schemas.openxmlformats.org/officeDocument/2006/relationships/tags" Target="../tags/tag6.xml"/><Relationship Id="rId7" Type="http://schemas.openxmlformats.org/officeDocument/2006/relationships/chart" Target="../charts/chart1.xml"/><Relationship Id="rId12" Type="http://schemas.openxmlformats.org/officeDocument/2006/relationships/chart" Target="../charts/chart3.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6.png"/><Relationship Id="rId11" Type="http://schemas.openxmlformats.org/officeDocument/2006/relationships/chart" Target="../charts/chart2.xml"/><Relationship Id="rId5" Type="http://schemas.openxmlformats.org/officeDocument/2006/relationships/slideLayout" Target="../slideLayouts/slideLayout7.xml"/><Relationship Id="rId10" Type="http://schemas.openxmlformats.org/officeDocument/2006/relationships/image" Target="../media/image20.png"/><Relationship Id="rId4" Type="http://schemas.openxmlformats.org/officeDocument/2006/relationships/tags" Target="../tags/tag7.xml"/><Relationship Id="rId9" Type="http://schemas.openxmlformats.org/officeDocument/2006/relationships/image" Target="../media/image19.png"/><Relationship Id="rId1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10.xml"/><Relationship Id="rId7" Type="http://schemas.openxmlformats.org/officeDocument/2006/relationships/image" Target="../media/image23.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22.png"/><Relationship Id="rId5" Type="http://schemas.openxmlformats.org/officeDocument/2006/relationships/slideLayout" Target="../slideLayouts/slideLayout7.xml"/><Relationship Id="rId10" Type="http://schemas.openxmlformats.org/officeDocument/2006/relationships/image" Target="../media/image3.png"/><Relationship Id="rId4" Type="http://schemas.openxmlformats.org/officeDocument/2006/relationships/tags" Target="../tags/tag11.xml"/><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image" Target="../media/image31.png"/><Relationship Id="rId18" Type="http://schemas.openxmlformats.org/officeDocument/2006/relationships/image" Target="../media/image3.pn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tags" Target="../tags/tag13.xml"/><Relationship Id="rId16" Type="http://schemas.openxmlformats.org/officeDocument/2006/relationships/image" Target="../media/image34.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22.png"/><Relationship Id="rId5" Type="http://schemas.openxmlformats.org/officeDocument/2006/relationships/tags" Target="../tags/tag16.xml"/><Relationship Id="rId15" Type="http://schemas.openxmlformats.org/officeDocument/2006/relationships/image" Target="../media/image33.png"/><Relationship Id="rId10" Type="http://schemas.openxmlformats.org/officeDocument/2006/relationships/image" Target="../media/image16.png"/><Relationship Id="rId4" Type="http://schemas.openxmlformats.org/officeDocument/2006/relationships/tags" Target="../tags/tag15.xml"/><Relationship Id="rId9" Type="http://schemas.openxmlformats.org/officeDocument/2006/relationships/slideLayout" Target="../slideLayouts/slideLayout7.xml"/><Relationship Id="rId1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image" Target="../media/image38.png"/><Relationship Id="rId3" Type="http://schemas.openxmlformats.org/officeDocument/2006/relationships/tags" Target="../tags/tag22.xml"/><Relationship Id="rId21" Type="http://schemas.openxmlformats.org/officeDocument/2006/relationships/image" Target="../media/image3.png"/><Relationship Id="rId7" Type="http://schemas.openxmlformats.org/officeDocument/2006/relationships/tags" Target="../tags/tag26.xml"/><Relationship Id="rId12" Type="http://schemas.openxmlformats.org/officeDocument/2006/relationships/image" Target="../media/image37.png"/><Relationship Id="rId17" Type="http://schemas.openxmlformats.org/officeDocument/2006/relationships/image" Target="../media/image41.png"/><Relationship Id="rId2" Type="http://schemas.openxmlformats.org/officeDocument/2006/relationships/tags" Target="../tags/tag21.xml"/><Relationship Id="rId16" Type="http://schemas.openxmlformats.org/officeDocument/2006/relationships/chart" Target="../charts/chart5.xml"/><Relationship Id="rId20" Type="http://schemas.openxmlformats.org/officeDocument/2006/relationships/image" Target="../media/image43.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chart" Target="../charts/chart4.xml"/><Relationship Id="rId5" Type="http://schemas.openxmlformats.org/officeDocument/2006/relationships/tags" Target="../tags/tag24.xml"/><Relationship Id="rId15" Type="http://schemas.openxmlformats.org/officeDocument/2006/relationships/image" Target="../media/image40.png"/><Relationship Id="rId10" Type="http://schemas.openxmlformats.org/officeDocument/2006/relationships/notesSlide" Target="../notesSlides/notesSlide2.xml"/><Relationship Id="rId19" Type="http://schemas.openxmlformats.org/officeDocument/2006/relationships/image" Target="../media/image42.png"/><Relationship Id="rId4" Type="http://schemas.openxmlformats.org/officeDocument/2006/relationships/tags" Target="../tags/tag23.xml"/><Relationship Id="rId9" Type="http://schemas.openxmlformats.org/officeDocument/2006/relationships/slideLayout" Target="../slideLayouts/slideLayout7.xml"/><Relationship Id="rId14" Type="http://schemas.openxmlformats.org/officeDocument/2006/relationships/image" Target="../media/image39.png"/><Relationship Id="rId22"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media/image39.png"/><Relationship Id="rId18" Type="http://schemas.openxmlformats.org/officeDocument/2006/relationships/customXml" Target="../ink/ink1.xml"/><Relationship Id="rId3" Type="http://schemas.openxmlformats.org/officeDocument/2006/relationships/tags" Target="../tags/tag30.xml"/><Relationship Id="rId21" Type="http://schemas.openxmlformats.org/officeDocument/2006/relationships/image" Target="../media/image39.emf"/><Relationship Id="rId7" Type="http://schemas.openxmlformats.org/officeDocument/2006/relationships/tags" Target="../tags/tag34.xml"/><Relationship Id="rId12" Type="http://schemas.openxmlformats.org/officeDocument/2006/relationships/image" Target="../media/image45.png"/><Relationship Id="rId17" Type="http://schemas.openxmlformats.org/officeDocument/2006/relationships/image" Target="../media/image41.png"/><Relationship Id="rId2" Type="http://schemas.openxmlformats.org/officeDocument/2006/relationships/tags" Target="../tags/tag29.xml"/><Relationship Id="rId16" Type="http://schemas.openxmlformats.org/officeDocument/2006/relationships/chart" Target="../charts/chart7.xml"/><Relationship Id="rId20" Type="http://schemas.openxmlformats.org/officeDocument/2006/relationships/customXml" Target="../ink/ink2.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media/image44.png"/><Relationship Id="rId24" Type="http://schemas.openxmlformats.org/officeDocument/2006/relationships/image" Target="../media/image3.png"/><Relationship Id="rId5" Type="http://schemas.openxmlformats.org/officeDocument/2006/relationships/tags" Target="../tags/tag32.xml"/><Relationship Id="rId15" Type="http://schemas.openxmlformats.org/officeDocument/2006/relationships/image" Target="../media/image37.png"/><Relationship Id="rId23" Type="http://schemas.openxmlformats.org/officeDocument/2006/relationships/image" Target="../media/image40.emf"/><Relationship Id="rId10" Type="http://schemas.openxmlformats.org/officeDocument/2006/relationships/chart" Target="../charts/chart6.xml"/><Relationship Id="rId19" Type="http://schemas.openxmlformats.org/officeDocument/2006/relationships/image" Target="../media/image38.emf"/><Relationship Id="rId4" Type="http://schemas.openxmlformats.org/officeDocument/2006/relationships/tags" Target="../tags/tag31.xml"/><Relationship Id="rId9" Type="http://schemas.openxmlformats.org/officeDocument/2006/relationships/slideLayout" Target="../slideLayouts/slideLayout7.xml"/><Relationship Id="rId14" Type="http://schemas.openxmlformats.org/officeDocument/2006/relationships/image" Target="../media/image40.png"/><Relationship Id="rId22" Type="http://schemas.openxmlformats.org/officeDocument/2006/relationships/customXml" Target="../ink/ink3.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38.xml"/><Relationship Id="rId7" Type="http://schemas.openxmlformats.org/officeDocument/2006/relationships/image" Target="../media/image22.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6.png"/><Relationship Id="rId5" Type="http://schemas.openxmlformats.org/officeDocument/2006/relationships/slideLayout" Target="../slideLayouts/slideLayout7.xml"/><Relationship Id="rId10" Type="http://schemas.openxmlformats.org/officeDocument/2006/relationships/image" Target="../media/image3.png"/><Relationship Id="rId4" Type="http://schemas.openxmlformats.org/officeDocument/2006/relationships/tags" Target="../tags/tag39.xml"/><Relationship Id="rId9" Type="http://schemas.openxmlformats.org/officeDocument/2006/relationships/image" Target="../media/image31.png"/></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52.pn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51.png"/><Relationship Id="rId17" Type="http://schemas.openxmlformats.org/officeDocument/2006/relationships/image" Target="../media/image3.png"/><Relationship Id="rId2" Type="http://schemas.openxmlformats.org/officeDocument/2006/relationships/tags" Target="../tags/tag41.xml"/><Relationship Id="rId16" Type="http://schemas.openxmlformats.org/officeDocument/2006/relationships/chart" Target="../charts/chart8.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50.png"/><Relationship Id="rId5" Type="http://schemas.openxmlformats.org/officeDocument/2006/relationships/tags" Target="../tags/tag44.xml"/><Relationship Id="rId15" Type="http://schemas.openxmlformats.org/officeDocument/2006/relationships/image" Target="../media/image39.png"/><Relationship Id="rId10" Type="http://schemas.openxmlformats.org/officeDocument/2006/relationships/image" Target="../media/image49.png"/><Relationship Id="rId4" Type="http://schemas.openxmlformats.org/officeDocument/2006/relationships/tags" Target="../tags/tag43.xml"/><Relationship Id="rId9" Type="http://schemas.openxmlformats.org/officeDocument/2006/relationships/image" Target="../media/image44.png"/><Relationship Id="rId1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39.png"/><Relationship Id="rId5" Type="http://schemas.openxmlformats.org/officeDocument/2006/relationships/image" Target="../media/image41.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tags" Target="../tags/tag51.xml"/><Relationship Id="rId7" Type="http://schemas.openxmlformats.org/officeDocument/2006/relationships/image" Target="../media/image55.png"/><Relationship Id="rId12" Type="http://schemas.openxmlformats.org/officeDocument/2006/relationships/image" Target="../media/image56.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54.png"/><Relationship Id="rId11" Type="http://schemas.openxmlformats.org/officeDocument/2006/relationships/image" Target="../media/image52.png"/><Relationship Id="rId5" Type="http://schemas.openxmlformats.org/officeDocument/2006/relationships/slideLayout" Target="../slideLayouts/slideLayout7.xml"/><Relationship Id="rId10" Type="http://schemas.openxmlformats.org/officeDocument/2006/relationships/image" Target="../media/image51.png"/><Relationship Id="rId4" Type="http://schemas.openxmlformats.org/officeDocument/2006/relationships/tags" Target="../tags/tag52.xml"/><Relationship Id="rId9" Type="http://schemas.openxmlformats.org/officeDocument/2006/relationships/image" Target="../media/image50.png"/></Relationships>
</file>

<file path=ppt/slides/_rels/slide3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tags" Target="../tags/tag55.xml"/><Relationship Id="rId7" Type="http://schemas.openxmlformats.org/officeDocument/2006/relationships/image" Target="../media/image58.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57.png"/><Relationship Id="rId11" Type="http://schemas.openxmlformats.org/officeDocument/2006/relationships/image" Target="../media/image52.png"/><Relationship Id="rId5" Type="http://schemas.openxmlformats.org/officeDocument/2006/relationships/slideLayout" Target="../slideLayouts/slideLayout7.xml"/><Relationship Id="rId10" Type="http://schemas.openxmlformats.org/officeDocument/2006/relationships/image" Target="../media/image51.png"/><Relationship Id="rId4" Type="http://schemas.openxmlformats.org/officeDocument/2006/relationships/tags" Target="../tags/tag56.xml"/><Relationship Id="rId9" Type="http://schemas.openxmlformats.org/officeDocument/2006/relationships/image" Target="../media/image50.png"/></Relationships>
</file>

<file path=ppt/slides/_rels/slide3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tags" Target="../tags/tag59.xml"/><Relationship Id="rId7" Type="http://schemas.openxmlformats.org/officeDocument/2006/relationships/image" Target="../media/image60.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59.png"/><Relationship Id="rId11" Type="http://schemas.openxmlformats.org/officeDocument/2006/relationships/image" Target="../media/image52.png"/><Relationship Id="rId5" Type="http://schemas.openxmlformats.org/officeDocument/2006/relationships/slideLayout" Target="../slideLayouts/slideLayout7.xml"/><Relationship Id="rId10" Type="http://schemas.openxmlformats.org/officeDocument/2006/relationships/image" Target="../media/image51.png"/><Relationship Id="rId4" Type="http://schemas.openxmlformats.org/officeDocument/2006/relationships/tags" Target="../tags/tag60.xml"/><Relationship Id="rId9" Type="http://schemas.openxmlformats.org/officeDocument/2006/relationships/image" Target="../media/image50.png"/></Relationships>
</file>

<file path=ppt/slides/_rels/slide3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tags" Target="../tags/tag63.xml"/><Relationship Id="rId7" Type="http://schemas.openxmlformats.org/officeDocument/2006/relationships/image" Target="../media/image62.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61.png"/><Relationship Id="rId11" Type="http://schemas.openxmlformats.org/officeDocument/2006/relationships/image" Target="../media/image52.png"/><Relationship Id="rId5" Type="http://schemas.openxmlformats.org/officeDocument/2006/relationships/slideLayout" Target="../slideLayouts/slideLayout7.xml"/><Relationship Id="rId10" Type="http://schemas.openxmlformats.org/officeDocument/2006/relationships/image" Target="../media/image51.png"/><Relationship Id="rId4" Type="http://schemas.openxmlformats.org/officeDocument/2006/relationships/tags" Target="../tags/tag64.xml"/><Relationship Id="rId9" Type="http://schemas.openxmlformats.org/officeDocument/2006/relationships/image" Target="../media/image50.png"/></Relationships>
</file>

<file path=ppt/slides/_rels/slide3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tags" Target="../tags/tag67.xml"/><Relationship Id="rId7" Type="http://schemas.openxmlformats.org/officeDocument/2006/relationships/image" Target="../media/image62.pn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61.png"/><Relationship Id="rId11" Type="http://schemas.openxmlformats.org/officeDocument/2006/relationships/image" Target="../media/image52.png"/><Relationship Id="rId5" Type="http://schemas.openxmlformats.org/officeDocument/2006/relationships/slideLayout" Target="../slideLayouts/slideLayout7.xml"/><Relationship Id="rId10" Type="http://schemas.openxmlformats.org/officeDocument/2006/relationships/image" Target="../media/image51.png"/><Relationship Id="rId4" Type="http://schemas.openxmlformats.org/officeDocument/2006/relationships/tags" Target="../tags/tag68.xml"/><Relationship Id="rId9" Type="http://schemas.openxmlformats.org/officeDocument/2006/relationships/image" Target="../media/image50.png"/></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tags" Target="../tags/tag71.xml"/><Relationship Id="rId7" Type="http://schemas.openxmlformats.org/officeDocument/2006/relationships/image" Target="../media/image51.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Layout" Target="../slideLayouts/slideLayout7.xml"/><Relationship Id="rId5" Type="http://schemas.openxmlformats.org/officeDocument/2006/relationships/tags" Target="../tags/tag73.xml"/><Relationship Id="rId10" Type="http://schemas.openxmlformats.org/officeDocument/2006/relationships/image" Target="../media/image3.png"/><Relationship Id="rId4" Type="http://schemas.openxmlformats.org/officeDocument/2006/relationships/tags" Target="../tags/tag72.xml"/><Relationship Id="rId9" Type="http://schemas.openxmlformats.org/officeDocument/2006/relationships/image" Target="../media/image22.png"/></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tags" Target="../tags/tag76.xml"/><Relationship Id="rId7" Type="http://schemas.openxmlformats.org/officeDocument/2006/relationships/image" Target="../media/image67.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66.png"/><Relationship Id="rId5" Type="http://schemas.openxmlformats.org/officeDocument/2006/relationships/slideLayout" Target="../slideLayouts/slideLayout7.xml"/><Relationship Id="rId10" Type="http://schemas.openxmlformats.org/officeDocument/2006/relationships/image" Target="../media/image3.png"/><Relationship Id="rId4" Type="http://schemas.openxmlformats.org/officeDocument/2006/relationships/tags" Target="../tags/tag77.xml"/><Relationship Id="rId9" Type="http://schemas.openxmlformats.org/officeDocument/2006/relationships/image" Target="../media/image69.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72.png"/><Relationship Id="rId4" Type="http://schemas.openxmlformats.org/officeDocument/2006/relationships/image" Target="../media/image71.png"/></Relationships>
</file>

<file path=ppt/slides/_rels/slide48.xml.rels><?xml version="1.0" encoding="UTF-8" standalone="yes"?>
<Relationships xmlns="http://schemas.openxmlformats.org/package/2006/relationships"><Relationship Id="rId3" Type="http://schemas.openxmlformats.org/officeDocument/2006/relationships/image" Target="../media/image711.png"/><Relationship Id="rId2" Type="http://schemas.openxmlformats.org/officeDocument/2006/relationships/slideLayout" Target="../slideLayouts/slideLayout7.xml"/><Relationship Id="rId1" Type="http://schemas.openxmlformats.org/officeDocument/2006/relationships/tags" Target="../tags/tag80.xml"/><Relationship Id="rId6" Type="http://schemas.openxmlformats.org/officeDocument/2006/relationships/image" Target="../media/image73.png"/><Relationship Id="rId5" Type="http://schemas.openxmlformats.org/officeDocument/2006/relationships/image" Target="../media/image71.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 Id="rId5" Type="http://schemas.openxmlformats.org/officeDocument/2006/relationships/image" Target="../media/image760.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790.png"/><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3" Type="http://schemas.openxmlformats.org/officeDocument/2006/relationships/tags" Target="../tags/tag83.xml"/><Relationship Id="rId7" Type="http://schemas.openxmlformats.org/officeDocument/2006/relationships/image" Target="../media/image3.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80.png"/><Relationship Id="rId5" Type="http://schemas.openxmlformats.org/officeDocument/2006/relationships/image" Target="../media/image39.png"/><Relationship Id="rId4"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7.xml"/><Relationship Id="rId1" Type="http://schemas.openxmlformats.org/officeDocument/2006/relationships/tags" Target="../tags/tag86.xml"/><Relationship Id="rId6" Type="http://schemas.openxmlformats.org/officeDocument/2006/relationships/image" Target="../media/image3.png"/><Relationship Id="rId5" Type="http://schemas.openxmlformats.org/officeDocument/2006/relationships/image" Target="../media/image82.png"/><Relationship Id="rId4" Type="http://schemas.openxmlformats.org/officeDocument/2006/relationships/image" Target="../media/image81.png"/></Relationships>
</file>

<file path=ppt/slides/_rels/slide5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tags" Target="../tags/tag89.xml"/><Relationship Id="rId7" Type="http://schemas.openxmlformats.org/officeDocument/2006/relationships/image" Target="../media/image83.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39.png"/><Relationship Id="rId5" Type="http://schemas.openxmlformats.org/officeDocument/2006/relationships/slideLayout" Target="../slideLayouts/slideLayout7.xml"/><Relationship Id="rId10" Type="http://schemas.openxmlformats.org/officeDocument/2006/relationships/image" Target="../media/image3.png"/><Relationship Id="rId4" Type="http://schemas.openxmlformats.org/officeDocument/2006/relationships/tags" Target="../tags/tag90.xml"/><Relationship Id="rId9" Type="http://schemas.openxmlformats.org/officeDocument/2006/relationships/image" Target="../media/image85.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93.xml"/><Relationship Id="rId7" Type="http://schemas.openxmlformats.org/officeDocument/2006/relationships/image" Target="../media/image41.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39.png"/><Relationship Id="rId5" Type="http://schemas.openxmlformats.org/officeDocument/2006/relationships/image" Target="../media/image84.png"/><Relationship Id="rId4"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7.tmp"/><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8.tmp"/><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91.png"/><Relationship Id="rId3" Type="http://schemas.openxmlformats.org/officeDocument/2006/relationships/tags" Target="../tags/tag96.xml"/><Relationship Id="rId7" Type="http://schemas.openxmlformats.org/officeDocument/2006/relationships/image" Target="../media/image22.png"/><Relationship Id="rId12" Type="http://schemas.openxmlformats.org/officeDocument/2006/relationships/image" Target="../media/image93.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6.png"/><Relationship Id="rId11" Type="http://schemas.openxmlformats.org/officeDocument/2006/relationships/image" Target="../media/image92.png"/><Relationship Id="rId5" Type="http://schemas.openxmlformats.org/officeDocument/2006/relationships/slideLayout" Target="../slideLayouts/slideLayout7.xml"/><Relationship Id="rId10" Type="http://schemas.openxmlformats.org/officeDocument/2006/relationships/image" Target="../media/image3.png"/><Relationship Id="rId4" Type="http://schemas.openxmlformats.org/officeDocument/2006/relationships/tags" Target="../tags/tag97.xml"/><Relationship Id="rId9" Type="http://schemas.openxmlformats.org/officeDocument/2006/relationships/image" Target="../media/image31.png"/></Relationships>
</file>

<file path=ppt/slides/_rels/slide6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95.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slideLayout" Target="../slideLayouts/slideLayout7.xml"/><Relationship Id="rId7" Type="http://schemas.openxmlformats.org/officeDocument/2006/relationships/image" Target="../media/image860.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image" Target="../media/image48.png"/></Relationships>
</file>

<file path=ppt/slides/_rels/slide71.xml.rels><?xml version="1.0" encoding="UTF-8" standalone="yes"?>
<Relationships xmlns="http://schemas.openxmlformats.org/package/2006/relationships"><Relationship Id="rId8" Type="http://schemas.openxmlformats.org/officeDocument/2006/relationships/image" Target="../media/image890.png"/><Relationship Id="rId3" Type="http://schemas.openxmlformats.org/officeDocument/2006/relationships/slideLayout" Target="../slideLayouts/slideLayout7.xml"/><Relationship Id="rId7" Type="http://schemas.openxmlformats.org/officeDocument/2006/relationships/image" Target="../media/image88.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image" Target="../media/image48.png"/></Relationships>
</file>

<file path=ppt/slides/_rels/slide7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7.xml"/><Relationship Id="rId1" Type="http://schemas.openxmlformats.org/officeDocument/2006/relationships/tags" Target="../tags/tag102.xml"/><Relationship Id="rId5" Type="http://schemas.openxmlformats.org/officeDocument/2006/relationships/image" Target="../media/image100.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Linear Regression</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81710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1"/>
              <p:cNvSpPr txBox="1">
                <a:spLocks/>
              </p:cNvSpPr>
              <p:nvPr/>
            </p:nvSpPr>
            <p:spPr>
              <a:xfrm>
                <a:off x="-71021" y="524950"/>
                <a:ext cx="11800273" cy="19050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800" dirty="0">
                    <a:solidFill>
                      <a:schemeClr val="tx1">
                        <a:lumMod val="75000"/>
                        <a:lumOff val="25000"/>
                      </a:schemeClr>
                    </a:solidFill>
                  </a:rPr>
                  <a:t>Linear regression with one variable</a:t>
                </a:r>
              </a:p>
              <a:p>
                <a:pPr algn="l"/>
                <a:r>
                  <a:rPr lang="en-US" sz="4800" dirty="0">
                    <a:solidFill>
                      <a:schemeClr val="tx1">
                        <a:lumMod val="75000"/>
                        <a:lumOff val="25000"/>
                      </a:schemeClr>
                    </a:solidFill>
                  </a:rPr>
                  <a:t>Univariate LR</a:t>
                </a:r>
              </a:p>
              <a:p>
                <a:pPr algn="l"/>
                <a:r>
                  <a:rPr lang="en-US" sz="4800" dirty="0">
                    <a:solidFill>
                      <a:schemeClr val="tx1">
                        <a:lumMod val="75000"/>
                        <a:lumOff val="25000"/>
                      </a:schemeClr>
                    </a:solidFill>
                  </a:rPr>
                  <a:t>Predict output </a:t>
                </a:r>
                <a14:m>
                  <m:oMath xmlns:m="http://schemas.openxmlformats.org/officeDocument/2006/math">
                    <m:r>
                      <a:rPr lang="en-US" sz="4800" i="1" dirty="0" smtClean="0">
                        <a:solidFill>
                          <a:schemeClr val="tx1">
                            <a:lumMod val="75000"/>
                            <a:lumOff val="25000"/>
                          </a:schemeClr>
                        </a:solidFill>
                        <a:latin typeface="Cambria Math" panose="02040503050406030204" pitchFamily="18" charset="0"/>
                      </a:rPr>
                      <m:t>𝑦</m:t>
                    </m:r>
                  </m:oMath>
                </a14:m>
                <a:r>
                  <a:rPr lang="en-US" sz="4800" dirty="0">
                    <a:solidFill>
                      <a:schemeClr val="tx1">
                        <a:lumMod val="75000"/>
                        <a:lumOff val="25000"/>
                      </a:schemeClr>
                    </a:solidFill>
                  </a:rPr>
                  <a:t> from one variable/feature</a:t>
                </a:r>
              </a:p>
            </p:txBody>
          </p:sp>
        </mc:Choice>
        <mc:Fallback xmlns="">
          <p:sp>
            <p:nvSpPr>
              <p:cNvPr id="5" name="Title 1"/>
              <p:cNvSpPr txBox="1">
                <a:spLocks noRot="1" noChangeAspect="1" noMove="1" noResize="1" noEditPoints="1" noAdjustHandles="1" noChangeArrowheads="1" noChangeShapeType="1" noTextEdit="1"/>
              </p:cNvSpPr>
              <p:nvPr/>
            </p:nvSpPr>
            <p:spPr>
              <a:xfrm>
                <a:off x="-71021" y="524950"/>
                <a:ext cx="11800273" cy="1905000"/>
              </a:xfrm>
              <a:prstGeom prst="rect">
                <a:avLst/>
              </a:prstGeom>
              <a:blipFill>
                <a:blip r:embed="rId3"/>
                <a:stretch>
                  <a:fillRect l="-2066" t="-16933" b="-27157"/>
                </a:stretch>
              </a:blipFill>
            </p:spPr>
            <p:txBody>
              <a:bodyPr/>
              <a:lstStyle/>
              <a:p>
                <a:r>
                  <a:rPr lang="en-US">
                    <a:noFill/>
                  </a:rPr>
                  <a:t> </a:t>
                </a:r>
              </a:p>
            </p:txBody>
          </p:sp>
        </mc:Fallback>
      </mc:AlternateContent>
      <p:cxnSp>
        <p:nvCxnSpPr>
          <p:cNvPr id="6" name="Straight Connector 5"/>
          <p:cNvCxnSpPr/>
          <p:nvPr/>
        </p:nvCxnSpPr>
        <p:spPr>
          <a:xfrm>
            <a:off x="5633153" y="2867371"/>
            <a:ext cx="573024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p:nvPr>
        </p:nvSpPr>
        <p:spPr>
          <a:xfrm>
            <a:off x="5633153" y="2988749"/>
            <a:ext cx="5994400" cy="2167452"/>
          </a:xfrm>
        </p:spPr>
        <p:txBody>
          <a:bodyPr>
            <a:noAutofit/>
          </a:bodyPr>
          <a:lstStyle/>
          <a:p>
            <a:pPr algn="l"/>
            <a:r>
              <a:rPr lang="en-US" sz="7200" dirty="0">
                <a:solidFill>
                  <a:schemeClr val="tx1">
                    <a:lumMod val="75000"/>
                    <a:lumOff val="25000"/>
                  </a:schemeClr>
                </a:solidFill>
              </a:rPr>
              <a:t>Model representation</a:t>
            </a:r>
          </a:p>
        </p:txBody>
      </p:sp>
      <p:sp>
        <p:nvSpPr>
          <p:cNvPr id="3" name="Rectangle 2"/>
          <p:cNvSpPr/>
          <p:nvPr/>
        </p:nvSpPr>
        <p:spPr>
          <a:xfrm>
            <a:off x="10871200" y="6273800"/>
            <a:ext cx="1320800" cy="584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49382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971649"/>
            <a:ext cx="12192000" cy="4914703"/>
          </a:xfrm>
          <a:prstGeom prst="rect">
            <a:avLst/>
          </a:prstGeom>
        </p:spPr>
      </p:pic>
      <p:pic>
        <p:nvPicPr>
          <p:cNvPr id="4" name="Picture 3">
            <a:extLst>
              <a:ext uri="{FF2B5EF4-FFF2-40B4-BE49-F238E27FC236}">
                <a16:creationId xmlns:a16="http://schemas.microsoft.com/office/drawing/2014/main" id="{7AA956F4-5D79-4ED7-B195-DFDC05143D32}"/>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801991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889000"/>
            <a:ext cx="12123505" cy="5097237"/>
          </a:xfrm>
          <a:prstGeom prst="rect">
            <a:avLst/>
          </a:prstGeom>
        </p:spPr>
      </p:pic>
      <p:pic>
        <p:nvPicPr>
          <p:cNvPr id="3" name="Picture 2">
            <a:extLst>
              <a:ext uri="{FF2B5EF4-FFF2-40B4-BE49-F238E27FC236}">
                <a16:creationId xmlns:a16="http://schemas.microsoft.com/office/drawing/2014/main" id="{9F0B3C94-F97F-4ED6-9328-F385328F8831}"/>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97E0574D-0C15-CD32-6F5F-3E17B05E75B0}"/>
              </a:ext>
            </a:extLst>
          </p:cNvPr>
          <p:cNvSpPr txBox="1"/>
          <p:nvPr/>
        </p:nvSpPr>
        <p:spPr>
          <a:xfrm>
            <a:off x="7315200" y="548597"/>
            <a:ext cx="4876800" cy="369332"/>
          </a:xfrm>
          <a:prstGeom prst="rect">
            <a:avLst/>
          </a:prstGeom>
          <a:noFill/>
        </p:spPr>
        <p:txBody>
          <a:bodyPr wrap="square">
            <a:spAutoFit/>
          </a:bodyPr>
          <a:lstStyle/>
          <a:p>
            <a:pPr algn="l"/>
            <a:r>
              <a:rPr lang="en-US" sz="1800" dirty="0">
                <a:solidFill>
                  <a:srgbClr val="FF0000"/>
                </a:solidFill>
              </a:rPr>
              <a:t>Training samples/instances</a:t>
            </a:r>
            <a:endParaRPr lang="en-US" dirty="0">
              <a:solidFill>
                <a:srgbClr val="FF0000"/>
              </a:solidFill>
            </a:endParaRPr>
          </a:p>
        </p:txBody>
      </p:sp>
    </p:spTree>
    <p:extLst>
      <p:ext uri="{BB962C8B-B14F-4D97-AF65-F5344CB8AC3E}">
        <p14:creationId xmlns:p14="http://schemas.microsoft.com/office/powerpoint/2010/main" val="1156950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971649"/>
            <a:ext cx="12192000" cy="4914703"/>
          </a:xfrm>
          <a:prstGeom prst="rect">
            <a:avLst/>
          </a:prstGeom>
        </p:spPr>
      </p:pic>
      <p:pic>
        <p:nvPicPr>
          <p:cNvPr id="4" name="Picture 3">
            <a:extLst>
              <a:ext uri="{FF2B5EF4-FFF2-40B4-BE49-F238E27FC236}">
                <a16:creationId xmlns:a16="http://schemas.microsoft.com/office/drawing/2014/main" id="{166FA4BC-60C5-4FF7-B39E-708411F266A9}"/>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ED37A411-F185-CEA6-072C-BDB6487E3F6D}"/>
              </a:ext>
            </a:extLst>
          </p:cNvPr>
          <p:cNvSpPr txBox="1"/>
          <p:nvPr/>
        </p:nvSpPr>
        <p:spPr>
          <a:xfrm>
            <a:off x="6862618" y="5608628"/>
            <a:ext cx="6096000" cy="369332"/>
          </a:xfrm>
          <a:prstGeom prst="rect">
            <a:avLst/>
          </a:prstGeom>
          <a:noFill/>
        </p:spPr>
        <p:txBody>
          <a:bodyPr wrap="square">
            <a:spAutoFit/>
          </a:bodyPr>
          <a:lstStyle/>
          <a:p>
            <a:pPr algn="l"/>
            <a:r>
              <a:rPr lang="en-US" sz="1800" dirty="0">
                <a:solidFill>
                  <a:schemeClr val="accent6"/>
                </a:solidFill>
              </a:rPr>
              <a:t>Test sample/instance</a:t>
            </a:r>
            <a:endParaRPr lang="en-US" dirty="0">
              <a:solidFill>
                <a:schemeClr val="accent6"/>
              </a:solidFill>
            </a:endParaRPr>
          </a:p>
        </p:txBody>
      </p:sp>
    </p:spTree>
    <p:extLst>
      <p:ext uri="{BB962C8B-B14F-4D97-AF65-F5344CB8AC3E}">
        <p14:creationId xmlns:p14="http://schemas.microsoft.com/office/powerpoint/2010/main" val="3554582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959015"/>
            <a:ext cx="12192000" cy="4939971"/>
          </a:xfrm>
          <a:prstGeom prst="rect">
            <a:avLst/>
          </a:prstGeom>
        </p:spPr>
      </p:pic>
      <p:pic>
        <p:nvPicPr>
          <p:cNvPr id="3" name="Picture 2">
            <a:extLst>
              <a:ext uri="{FF2B5EF4-FFF2-40B4-BE49-F238E27FC236}">
                <a16:creationId xmlns:a16="http://schemas.microsoft.com/office/drawing/2014/main" id="{649D31F5-F34F-4829-99DB-CC8A9E5250F8}"/>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A11106A4-C62B-54B6-BBD4-A10D123AC808}"/>
              </a:ext>
            </a:extLst>
          </p:cNvPr>
          <p:cNvSpPr txBox="1"/>
          <p:nvPr/>
        </p:nvSpPr>
        <p:spPr>
          <a:xfrm>
            <a:off x="0" y="128017"/>
            <a:ext cx="12190520" cy="830997"/>
          </a:xfrm>
          <a:prstGeom prst="rect">
            <a:avLst/>
          </a:prstGeom>
          <a:noFill/>
        </p:spPr>
        <p:txBody>
          <a:bodyPr wrap="square">
            <a:spAutoFit/>
          </a:bodyPr>
          <a:lstStyle/>
          <a:p>
            <a:r>
              <a:rPr lang="en-US" sz="2400" b="0" i="0" dirty="0">
                <a:solidFill>
                  <a:srgbClr val="FF0000"/>
                </a:solidFill>
                <a:effectLst/>
              </a:rPr>
              <a:t>A</a:t>
            </a:r>
            <a:r>
              <a:rPr lang="en-US" sz="2400" b="1" i="0" dirty="0">
                <a:solidFill>
                  <a:srgbClr val="FF0000"/>
                </a:solidFill>
                <a:effectLst/>
              </a:rPr>
              <a:t> Line</a:t>
            </a:r>
            <a:r>
              <a:rPr lang="en-US" sz="2400" b="0" i="0" dirty="0">
                <a:solidFill>
                  <a:srgbClr val="FF0000"/>
                </a:solidFill>
                <a:effectLst/>
              </a:rPr>
              <a:t> </a:t>
            </a:r>
            <a:r>
              <a:rPr lang="en-US" sz="2400" b="1" i="0" dirty="0">
                <a:solidFill>
                  <a:srgbClr val="FF0000"/>
                </a:solidFill>
                <a:effectLst/>
              </a:rPr>
              <a:t>of</a:t>
            </a:r>
            <a:r>
              <a:rPr lang="en-US" sz="2400" b="0" i="0" dirty="0">
                <a:solidFill>
                  <a:srgbClr val="FF0000"/>
                </a:solidFill>
                <a:effectLst/>
              </a:rPr>
              <a:t> </a:t>
            </a:r>
            <a:r>
              <a:rPr lang="en-US" sz="2400" b="1" i="0" dirty="0">
                <a:solidFill>
                  <a:srgbClr val="FF0000"/>
                </a:solidFill>
                <a:effectLst/>
              </a:rPr>
              <a:t>best fit/Regression Line</a:t>
            </a:r>
            <a:r>
              <a:rPr lang="en-US" sz="2400" b="0" i="0" dirty="0">
                <a:solidFill>
                  <a:srgbClr val="FF0000"/>
                </a:solidFill>
                <a:effectLst/>
              </a:rPr>
              <a:t> is a straight line that represents the best approximation of a scatter plot of data points</a:t>
            </a:r>
            <a:endParaRPr lang="en-US" sz="2400" dirty="0">
              <a:solidFill>
                <a:srgbClr val="FF0000"/>
              </a:solidFill>
            </a:endParaRPr>
          </a:p>
        </p:txBody>
      </p:sp>
      <p:cxnSp>
        <p:nvCxnSpPr>
          <p:cNvPr id="7" name="Straight Arrow Connector 6">
            <a:extLst>
              <a:ext uri="{FF2B5EF4-FFF2-40B4-BE49-F238E27FC236}">
                <a16:creationId xmlns:a16="http://schemas.microsoft.com/office/drawing/2014/main" id="{E7162166-C337-B4C1-2913-D68B2E260D4C}"/>
              </a:ext>
            </a:extLst>
          </p:cNvPr>
          <p:cNvCxnSpPr/>
          <p:nvPr/>
        </p:nvCxnSpPr>
        <p:spPr>
          <a:xfrm>
            <a:off x="3684233" y="541538"/>
            <a:ext cx="6871317" cy="14026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639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927430"/>
            <a:ext cx="12192000" cy="5003141"/>
          </a:xfrm>
          <a:prstGeom prst="rect">
            <a:avLst/>
          </a:prstGeom>
        </p:spPr>
      </p:pic>
      <p:pic>
        <p:nvPicPr>
          <p:cNvPr id="4" name="Picture 3">
            <a:extLst>
              <a:ext uri="{FF2B5EF4-FFF2-40B4-BE49-F238E27FC236}">
                <a16:creationId xmlns:a16="http://schemas.microsoft.com/office/drawing/2014/main" id="{30A0319F-7F76-4038-BF16-6696E537FB8B}"/>
              </a:ext>
            </a:extLst>
          </p:cNvPr>
          <p:cNvPicPr>
            <a:picLocks noChangeAspect="1"/>
          </p:cNvPicPr>
          <p:nvPr/>
        </p:nvPicPr>
        <p:blipFill>
          <a:blip r:embed="rId3"/>
          <a:stretch>
            <a:fillRect/>
          </a:stretch>
        </p:blipFill>
        <p:spPr>
          <a:xfrm>
            <a:off x="10922000" y="6438901"/>
            <a:ext cx="1270000" cy="4191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1BF8B49-18D3-92F6-9F8B-1881405C7DC2}"/>
                  </a:ext>
                </a:extLst>
              </p:cNvPr>
              <p:cNvSpPr txBox="1"/>
              <p:nvPr/>
            </p:nvSpPr>
            <p:spPr>
              <a:xfrm>
                <a:off x="0" y="128017"/>
                <a:ext cx="12190520" cy="461665"/>
              </a:xfrm>
              <a:prstGeom prst="rect">
                <a:avLst/>
              </a:prstGeom>
              <a:noFill/>
            </p:spPr>
            <p:txBody>
              <a:bodyPr wrap="square">
                <a:spAutoFit/>
              </a:bodyPr>
              <a:lstStyle/>
              <a:p>
                <a:r>
                  <a:rPr lang="en-US" sz="2400" b="0" i="0" dirty="0">
                    <a:solidFill>
                      <a:srgbClr val="FF0000"/>
                    </a:solidFill>
                    <a:effectLst/>
                  </a:rPr>
                  <a:t>Estimated/Predicted value (</a:t>
                </a:r>
                <a14:m>
                  <m:oMath xmlns:m="http://schemas.openxmlformats.org/officeDocument/2006/math">
                    <m:acc>
                      <m:accPr>
                        <m:chr m:val="̃"/>
                        <m:ctrlPr>
                          <a:rPr lang="en-US" sz="2400" b="0" i="1" smtClean="0">
                            <a:solidFill>
                              <a:srgbClr val="FF0000"/>
                            </a:solidFill>
                            <a:effectLst/>
                            <a:latin typeface="Cambria Math" panose="02040503050406030204" pitchFamily="18" charset="0"/>
                          </a:rPr>
                        </m:ctrlPr>
                      </m:accPr>
                      <m:e>
                        <m:r>
                          <a:rPr lang="en-US" sz="2400" b="0" i="1" smtClean="0">
                            <a:solidFill>
                              <a:srgbClr val="FF0000"/>
                            </a:solidFill>
                            <a:effectLst/>
                            <a:latin typeface="Cambria Math" panose="02040503050406030204" pitchFamily="18" charset="0"/>
                          </a:rPr>
                          <m:t>𝑦</m:t>
                        </m:r>
                      </m:e>
                    </m:acc>
                    <m:r>
                      <a:rPr lang="en-US" sz="2400" b="0" i="1" smtClean="0">
                        <a:solidFill>
                          <a:srgbClr val="FF0000"/>
                        </a:solidFill>
                        <a:effectLst/>
                        <a:latin typeface="Cambria Math" panose="02040503050406030204" pitchFamily="18" charset="0"/>
                      </a:rPr>
                      <m:t>/</m:t>
                    </m:r>
                    <m:acc>
                      <m:accPr>
                        <m:chr m:val="̅"/>
                        <m:ctrlPr>
                          <a:rPr lang="en-US" sz="2400" b="0" i="1" smtClean="0">
                            <a:solidFill>
                              <a:srgbClr val="FF0000"/>
                            </a:solidFill>
                            <a:effectLst/>
                            <a:latin typeface="Cambria Math" panose="02040503050406030204" pitchFamily="18" charset="0"/>
                          </a:rPr>
                        </m:ctrlPr>
                      </m:accPr>
                      <m:e>
                        <m:r>
                          <a:rPr lang="en-US" sz="2400" b="0" i="1" smtClean="0">
                            <a:solidFill>
                              <a:srgbClr val="FF0000"/>
                            </a:solidFill>
                            <a:effectLst/>
                            <a:latin typeface="Cambria Math" panose="02040503050406030204" pitchFamily="18" charset="0"/>
                          </a:rPr>
                          <m:t>𝑦</m:t>
                        </m:r>
                      </m:e>
                    </m:acc>
                  </m:oMath>
                </a14:m>
                <a:r>
                  <a:rPr lang="en-US" sz="2400" dirty="0">
                    <a:solidFill>
                      <a:srgbClr val="FF0000"/>
                    </a:solidFill>
                  </a:rPr>
                  <a:t>)			Actual/True value (</a:t>
                </a:r>
                <a14:m>
                  <m:oMath xmlns:m="http://schemas.openxmlformats.org/officeDocument/2006/math">
                    <m:r>
                      <a:rPr lang="en-US" sz="2400" b="0" i="1" smtClean="0">
                        <a:solidFill>
                          <a:srgbClr val="FF0000"/>
                        </a:solidFill>
                        <a:latin typeface="Cambria Math" panose="02040503050406030204" pitchFamily="18" charset="0"/>
                      </a:rPr>
                      <m:t>𝑦</m:t>
                    </m:r>
                  </m:oMath>
                </a14:m>
                <a:r>
                  <a:rPr lang="en-US" sz="2400" dirty="0">
                    <a:solidFill>
                      <a:srgbClr val="FF0000"/>
                    </a:solidFill>
                  </a:rPr>
                  <a:t>)/Ground Truth</a:t>
                </a:r>
              </a:p>
            </p:txBody>
          </p:sp>
        </mc:Choice>
        <mc:Fallback xmlns="">
          <p:sp>
            <p:nvSpPr>
              <p:cNvPr id="2" name="TextBox 1">
                <a:extLst>
                  <a:ext uri="{FF2B5EF4-FFF2-40B4-BE49-F238E27FC236}">
                    <a16:creationId xmlns:a16="http://schemas.microsoft.com/office/drawing/2014/main" id="{51BF8B49-18D3-92F6-9F8B-1881405C7DC2}"/>
                  </a:ext>
                </a:extLst>
              </p:cNvPr>
              <p:cNvSpPr txBox="1">
                <a:spLocks noRot="1" noChangeAspect="1" noMove="1" noResize="1" noEditPoints="1" noAdjustHandles="1" noChangeArrowheads="1" noChangeShapeType="1" noTextEdit="1"/>
              </p:cNvSpPr>
              <p:nvPr/>
            </p:nvSpPr>
            <p:spPr>
              <a:xfrm>
                <a:off x="0" y="128017"/>
                <a:ext cx="12190520" cy="461665"/>
              </a:xfrm>
              <a:prstGeom prst="rect">
                <a:avLst/>
              </a:prstGeom>
              <a:blipFill>
                <a:blip r:embed="rId4"/>
                <a:stretch>
                  <a:fillRect l="-750" t="-10526" b="-28947"/>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4ED8A2C4-A0B3-8E7B-40EA-E3580D650239}"/>
              </a:ext>
            </a:extLst>
          </p:cNvPr>
          <p:cNvCxnSpPr>
            <a:cxnSpLocks/>
          </p:cNvCxnSpPr>
          <p:nvPr/>
        </p:nvCxnSpPr>
        <p:spPr>
          <a:xfrm>
            <a:off x="2707689" y="589682"/>
            <a:ext cx="5007006" cy="25263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CC3E4E1-380E-9FD3-F2C1-C5484F05F53C}"/>
              </a:ext>
            </a:extLst>
          </p:cNvPr>
          <p:cNvCxnSpPr>
            <a:cxnSpLocks/>
          </p:cNvCxnSpPr>
          <p:nvPr/>
        </p:nvCxnSpPr>
        <p:spPr>
          <a:xfrm>
            <a:off x="7307802" y="589682"/>
            <a:ext cx="895165" cy="8840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DD68493-0C29-A472-B12F-AA28D3DFEBD0}"/>
              </a:ext>
            </a:extLst>
          </p:cNvPr>
          <p:cNvCxnSpPr>
            <a:cxnSpLocks/>
          </p:cNvCxnSpPr>
          <p:nvPr/>
        </p:nvCxnSpPr>
        <p:spPr>
          <a:xfrm>
            <a:off x="8018015" y="493507"/>
            <a:ext cx="1774055" cy="9801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104CBAF-3474-9C62-7EE2-05811DC2C94C}"/>
              </a:ext>
            </a:extLst>
          </p:cNvPr>
          <p:cNvCxnSpPr>
            <a:cxnSpLocks/>
          </p:cNvCxnSpPr>
          <p:nvPr/>
        </p:nvCxnSpPr>
        <p:spPr>
          <a:xfrm>
            <a:off x="1670483" y="548251"/>
            <a:ext cx="2778710" cy="22416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102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57827"/>
            <a:ext cx="12192000" cy="6542347"/>
          </a:xfrm>
          <a:prstGeom prst="rect">
            <a:avLst/>
          </a:prstGeom>
        </p:spPr>
      </p:pic>
      <p:pic>
        <p:nvPicPr>
          <p:cNvPr id="3" name="Picture 2">
            <a:extLst>
              <a:ext uri="{FF2B5EF4-FFF2-40B4-BE49-F238E27FC236}">
                <a16:creationId xmlns:a16="http://schemas.microsoft.com/office/drawing/2014/main" id="{0D08E97F-52C6-4A43-A77D-9447F4BCB95A}"/>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958769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57827"/>
            <a:ext cx="12192000" cy="6542347"/>
          </a:xfrm>
          <a:prstGeom prst="rect">
            <a:avLst/>
          </a:prstGeom>
        </p:spPr>
      </p:pic>
      <p:pic>
        <p:nvPicPr>
          <p:cNvPr id="3" name="Picture 2"/>
          <p:cNvPicPr>
            <a:picLocks noChangeAspect="1"/>
          </p:cNvPicPr>
          <p:nvPr/>
        </p:nvPicPr>
        <p:blipFill>
          <a:blip r:embed="rId3"/>
          <a:stretch>
            <a:fillRect/>
          </a:stretch>
        </p:blipFill>
        <p:spPr>
          <a:xfrm>
            <a:off x="6400800" y="4792091"/>
            <a:ext cx="4775200" cy="2061335"/>
          </a:xfrm>
          <a:prstGeom prst="rect">
            <a:avLst/>
          </a:prstGeom>
        </p:spPr>
      </p:pic>
      <p:pic>
        <p:nvPicPr>
          <p:cNvPr id="4" name="Picture 3">
            <a:extLst>
              <a:ext uri="{FF2B5EF4-FFF2-40B4-BE49-F238E27FC236}">
                <a16:creationId xmlns:a16="http://schemas.microsoft.com/office/drawing/2014/main" id="{580492AC-A4E4-4F5E-8B52-3A042C519D9B}"/>
              </a:ext>
            </a:extLst>
          </p:cNvPr>
          <p:cNvPicPr>
            <a:picLocks noChangeAspect="1"/>
          </p:cNvPicPr>
          <p:nvPr/>
        </p:nvPicPr>
        <p:blipFill>
          <a:blip r:embed="rId4"/>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481940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98258"/>
            <a:ext cx="12192000" cy="6070861"/>
          </a:xfrm>
          <a:prstGeom prst="rect">
            <a:avLst/>
          </a:prstGeom>
        </p:spPr>
      </p:pic>
      <p:pic>
        <p:nvPicPr>
          <p:cNvPr id="3" name="Picture 2">
            <a:extLst>
              <a:ext uri="{FF2B5EF4-FFF2-40B4-BE49-F238E27FC236}">
                <a16:creationId xmlns:a16="http://schemas.microsoft.com/office/drawing/2014/main" id="{1FE88595-C39E-4F8A-9DAB-6D5C8904AFA8}"/>
              </a:ext>
            </a:extLst>
          </p:cNvPr>
          <p:cNvPicPr>
            <a:picLocks noChangeAspect="1"/>
          </p:cNvPicPr>
          <p:nvPr/>
        </p:nvPicPr>
        <p:blipFill>
          <a:blip r:embed="rId3"/>
          <a:stretch>
            <a:fillRect/>
          </a:stretch>
        </p:blipFill>
        <p:spPr>
          <a:xfrm>
            <a:off x="10922000" y="6438901"/>
            <a:ext cx="1270000" cy="4191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F9D9B82-5407-7D7E-05F6-14B75714DF76}"/>
                  </a:ext>
                </a:extLst>
              </p:cNvPr>
              <p:cNvSpPr txBox="1"/>
              <p:nvPr/>
            </p:nvSpPr>
            <p:spPr>
              <a:xfrm>
                <a:off x="330693" y="6084453"/>
                <a:ext cx="6165540" cy="830997"/>
              </a:xfrm>
              <a:prstGeom prst="rect">
                <a:avLst/>
              </a:prstGeom>
              <a:noFill/>
            </p:spPr>
            <p:txBody>
              <a:bodyPr wrap="square">
                <a:spAutoFit/>
              </a:bodyPr>
              <a:lstStyle/>
              <a:p>
                <a14:m>
                  <m:oMath xmlns:m="http://schemas.openxmlformats.org/officeDocument/2006/math">
                    <m:r>
                      <a:rPr lang="en-US" sz="2400" b="0" i="1" dirty="0" smtClean="0">
                        <a:solidFill>
                          <a:srgbClr val="FF0000"/>
                        </a:solidFill>
                        <a:latin typeface="Cambria Math" panose="02040503050406030204" pitchFamily="18" charset="0"/>
                      </a:rPr>
                      <m:t>𝑛</m:t>
                    </m:r>
                    <m:r>
                      <a:rPr lang="en-US" sz="2400" b="0" i="1" dirty="0" smtClean="0">
                        <a:solidFill>
                          <a:srgbClr val="FF0000"/>
                        </a:solidFill>
                        <a:latin typeface="Cambria Math" panose="02040503050406030204" pitchFamily="18" charset="0"/>
                      </a:rPr>
                      <m:t>=</m:t>
                    </m:r>
                  </m:oMath>
                </a14:m>
                <a:r>
                  <a:rPr lang="en-US" sz="2400" dirty="0"/>
                  <a:t> the number of features</a:t>
                </a:r>
              </a:p>
              <a:p>
                <a:r>
                  <a:rPr lang="en-US" sz="2400" dirty="0"/>
                  <a:t>Dataset size: </a:t>
                </a:r>
                <a14:m>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𝑛</m:t>
                    </m:r>
                  </m:oMath>
                </a14:m>
                <a:endParaRPr lang="en-US" sz="2400" dirty="0"/>
              </a:p>
            </p:txBody>
          </p:sp>
        </mc:Choice>
        <mc:Fallback xmlns="">
          <p:sp>
            <p:nvSpPr>
              <p:cNvPr id="5" name="TextBox 4">
                <a:extLst>
                  <a:ext uri="{FF2B5EF4-FFF2-40B4-BE49-F238E27FC236}">
                    <a16:creationId xmlns:a16="http://schemas.microsoft.com/office/drawing/2014/main" id="{0F9D9B82-5407-7D7E-05F6-14B75714DF76}"/>
                  </a:ext>
                </a:extLst>
              </p:cNvPr>
              <p:cNvSpPr txBox="1">
                <a:spLocks noRot="1" noChangeAspect="1" noMove="1" noResize="1" noEditPoints="1" noAdjustHandles="1" noChangeArrowheads="1" noChangeShapeType="1" noTextEdit="1"/>
              </p:cNvSpPr>
              <p:nvPr/>
            </p:nvSpPr>
            <p:spPr>
              <a:xfrm>
                <a:off x="330693" y="6084453"/>
                <a:ext cx="6165540" cy="830997"/>
              </a:xfrm>
              <a:prstGeom prst="rect">
                <a:avLst/>
              </a:prstGeom>
              <a:blipFill>
                <a:blip r:embed="rId4"/>
                <a:stretch>
                  <a:fillRect l="-1482" t="-5882" b="-1617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A04DD91-F983-F3F3-04EB-FAFC770851D4}"/>
              </a:ext>
            </a:extLst>
          </p:cNvPr>
          <p:cNvSpPr txBox="1"/>
          <p:nvPr/>
        </p:nvSpPr>
        <p:spPr>
          <a:xfrm>
            <a:off x="6562818" y="4480548"/>
            <a:ext cx="6165540" cy="523220"/>
          </a:xfrm>
          <a:prstGeom prst="rect">
            <a:avLst/>
          </a:prstGeom>
          <a:noFill/>
        </p:spPr>
        <p:txBody>
          <a:bodyPr wrap="square">
            <a:spAutoFit/>
          </a:bodyPr>
          <a:lstStyle/>
          <a:p>
            <a:r>
              <a:rPr lang="en-US" sz="2800" b="1" dirty="0"/>
              <a:t>/samples/instances</a:t>
            </a:r>
          </a:p>
        </p:txBody>
      </p:sp>
    </p:spTree>
    <p:extLst>
      <p:ext uri="{BB962C8B-B14F-4D97-AF65-F5344CB8AC3E}">
        <p14:creationId xmlns:p14="http://schemas.microsoft.com/office/powerpoint/2010/main" val="181975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93570"/>
            <a:ext cx="12192000" cy="6070861"/>
          </a:xfrm>
          <a:prstGeom prst="rect">
            <a:avLst/>
          </a:prstGeom>
        </p:spPr>
      </p:pic>
      <p:pic>
        <p:nvPicPr>
          <p:cNvPr id="3" name="Picture 2"/>
          <p:cNvPicPr>
            <a:picLocks noChangeAspect="1"/>
          </p:cNvPicPr>
          <p:nvPr/>
        </p:nvPicPr>
        <p:blipFill>
          <a:blip r:embed="rId3"/>
          <a:stretch>
            <a:fillRect/>
          </a:stretch>
        </p:blipFill>
        <p:spPr>
          <a:xfrm>
            <a:off x="0" y="4099555"/>
            <a:ext cx="2844800" cy="1346200"/>
          </a:xfrm>
          <a:prstGeom prst="rect">
            <a:avLst/>
          </a:prstGeom>
        </p:spPr>
      </p:pic>
      <p:pic>
        <p:nvPicPr>
          <p:cNvPr id="5" name="Picture 4"/>
          <p:cNvPicPr>
            <a:picLocks noChangeAspect="1"/>
          </p:cNvPicPr>
          <p:nvPr/>
        </p:nvPicPr>
        <p:blipFill>
          <a:blip r:embed="rId3"/>
          <a:stretch>
            <a:fillRect/>
          </a:stretch>
        </p:blipFill>
        <p:spPr>
          <a:xfrm>
            <a:off x="2641600" y="4657561"/>
            <a:ext cx="2844800" cy="1346200"/>
          </a:xfrm>
          <a:prstGeom prst="rect">
            <a:avLst/>
          </a:prstGeom>
        </p:spPr>
      </p:pic>
      <p:pic>
        <p:nvPicPr>
          <p:cNvPr id="6" name="Picture 5"/>
          <p:cNvPicPr>
            <a:picLocks noChangeAspect="1"/>
          </p:cNvPicPr>
          <p:nvPr/>
        </p:nvPicPr>
        <p:blipFill>
          <a:blip r:embed="rId3"/>
          <a:stretch>
            <a:fillRect/>
          </a:stretch>
        </p:blipFill>
        <p:spPr>
          <a:xfrm>
            <a:off x="4978400" y="4582616"/>
            <a:ext cx="2844800" cy="1346200"/>
          </a:xfrm>
          <a:prstGeom prst="rect">
            <a:avLst/>
          </a:prstGeom>
        </p:spPr>
      </p:pic>
      <p:pic>
        <p:nvPicPr>
          <p:cNvPr id="7" name="Picture 6"/>
          <p:cNvPicPr>
            <a:picLocks noChangeAspect="1"/>
          </p:cNvPicPr>
          <p:nvPr/>
        </p:nvPicPr>
        <p:blipFill>
          <a:blip r:embed="rId3"/>
          <a:stretch>
            <a:fillRect/>
          </a:stretch>
        </p:blipFill>
        <p:spPr>
          <a:xfrm>
            <a:off x="132423" y="4943729"/>
            <a:ext cx="2844800" cy="1346200"/>
          </a:xfrm>
          <a:prstGeom prst="rect">
            <a:avLst/>
          </a:prstGeom>
        </p:spPr>
      </p:pic>
      <p:pic>
        <p:nvPicPr>
          <p:cNvPr id="8" name="Picture 7"/>
          <p:cNvPicPr>
            <a:picLocks noChangeAspect="1"/>
          </p:cNvPicPr>
          <p:nvPr/>
        </p:nvPicPr>
        <p:blipFill>
          <a:blip r:embed="rId3"/>
          <a:stretch>
            <a:fillRect/>
          </a:stretch>
        </p:blipFill>
        <p:spPr>
          <a:xfrm>
            <a:off x="2977223" y="4951652"/>
            <a:ext cx="2844800" cy="1346200"/>
          </a:xfrm>
          <a:prstGeom prst="rect">
            <a:avLst/>
          </a:prstGeom>
        </p:spPr>
      </p:pic>
      <p:pic>
        <p:nvPicPr>
          <p:cNvPr id="9" name="Picture 8"/>
          <p:cNvPicPr>
            <a:picLocks noChangeAspect="1"/>
          </p:cNvPicPr>
          <p:nvPr/>
        </p:nvPicPr>
        <p:blipFill>
          <a:blip r:embed="rId3"/>
          <a:stretch>
            <a:fillRect/>
          </a:stretch>
        </p:blipFill>
        <p:spPr>
          <a:xfrm>
            <a:off x="5283200" y="4951652"/>
            <a:ext cx="2844800" cy="1346200"/>
          </a:xfrm>
          <a:prstGeom prst="rect">
            <a:avLst/>
          </a:prstGeom>
        </p:spPr>
      </p:pic>
      <p:sp>
        <p:nvSpPr>
          <p:cNvPr id="2" name="TextBox 1"/>
          <p:cNvSpPr txBox="1"/>
          <p:nvPr/>
        </p:nvSpPr>
        <p:spPr>
          <a:xfrm>
            <a:off x="371011" y="4214647"/>
            <a:ext cx="5451012" cy="1077218"/>
          </a:xfrm>
          <a:prstGeom prst="rect">
            <a:avLst/>
          </a:prstGeom>
          <a:noFill/>
        </p:spPr>
        <p:txBody>
          <a:bodyPr wrap="square" rtlCol="0">
            <a:spAutoFit/>
          </a:bodyPr>
          <a:lstStyle/>
          <a:p>
            <a:r>
              <a:rPr lang="en-US" sz="3200" dirty="0"/>
              <a:t>(x, y)= One Training Example</a:t>
            </a:r>
          </a:p>
          <a:p>
            <a:r>
              <a:rPr lang="en-US" sz="3200" dirty="0"/>
              <a:t>x </a:t>
            </a:r>
            <a:r>
              <a:rPr lang="en-US" sz="2667" dirty="0"/>
              <a:t>(</a:t>
            </a:r>
            <a:r>
              <a:rPr lang="en-US" sz="2667" dirty="0" err="1"/>
              <a:t>i</a:t>
            </a:r>
            <a:r>
              <a:rPr lang="en-US" sz="2667" dirty="0"/>
              <a:t>)</a:t>
            </a:r>
            <a:r>
              <a:rPr lang="en-US" sz="3200" dirty="0"/>
              <a:t>, y </a:t>
            </a:r>
            <a:r>
              <a:rPr lang="en-US" sz="2667" dirty="0"/>
              <a:t>(</a:t>
            </a:r>
            <a:r>
              <a:rPr lang="en-US" sz="2667" dirty="0" err="1"/>
              <a:t>i</a:t>
            </a:r>
            <a:r>
              <a:rPr lang="en-US" sz="2667" dirty="0"/>
              <a:t>)</a:t>
            </a:r>
            <a:r>
              <a:rPr lang="en-US" sz="3200" dirty="0"/>
              <a:t>= </a:t>
            </a:r>
            <a:r>
              <a:rPr lang="en-US" sz="3200" dirty="0" err="1"/>
              <a:t>ith</a:t>
            </a:r>
            <a:r>
              <a:rPr lang="en-US" sz="3200" dirty="0"/>
              <a:t> Training example</a:t>
            </a:r>
          </a:p>
        </p:txBody>
      </p:sp>
      <p:sp>
        <p:nvSpPr>
          <p:cNvPr id="10" name="TextBox 9"/>
          <p:cNvSpPr txBox="1"/>
          <p:nvPr/>
        </p:nvSpPr>
        <p:spPr>
          <a:xfrm>
            <a:off x="6436189" y="4241801"/>
            <a:ext cx="5451012" cy="1816075"/>
          </a:xfrm>
          <a:prstGeom prst="rect">
            <a:avLst/>
          </a:prstGeom>
          <a:noFill/>
        </p:spPr>
        <p:txBody>
          <a:bodyPr wrap="square" rtlCol="0">
            <a:spAutoFit/>
          </a:bodyPr>
          <a:lstStyle/>
          <a:p>
            <a:r>
              <a:rPr lang="en-US" sz="3200" dirty="0"/>
              <a:t>x </a:t>
            </a:r>
            <a:r>
              <a:rPr lang="en-US" sz="2667" dirty="0"/>
              <a:t>(1) = 2104</a:t>
            </a:r>
          </a:p>
          <a:p>
            <a:r>
              <a:rPr lang="en-US" sz="2667" dirty="0"/>
              <a:t>x (2) = 1416</a:t>
            </a:r>
          </a:p>
          <a:p>
            <a:r>
              <a:rPr lang="en-US" sz="2667" dirty="0"/>
              <a:t>y (1) = 460</a:t>
            </a:r>
          </a:p>
          <a:p>
            <a:r>
              <a:rPr lang="en-US" sz="2667"/>
              <a:t>Y (2) </a:t>
            </a:r>
            <a:r>
              <a:rPr lang="en-US" sz="2667" dirty="0"/>
              <a:t>= 232</a:t>
            </a:r>
          </a:p>
        </p:txBody>
      </p:sp>
      <p:pic>
        <p:nvPicPr>
          <p:cNvPr id="11" name="Picture 10">
            <a:extLst>
              <a:ext uri="{FF2B5EF4-FFF2-40B4-BE49-F238E27FC236}">
                <a16:creationId xmlns:a16="http://schemas.microsoft.com/office/drawing/2014/main" id="{0B6528D7-7CCF-41B4-AAA0-67F1037D049C}"/>
              </a:ext>
            </a:extLst>
          </p:cNvPr>
          <p:cNvPicPr>
            <a:picLocks noChangeAspect="1"/>
          </p:cNvPicPr>
          <p:nvPr/>
        </p:nvPicPr>
        <p:blipFill>
          <a:blip r:embed="rId4"/>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3839927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6400800" y="584200"/>
            <a:ext cx="0" cy="54864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1397717" y="532648"/>
            <a:ext cx="3377483" cy="812800"/>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Training Set</a:t>
            </a:r>
          </a:p>
        </p:txBody>
      </p:sp>
      <p:sp>
        <p:nvSpPr>
          <p:cNvPr id="6" name="Rounded Rectangle 5"/>
          <p:cNvSpPr/>
          <p:nvPr/>
        </p:nvSpPr>
        <p:spPr>
          <a:xfrm>
            <a:off x="991317" y="2158248"/>
            <a:ext cx="4190283" cy="782075"/>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Learning Algorithm</a:t>
            </a:r>
          </a:p>
        </p:txBody>
      </p:sp>
      <p:sp>
        <p:nvSpPr>
          <p:cNvPr id="7" name="Rounded Rectangle 6"/>
          <p:cNvSpPr/>
          <p:nvPr/>
        </p:nvSpPr>
        <p:spPr>
          <a:xfrm>
            <a:off x="2578459" y="3783848"/>
            <a:ext cx="1016000" cy="782075"/>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i="1" dirty="0">
                <a:solidFill>
                  <a:schemeClr val="tx1"/>
                </a:solidFill>
              </a:rPr>
              <a:t>h</a:t>
            </a:r>
          </a:p>
        </p:txBody>
      </p:sp>
      <p:sp>
        <p:nvSpPr>
          <p:cNvPr id="8" name="TextBox 7"/>
          <p:cNvSpPr txBox="1"/>
          <p:nvPr/>
        </p:nvSpPr>
        <p:spPr>
          <a:xfrm>
            <a:off x="-1" y="3743405"/>
            <a:ext cx="1702515" cy="2554545"/>
          </a:xfrm>
          <a:prstGeom prst="rect">
            <a:avLst/>
          </a:prstGeom>
          <a:noFill/>
        </p:spPr>
        <p:txBody>
          <a:bodyPr wrap="square" rtlCol="0">
            <a:spAutoFit/>
          </a:bodyPr>
          <a:lstStyle/>
          <a:p>
            <a:pPr algn="ctr"/>
            <a:r>
              <a:rPr lang="en-US" sz="3200" dirty="0"/>
              <a:t>Size of house</a:t>
            </a:r>
          </a:p>
          <a:p>
            <a:pPr algn="ctr"/>
            <a:r>
              <a:rPr lang="en-US" sz="3200" dirty="0"/>
              <a:t>New/unseen/test data</a:t>
            </a:r>
          </a:p>
        </p:txBody>
      </p:sp>
      <mc:AlternateContent xmlns:mc="http://schemas.openxmlformats.org/markup-compatibility/2006" xmlns:a14="http://schemas.microsoft.com/office/drawing/2010/main">
        <mc:Choice Requires="a14">
          <p:sp>
            <p:nvSpPr>
              <p:cNvPr id="9" name="TextBox 8"/>
              <p:cNvSpPr txBox="1"/>
              <p:nvPr/>
            </p:nvSpPr>
            <p:spPr>
              <a:xfrm>
                <a:off x="4470400" y="3743404"/>
                <a:ext cx="1930400" cy="1569660"/>
              </a:xfrm>
              <a:prstGeom prst="rect">
                <a:avLst/>
              </a:prstGeom>
              <a:noFill/>
            </p:spPr>
            <p:txBody>
              <a:bodyPr wrap="square" rtlCol="0">
                <a:spAutoFit/>
              </a:bodyPr>
              <a:lstStyle/>
              <a:p>
                <a:pPr algn="ctr"/>
                <a:r>
                  <a:rPr lang="en-US" sz="3200" dirty="0"/>
                  <a:t>Estimated price</a:t>
                </a:r>
              </a:p>
              <a:p>
                <a:pPr algn="ctr"/>
                <a14:m>
                  <m:oMathPara xmlns:m="http://schemas.openxmlformats.org/officeDocument/2006/math">
                    <m:oMathParaPr>
                      <m:jc m:val="centerGroup"/>
                    </m:oMathParaPr>
                    <m:oMath xmlns:m="http://schemas.openxmlformats.org/officeDocument/2006/math">
                      <m:acc>
                        <m:accPr>
                          <m:chr m:val="̂"/>
                          <m:ctrlPr>
                            <a:rPr lang="en-US" sz="3200" i="1" dirty="0">
                              <a:solidFill>
                                <a:srgbClr val="FF0000"/>
                              </a:solidFill>
                              <a:latin typeface="Cambria Math" panose="02040503050406030204" pitchFamily="18" charset="0"/>
                            </a:rPr>
                          </m:ctrlPr>
                        </m:accPr>
                        <m:e>
                          <m:r>
                            <a:rPr lang="en-US" sz="3200" i="1" dirty="0">
                              <a:solidFill>
                                <a:srgbClr val="FF0000"/>
                              </a:solidFill>
                              <a:latin typeface="Cambria Math" panose="02040503050406030204" pitchFamily="18" charset="0"/>
                            </a:rPr>
                            <m:t>𝑦</m:t>
                          </m:r>
                        </m:e>
                      </m:acc>
                      <m:d>
                        <m:dPr>
                          <m:ctrlPr>
                            <a:rPr lang="en-US" sz="3200" i="1" dirty="0">
                              <a:solidFill>
                                <a:srgbClr val="FF0000"/>
                              </a:solidFill>
                              <a:latin typeface="Cambria Math" panose="02040503050406030204" pitchFamily="18" charset="0"/>
                            </a:rPr>
                          </m:ctrlPr>
                        </m:dPr>
                        <m:e>
                          <m:r>
                            <a:rPr lang="en-US" sz="3200" i="1" dirty="0">
                              <a:solidFill>
                                <a:srgbClr val="FF0000"/>
                              </a:solidFill>
                              <a:latin typeface="Cambria Math" panose="02040503050406030204" pitchFamily="18" charset="0"/>
                            </a:rPr>
                            <m:t>𝑥</m:t>
                          </m:r>
                        </m:e>
                      </m:d>
                    </m:oMath>
                  </m:oMathPara>
                </a14:m>
                <a:endParaRPr lang="en-US"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4470400" y="3743404"/>
                <a:ext cx="1930400" cy="1569660"/>
              </a:xfrm>
              <a:prstGeom prst="rect">
                <a:avLst/>
              </a:prstGeom>
              <a:blipFill>
                <a:blip r:embed="rId2"/>
                <a:stretch>
                  <a:fillRect l="-5363" t="-5039" r="-10095"/>
                </a:stretch>
              </a:blipFill>
            </p:spPr>
            <p:txBody>
              <a:bodyPr/>
              <a:lstStyle/>
              <a:p>
                <a:r>
                  <a:rPr lang="en-US">
                    <a:noFill/>
                  </a:rPr>
                  <a:t> </a:t>
                </a:r>
              </a:p>
            </p:txBody>
          </p:sp>
        </mc:Fallback>
      </mc:AlternateContent>
      <p:cxnSp>
        <p:nvCxnSpPr>
          <p:cNvPr id="12" name="Straight Arrow Connector 11"/>
          <p:cNvCxnSpPr>
            <a:stCxn id="5" idx="2"/>
            <a:endCxn id="6" idx="0"/>
          </p:cNvCxnSpPr>
          <p:nvPr/>
        </p:nvCxnSpPr>
        <p:spPr>
          <a:xfrm>
            <a:off x="3086459" y="1345448"/>
            <a:ext cx="0" cy="81280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2"/>
            <a:endCxn id="7" idx="0"/>
          </p:cNvCxnSpPr>
          <p:nvPr/>
        </p:nvCxnSpPr>
        <p:spPr>
          <a:xfrm>
            <a:off x="3086459" y="2940323"/>
            <a:ext cx="0" cy="843525"/>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a:off x="1524000" y="4174885"/>
            <a:ext cx="1054459"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7" idx="3"/>
          </p:cNvCxnSpPr>
          <p:nvPr/>
        </p:nvCxnSpPr>
        <p:spPr>
          <a:xfrm>
            <a:off x="3594459" y="4174885"/>
            <a:ext cx="977541"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010400" y="584201"/>
            <a:ext cx="4438010" cy="584775"/>
          </a:xfrm>
          <a:prstGeom prst="rect">
            <a:avLst/>
          </a:prstGeom>
          <a:noFill/>
        </p:spPr>
        <p:txBody>
          <a:bodyPr wrap="none" rtlCol="0">
            <a:spAutoFit/>
          </a:bodyPr>
          <a:lstStyle/>
          <a:p>
            <a:r>
              <a:rPr lang="en-US" sz="3200" b="1" dirty="0"/>
              <a:t>How do we represent </a:t>
            </a:r>
            <a:r>
              <a:rPr lang="en-US" sz="3200" b="1" i="1" dirty="0"/>
              <a:t>h</a:t>
            </a:r>
            <a:r>
              <a:rPr lang="en-US" sz="3200" b="1" dirty="0"/>
              <a:t> ?</a:t>
            </a:r>
          </a:p>
        </p:txBody>
      </p:sp>
      <p:sp>
        <p:nvSpPr>
          <p:cNvPr id="37" name="TextBox 36"/>
          <p:cNvSpPr txBox="1"/>
          <p:nvPr/>
        </p:nvSpPr>
        <p:spPr>
          <a:xfrm>
            <a:off x="6594863" y="5156201"/>
            <a:ext cx="5115952" cy="913199"/>
          </a:xfrm>
          <a:prstGeom prst="rect">
            <a:avLst/>
          </a:prstGeom>
          <a:noFill/>
        </p:spPr>
        <p:txBody>
          <a:bodyPr wrap="none" rtlCol="0">
            <a:spAutoFit/>
          </a:bodyPr>
          <a:lstStyle/>
          <a:p>
            <a:r>
              <a:rPr lang="en-US" sz="2667" dirty="0"/>
              <a:t>Linear regression with one variable.</a:t>
            </a:r>
          </a:p>
          <a:p>
            <a:r>
              <a:rPr lang="en-US" sz="2667" dirty="0"/>
              <a:t>Univariate linear regression.</a:t>
            </a:r>
          </a:p>
        </p:txBody>
      </p:sp>
      <p:pic>
        <p:nvPicPr>
          <p:cNvPr id="2" name="Picture 1"/>
          <p:cNvPicPr>
            <a:picLocks noChangeAspect="1"/>
          </p:cNvPicPr>
          <p:nvPr/>
        </p:nvPicPr>
        <p:blipFill>
          <a:blip r:embed="rId3"/>
          <a:stretch>
            <a:fillRect/>
          </a:stretch>
        </p:blipFill>
        <p:spPr>
          <a:xfrm>
            <a:off x="7919053" y="1289472"/>
            <a:ext cx="3646188" cy="813881"/>
          </a:xfrm>
          <a:prstGeom prst="rect">
            <a:avLst/>
          </a:prstGeom>
        </p:spPr>
      </p:pic>
      <p:pic>
        <p:nvPicPr>
          <p:cNvPr id="15" name="Picture 14">
            <a:extLst>
              <a:ext uri="{FF2B5EF4-FFF2-40B4-BE49-F238E27FC236}">
                <a16:creationId xmlns:a16="http://schemas.microsoft.com/office/drawing/2014/main" id="{3BA739B8-0CCF-4DE2-AED7-01F3AB319073}"/>
              </a:ext>
            </a:extLst>
          </p:cNvPr>
          <p:cNvPicPr>
            <a:picLocks noChangeAspect="1"/>
          </p:cNvPicPr>
          <p:nvPr/>
        </p:nvPicPr>
        <p:blipFill>
          <a:blip r:embed="rId4"/>
          <a:stretch>
            <a:fillRect/>
          </a:stretch>
        </p:blipFill>
        <p:spPr>
          <a:xfrm>
            <a:off x="10922000" y="6438901"/>
            <a:ext cx="1270000" cy="4191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670DAF-B061-DFAE-12CF-0500113EC21D}"/>
                  </a:ext>
                </a:extLst>
              </p:cNvPr>
              <p:cNvSpPr txBox="1"/>
              <p:nvPr/>
            </p:nvSpPr>
            <p:spPr>
              <a:xfrm>
                <a:off x="4363360" y="1357006"/>
                <a:ext cx="6106884"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3000" b="0" i="1" dirty="0" smtClean="0">
                              <a:solidFill>
                                <a:srgbClr val="FF0000"/>
                              </a:solidFill>
                              <a:latin typeface="Cambria Math" panose="02040503050406030204" pitchFamily="18" charset="0"/>
                            </a:rPr>
                          </m:ctrlPr>
                        </m:accPr>
                        <m:e>
                          <m:r>
                            <a:rPr lang="en-US" sz="3000" b="0" i="1" dirty="0" smtClean="0">
                              <a:solidFill>
                                <a:srgbClr val="FF0000"/>
                              </a:solidFill>
                              <a:latin typeface="Cambria Math" panose="02040503050406030204" pitchFamily="18" charset="0"/>
                            </a:rPr>
                            <m:t>𝑦</m:t>
                          </m:r>
                        </m:e>
                      </m:acc>
                      <m:d>
                        <m:dPr>
                          <m:ctrlPr>
                            <a:rPr lang="en-US" sz="3000" b="0" i="1" dirty="0" smtClean="0">
                              <a:solidFill>
                                <a:srgbClr val="FF0000"/>
                              </a:solidFill>
                              <a:latin typeface="Cambria Math" panose="02040503050406030204" pitchFamily="18" charset="0"/>
                            </a:rPr>
                          </m:ctrlPr>
                        </m:dPr>
                        <m:e>
                          <m:r>
                            <a:rPr lang="en-US" sz="3000" i="1" dirty="0" smtClean="0">
                              <a:solidFill>
                                <a:srgbClr val="FF0000"/>
                              </a:solidFill>
                              <a:latin typeface="Cambria Math" panose="02040503050406030204" pitchFamily="18" charset="0"/>
                            </a:rPr>
                            <m:t>𝑥</m:t>
                          </m:r>
                        </m:e>
                      </m:d>
                      <m:r>
                        <a:rPr lang="en-US" sz="3000" b="0" i="1" dirty="0" smtClean="0">
                          <a:solidFill>
                            <a:srgbClr val="FF0000"/>
                          </a:solidFill>
                          <a:latin typeface="Cambria Math" panose="02040503050406030204" pitchFamily="18" charset="0"/>
                        </a:rPr>
                        <m:t>=</m:t>
                      </m:r>
                    </m:oMath>
                  </m:oMathPara>
                </a14:m>
                <a:endParaRPr lang="en-US" sz="3000" dirty="0"/>
              </a:p>
            </p:txBody>
          </p:sp>
        </mc:Choice>
        <mc:Fallback xmlns="">
          <p:sp>
            <p:nvSpPr>
              <p:cNvPr id="10" name="TextBox 9">
                <a:extLst>
                  <a:ext uri="{FF2B5EF4-FFF2-40B4-BE49-F238E27FC236}">
                    <a16:creationId xmlns:a16="http://schemas.microsoft.com/office/drawing/2014/main" id="{18670DAF-B061-DFAE-12CF-0500113EC21D}"/>
                  </a:ext>
                </a:extLst>
              </p:cNvPr>
              <p:cNvSpPr txBox="1">
                <a:spLocks noRot="1" noChangeAspect="1" noMove="1" noResize="1" noEditPoints="1" noAdjustHandles="1" noChangeArrowheads="1" noChangeShapeType="1" noTextEdit="1"/>
              </p:cNvSpPr>
              <p:nvPr/>
            </p:nvSpPr>
            <p:spPr>
              <a:xfrm>
                <a:off x="4363360" y="1357006"/>
                <a:ext cx="6106884" cy="5539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0B4FC8E-08DE-68F3-F2BA-1769F7DB95D1}"/>
                  </a:ext>
                </a:extLst>
              </p:cNvPr>
              <p:cNvSpPr txBox="1"/>
              <p:nvPr/>
            </p:nvSpPr>
            <p:spPr>
              <a:xfrm>
                <a:off x="6594863" y="2197451"/>
                <a:ext cx="5597136" cy="2215991"/>
              </a:xfrm>
              <a:prstGeom prst="rect">
                <a:avLst/>
              </a:prstGeom>
              <a:noFill/>
            </p:spPr>
            <p:txBody>
              <a:bodyPr wrap="square">
                <a:spAutoFit/>
              </a:bodyPr>
              <a:lstStyle/>
              <a:p>
                <a14:m>
                  <m:oMath xmlns:m="http://schemas.openxmlformats.org/officeDocument/2006/math">
                    <m:sSub>
                      <m:sSubPr>
                        <m:ctrlPr>
                          <a:rPr lang="en-US" sz="2400" b="0" i="1" dirty="0" smtClean="0">
                            <a:solidFill>
                              <a:srgbClr val="FF0000"/>
                            </a:solidFill>
                            <a:latin typeface="Cambria Math" panose="02040503050406030204" pitchFamily="18" charset="0"/>
                          </a:rPr>
                        </m:ctrlPr>
                      </m:sSubPr>
                      <m:e>
                        <m:r>
                          <a:rPr lang="en-US" sz="2400" b="0" i="1" dirty="0" smtClean="0">
                            <a:solidFill>
                              <a:srgbClr val="FF0000"/>
                            </a:solidFill>
                            <a:latin typeface="Cambria Math" panose="02040503050406030204" pitchFamily="18" charset="0"/>
                            <a:ea typeface="Cambria Math" panose="02040503050406030204" pitchFamily="18" charset="0"/>
                          </a:rPr>
                          <m:t>𝜃</m:t>
                        </m:r>
                      </m:e>
                      <m:sub>
                        <m:r>
                          <a:rPr lang="en-US" sz="2400" b="0" i="1" dirty="0" smtClean="0">
                            <a:solidFill>
                              <a:srgbClr val="FF0000"/>
                            </a:solidFill>
                            <a:latin typeface="Cambria Math" panose="02040503050406030204" pitchFamily="18" charset="0"/>
                          </a:rPr>
                          <m:t>0</m:t>
                        </m:r>
                      </m:sub>
                    </m:sSub>
                  </m:oMath>
                </a14:m>
                <a:r>
                  <a:rPr lang="en-US" sz="2400" dirty="0"/>
                  <a:t> and </a:t>
                </a:r>
                <a14:m>
                  <m:oMath xmlns:m="http://schemas.openxmlformats.org/officeDocument/2006/math">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panose="02040503050406030204" pitchFamily="18" charset="0"/>
                            <a:ea typeface="Cambria Math" panose="02040503050406030204" pitchFamily="18" charset="0"/>
                          </a:rPr>
                          <m:t>𝜃</m:t>
                        </m:r>
                      </m:e>
                      <m:sub>
                        <m:r>
                          <a:rPr lang="en-US" sz="2400" b="0" i="1" dirty="0" smtClean="0">
                            <a:solidFill>
                              <a:srgbClr val="FF0000"/>
                            </a:solidFill>
                            <a:latin typeface="Cambria Math" panose="02040503050406030204" pitchFamily="18" charset="0"/>
                            <a:ea typeface="Cambria Math" panose="02040503050406030204" pitchFamily="18" charset="0"/>
                          </a:rPr>
                          <m:t>1</m:t>
                        </m:r>
                      </m:sub>
                    </m:sSub>
                  </m:oMath>
                </a14:m>
                <a:r>
                  <a:rPr lang="en-US" sz="2400" dirty="0"/>
                  <a:t>: </a:t>
                </a:r>
                <a:r>
                  <a:rPr lang="en-US" sz="2400" dirty="0">
                    <a:solidFill>
                      <a:srgbClr val="FF0000"/>
                    </a:solidFill>
                  </a:rPr>
                  <a:t>parameters/weights </a:t>
                </a:r>
                <a:r>
                  <a:rPr lang="en-US" sz="2400" dirty="0"/>
                  <a:t>that will be trained/determined by the ML model</a:t>
                </a:r>
              </a:p>
              <a:p>
                <a:r>
                  <a:rPr lang="en-US" sz="2400" dirty="0"/>
                  <a:t>Not hyperparameters</a:t>
                </a:r>
              </a:p>
              <a:p>
                <a14:m>
                  <m:oMath xmlns:m="http://schemas.openxmlformats.org/officeDocument/2006/math">
                    <m:sSub>
                      <m:sSubPr>
                        <m:ctrlPr>
                          <a:rPr lang="en-US" sz="2400" b="0" i="1" dirty="0" smtClean="0">
                            <a:solidFill>
                              <a:srgbClr val="FF0000"/>
                            </a:solidFill>
                            <a:latin typeface="Cambria Math" panose="02040503050406030204" pitchFamily="18" charset="0"/>
                          </a:rPr>
                        </m:ctrlPr>
                      </m:sSubPr>
                      <m:e>
                        <m:r>
                          <a:rPr lang="en-US" sz="2400" b="0" i="1" dirty="0" smtClean="0">
                            <a:solidFill>
                              <a:srgbClr val="FF0000"/>
                            </a:solidFill>
                            <a:latin typeface="Cambria Math" panose="02040503050406030204" pitchFamily="18" charset="0"/>
                            <a:ea typeface="Cambria Math" panose="02040503050406030204" pitchFamily="18" charset="0"/>
                          </a:rPr>
                          <m:t>𝜃</m:t>
                        </m:r>
                      </m:e>
                      <m:sub>
                        <m:r>
                          <a:rPr lang="en-US" sz="2400" b="0" i="1" dirty="0" smtClean="0">
                            <a:solidFill>
                              <a:srgbClr val="FF0000"/>
                            </a:solidFill>
                            <a:latin typeface="Cambria Math" panose="02040503050406030204" pitchFamily="18" charset="0"/>
                          </a:rPr>
                          <m:t>0</m:t>
                        </m:r>
                      </m:sub>
                    </m:sSub>
                  </m:oMath>
                </a14:m>
                <a:r>
                  <a:rPr lang="en-US" sz="2400" dirty="0"/>
                  <a:t> = intercept/bias/constant</a:t>
                </a:r>
              </a:p>
              <a:p>
                <a14:m>
                  <m:oMath xmlns:m="http://schemas.openxmlformats.org/officeDocument/2006/math">
                    <m:sSub>
                      <m:sSubPr>
                        <m:ctrlPr>
                          <a:rPr lang="en-US" sz="2400" i="1" dirty="0" smtClean="0">
                            <a:solidFill>
                              <a:srgbClr val="FF0000"/>
                            </a:solidFill>
                            <a:latin typeface="Cambria Math" panose="02040503050406030204" pitchFamily="18" charset="0"/>
                          </a:rPr>
                        </m:ctrlPr>
                      </m:sSubPr>
                      <m:e>
                        <m:r>
                          <a:rPr lang="en-US" sz="2400" i="1" dirty="0">
                            <a:solidFill>
                              <a:srgbClr val="FF0000"/>
                            </a:solidFill>
                            <a:latin typeface="Cambria Math" panose="02040503050406030204" pitchFamily="18" charset="0"/>
                            <a:ea typeface="Cambria Math" panose="02040503050406030204" pitchFamily="18" charset="0"/>
                          </a:rPr>
                          <m:t>𝜃</m:t>
                        </m:r>
                      </m:e>
                      <m:sub>
                        <m:r>
                          <a:rPr lang="en-US" sz="2400" b="0" i="1" dirty="0" smtClean="0">
                            <a:solidFill>
                              <a:srgbClr val="FF0000"/>
                            </a:solidFill>
                            <a:latin typeface="Cambria Math" panose="02040503050406030204" pitchFamily="18" charset="0"/>
                            <a:ea typeface="Cambria Math" panose="02040503050406030204" pitchFamily="18" charset="0"/>
                          </a:rPr>
                          <m:t>1</m:t>
                        </m:r>
                      </m:sub>
                    </m:sSub>
                  </m:oMath>
                </a14:m>
                <a:r>
                  <a:rPr lang="en-US" sz="2400" dirty="0"/>
                  <a:t>= slope/coefficient/gradient</a:t>
                </a:r>
              </a:p>
              <a:p>
                <a:endParaRPr lang="en-US" dirty="0"/>
              </a:p>
            </p:txBody>
          </p:sp>
        </mc:Choice>
        <mc:Fallback xmlns="">
          <p:sp>
            <p:nvSpPr>
              <p:cNvPr id="14" name="TextBox 13">
                <a:extLst>
                  <a:ext uri="{FF2B5EF4-FFF2-40B4-BE49-F238E27FC236}">
                    <a16:creationId xmlns:a16="http://schemas.microsoft.com/office/drawing/2014/main" id="{E0B4FC8E-08DE-68F3-F2BA-1769F7DB95D1}"/>
                  </a:ext>
                </a:extLst>
              </p:cNvPr>
              <p:cNvSpPr txBox="1">
                <a:spLocks noRot="1" noChangeAspect="1" noMove="1" noResize="1" noEditPoints="1" noAdjustHandles="1" noChangeArrowheads="1" noChangeShapeType="1" noTextEdit="1"/>
              </p:cNvSpPr>
              <p:nvPr/>
            </p:nvSpPr>
            <p:spPr>
              <a:xfrm>
                <a:off x="6594863" y="2197451"/>
                <a:ext cx="5597136" cy="2215991"/>
              </a:xfrm>
              <a:prstGeom prst="rect">
                <a:avLst/>
              </a:prstGeom>
              <a:blipFill>
                <a:blip r:embed="rId6"/>
                <a:stretch>
                  <a:fillRect l="-1743" t="-2198" r="-763"/>
                </a:stretch>
              </a:blipFill>
            </p:spPr>
            <p:txBody>
              <a:bodyPr/>
              <a:lstStyle/>
              <a:p>
                <a:r>
                  <a:rPr lang="en-US">
                    <a:noFill/>
                  </a:rPr>
                  <a:t> </a:t>
                </a:r>
              </a:p>
            </p:txBody>
          </p:sp>
        </mc:Fallback>
      </mc:AlternateContent>
    </p:spTree>
    <p:extLst>
      <p:ext uri="{BB962C8B-B14F-4D97-AF65-F5344CB8AC3E}">
        <p14:creationId xmlns:p14="http://schemas.microsoft.com/office/powerpoint/2010/main" val="376092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36"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508000" y="1092200"/>
            <a:ext cx="11074400" cy="19304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2933" dirty="0">
                <a:solidFill>
                  <a:schemeClr val="tx1">
                    <a:lumMod val="75000"/>
                    <a:lumOff val="25000"/>
                  </a:schemeClr>
                </a:solidFill>
                <a:latin typeface="Times New Roman" panose="02020603050405020304" pitchFamily="18" charset="0"/>
                <a:cs typeface="Times New Roman" panose="02020603050405020304" pitchFamily="18" charset="0"/>
              </a:rPr>
              <a:t>That formula might look scary, but if you think about it it's nothing fancier than the traditional equation of a line, except that we use θ0 and θ1 instead of m and q. Do you remember?</a:t>
            </a:r>
          </a:p>
        </p:txBody>
      </p:sp>
      <p:pic>
        <p:nvPicPr>
          <p:cNvPr id="4" name="Picture 3"/>
          <p:cNvPicPr>
            <a:picLocks noChangeAspect="1"/>
          </p:cNvPicPr>
          <p:nvPr/>
        </p:nvPicPr>
        <p:blipFill>
          <a:blip r:embed="rId2"/>
          <a:stretch>
            <a:fillRect/>
          </a:stretch>
        </p:blipFill>
        <p:spPr>
          <a:xfrm>
            <a:off x="4064001" y="381001"/>
            <a:ext cx="3646188" cy="813881"/>
          </a:xfrm>
          <a:prstGeom prst="rect">
            <a:avLst/>
          </a:prstGeom>
        </p:spPr>
      </p:pic>
      <p:sp>
        <p:nvSpPr>
          <p:cNvPr id="5" name="Title 1"/>
          <p:cNvSpPr txBox="1">
            <a:spLocks/>
          </p:cNvSpPr>
          <p:nvPr/>
        </p:nvSpPr>
        <p:spPr>
          <a:xfrm>
            <a:off x="2844800" y="3022600"/>
            <a:ext cx="5486400" cy="8128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3200" dirty="0"/>
              <a:t>f(x)=</a:t>
            </a:r>
            <a:r>
              <a:rPr lang="en-US" sz="3200" dirty="0" err="1"/>
              <a:t>q+mx</a:t>
            </a:r>
            <a:br>
              <a:rPr lang="en-US" sz="3200" dirty="0"/>
            </a:br>
            <a:endParaRPr lang="en-US" sz="2933"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 name="Title 1"/>
          <p:cNvSpPr txBox="1">
            <a:spLocks/>
          </p:cNvSpPr>
          <p:nvPr/>
        </p:nvSpPr>
        <p:spPr>
          <a:xfrm>
            <a:off x="609600" y="3733800"/>
            <a:ext cx="11074400" cy="19304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2933" dirty="0">
                <a:solidFill>
                  <a:schemeClr val="tx1">
                    <a:lumMod val="75000"/>
                    <a:lumOff val="25000"/>
                  </a:schemeClr>
                </a:solidFill>
                <a:latin typeface="Times New Roman" panose="02020603050405020304" pitchFamily="18" charset="0"/>
                <a:cs typeface="Times New Roman" panose="02020603050405020304" pitchFamily="18" charset="0"/>
              </a:rPr>
              <a:t>In our humble hypothesis function there is only </a:t>
            </a:r>
            <a:r>
              <a:rPr lang="en-US" sz="2933" b="1" dirty="0">
                <a:solidFill>
                  <a:schemeClr val="tx1">
                    <a:lumMod val="75000"/>
                    <a:lumOff val="25000"/>
                  </a:schemeClr>
                </a:solidFill>
                <a:latin typeface="Times New Roman" panose="02020603050405020304" pitchFamily="18" charset="0"/>
                <a:cs typeface="Times New Roman" panose="02020603050405020304" pitchFamily="18" charset="0"/>
              </a:rPr>
              <a:t>one variable</a:t>
            </a:r>
            <a:r>
              <a:rPr lang="en-US" sz="2933" dirty="0">
                <a:solidFill>
                  <a:schemeClr val="tx1">
                    <a:lumMod val="75000"/>
                    <a:lumOff val="25000"/>
                  </a:schemeClr>
                </a:solidFill>
                <a:latin typeface="Times New Roman" panose="02020603050405020304" pitchFamily="18" charset="0"/>
                <a:cs typeface="Times New Roman" panose="02020603050405020304" pitchFamily="18" charset="0"/>
              </a:rPr>
              <a:t>, that is x. For this reason our task is often called </a:t>
            </a:r>
            <a:r>
              <a:rPr lang="en-US" sz="2933" b="1" dirty="0">
                <a:solidFill>
                  <a:srgbClr val="FF0000"/>
                </a:solidFill>
                <a:latin typeface="Times New Roman" panose="02020603050405020304" pitchFamily="18" charset="0"/>
                <a:cs typeface="Times New Roman" panose="02020603050405020304" pitchFamily="18" charset="0"/>
              </a:rPr>
              <a:t>linear regression with one variable</a:t>
            </a:r>
            <a:r>
              <a:rPr lang="en-US" sz="2933" dirty="0">
                <a:solidFill>
                  <a:schemeClr val="tx1">
                    <a:lumMod val="75000"/>
                    <a:lumOff val="25000"/>
                  </a:schemeClr>
                </a:solidFill>
                <a:latin typeface="Times New Roman" panose="02020603050405020304" pitchFamily="18" charset="0"/>
                <a:cs typeface="Times New Roman" panose="02020603050405020304" pitchFamily="18" charset="0"/>
              </a:rPr>
              <a:t>. Experts call it also </a:t>
            </a:r>
            <a:r>
              <a:rPr lang="en-US" sz="2933" b="1" dirty="0">
                <a:solidFill>
                  <a:srgbClr val="FF0000"/>
                </a:solidFill>
                <a:latin typeface="Times New Roman" panose="02020603050405020304" pitchFamily="18" charset="0"/>
                <a:cs typeface="Times New Roman" panose="02020603050405020304" pitchFamily="18" charset="0"/>
              </a:rPr>
              <a:t>univariate linear regression</a:t>
            </a:r>
            <a:r>
              <a:rPr lang="en-US" sz="2933" dirty="0">
                <a:solidFill>
                  <a:schemeClr val="tx1">
                    <a:lumMod val="75000"/>
                    <a:lumOff val="25000"/>
                  </a:schemeClr>
                </a:solidFill>
                <a:latin typeface="Times New Roman" panose="02020603050405020304" pitchFamily="18" charset="0"/>
                <a:cs typeface="Times New Roman" panose="02020603050405020304" pitchFamily="18" charset="0"/>
              </a:rPr>
              <a:t>, where univariate means "</a:t>
            </a:r>
            <a:r>
              <a:rPr lang="en-US" sz="2933" b="1" dirty="0">
                <a:solidFill>
                  <a:schemeClr val="tx1">
                    <a:lumMod val="75000"/>
                    <a:lumOff val="25000"/>
                  </a:schemeClr>
                </a:solidFill>
                <a:latin typeface="Times New Roman" panose="02020603050405020304" pitchFamily="18" charset="0"/>
                <a:cs typeface="Times New Roman" panose="02020603050405020304" pitchFamily="18" charset="0"/>
              </a:rPr>
              <a:t>one variable</a:t>
            </a:r>
            <a:r>
              <a:rPr lang="en-US" sz="2933" dirty="0">
                <a:solidFill>
                  <a:schemeClr val="tx1">
                    <a:lumMod val="75000"/>
                    <a:lumOff val="25000"/>
                  </a:schemeClr>
                </a:solidFill>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12F3CCBA-7645-4461-86D4-627903213A81}"/>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56689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413000"/>
            <a:ext cx="12192000" cy="3375026"/>
          </a:xfrm>
          <a:prstGeom prst="rect">
            <a:avLst/>
          </a:prstGeom>
          <a:noFill/>
        </p:spPr>
        <p:txBody>
          <a:bodyPr wrap="square" rtlCol="0">
            <a:spAutoFit/>
          </a:bodyPr>
          <a:lstStyle/>
          <a:p>
            <a:r>
              <a:rPr lang="en-US" sz="5333" dirty="0"/>
              <a:t>A cost function lets us figure out how to </a:t>
            </a:r>
            <a:r>
              <a:rPr lang="en-US" sz="5333" dirty="0">
                <a:solidFill>
                  <a:srgbClr val="FF0000"/>
                </a:solidFill>
              </a:rPr>
              <a:t>fit the best straight line </a:t>
            </a:r>
            <a:r>
              <a:rPr lang="en-US" sz="5333" dirty="0"/>
              <a:t>to our data.</a:t>
            </a:r>
          </a:p>
          <a:p>
            <a:r>
              <a:rPr lang="en-US" sz="5333" dirty="0"/>
              <a:t>Objective: Find the best fit regression line</a:t>
            </a:r>
          </a:p>
          <a:p>
            <a:r>
              <a:rPr lang="en-US" sz="5333" dirty="0"/>
              <a:t>Reduce the cost function</a:t>
            </a:r>
          </a:p>
        </p:txBody>
      </p:sp>
      <p:pic>
        <p:nvPicPr>
          <p:cNvPr id="3" name="Picture 2">
            <a:extLst>
              <a:ext uri="{FF2B5EF4-FFF2-40B4-BE49-F238E27FC236}">
                <a16:creationId xmlns:a16="http://schemas.microsoft.com/office/drawing/2014/main" id="{10AC86B9-E07F-497C-BDD7-F1161F4C7F88}"/>
              </a:ext>
            </a:extLst>
          </p:cNvPr>
          <p:cNvPicPr>
            <a:picLocks noChangeAspect="1"/>
          </p:cNvPicPr>
          <p:nvPr/>
        </p:nvPicPr>
        <p:blipFill>
          <a:blip r:embed="rId2"/>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2989199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422400" y="5595700"/>
            <a:ext cx="4831002" cy="748988"/>
          </a:xfrm>
          <a:prstGeom prst="rect">
            <a:avLst/>
          </a:prstGeom>
          <a:noFill/>
        </p:spPr>
        <p:txBody>
          <a:bodyPr wrap="none" rtlCol="0">
            <a:spAutoFit/>
          </a:bodyPr>
          <a:lstStyle/>
          <a:p>
            <a:r>
              <a:rPr lang="en-US" sz="4267" dirty="0"/>
              <a:t>How to choose     ‘s ?</a:t>
            </a:r>
          </a:p>
        </p:txBody>
      </p:sp>
      <p:sp>
        <p:nvSpPr>
          <p:cNvPr id="2" name="TextBox 1"/>
          <p:cNvSpPr txBox="1"/>
          <p:nvPr/>
        </p:nvSpPr>
        <p:spPr>
          <a:xfrm>
            <a:off x="578886" y="332026"/>
            <a:ext cx="3094500" cy="830997"/>
          </a:xfrm>
          <a:prstGeom prst="rect">
            <a:avLst/>
          </a:prstGeom>
          <a:noFill/>
        </p:spPr>
        <p:txBody>
          <a:bodyPr wrap="none" rtlCol="0">
            <a:spAutoFit/>
          </a:bodyPr>
          <a:lstStyle/>
          <a:p>
            <a:pPr algn="ctr"/>
            <a:r>
              <a:rPr lang="en-US" sz="4800" dirty="0"/>
              <a:t>Training Set</a:t>
            </a:r>
          </a:p>
        </p:txBody>
      </p:sp>
      <p:pic>
        <p:nvPicPr>
          <p:cNvPr id="8" name="Picture 7"/>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726826" y="4038600"/>
            <a:ext cx="4502775" cy="626555"/>
          </a:xfrm>
          <a:prstGeom prst="rect">
            <a:avLst/>
          </a:prstGeom>
        </p:spPr>
      </p:pic>
      <p:pic>
        <p:nvPicPr>
          <p:cNvPr id="9" name="Picture 8"/>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569721" y="4821685"/>
            <a:ext cx="420820" cy="537715"/>
          </a:xfrm>
          <a:prstGeom prst="rect">
            <a:avLst/>
          </a:prstGeom>
        </p:spPr>
      </p:pic>
      <p:sp>
        <p:nvSpPr>
          <p:cNvPr id="10" name="TextBox 9"/>
          <p:cNvSpPr txBox="1"/>
          <p:nvPr/>
        </p:nvSpPr>
        <p:spPr>
          <a:xfrm>
            <a:off x="609600" y="3924155"/>
            <a:ext cx="2792752" cy="748988"/>
          </a:xfrm>
          <a:prstGeom prst="rect">
            <a:avLst/>
          </a:prstGeom>
          <a:noFill/>
        </p:spPr>
        <p:txBody>
          <a:bodyPr wrap="none" rtlCol="0">
            <a:spAutoFit/>
          </a:bodyPr>
          <a:lstStyle/>
          <a:p>
            <a:r>
              <a:rPr lang="en-US" sz="4267" dirty="0"/>
              <a:t>Hypothesis:</a:t>
            </a:r>
          </a:p>
        </p:txBody>
      </p:sp>
      <p:sp>
        <p:nvSpPr>
          <p:cNvPr id="11" name="TextBox 10"/>
          <p:cNvSpPr txBox="1"/>
          <p:nvPr/>
        </p:nvSpPr>
        <p:spPr>
          <a:xfrm>
            <a:off x="1907261" y="4775183"/>
            <a:ext cx="5951950" cy="748988"/>
          </a:xfrm>
          <a:prstGeom prst="rect">
            <a:avLst/>
          </a:prstGeom>
          <a:noFill/>
        </p:spPr>
        <p:txBody>
          <a:bodyPr wrap="none" rtlCol="0">
            <a:spAutoFit/>
          </a:bodyPr>
          <a:lstStyle/>
          <a:p>
            <a:r>
              <a:rPr lang="en-US" sz="4267" dirty="0"/>
              <a:t>‘s:      Parameters/Weights</a:t>
            </a:r>
          </a:p>
        </p:txBody>
      </p:sp>
      <p:pic>
        <p:nvPicPr>
          <p:cNvPr id="13" name="Picture 12"/>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5049521" y="5736085"/>
            <a:ext cx="420820" cy="537715"/>
          </a:xfrm>
          <a:prstGeom prst="rect">
            <a:avLst/>
          </a:prstGeom>
        </p:spPr>
      </p:pic>
      <p:graphicFrame>
        <p:nvGraphicFramePr>
          <p:cNvPr id="14" name="Table 13"/>
          <p:cNvGraphicFramePr>
            <a:graphicFrameLocks noGrp="1"/>
          </p:cNvGraphicFramePr>
          <p:nvPr/>
        </p:nvGraphicFramePr>
        <p:xfrm>
          <a:off x="4368800" y="279400"/>
          <a:ext cx="7112000" cy="3098800"/>
        </p:xfrm>
        <a:graphic>
          <a:graphicData uri="http://schemas.openxmlformats.org/drawingml/2006/table">
            <a:tbl>
              <a:tblPr>
                <a:tableStyleId>{2D5ABB26-0587-4C30-8999-92F81FD0307C}</a:tableStyleId>
              </a:tblPr>
              <a:tblGrid>
                <a:gridCol w="3188137">
                  <a:extLst>
                    <a:ext uri="{9D8B030D-6E8A-4147-A177-3AD203B41FA5}">
                      <a16:colId xmlns:a16="http://schemas.microsoft.com/office/drawing/2014/main" val="20000"/>
                    </a:ext>
                  </a:extLst>
                </a:gridCol>
                <a:gridCol w="3923863">
                  <a:extLst>
                    <a:ext uri="{9D8B030D-6E8A-4147-A177-3AD203B41FA5}">
                      <a16:colId xmlns:a16="http://schemas.microsoft.com/office/drawing/2014/main" val="20001"/>
                    </a:ext>
                  </a:extLst>
                </a:gridCol>
              </a:tblGrid>
              <a:tr h="609600">
                <a:tc>
                  <a:txBody>
                    <a:bodyPr/>
                    <a:lstStyle/>
                    <a:p>
                      <a:pPr algn="ctr" fontAlgn="b"/>
                      <a:r>
                        <a:rPr lang="en-US" sz="3200" b="1" u="none" strike="noStrike" dirty="0">
                          <a:effectLst/>
                        </a:rPr>
                        <a:t>Size in</a:t>
                      </a:r>
                      <a:r>
                        <a:rPr lang="en-US" sz="3200" b="1" u="none" strike="noStrike" baseline="0" dirty="0">
                          <a:effectLst/>
                        </a:rPr>
                        <a:t> </a:t>
                      </a:r>
                      <a:r>
                        <a:rPr lang="en-US" sz="3200" b="1" u="none" strike="noStrike" dirty="0">
                          <a:effectLst/>
                        </a:rPr>
                        <a:t>feet</a:t>
                      </a:r>
                      <a:r>
                        <a:rPr lang="en-US" sz="3200" b="1" u="none" strike="noStrike" baseline="30000" dirty="0">
                          <a:effectLst/>
                        </a:rPr>
                        <a:t>2</a:t>
                      </a:r>
                      <a:r>
                        <a:rPr lang="en-US" sz="3200" b="1" u="none" strike="noStrike" dirty="0">
                          <a:effectLst/>
                        </a:rPr>
                        <a:t> (</a:t>
                      </a:r>
                      <a:r>
                        <a:rPr lang="en-US" sz="3200" b="0" u="none" strike="noStrike" dirty="0">
                          <a:effectLst/>
                        </a:rPr>
                        <a:t>x</a:t>
                      </a:r>
                      <a:r>
                        <a:rPr lang="en-US" sz="3200" b="1" u="none" strike="noStrike" dirty="0">
                          <a:effectLst/>
                        </a:rPr>
                        <a:t>)</a:t>
                      </a:r>
                      <a:endParaRPr lang="en-US" sz="3200" b="1" i="0" u="none" strike="noStrike" dirty="0">
                        <a:solidFill>
                          <a:srgbClr val="000000"/>
                        </a:solidFill>
                        <a:effectLst/>
                        <a:latin typeface="Calibri"/>
                      </a:endParaRPr>
                    </a:p>
                  </a:txBody>
                  <a:tcPr marL="10160" marR="10160" marT="1016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3200" b="1" u="none" strike="noStrike" dirty="0">
                          <a:effectLst/>
                        </a:rPr>
                        <a:t>Price ($) in 1000's (</a:t>
                      </a:r>
                      <a:r>
                        <a:rPr lang="en-US" sz="3200" b="0" u="none" strike="noStrike" dirty="0">
                          <a:effectLst/>
                        </a:rPr>
                        <a:t>y</a:t>
                      </a:r>
                      <a:r>
                        <a:rPr lang="en-US" sz="3200" b="1" u="none" strike="noStrike" dirty="0">
                          <a:effectLst/>
                        </a:rPr>
                        <a:t>)</a:t>
                      </a:r>
                      <a:endParaRPr lang="en-US" sz="3200" b="1" i="0" u="none" strike="noStrike" dirty="0">
                        <a:solidFill>
                          <a:srgbClr val="000000"/>
                        </a:solidFill>
                        <a:effectLst/>
                        <a:latin typeface="Calibri"/>
                      </a:endParaRPr>
                    </a:p>
                  </a:txBody>
                  <a:tcPr marL="10160" marR="10160" marT="1016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7840">
                <a:tc>
                  <a:txBody>
                    <a:bodyPr/>
                    <a:lstStyle/>
                    <a:p>
                      <a:pPr algn="ctr" fontAlgn="b"/>
                      <a:r>
                        <a:rPr lang="en-US" sz="3200" u="none" strike="noStrike" dirty="0">
                          <a:effectLst/>
                        </a:rPr>
                        <a:t>2104</a:t>
                      </a:r>
                      <a:endParaRPr lang="en-US" sz="32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3200" b="0" i="0" u="none" strike="noStrike" dirty="0">
                          <a:solidFill>
                            <a:schemeClr val="tx1"/>
                          </a:solidFill>
                          <a:effectLst/>
                          <a:latin typeface="+mn-lt"/>
                        </a:rPr>
                        <a:t>460</a:t>
                      </a:r>
                      <a:endParaRPr lang="en-US" sz="32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97840">
                <a:tc>
                  <a:txBody>
                    <a:bodyPr/>
                    <a:lstStyle/>
                    <a:p>
                      <a:pPr algn="ctr" fontAlgn="b"/>
                      <a:r>
                        <a:rPr lang="en-US" sz="3200" u="none" strike="noStrike" dirty="0">
                          <a:effectLst/>
                        </a:rPr>
                        <a:t>1416</a:t>
                      </a:r>
                      <a:endParaRPr lang="en-US" sz="32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tcPr>
                </a:tc>
                <a:tc>
                  <a:txBody>
                    <a:bodyPr/>
                    <a:lstStyle/>
                    <a:p>
                      <a:pPr algn="ctr" fontAlgn="b"/>
                      <a:r>
                        <a:rPr lang="en-US" sz="3200" u="none" strike="noStrike" dirty="0">
                          <a:effectLst/>
                        </a:rPr>
                        <a:t>232</a:t>
                      </a:r>
                      <a:endParaRPr lang="en-US" sz="32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97840">
                <a:tc>
                  <a:txBody>
                    <a:bodyPr/>
                    <a:lstStyle/>
                    <a:p>
                      <a:pPr algn="ctr" fontAlgn="b"/>
                      <a:r>
                        <a:rPr lang="en-US" sz="3200" u="none" strike="noStrike" dirty="0">
                          <a:effectLst/>
                        </a:rPr>
                        <a:t>1534</a:t>
                      </a:r>
                      <a:endParaRPr lang="en-US" sz="32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tcPr>
                </a:tc>
                <a:tc>
                  <a:txBody>
                    <a:bodyPr/>
                    <a:lstStyle/>
                    <a:p>
                      <a:pPr algn="ctr" fontAlgn="b"/>
                      <a:r>
                        <a:rPr lang="en-US" sz="3200" u="none" strike="noStrike" dirty="0">
                          <a:effectLst/>
                        </a:rPr>
                        <a:t>315</a:t>
                      </a:r>
                      <a:endParaRPr lang="en-US" sz="32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497840">
                <a:tc>
                  <a:txBody>
                    <a:bodyPr/>
                    <a:lstStyle/>
                    <a:p>
                      <a:pPr algn="ctr" fontAlgn="b"/>
                      <a:r>
                        <a:rPr lang="en-US" sz="3200" u="none" strike="noStrike" dirty="0">
                          <a:effectLst/>
                        </a:rPr>
                        <a:t>852</a:t>
                      </a:r>
                      <a:endParaRPr lang="en-US" sz="32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tcPr>
                </a:tc>
                <a:tc>
                  <a:txBody>
                    <a:bodyPr/>
                    <a:lstStyle/>
                    <a:p>
                      <a:pPr algn="ctr" fontAlgn="b"/>
                      <a:r>
                        <a:rPr lang="en-US" sz="3200" u="none" strike="noStrike" dirty="0">
                          <a:effectLst/>
                        </a:rPr>
                        <a:t>178</a:t>
                      </a:r>
                      <a:endParaRPr lang="en-US" sz="32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497840">
                <a:tc>
                  <a:txBody>
                    <a:bodyPr/>
                    <a:lstStyle/>
                    <a:p>
                      <a:pPr algn="ctr" fontAlgn="b"/>
                      <a:r>
                        <a:rPr lang="en-US" sz="3200" u="none" strike="noStrike" dirty="0">
                          <a:effectLst/>
                        </a:rPr>
                        <a:t>…</a:t>
                      </a:r>
                      <a:endParaRPr lang="en-US" sz="32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tcPr>
                </a:tc>
                <a:tc>
                  <a:txBody>
                    <a:bodyPr/>
                    <a:lstStyle/>
                    <a:p>
                      <a:pPr algn="ctr" fontAlgn="b"/>
                      <a:r>
                        <a:rPr lang="en-US" sz="3200" u="none" strike="noStrike" dirty="0">
                          <a:effectLst/>
                        </a:rPr>
                        <a:t>…</a:t>
                      </a:r>
                      <a:endParaRPr lang="en-US" sz="32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pic>
        <p:nvPicPr>
          <p:cNvPr id="15" name="Picture 14">
            <a:extLst>
              <a:ext uri="{FF2B5EF4-FFF2-40B4-BE49-F238E27FC236}">
                <a16:creationId xmlns:a16="http://schemas.microsoft.com/office/drawing/2014/main" id="{F474CEF8-9B18-400E-8193-D65D4AD7071A}"/>
              </a:ext>
            </a:extLst>
          </p:cNvPr>
          <p:cNvPicPr>
            <a:picLocks noChangeAspect="1"/>
          </p:cNvPicPr>
          <p:nvPr/>
        </p:nvPicPr>
        <p:blipFill>
          <a:blip r:embed="rId7"/>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266518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812800" y="683768"/>
            <a:ext cx="2935224" cy="408432"/>
          </a:xfrm>
          <a:prstGeom prst="rect">
            <a:avLst/>
          </a:prstGeom>
        </p:spPr>
      </p:pic>
      <p:graphicFrame>
        <p:nvGraphicFramePr>
          <p:cNvPr id="7" name="Chart 6"/>
          <p:cNvGraphicFramePr>
            <a:graphicFrameLocks/>
          </p:cNvGraphicFramePr>
          <p:nvPr/>
        </p:nvGraphicFramePr>
        <p:xfrm>
          <a:off x="287075" y="1408684"/>
          <a:ext cx="3776925" cy="3200400"/>
        </p:xfrm>
        <a:graphic>
          <a:graphicData uri="http://schemas.openxmlformats.org/drawingml/2006/chart">
            <c:chart xmlns:c="http://schemas.openxmlformats.org/drawingml/2006/chart" xmlns:r="http://schemas.openxmlformats.org/officeDocument/2006/relationships" r:id="rId7"/>
          </a:graphicData>
        </a:graphic>
      </p:graphicFrame>
      <p:pic>
        <p:nvPicPr>
          <p:cNvPr id="14" name="Picture 13"/>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727200" y="4727448"/>
            <a:ext cx="1392936" cy="835152"/>
          </a:xfrm>
          <a:prstGeom prst="rect">
            <a:avLst/>
          </a:prstGeom>
        </p:spPr>
      </p:pic>
      <p:pic>
        <p:nvPicPr>
          <p:cNvPr id="17" name="Picture 16"/>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689600" y="4727448"/>
            <a:ext cx="1392936" cy="835152"/>
          </a:xfrm>
          <a:prstGeom prst="rect">
            <a:avLst/>
          </a:prstGeom>
        </p:spPr>
      </p:pic>
      <p:pic>
        <p:nvPicPr>
          <p:cNvPr id="18" name="Picture 17"/>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9550400" y="4727448"/>
            <a:ext cx="1392936" cy="835152"/>
          </a:xfrm>
          <a:prstGeom prst="rect">
            <a:avLst/>
          </a:prstGeom>
        </p:spPr>
      </p:pic>
      <p:graphicFrame>
        <p:nvGraphicFramePr>
          <p:cNvPr id="10" name="Chart 9"/>
          <p:cNvGraphicFramePr>
            <a:graphicFrameLocks/>
          </p:cNvGraphicFramePr>
          <p:nvPr/>
        </p:nvGraphicFramePr>
        <p:xfrm>
          <a:off x="4322740" y="1408684"/>
          <a:ext cx="3776925" cy="32004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1" name="Chart 10"/>
          <p:cNvGraphicFramePr>
            <a:graphicFrameLocks/>
          </p:cNvGraphicFramePr>
          <p:nvPr/>
        </p:nvGraphicFramePr>
        <p:xfrm>
          <a:off x="8358406" y="1408684"/>
          <a:ext cx="3776925" cy="3200400"/>
        </p:xfrm>
        <a:graphic>
          <a:graphicData uri="http://schemas.openxmlformats.org/drawingml/2006/chart">
            <c:chart xmlns:c="http://schemas.openxmlformats.org/drawingml/2006/chart" xmlns:r="http://schemas.openxmlformats.org/officeDocument/2006/relationships" r:id="rId12"/>
          </a:graphicData>
        </a:graphic>
      </p:graphicFrame>
      <p:pic>
        <p:nvPicPr>
          <p:cNvPr id="9" name="Picture 8">
            <a:extLst>
              <a:ext uri="{FF2B5EF4-FFF2-40B4-BE49-F238E27FC236}">
                <a16:creationId xmlns:a16="http://schemas.microsoft.com/office/drawing/2014/main" id="{DABC00E2-2C4A-40EC-9064-A2ADE134B636}"/>
              </a:ext>
            </a:extLst>
          </p:cNvPr>
          <p:cNvPicPr>
            <a:picLocks noChangeAspect="1"/>
          </p:cNvPicPr>
          <p:nvPr/>
        </p:nvPicPr>
        <p:blipFill>
          <a:blip r:embed="rId13"/>
          <a:stretch>
            <a:fillRect/>
          </a:stretch>
        </p:blipFill>
        <p:spPr>
          <a:xfrm>
            <a:off x="10922000" y="6438901"/>
            <a:ext cx="1270000" cy="419100"/>
          </a:xfrm>
          <a:prstGeom prst="rect">
            <a:avLst/>
          </a:prstGeom>
        </p:spPr>
      </p:pic>
      <p:pic>
        <p:nvPicPr>
          <p:cNvPr id="3" name="Picture 2">
            <a:extLst>
              <a:ext uri="{FF2B5EF4-FFF2-40B4-BE49-F238E27FC236}">
                <a16:creationId xmlns:a16="http://schemas.microsoft.com/office/drawing/2014/main" id="{AFD05959-69A7-4142-AFA0-F9C70301AF37}"/>
              </a:ext>
            </a:extLst>
          </p:cNvPr>
          <p:cNvPicPr>
            <a:picLocks noChangeAspect="1"/>
          </p:cNvPicPr>
          <p:nvPr/>
        </p:nvPicPr>
        <p:blipFill>
          <a:blip r:embed="rId14"/>
          <a:stretch>
            <a:fillRect/>
          </a:stretch>
        </p:blipFill>
        <p:spPr>
          <a:xfrm>
            <a:off x="370949" y="1352555"/>
            <a:ext cx="11617851" cy="3092445"/>
          </a:xfrm>
          <a:prstGeom prst="rect">
            <a:avLst/>
          </a:prstGeom>
        </p:spPr>
      </p:pic>
    </p:spTree>
    <p:extLst>
      <p:ext uri="{BB962C8B-B14F-4D97-AF65-F5344CB8AC3E}">
        <p14:creationId xmlns:p14="http://schemas.microsoft.com/office/powerpoint/2010/main" val="21201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flipV="1">
            <a:off x="1144888" y="578248"/>
            <a:ext cx="0" cy="2844801"/>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40088" y="3118247"/>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12717" y="1492647"/>
            <a:ext cx="370614" cy="584775"/>
          </a:xfrm>
          <a:prstGeom prst="rect">
            <a:avLst/>
          </a:prstGeom>
          <a:noFill/>
        </p:spPr>
        <p:txBody>
          <a:bodyPr wrap="none" rtlCol="0">
            <a:spAutoFit/>
          </a:bodyPr>
          <a:lstStyle/>
          <a:p>
            <a:r>
              <a:rPr lang="en-US" sz="3200" dirty="0"/>
              <a:t>y</a:t>
            </a:r>
          </a:p>
        </p:txBody>
      </p:sp>
      <p:sp>
        <p:nvSpPr>
          <p:cNvPr id="9" name="TextBox 8"/>
          <p:cNvSpPr txBox="1"/>
          <p:nvPr/>
        </p:nvSpPr>
        <p:spPr>
          <a:xfrm>
            <a:off x="2668888" y="3016647"/>
            <a:ext cx="362600" cy="584775"/>
          </a:xfrm>
          <a:prstGeom prst="rect">
            <a:avLst/>
          </a:prstGeom>
          <a:noFill/>
        </p:spPr>
        <p:txBody>
          <a:bodyPr wrap="none" rtlCol="0">
            <a:spAutoFit/>
          </a:bodyPr>
          <a:lstStyle/>
          <a:p>
            <a:r>
              <a:rPr lang="en-US" sz="3200" dirty="0"/>
              <a:t>x</a:t>
            </a:r>
          </a:p>
        </p:txBody>
      </p:sp>
      <p:grpSp>
        <p:nvGrpSpPr>
          <p:cNvPr id="43" name="Group 42"/>
          <p:cNvGrpSpPr/>
          <p:nvPr/>
        </p:nvGrpSpPr>
        <p:grpSpPr>
          <a:xfrm>
            <a:off x="1348089" y="1312189"/>
            <a:ext cx="2415657" cy="1478515"/>
            <a:chOff x="1981200" y="760007"/>
            <a:chExt cx="1811743" cy="1108886"/>
          </a:xfrm>
        </p:grpSpPr>
        <p:grpSp>
          <p:nvGrpSpPr>
            <p:cNvPr id="25" name="Group 24"/>
            <p:cNvGrpSpPr/>
            <p:nvPr/>
          </p:nvGrpSpPr>
          <p:grpSpPr>
            <a:xfrm flipV="1">
              <a:off x="1981200" y="1733550"/>
              <a:ext cx="135343" cy="135343"/>
              <a:chOff x="5370863" y="1729085"/>
              <a:chExt cx="914400" cy="914400"/>
            </a:xfrm>
          </p:grpSpPr>
          <p:cxnSp>
            <p:nvCxnSpPr>
              <p:cNvPr id="26" name="Straight Connector 25"/>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flipV="1">
              <a:off x="2438400" y="1675773"/>
              <a:ext cx="135343" cy="135343"/>
              <a:chOff x="5370863" y="1729085"/>
              <a:chExt cx="914400" cy="914400"/>
            </a:xfrm>
          </p:grpSpPr>
          <p:cxnSp>
            <p:nvCxnSpPr>
              <p:cNvPr id="29" name="Straight Connector 28"/>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flipV="1">
              <a:off x="2535773" y="1358615"/>
              <a:ext cx="135343" cy="135343"/>
              <a:chOff x="5370863" y="1729085"/>
              <a:chExt cx="914400" cy="914400"/>
            </a:xfrm>
          </p:grpSpPr>
          <p:cxnSp>
            <p:nvCxnSpPr>
              <p:cNvPr id="32" name="Straight Connector 31"/>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flipV="1">
              <a:off x="3062986" y="1276350"/>
              <a:ext cx="135343" cy="135343"/>
              <a:chOff x="5370863" y="1729085"/>
              <a:chExt cx="914400" cy="914400"/>
            </a:xfrm>
          </p:grpSpPr>
          <p:cxnSp>
            <p:nvCxnSpPr>
              <p:cNvPr id="35" name="Straight Connector 34"/>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flipV="1">
              <a:off x="3429000" y="1058510"/>
              <a:ext cx="135343" cy="135343"/>
              <a:chOff x="5370863" y="1729085"/>
              <a:chExt cx="914400" cy="914400"/>
            </a:xfrm>
          </p:grpSpPr>
          <p:cxnSp>
            <p:nvCxnSpPr>
              <p:cNvPr id="38" name="Straight Connector 37"/>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flipV="1">
              <a:off x="3657600" y="760007"/>
              <a:ext cx="135343" cy="135343"/>
              <a:chOff x="5370863" y="1729085"/>
              <a:chExt cx="914400" cy="914400"/>
            </a:xfrm>
          </p:grpSpPr>
          <p:cxnSp>
            <p:nvCxnSpPr>
              <p:cNvPr id="41" name="Straight Connector 40"/>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6" name="Group 5"/>
          <p:cNvGrpSpPr/>
          <p:nvPr/>
        </p:nvGrpSpPr>
        <p:grpSpPr>
          <a:xfrm>
            <a:off x="203201" y="4173420"/>
            <a:ext cx="6512404" cy="1815691"/>
            <a:chOff x="532262" y="3130064"/>
            <a:chExt cx="4884303" cy="1361768"/>
          </a:xfrm>
        </p:grpSpPr>
        <p:grpSp>
          <p:nvGrpSpPr>
            <p:cNvPr id="49" name="Group 48"/>
            <p:cNvGrpSpPr/>
            <p:nvPr/>
          </p:nvGrpSpPr>
          <p:grpSpPr>
            <a:xfrm>
              <a:off x="532262" y="3130064"/>
              <a:ext cx="4801737" cy="1361768"/>
              <a:chOff x="837062" y="2368064"/>
              <a:chExt cx="4801737" cy="1361768"/>
            </a:xfrm>
          </p:grpSpPr>
          <p:sp>
            <p:nvSpPr>
              <p:cNvPr id="44" name="TextBox 43"/>
              <p:cNvSpPr txBox="1"/>
              <p:nvPr/>
            </p:nvSpPr>
            <p:spPr>
              <a:xfrm>
                <a:off x="837062" y="2368064"/>
                <a:ext cx="4801737" cy="1361768"/>
              </a:xfrm>
              <a:prstGeom prst="rect">
                <a:avLst/>
              </a:prstGeom>
              <a:noFill/>
            </p:spPr>
            <p:txBody>
              <a:bodyPr wrap="square" rtlCol="0">
                <a:spAutoFit/>
              </a:bodyPr>
              <a:lstStyle/>
              <a:p>
                <a:pPr marL="1071007" indent="-1071007"/>
                <a:r>
                  <a:rPr lang="en-US" sz="3733" dirty="0"/>
                  <a:t>Idea: Choose             so that                    	          is close to     for our training examples </a:t>
                </a:r>
              </a:p>
            </p:txBody>
          </p:sp>
          <p:pic>
            <p:nvPicPr>
              <p:cNvPr id="46" name="Picture 45"/>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2918460" y="2441595"/>
                <a:ext cx="789354" cy="335895"/>
              </a:xfrm>
              <a:prstGeom prst="rect">
                <a:avLst/>
              </a:prstGeom>
            </p:spPr>
          </p:pic>
          <p:pic>
            <p:nvPicPr>
              <p:cNvPr id="48" name="Picture 47"/>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1737257" y="2886668"/>
                <a:ext cx="831342" cy="375084"/>
              </a:xfrm>
              <a:prstGeom prst="rect">
                <a:avLst/>
              </a:prstGeom>
            </p:spPr>
          </p:pic>
        </p:grpSp>
        <p:pic>
          <p:nvPicPr>
            <p:cNvPr id="2" name="Picture 1"/>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4358194" y="3720216"/>
              <a:ext cx="180023" cy="245745"/>
            </a:xfrm>
            <a:prstGeom prst="rect">
              <a:avLst/>
            </a:prstGeom>
          </p:spPr>
        </p:pic>
        <p:pic>
          <p:nvPicPr>
            <p:cNvPr id="4" name="Picture 3"/>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4607892" y="4108927"/>
              <a:ext cx="808673" cy="382905"/>
            </a:xfrm>
            <a:prstGeom prst="rect">
              <a:avLst/>
            </a:prstGeom>
          </p:spPr>
        </p:pic>
      </p:grpSp>
      <p:pic>
        <p:nvPicPr>
          <p:cNvPr id="45" name="Picture 44">
            <a:extLst>
              <a:ext uri="{FF2B5EF4-FFF2-40B4-BE49-F238E27FC236}">
                <a16:creationId xmlns:a16="http://schemas.microsoft.com/office/drawing/2014/main" id="{FB095387-63CB-4759-9BA4-DA65D123623E}"/>
              </a:ext>
            </a:extLst>
          </p:cNvPr>
          <p:cNvPicPr>
            <a:picLocks noChangeAspect="1"/>
          </p:cNvPicPr>
          <p:nvPr/>
        </p:nvPicPr>
        <p:blipFill>
          <a:blip r:embed="rId10"/>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394662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TextBox 43"/>
          <p:cNvSpPr txBox="1"/>
          <p:nvPr/>
        </p:nvSpPr>
        <p:spPr>
          <a:xfrm>
            <a:off x="101602" y="889000"/>
            <a:ext cx="12090399" cy="4524315"/>
          </a:xfrm>
          <a:prstGeom prst="rect">
            <a:avLst/>
          </a:prstGeom>
          <a:noFill/>
        </p:spPr>
        <p:txBody>
          <a:bodyPr wrap="square" rtlCol="0">
            <a:spAutoFit/>
          </a:bodyPr>
          <a:lstStyle/>
          <a:p>
            <a:r>
              <a:rPr lang="en-US" sz="3200" dirty="0"/>
              <a:t>Based on our training set we want to generate parameters which make the straight line </a:t>
            </a:r>
          </a:p>
          <a:p>
            <a:pPr marL="380990" indent="-380990">
              <a:buFont typeface="Wingdings" panose="05000000000000000000" pitchFamily="2" charset="2"/>
              <a:buChar char="§"/>
            </a:pPr>
            <a:r>
              <a:rPr lang="en-US" sz="3200" dirty="0"/>
              <a:t>Chosen these parameters so </a:t>
            </a:r>
            <a:r>
              <a:rPr lang="en-US" sz="3200" dirty="0" err="1">
                <a:solidFill>
                  <a:srgbClr val="FF0000"/>
                </a:solidFill>
              </a:rPr>
              <a:t>h</a:t>
            </a:r>
            <a:r>
              <a:rPr lang="en-US" sz="3200" baseline="-25000" dirty="0" err="1">
                <a:solidFill>
                  <a:srgbClr val="FF0000"/>
                </a:solidFill>
              </a:rPr>
              <a:t>θ</a:t>
            </a:r>
            <a:r>
              <a:rPr lang="en-US" sz="3200" dirty="0">
                <a:solidFill>
                  <a:srgbClr val="FF0000"/>
                </a:solidFill>
              </a:rPr>
              <a:t>(x) is close to y </a:t>
            </a:r>
            <a:r>
              <a:rPr lang="en-US" sz="3200" dirty="0"/>
              <a:t>for our training examples</a:t>
            </a:r>
          </a:p>
          <a:p>
            <a:pPr marL="990575" lvl="1" indent="-380990">
              <a:buFont typeface="Wingdings" panose="05000000000000000000" pitchFamily="2" charset="2"/>
              <a:buChar char="Ø"/>
            </a:pPr>
            <a:r>
              <a:rPr lang="en-US" sz="3200" dirty="0"/>
              <a:t>Basically, uses </a:t>
            </a:r>
            <a:r>
              <a:rPr lang="en-US" sz="3200" dirty="0" err="1"/>
              <a:t>xs</a:t>
            </a:r>
            <a:r>
              <a:rPr lang="en-US" sz="3200" dirty="0"/>
              <a:t> in training set with </a:t>
            </a:r>
            <a:r>
              <a:rPr lang="en-US" sz="3200" dirty="0" err="1"/>
              <a:t>h</a:t>
            </a:r>
            <a:r>
              <a:rPr lang="en-US" sz="3200" baseline="-25000" dirty="0" err="1"/>
              <a:t>θ</a:t>
            </a:r>
            <a:r>
              <a:rPr lang="en-US" sz="3200" dirty="0"/>
              <a:t>(x) to give output which is as close to the actual y value as possible </a:t>
            </a:r>
          </a:p>
          <a:p>
            <a:pPr marL="990575" lvl="1" indent="-380990">
              <a:buFont typeface="Wingdings" panose="05000000000000000000" pitchFamily="2" charset="2"/>
              <a:buChar char="Ø"/>
            </a:pPr>
            <a:r>
              <a:rPr lang="en-US" sz="3200" dirty="0"/>
              <a:t>Think of </a:t>
            </a:r>
            <a:r>
              <a:rPr lang="en-US" sz="3200" dirty="0" err="1"/>
              <a:t>h</a:t>
            </a:r>
            <a:r>
              <a:rPr lang="en-US" sz="3200" baseline="-25000" dirty="0" err="1"/>
              <a:t>θ</a:t>
            </a:r>
            <a:r>
              <a:rPr lang="en-US" sz="3200" dirty="0"/>
              <a:t>(x) as a "y imitator" - it tries to convert the x into y, and considering we already have y we can evaluate how well </a:t>
            </a:r>
            <a:r>
              <a:rPr lang="en-US" sz="3200" dirty="0" err="1"/>
              <a:t>h</a:t>
            </a:r>
            <a:r>
              <a:rPr lang="en-US" sz="3200" baseline="-25000" dirty="0" err="1"/>
              <a:t>θ</a:t>
            </a:r>
            <a:r>
              <a:rPr lang="en-US" sz="3200" dirty="0"/>
              <a:t>(x) does this</a:t>
            </a:r>
          </a:p>
        </p:txBody>
      </p:sp>
      <p:pic>
        <p:nvPicPr>
          <p:cNvPr id="3" name="Picture 2">
            <a:extLst>
              <a:ext uri="{FF2B5EF4-FFF2-40B4-BE49-F238E27FC236}">
                <a16:creationId xmlns:a16="http://schemas.microsoft.com/office/drawing/2014/main" id="{157E2ED2-36CC-4A04-9D20-EF914EDEFCAD}"/>
              </a:ext>
            </a:extLst>
          </p:cNvPr>
          <p:cNvPicPr>
            <a:picLocks noChangeAspect="1"/>
          </p:cNvPicPr>
          <p:nvPr/>
        </p:nvPicPr>
        <p:blipFill>
          <a:blip r:embed="rId2"/>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832924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 name="TextBox 43"/>
              <p:cNvSpPr txBox="1"/>
              <p:nvPr/>
            </p:nvSpPr>
            <p:spPr>
              <a:xfrm>
                <a:off x="101602" y="889000"/>
                <a:ext cx="12090399" cy="4033540"/>
              </a:xfrm>
              <a:prstGeom prst="rect">
                <a:avLst/>
              </a:prstGeom>
              <a:noFill/>
            </p:spPr>
            <p:txBody>
              <a:bodyPr wrap="square" rtlCol="0">
                <a:spAutoFit/>
              </a:bodyPr>
              <a:lstStyle/>
              <a:p>
                <a:r>
                  <a:rPr lang="en-US" sz="3200" dirty="0"/>
                  <a:t>To formalize this;</a:t>
                </a:r>
              </a:p>
              <a:p>
                <a:pPr lvl="1"/>
                <a:r>
                  <a:rPr lang="en-US" sz="3200" dirty="0"/>
                  <a:t>We want to want to solve a </a:t>
                </a:r>
                <a:r>
                  <a:rPr lang="en-US" sz="3200" b="1" dirty="0">
                    <a:solidFill>
                      <a:srgbClr val="7030A0"/>
                    </a:solidFill>
                  </a:rPr>
                  <a:t>minimization problem</a:t>
                </a:r>
                <a:endParaRPr lang="en-US" sz="3200" dirty="0">
                  <a:solidFill>
                    <a:srgbClr val="7030A0"/>
                  </a:solidFill>
                </a:endParaRPr>
              </a:p>
              <a:p>
                <a:pPr lvl="1"/>
                <a:r>
                  <a:rPr lang="en-US" sz="3200" dirty="0"/>
                  <a:t>Minimize (</a:t>
                </a:r>
                <a:r>
                  <a:rPr lang="en-US" sz="3200" dirty="0" err="1"/>
                  <a:t>h</a:t>
                </a:r>
                <a:r>
                  <a:rPr lang="en-US" sz="3200" baseline="-25000" dirty="0" err="1"/>
                  <a:t>θ</a:t>
                </a:r>
                <a:r>
                  <a:rPr lang="en-US" sz="3200" dirty="0"/>
                  <a:t>(x) - y)</a:t>
                </a:r>
                <a:r>
                  <a:rPr lang="en-US" sz="3200" baseline="30000" dirty="0"/>
                  <a:t>2 </a:t>
                </a:r>
                <a:endParaRPr lang="en-US" sz="3200" dirty="0"/>
              </a:p>
              <a:p>
                <a:pPr lvl="2"/>
                <a:r>
                  <a:rPr lang="en-US" sz="3200" dirty="0"/>
                  <a:t>i.e. minimize the difference between h(x) and y for each/any/every example</a:t>
                </a:r>
              </a:p>
              <a:p>
                <a:pPr lvl="1"/>
                <a:r>
                  <a:rPr lang="en-US" sz="3200" dirty="0"/>
                  <a:t>Sum this over all the training set</a:t>
                </a:r>
              </a:p>
              <a:p>
                <a:pPr lvl="1"/>
                <a:r>
                  <a:rPr lang="en-US" sz="3200" dirty="0"/>
                  <a:t>SSE = </a:t>
                </a:r>
                <a14:m>
                  <m:oMath xmlns:m="http://schemas.openxmlformats.org/officeDocument/2006/math">
                    <m:nary>
                      <m:naryPr>
                        <m:chr m:val="∑"/>
                        <m:ctrlPr>
                          <a:rPr lang="en-US" sz="3200" i="1" smtClean="0">
                            <a:latin typeface="Cambria Math" panose="02040503050406030204" pitchFamily="18" charset="0"/>
                          </a:rPr>
                        </m:ctrlPr>
                      </m:naryPr>
                      <m:sub>
                        <m:r>
                          <m:rPr>
                            <m:brk m:alnAt="23"/>
                          </m:rPr>
                          <a:rPr lang="en-US" sz="3200" b="0" i="1" smtClean="0">
                            <a:latin typeface="Cambria Math" panose="02040503050406030204" pitchFamily="18" charset="0"/>
                          </a:rPr>
                          <m:t>𝑖</m:t>
                        </m:r>
                        <m:r>
                          <a:rPr lang="en-US" sz="3200" b="0" i="1" smtClean="0">
                            <a:latin typeface="Cambria Math" panose="02040503050406030204" pitchFamily="18" charset="0"/>
                          </a:rPr>
                          <m:t>=1</m:t>
                        </m:r>
                      </m:sub>
                      <m:sup>
                        <m:r>
                          <a:rPr lang="en-US" sz="3200" b="0" i="1" smtClean="0">
                            <a:latin typeface="Cambria Math" panose="02040503050406030204" pitchFamily="18" charset="0"/>
                          </a:rPr>
                          <m:t>𝑚</m:t>
                        </m:r>
                      </m:sup>
                      <m:e>
                        <m:r>
                          <m:rPr>
                            <m:nor/>
                          </m:rPr>
                          <a:rPr lang="en-US" sz="3200" dirty="0"/>
                          <m:t>(</m:t>
                        </m:r>
                        <m:r>
                          <m:rPr>
                            <m:nor/>
                          </m:rPr>
                          <a:rPr lang="en-US" sz="3200" dirty="0"/>
                          <m:t>hθ</m:t>
                        </m:r>
                        <m:r>
                          <m:rPr>
                            <m:nor/>
                          </m:rPr>
                          <a:rPr lang="en-US" sz="3200" dirty="0"/>
                          <m:t>(</m:t>
                        </m:r>
                        <m:r>
                          <m:rPr>
                            <m:nor/>
                          </m:rPr>
                          <a:rPr lang="en-US" sz="3200" dirty="0"/>
                          <m:t>x</m:t>
                        </m:r>
                        <m:r>
                          <m:rPr>
                            <m:nor/>
                          </m:rPr>
                          <a:rPr lang="en-US" sz="3200" dirty="0"/>
                          <m:t>)− </m:t>
                        </m:r>
                        <m:r>
                          <m:rPr>
                            <m:nor/>
                          </m:rPr>
                          <a:rPr lang="en-US" sz="3200" dirty="0"/>
                          <m:t>y</m:t>
                        </m:r>
                        <m:r>
                          <m:rPr>
                            <m:nor/>
                          </m:rPr>
                          <a:rPr lang="en-US" sz="3200" dirty="0"/>
                          <m:t>)2</m:t>
                        </m:r>
                      </m:e>
                    </m:nary>
                  </m:oMath>
                </a14:m>
                <a:endParaRPr lang="en-US" sz="3200" dirty="0"/>
              </a:p>
              <a:p>
                <a:pPr lvl="1"/>
                <a14:m>
                  <m:oMath xmlns:m="http://schemas.openxmlformats.org/officeDocument/2006/math">
                    <m:r>
                      <a:rPr lang="en-US" sz="3200" b="0" i="1" smtClean="0">
                        <a:latin typeface="Cambria Math" panose="02040503050406030204" pitchFamily="18" charset="0"/>
                      </a:rPr>
                      <m:t>𝑚</m:t>
                    </m:r>
                    <m:r>
                      <a:rPr lang="en-US" sz="3200" b="0" i="1" smtClean="0">
                        <a:latin typeface="Cambria Math" panose="02040503050406030204" pitchFamily="18" charset="0"/>
                      </a:rPr>
                      <m:t>=</m:t>
                    </m:r>
                  </m:oMath>
                </a14:m>
                <a:r>
                  <a:rPr lang="en-US" sz="3200" dirty="0"/>
                  <a:t> the number of samples</a:t>
                </a:r>
              </a:p>
            </p:txBody>
          </p:sp>
        </mc:Choice>
        <mc:Fallback xmlns="">
          <p:sp>
            <p:nvSpPr>
              <p:cNvPr id="44" name="TextBox 43"/>
              <p:cNvSpPr txBox="1">
                <a:spLocks noRot="1" noChangeAspect="1" noMove="1" noResize="1" noEditPoints="1" noAdjustHandles="1" noChangeArrowheads="1" noChangeShapeType="1" noTextEdit="1"/>
              </p:cNvSpPr>
              <p:nvPr/>
            </p:nvSpPr>
            <p:spPr>
              <a:xfrm>
                <a:off x="101602" y="889000"/>
                <a:ext cx="12090399" cy="4033540"/>
              </a:xfrm>
              <a:prstGeom prst="rect">
                <a:avLst/>
              </a:prstGeom>
              <a:blipFill>
                <a:blip r:embed="rId2"/>
                <a:stretch>
                  <a:fillRect l="-1311" t="-1964" b="-4079"/>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ACFD4F6-9C34-47B4-9CC9-C631BCBC254E}"/>
              </a:ext>
            </a:extLst>
          </p:cNvPr>
          <p:cNvPicPr>
            <a:picLocks noChangeAspect="1"/>
          </p:cNvPicPr>
          <p:nvPr/>
        </p:nvPicPr>
        <p:blipFill>
          <a:blip r:embed="rId3"/>
          <a:stretch>
            <a:fillRect/>
          </a:stretch>
        </p:blipFill>
        <p:spPr>
          <a:xfrm>
            <a:off x="10922000" y="6438901"/>
            <a:ext cx="1270000" cy="419100"/>
          </a:xfrm>
          <a:prstGeom prst="rect">
            <a:avLst/>
          </a:prstGeom>
        </p:spPr>
      </p:pic>
      <p:cxnSp>
        <p:nvCxnSpPr>
          <p:cNvPr id="2" name="Straight Connector 1">
            <a:extLst>
              <a:ext uri="{FF2B5EF4-FFF2-40B4-BE49-F238E27FC236}">
                <a16:creationId xmlns:a16="http://schemas.microsoft.com/office/drawing/2014/main" id="{5B35482F-3843-AE7A-BEF8-88CF9BE6F952}"/>
              </a:ext>
            </a:extLst>
          </p:cNvPr>
          <p:cNvCxnSpPr/>
          <p:nvPr/>
        </p:nvCxnSpPr>
        <p:spPr>
          <a:xfrm flipV="1">
            <a:off x="7004170" y="3410228"/>
            <a:ext cx="0" cy="2844801"/>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3CDA2CA-8F24-BAD2-86FC-61E29ED4BAA5}"/>
              </a:ext>
            </a:extLst>
          </p:cNvPr>
          <p:cNvCxnSpPr/>
          <p:nvPr/>
        </p:nvCxnSpPr>
        <p:spPr>
          <a:xfrm>
            <a:off x="6699370" y="5950227"/>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BD7964C-9454-4AF1-0290-8437252CEE58}"/>
              </a:ext>
            </a:extLst>
          </p:cNvPr>
          <p:cNvSpPr txBox="1"/>
          <p:nvPr/>
        </p:nvSpPr>
        <p:spPr>
          <a:xfrm>
            <a:off x="6571999" y="4324627"/>
            <a:ext cx="370614" cy="584775"/>
          </a:xfrm>
          <a:prstGeom prst="rect">
            <a:avLst/>
          </a:prstGeom>
          <a:noFill/>
        </p:spPr>
        <p:txBody>
          <a:bodyPr wrap="none" rtlCol="0">
            <a:spAutoFit/>
          </a:bodyPr>
          <a:lstStyle/>
          <a:p>
            <a:r>
              <a:rPr lang="en-US" sz="3200" dirty="0"/>
              <a:t>y</a:t>
            </a:r>
          </a:p>
        </p:txBody>
      </p:sp>
      <p:sp>
        <p:nvSpPr>
          <p:cNvPr id="6" name="TextBox 5">
            <a:extLst>
              <a:ext uri="{FF2B5EF4-FFF2-40B4-BE49-F238E27FC236}">
                <a16:creationId xmlns:a16="http://schemas.microsoft.com/office/drawing/2014/main" id="{4D6D3E83-6F6D-BF84-15C1-657E59F1296D}"/>
              </a:ext>
            </a:extLst>
          </p:cNvPr>
          <p:cNvSpPr txBox="1"/>
          <p:nvPr/>
        </p:nvSpPr>
        <p:spPr>
          <a:xfrm>
            <a:off x="8528170" y="5848627"/>
            <a:ext cx="362600" cy="584775"/>
          </a:xfrm>
          <a:prstGeom prst="rect">
            <a:avLst/>
          </a:prstGeom>
          <a:noFill/>
        </p:spPr>
        <p:txBody>
          <a:bodyPr wrap="none" rtlCol="0">
            <a:spAutoFit/>
          </a:bodyPr>
          <a:lstStyle/>
          <a:p>
            <a:r>
              <a:rPr lang="en-US" sz="3200" dirty="0"/>
              <a:t>x</a:t>
            </a:r>
          </a:p>
        </p:txBody>
      </p:sp>
      <p:grpSp>
        <p:nvGrpSpPr>
          <p:cNvPr id="7" name="Group 6">
            <a:extLst>
              <a:ext uri="{FF2B5EF4-FFF2-40B4-BE49-F238E27FC236}">
                <a16:creationId xmlns:a16="http://schemas.microsoft.com/office/drawing/2014/main" id="{1963D999-E1CE-0D49-92F7-78629D22EFFC}"/>
              </a:ext>
            </a:extLst>
          </p:cNvPr>
          <p:cNvGrpSpPr/>
          <p:nvPr/>
        </p:nvGrpSpPr>
        <p:grpSpPr>
          <a:xfrm>
            <a:off x="7207371" y="4144169"/>
            <a:ext cx="2415657" cy="1478515"/>
            <a:chOff x="1981200" y="760007"/>
            <a:chExt cx="1811743" cy="1108886"/>
          </a:xfrm>
        </p:grpSpPr>
        <p:grpSp>
          <p:nvGrpSpPr>
            <p:cNvPr id="8" name="Group 7">
              <a:extLst>
                <a:ext uri="{FF2B5EF4-FFF2-40B4-BE49-F238E27FC236}">
                  <a16:creationId xmlns:a16="http://schemas.microsoft.com/office/drawing/2014/main" id="{6F102F69-6407-6C91-7EAE-B0DB92A6D6DD}"/>
                </a:ext>
              </a:extLst>
            </p:cNvPr>
            <p:cNvGrpSpPr/>
            <p:nvPr/>
          </p:nvGrpSpPr>
          <p:grpSpPr>
            <a:xfrm flipV="1">
              <a:off x="1981200" y="1733550"/>
              <a:ext cx="135343" cy="135343"/>
              <a:chOff x="5370863" y="1729085"/>
              <a:chExt cx="914400" cy="914400"/>
            </a:xfrm>
          </p:grpSpPr>
          <p:cxnSp>
            <p:nvCxnSpPr>
              <p:cNvPr id="24" name="Straight Connector 23">
                <a:extLst>
                  <a:ext uri="{FF2B5EF4-FFF2-40B4-BE49-F238E27FC236}">
                    <a16:creationId xmlns:a16="http://schemas.microsoft.com/office/drawing/2014/main" id="{6935F7D2-A81E-3F8F-05C0-CC93694059EA}"/>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4676BEA-C5FC-4C55-C189-2DD4AF41BFB8}"/>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200F91C7-712A-153A-49E2-A19C78B3483F}"/>
                </a:ext>
              </a:extLst>
            </p:cNvPr>
            <p:cNvGrpSpPr/>
            <p:nvPr/>
          </p:nvGrpSpPr>
          <p:grpSpPr>
            <a:xfrm flipV="1">
              <a:off x="2438400" y="1675773"/>
              <a:ext cx="135343" cy="135343"/>
              <a:chOff x="5370863" y="1729085"/>
              <a:chExt cx="914400" cy="914400"/>
            </a:xfrm>
          </p:grpSpPr>
          <p:cxnSp>
            <p:nvCxnSpPr>
              <p:cNvPr id="22" name="Straight Connector 21">
                <a:extLst>
                  <a:ext uri="{FF2B5EF4-FFF2-40B4-BE49-F238E27FC236}">
                    <a16:creationId xmlns:a16="http://schemas.microsoft.com/office/drawing/2014/main" id="{7851F6A7-ECC9-84CA-7864-690E9FC96E45}"/>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F788D5B-9053-77AC-AF05-0DE039635D28}"/>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85AFC811-BBB9-F799-0EF0-969FD98C196A}"/>
                </a:ext>
              </a:extLst>
            </p:cNvPr>
            <p:cNvGrpSpPr/>
            <p:nvPr/>
          </p:nvGrpSpPr>
          <p:grpSpPr>
            <a:xfrm flipV="1">
              <a:off x="2535773" y="1358615"/>
              <a:ext cx="135343" cy="135343"/>
              <a:chOff x="5370863" y="1729085"/>
              <a:chExt cx="914400" cy="914400"/>
            </a:xfrm>
          </p:grpSpPr>
          <p:cxnSp>
            <p:nvCxnSpPr>
              <p:cNvPr id="20" name="Straight Connector 19">
                <a:extLst>
                  <a:ext uri="{FF2B5EF4-FFF2-40B4-BE49-F238E27FC236}">
                    <a16:creationId xmlns:a16="http://schemas.microsoft.com/office/drawing/2014/main" id="{127D6BD5-713E-914E-E7CF-54829EEC36F0}"/>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AFAA9D7-786F-8E46-EEEA-78D3DD27DEBA}"/>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F0034F68-46BD-EE46-12CE-A59172C798A2}"/>
                </a:ext>
              </a:extLst>
            </p:cNvPr>
            <p:cNvGrpSpPr/>
            <p:nvPr/>
          </p:nvGrpSpPr>
          <p:grpSpPr>
            <a:xfrm flipV="1">
              <a:off x="3062986" y="1276350"/>
              <a:ext cx="135343" cy="135343"/>
              <a:chOff x="5370863" y="1729085"/>
              <a:chExt cx="914400" cy="914400"/>
            </a:xfrm>
          </p:grpSpPr>
          <p:cxnSp>
            <p:nvCxnSpPr>
              <p:cNvPr id="18" name="Straight Connector 17">
                <a:extLst>
                  <a:ext uri="{FF2B5EF4-FFF2-40B4-BE49-F238E27FC236}">
                    <a16:creationId xmlns:a16="http://schemas.microsoft.com/office/drawing/2014/main" id="{5EB93FF8-44AB-B8A0-3843-4CF2F9224E50}"/>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B2FDE3F-A812-F823-3667-A03ED876A80A}"/>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8942FE9D-82A8-4214-ACC3-2C0F96B7CB25}"/>
                </a:ext>
              </a:extLst>
            </p:cNvPr>
            <p:cNvGrpSpPr/>
            <p:nvPr/>
          </p:nvGrpSpPr>
          <p:grpSpPr>
            <a:xfrm flipV="1">
              <a:off x="3429000" y="1058510"/>
              <a:ext cx="135343" cy="135343"/>
              <a:chOff x="5370863" y="1729085"/>
              <a:chExt cx="914400" cy="914400"/>
            </a:xfrm>
          </p:grpSpPr>
          <p:cxnSp>
            <p:nvCxnSpPr>
              <p:cNvPr id="16" name="Straight Connector 15">
                <a:extLst>
                  <a:ext uri="{FF2B5EF4-FFF2-40B4-BE49-F238E27FC236}">
                    <a16:creationId xmlns:a16="http://schemas.microsoft.com/office/drawing/2014/main" id="{9B7FF3E1-DF4E-78C6-0A15-951F6A5A4DBD}"/>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787CBB5-43D8-65EF-AFA8-3A5DD3C21FF3}"/>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CF5D2D3-6FD3-6A07-F79C-2C766E50025E}"/>
                </a:ext>
              </a:extLst>
            </p:cNvPr>
            <p:cNvGrpSpPr/>
            <p:nvPr/>
          </p:nvGrpSpPr>
          <p:grpSpPr>
            <a:xfrm flipV="1">
              <a:off x="3657600" y="760007"/>
              <a:ext cx="135343" cy="135343"/>
              <a:chOff x="5370863" y="1729085"/>
              <a:chExt cx="914400" cy="914400"/>
            </a:xfrm>
          </p:grpSpPr>
          <p:cxnSp>
            <p:nvCxnSpPr>
              <p:cNvPr id="14" name="Straight Connector 13">
                <a:extLst>
                  <a:ext uri="{FF2B5EF4-FFF2-40B4-BE49-F238E27FC236}">
                    <a16:creationId xmlns:a16="http://schemas.microsoft.com/office/drawing/2014/main" id="{F873F4B9-F1B6-0488-6CFA-4E1A324C382A}"/>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9C7C9C-97EB-C304-68E4-AC3869F0BC6F}"/>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cxnSp>
        <p:nvCxnSpPr>
          <p:cNvPr id="27" name="Straight Connector 26">
            <a:extLst>
              <a:ext uri="{FF2B5EF4-FFF2-40B4-BE49-F238E27FC236}">
                <a16:creationId xmlns:a16="http://schemas.microsoft.com/office/drawing/2014/main" id="{E4EC560B-B42A-9AC4-068F-E7016A45D11A}"/>
              </a:ext>
            </a:extLst>
          </p:cNvPr>
          <p:cNvCxnSpPr/>
          <p:nvPr/>
        </p:nvCxnSpPr>
        <p:spPr>
          <a:xfrm flipV="1">
            <a:off x="7207371" y="3923930"/>
            <a:ext cx="2345002" cy="19246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88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101602" y="889001"/>
            <a:ext cx="12090399" cy="3539430"/>
          </a:xfrm>
          <a:prstGeom prst="rect">
            <a:avLst/>
          </a:prstGeom>
          <a:noFill/>
        </p:spPr>
        <p:txBody>
          <a:bodyPr wrap="square" rtlCol="0">
            <a:spAutoFit/>
          </a:bodyPr>
          <a:lstStyle/>
          <a:p>
            <a:r>
              <a:rPr lang="en-US" sz="3200" dirty="0"/>
              <a:t>Minimize squared difference between predicted house price and actual house price 1/2m</a:t>
            </a:r>
          </a:p>
          <a:p>
            <a:pPr marL="1066773" lvl="1" indent="-457189">
              <a:buFont typeface="Wingdings" panose="05000000000000000000" pitchFamily="2" charset="2"/>
              <a:buChar char="Ø"/>
            </a:pPr>
            <a:r>
              <a:rPr lang="en-US" sz="3200" dirty="0"/>
              <a:t>1/m - means we determine the average</a:t>
            </a:r>
          </a:p>
          <a:p>
            <a:pPr marL="1066773" lvl="1" indent="-457189">
              <a:buFont typeface="Wingdings" panose="05000000000000000000" pitchFamily="2" charset="2"/>
              <a:buChar char="Ø"/>
            </a:pPr>
            <a:r>
              <a:rPr lang="en-US" sz="3200" dirty="0"/>
              <a:t>1/2m the 2 makes the math a bit easier, and doesn't change the constants we determine at all (i.e., half the smallest value is still the smallest value!)</a:t>
            </a:r>
          </a:p>
          <a:p>
            <a:pPr lvl="1"/>
            <a:endParaRPr lang="en-US" sz="3200" dirty="0"/>
          </a:p>
        </p:txBody>
      </p:sp>
      <p:pic>
        <p:nvPicPr>
          <p:cNvPr id="2" name="Picture 1">
            <a:extLst>
              <a:ext uri="{FF2B5EF4-FFF2-40B4-BE49-F238E27FC236}">
                <a16:creationId xmlns:a16="http://schemas.microsoft.com/office/drawing/2014/main" id="{C1F2C042-0F01-4DEC-91F2-313807A612B5}"/>
              </a:ext>
            </a:extLst>
          </p:cNvPr>
          <p:cNvPicPr>
            <a:picLocks noChangeAspect="1"/>
          </p:cNvPicPr>
          <p:nvPr/>
        </p:nvPicPr>
        <p:blipFill>
          <a:blip r:embed="rId2"/>
          <a:stretch>
            <a:fillRect/>
          </a:stretch>
        </p:blipFill>
        <p:spPr>
          <a:xfrm>
            <a:off x="3708400" y="4140201"/>
            <a:ext cx="4775200" cy="1599692"/>
          </a:xfrm>
          <a:prstGeom prst="rect">
            <a:avLst/>
          </a:prstGeom>
        </p:spPr>
      </p:pic>
      <p:pic>
        <p:nvPicPr>
          <p:cNvPr id="4" name="Picture 3">
            <a:extLst>
              <a:ext uri="{FF2B5EF4-FFF2-40B4-BE49-F238E27FC236}">
                <a16:creationId xmlns:a16="http://schemas.microsoft.com/office/drawing/2014/main" id="{FDA4143D-BC0C-4273-89CC-B3E19818BCC8}"/>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00385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101602" y="889001"/>
            <a:ext cx="11175999" cy="3826368"/>
          </a:xfrm>
          <a:prstGeom prst="rect">
            <a:avLst/>
          </a:prstGeom>
          <a:noFill/>
        </p:spPr>
        <p:txBody>
          <a:bodyPr wrap="square" rtlCol="0">
            <a:spAutoFit/>
          </a:bodyPr>
          <a:lstStyle/>
          <a:p>
            <a:endParaRPr lang="en-US" sz="2400" dirty="0"/>
          </a:p>
          <a:p>
            <a:pPr marL="990575" lvl="1" indent="-380990" algn="just">
              <a:buFont typeface="Wingdings" panose="05000000000000000000" pitchFamily="2" charset="2"/>
              <a:buChar char="ü"/>
            </a:pPr>
            <a:r>
              <a:rPr lang="en-US" sz="3733" dirty="0"/>
              <a:t>Minimizing θ</a:t>
            </a:r>
            <a:r>
              <a:rPr lang="en-US" sz="3733" baseline="-25000" dirty="0"/>
              <a:t>0</a:t>
            </a:r>
            <a:r>
              <a:rPr lang="en-US" sz="3733" dirty="0"/>
              <a:t>/θ</a:t>
            </a:r>
            <a:r>
              <a:rPr lang="en-US" sz="3733" baseline="-25000" dirty="0"/>
              <a:t>1</a:t>
            </a:r>
            <a:r>
              <a:rPr lang="en-US" sz="3733" dirty="0"/>
              <a:t> means we get the values of θ</a:t>
            </a:r>
            <a:r>
              <a:rPr lang="en-US" sz="3733" baseline="-25000" dirty="0"/>
              <a:t>0</a:t>
            </a:r>
            <a:r>
              <a:rPr lang="en-US" sz="3733" dirty="0"/>
              <a:t> and θ</a:t>
            </a:r>
            <a:r>
              <a:rPr lang="en-US" sz="3733" baseline="-25000" dirty="0"/>
              <a:t>1</a:t>
            </a:r>
            <a:r>
              <a:rPr lang="en-US" sz="3733" dirty="0"/>
              <a:t> which find on average the minimal deviation of x from y when we use those parameters in our hypothesis function</a:t>
            </a:r>
          </a:p>
          <a:p>
            <a:pPr marL="990575" lvl="1" indent="-380990" algn="just">
              <a:buFont typeface="Wingdings" panose="05000000000000000000" pitchFamily="2" charset="2"/>
              <a:buChar char="ü"/>
            </a:pPr>
            <a:r>
              <a:rPr lang="en-US" sz="3733" dirty="0"/>
              <a:t>More cleanly, this is a cost function</a:t>
            </a:r>
          </a:p>
          <a:p>
            <a:pPr lvl="1"/>
            <a:endParaRPr lang="en-US" sz="3200" dirty="0"/>
          </a:p>
        </p:txBody>
      </p:sp>
      <p:pic>
        <p:nvPicPr>
          <p:cNvPr id="3" name="Picture 2">
            <a:extLst>
              <a:ext uri="{FF2B5EF4-FFF2-40B4-BE49-F238E27FC236}">
                <a16:creationId xmlns:a16="http://schemas.microsoft.com/office/drawing/2014/main" id="{D371FC1C-6A5E-4068-BF30-7484846F88B3}"/>
              </a:ext>
            </a:extLst>
          </p:cNvPr>
          <p:cNvPicPr>
            <a:picLocks noChangeAspect="1"/>
          </p:cNvPicPr>
          <p:nvPr/>
        </p:nvPicPr>
        <p:blipFill>
          <a:blip r:embed="rId2"/>
          <a:stretch>
            <a:fillRect/>
          </a:stretch>
        </p:blipFill>
        <p:spPr>
          <a:xfrm>
            <a:off x="3251200" y="4343401"/>
            <a:ext cx="5842000" cy="1361817"/>
          </a:xfrm>
          <a:prstGeom prst="rect">
            <a:avLst/>
          </a:prstGeom>
        </p:spPr>
      </p:pic>
      <p:pic>
        <p:nvPicPr>
          <p:cNvPr id="4" name="Picture 3">
            <a:extLst>
              <a:ext uri="{FF2B5EF4-FFF2-40B4-BE49-F238E27FC236}">
                <a16:creationId xmlns:a16="http://schemas.microsoft.com/office/drawing/2014/main" id="{8521DE4B-AD38-4531-BE2C-6BD1F161E14B}"/>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6" name="TextBox 5">
            <a:extLst>
              <a:ext uri="{FF2B5EF4-FFF2-40B4-BE49-F238E27FC236}">
                <a16:creationId xmlns:a16="http://schemas.microsoft.com/office/drawing/2014/main" id="{35557846-6546-4783-AC8C-BF1F1AE5BFAD}"/>
              </a:ext>
            </a:extLst>
          </p:cNvPr>
          <p:cNvSpPr txBox="1"/>
          <p:nvPr/>
        </p:nvSpPr>
        <p:spPr>
          <a:xfrm>
            <a:off x="1543051" y="4748628"/>
            <a:ext cx="6098240" cy="461665"/>
          </a:xfrm>
          <a:prstGeom prst="rect">
            <a:avLst/>
          </a:prstGeom>
          <a:noFill/>
        </p:spPr>
        <p:txBody>
          <a:bodyPr wrap="square">
            <a:spAutoFit/>
          </a:bodyPr>
          <a:lstStyle/>
          <a:p>
            <a:r>
              <a:rPr lang="en-US" sz="2400" dirty="0">
                <a:solidFill>
                  <a:srgbClr val="FF0000"/>
                </a:solidFill>
              </a:rPr>
              <a:t>Cost function = </a:t>
            </a:r>
          </a:p>
        </p:txBody>
      </p:sp>
    </p:spTree>
    <p:extLst>
      <p:ext uri="{BB962C8B-B14F-4D97-AF65-F5344CB8AC3E}">
        <p14:creationId xmlns:p14="http://schemas.microsoft.com/office/powerpoint/2010/main" val="837662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 name="TextBox 43"/>
              <p:cNvSpPr txBox="1"/>
              <p:nvPr/>
            </p:nvSpPr>
            <p:spPr>
              <a:xfrm>
                <a:off x="0" y="10460"/>
                <a:ext cx="12192000" cy="4031873"/>
              </a:xfrm>
              <a:prstGeom prst="rect">
                <a:avLst/>
              </a:prstGeom>
              <a:noFill/>
            </p:spPr>
            <p:txBody>
              <a:bodyPr wrap="square" rtlCol="0">
                <a:spAutoFit/>
              </a:bodyPr>
              <a:lstStyle/>
              <a:p>
                <a:pPr algn="just"/>
                <a:r>
                  <a:rPr lang="en-US" sz="3200" b="1" dirty="0"/>
                  <a:t>Hypothesis</a:t>
                </a:r>
                <a:r>
                  <a:rPr lang="en-US" sz="3200" dirty="0"/>
                  <a:t> - is like prediction machine, throw in an </a:t>
                </a:r>
                <a:r>
                  <a:rPr lang="en-US" sz="3200" i="1" dirty="0"/>
                  <a:t>x</a:t>
                </a:r>
                <a:r>
                  <a:rPr lang="en-US" sz="3200" dirty="0"/>
                  <a:t> value, get a putative/predicted </a:t>
                </a:r>
                <a:r>
                  <a:rPr lang="en-US" sz="3200" i="1" dirty="0"/>
                  <a:t>y</a:t>
                </a:r>
                <a:r>
                  <a:rPr lang="en-US" sz="3200" dirty="0"/>
                  <a:t> value. Models from </a:t>
                </a:r>
                <a14:m>
                  <m:oMath xmlns:m="http://schemas.openxmlformats.org/officeDocument/2006/math">
                    <m:r>
                      <a:rPr lang="en-US" sz="3200" i="1" dirty="0" smtClean="0">
                        <a:latin typeface="Cambria Math" panose="02040503050406030204" pitchFamily="18" charset="0"/>
                      </a:rPr>
                      <m:t>𝑋</m:t>
                    </m:r>
                  </m:oMath>
                </a14:m>
                <a:r>
                  <a:rPr lang="en-US" sz="3200" dirty="0"/>
                  <a:t> to </a:t>
                </a:r>
                <a14:m>
                  <m:oMath xmlns:m="http://schemas.openxmlformats.org/officeDocument/2006/math">
                    <m:r>
                      <a:rPr lang="en-US" sz="3200" i="1" dirty="0" smtClean="0">
                        <a:latin typeface="Cambria Math" panose="02040503050406030204" pitchFamily="18" charset="0"/>
                      </a:rPr>
                      <m:t>𝑦</m:t>
                    </m:r>
                  </m:oMath>
                </a14:m>
                <a:endParaRPr lang="en-US" sz="3200" dirty="0"/>
              </a:p>
              <a:p>
                <a:pPr algn="just"/>
                <a:r>
                  <a:rPr lang="en-US" sz="3200" b="1" dirty="0"/>
                  <a:t>Cost</a:t>
                </a:r>
                <a:r>
                  <a:rPr lang="en-US" sz="3200" dirty="0"/>
                  <a:t> - is a way to, using your training data, determine values for your θ values which make the hypothesis as accurate as possible</a:t>
                </a:r>
              </a:p>
              <a:p>
                <a:pPr algn="just"/>
                <a:r>
                  <a:rPr lang="en-US" sz="3200" dirty="0">
                    <a:solidFill>
                      <a:srgbClr val="FF0000"/>
                    </a:solidFill>
                  </a:rPr>
                  <a:t>A cost function is a measure of error between what value your model predicts and what the value actually is</a:t>
                </a:r>
              </a:p>
              <a:p>
                <a:pPr algn="just"/>
                <a:endParaRPr lang="en-US" sz="3200" dirty="0"/>
              </a:p>
              <a:p>
                <a:pPr lvl="1"/>
                <a:endParaRPr lang="en-US" sz="3200" dirty="0"/>
              </a:p>
            </p:txBody>
          </p:sp>
        </mc:Choice>
        <mc:Fallback xmlns="">
          <p:sp>
            <p:nvSpPr>
              <p:cNvPr id="44" name="TextBox 43"/>
              <p:cNvSpPr txBox="1">
                <a:spLocks noRot="1" noChangeAspect="1" noMove="1" noResize="1" noEditPoints="1" noAdjustHandles="1" noChangeArrowheads="1" noChangeShapeType="1" noTextEdit="1"/>
              </p:cNvSpPr>
              <p:nvPr/>
            </p:nvSpPr>
            <p:spPr>
              <a:xfrm>
                <a:off x="0" y="10460"/>
                <a:ext cx="12192000" cy="4031873"/>
              </a:xfrm>
              <a:prstGeom prst="rect">
                <a:avLst/>
              </a:prstGeom>
              <a:blipFill>
                <a:blip r:embed="rId2"/>
                <a:stretch>
                  <a:fillRect l="-1250" t="-1967" r="-125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8A22469-3ADA-43E0-8422-105D3F8DF242}"/>
              </a:ext>
            </a:extLst>
          </p:cNvPr>
          <p:cNvSpPr txBox="1"/>
          <p:nvPr/>
        </p:nvSpPr>
        <p:spPr>
          <a:xfrm>
            <a:off x="0" y="3196035"/>
            <a:ext cx="12192000" cy="3539430"/>
          </a:xfrm>
          <a:prstGeom prst="rect">
            <a:avLst/>
          </a:prstGeom>
          <a:noFill/>
        </p:spPr>
        <p:txBody>
          <a:bodyPr wrap="square" rtlCol="0">
            <a:spAutoFit/>
          </a:bodyPr>
          <a:lstStyle/>
          <a:p>
            <a:pPr lvl="1"/>
            <a:r>
              <a:rPr lang="en-US" sz="3200" dirty="0">
                <a:solidFill>
                  <a:srgbClr val="FF0000"/>
                </a:solidFill>
              </a:rPr>
              <a:t>Loss function (error) is for a single training example, while the cost function is over the entire training set</a:t>
            </a:r>
          </a:p>
          <a:p>
            <a:pPr lvl="1"/>
            <a:r>
              <a:rPr lang="en-US" sz="3200" dirty="0"/>
              <a:t>This cost function is also called the </a:t>
            </a:r>
            <a:r>
              <a:rPr lang="en-US" sz="3200" b="1" dirty="0">
                <a:solidFill>
                  <a:srgbClr val="7030A0"/>
                </a:solidFill>
              </a:rPr>
              <a:t>squared error cost function.</a:t>
            </a:r>
          </a:p>
          <a:p>
            <a:pPr lvl="1"/>
            <a:r>
              <a:rPr lang="en-US" sz="3200" dirty="0"/>
              <a:t>This cost function is reasonable choice for </a:t>
            </a:r>
            <a:r>
              <a:rPr lang="en-US" sz="3200" b="1" dirty="0">
                <a:solidFill>
                  <a:srgbClr val="7030A0"/>
                </a:solidFill>
              </a:rPr>
              <a:t>most regression functions.</a:t>
            </a:r>
          </a:p>
          <a:p>
            <a:pPr lvl="1"/>
            <a:r>
              <a:rPr lang="en-US" sz="3200" dirty="0"/>
              <a:t>Probably </a:t>
            </a:r>
            <a:r>
              <a:rPr lang="en-US" sz="3200" b="1" dirty="0">
                <a:solidFill>
                  <a:srgbClr val="7030A0"/>
                </a:solidFill>
              </a:rPr>
              <a:t>most commonly used </a:t>
            </a:r>
            <a:r>
              <a:rPr lang="en-US" sz="3200" dirty="0"/>
              <a:t>function.</a:t>
            </a:r>
          </a:p>
          <a:p>
            <a:pPr lvl="1"/>
            <a:r>
              <a:rPr lang="en-US" sz="3200" dirty="0"/>
              <a:t>Various Regression Loss Functions: Mean Squared, Mean Squared Logarithmic, Mean Absolute, Root-mean-square</a:t>
            </a:r>
          </a:p>
        </p:txBody>
      </p:sp>
      <p:pic>
        <p:nvPicPr>
          <p:cNvPr id="4" name="Picture 3">
            <a:extLst>
              <a:ext uri="{FF2B5EF4-FFF2-40B4-BE49-F238E27FC236}">
                <a16:creationId xmlns:a16="http://schemas.microsoft.com/office/drawing/2014/main" id="{6C8074A4-2BF7-4531-8FEB-A17E11F4919B}"/>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48151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219199" y="1193800"/>
            <a:ext cx="3015311" cy="419576"/>
          </a:xfrm>
          <a:prstGeom prst="rect">
            <a:avLst/>
          </a:prstGeom>
        </p:spPr>
      </p:pic>
      <p:sp>
        <p:nvSpPr>
          <p:cNvPr id="10" name="TextBox 9"/>
          <p:cNvSpPr txBox="1"/>
          <p:nvPr/>
        </p:nvSpPr>
        <p:spPr>
          <a:xfrm>
            <a:off x="406400" y="482601"/>
            <a:ext cx="2143536" cy="584775"/>
          </a:xfrm>
          <a:prstGeom prst="rect">
            <a:avLst/>
          </a:prstGeom>
          <a:noFill/>
        </p:spPr>
        <p:txBody>
          <a:bodyPr wrap="none" rtlCol="0">
            <a:spAutoFit/>
          </a:bodyPr>
          <a:lstStyle/>
          <a:p>
            <a:r>
              <a:rPr lang="en-US" sz="3200" dirty="0"/>
              <a:t>Hypothesis:</a:t>
            </a:r>
          </a:p>
        </p:txBody>
      </p:sp>
      <p:pic>
        <p:nvPicPr>
          <p:cNvPr id="20" name="Picture 19"/>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250613" y="2646861"/>
            <a:ext cx="882988" cy="375740"/>
          </a:xfrm>
          <a:prstGeom prst="rect">
            <a:avLst/>
          </a:prstGeom>
        </p:spPr>
      </p:pic>
      <p:sp>
        <p:nvSpPr>
          <p:cNvPr id="15" name="TextBox 14"/>
          <p:cNvSpPr txBox="1"/>
          <p:nvPr/>
        </p:nvSpPr>
        <p:spPr>
          <a:xfrm>
            <a:off x="406400" y="1970750"/>
            <a:ext cx="2189638" cy="584775"/>
          </a:xfrm>
          <a:prstGeom prst="rect">
            <a:avLst/>
          </a:prstGeom>
          <a:noFill/>
        </p:spPr>
        <p:txBody>
          <a:bodyPr wrap="none" rtlCol="0">
            <a:spAutoFit/>
          </a:bodyPr>
          <a:lstStyle/>
          <a:p>
            <a:r>
              <a:rPr lang="en-US" sz="3200" dirty="0"/>
              <a:t>Parameters:</a:t>
            </a:r>
          </a:p>
        </p:txBody>
      </p:sp>
      <p:pic>
        <p:nvPicPr>
          <p:cNvPr id="13" name="Picture 12"/>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219200" y="4054856"/>
            <a:ext cx="5080000" cy="713905"/>
          </a:xfrm>
          <a:prstGeom prst="rect">
            <a:avLst/>
          </a:prstGeom>
        </p:spPr>
      </p:pic>
      <p:sp>
        <p:nvSpPr>
          <p:cNvPr id="17" name="TextBox 16"/>
          <p:cNvSpPr txBox="1"/>
          <p:nvPr/>
        </p:nvSpPr>
        <p:spPr>
          <a:xfrm>
            <a:off x="406400" y="3458899"/>
            <a:ext cx="2578142" cy="584775"/>
          </a:xfrm>
          <a:prstGeom prst="rect">
            <a:avLst/>
          </a:prstGeom>
          <a:noFill/>
        </p:spPr>
        <p:txBody>
          <a:bodyPr wrap="none" rtlCol="0">
            <a:spAutoFit/>
          </a:bodyPr>
          <a:lstStyle/>
          <a:p>
            <a:r>
              <a:rPr lang="en-US" sz="3200" dirty="0"/>
              <a:t>Cost Function:</a:t>
            </a:r>
          </a:p>
        </p:txBody>
      </p:sp>
      <p:pic>
        <p:nvPicPr>
          <p:cNvPr id="7" name="Picture 6"/>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1614424" y="5225512"/>
            <a:ext cx="3247017" cy="641889"/>
          </a:xfrm>
          <a:prstGeom prst="rect">
            <a:avLst/>
          </a:prstGeom>
        </p:spPr>
      </p:pic>
      <p:sp>
        <p:nvSpPr>
          <p:cNvPr id="19" name="TextBox 18"/>
          <p:cNvSpPr txBox="1"/>
          <p:nvPr/>
        </p:nvSpPr>
        <p:spPr>
          <a:xfrm>
            <a:off x="406400" y="5102719"/>
            <a:ext cx="1063112" cy="584775"/>
          </a:xfrm>
          <a:prstGeom prst="rect">
            <a:avLst/>
          </a:prstGeom>
          <a:noFill/>
        </p:spPr>
        <p:txBody>
          <a:bodyPr wrap="none" rtlCol="0">
            <a:spAutoFit/>
          </a:bodyPr>
          <a:lstStyle/>
          <a:p>
            <a:r>
              <a:rPr lang="en-US" sz="3200" dirty="0"/>
              <a:t>Goal:</a:t>
            </a:r>
          </a:p>
        </p:txBody>
      </p:sp>
      <p:cxnSp>
        <p:nvCxnSpPr>
          <p:cNvPr id="30" name="Straight Connector 29"/>
          <p:cNvCxnSpPr/>
          <p:nvPr/>
        </p:nvCxnSpPr>
        <p:spPr>
          <a:xfrm>
            <a:off x="6807200" y="755733"/>
            <a:ext cx="0" cy="52832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7127951" y="1092200"/>
            <a:ext cx="2399216" cy="474181"/>
          </a:xfrm>
          <a:prstGeom prst="rect">
            <a:avLst/>
          </a:prstGeom>
        </p:spPr>
      </p:pic>
      <p:pic>
        <p:nvPicPr>
          <p:cNvPr id="37" name="Picture 36"/>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7112000" y="2514600"/>
            <a:ext cx="357405" cy="403408"/>
          </a:xfrm>
          <a:prstGeom prst="rect">
            <a:avLst/>
          </a:prstGeom>
        </p:spPr>
      </p:pic>
      <p:pic>
        <p:nvPicPr>
          <p:cNvPr id="14" name="Picture 13"/>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7010401" y="3942985"/>
            <a:ext cx="4988559" cy="769756"/>
          </a:xfrm>
          <a:prstGeom prst="rect">
            <a:avLst/>
          </a:prstGeom>
        </p:spPr>
      </p:pic>
      <p:pic>
        <p:nvPicPr>
          <p:cNvPr id="9" name="Picture 8"/>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7010400" y="5202728"/>
            <a:ext cx="2844800" cy="664673"/>
          </a:xfrm>
          <a:prstGeom prst="rect">
            <a:avLst/>
          </a:prstGeom>
        </p:spPr>
      </p:pic>
      <p:sp>
        <p:nvSpPr>
          <p:cNvPr id="35" name="TextBox 34"/>
          <p:cNvSpPr txBox="1"/>
          <p:nvPr/>
        </p:nvSpPr>
        <p:spPr>
          <a:xfrm>
            <a:off x="8331201" y="76201"/>
            <a:ext cx="1842171" cy="584775"/>
          </a:xfrm>
          <a:prstGeom prst="rect">
            <a:avLst/>
          </a:prstGeom>
          <a:noFill/>
        </p:spPr>
        <p:txBody>
          <a:bodyPr wrap="none" rtlCol="0">
            <a:spAutoFit/>
          </a:bodyPr>
          <a:lstStyle/>
          <a:p>
            <a:r>
              <a:rPr lang="en-US" sz="3200" u="sng" dirty="0"/>
              <a:t>Simplified</a:t>
            </a:r>
          </a:p>
        </p:txBody>
      </p:sp>
      <p:pic>
        <p:nvPicPr>
          <p:cNvPr id="16" name="Picture 15">
            <a:extLst>
              <a:ext uri="{FF2B5EF4-FFF2-40B4-BE49-F238E27FC236}">
                <a16:creationId xmlns:a16="http://schemas.microsoft.com/office/drawing/2014/main" id="{547161DF-A3F2-4B80-9E5A-21EFEB2990D9}"/>
              </a:ext>
            </a:extLst>
          </p:cNvPr>
          <p:cNvPicPr>
            <a:picLocks noChangeAspect="1"/>
          </p:cNvPicPr>
          <p:nvPr/>
        </p:nvPicPr>
        <p:blipFill>
          <a:blip r:embed="rId18"/>
          <a:stretch>
            <a:fillRect/>
          </a:stretch>
        </p:blipFill>
        <p:spPr>
          <a:xfrm>
            <a:off x="10922000" y="6438901"/>
            <a:ext cx="1270000" cy="419100"/>
          </a:xfrm>
          <a:prstGeom prst="rect">
            <a:avLst/>
          </a:prstGeom>
        </p:spPr>
      </p:pic>
      <p:sp>
        <p:nvSpPr>
          <p:cNvPr id="3" name="TextBox 2">
            <a:extLst>
              <a:ext uri="{FF2B5EF4-FFF2-40B4-BE49-F238E27FC236}">
                <a16:creationId xmlns:a16="http://schemas.microsoft.com/office/drawing/2014/main" id="{2922C1FC-6C20-F667-BF3F-80B9B4377082}"/>
              </a:ext>
            </a:extLst>
          </p:cNvPr>
          <p:cNvSpPr txBox="1"/>
          <p:nvPr/>
        </p:nvSpPr>
        <p:spPr>
          <a:xfrm>
            <a:off x="-1" y="5889197"/>
            <a:ext cx="6680711" cy="954107"/>
          </a:xfrm>
          <a:prstGeom prst="rect">
            <a:avLst/>
          </a:prstGeom>
          <a:noFill/>
        </p:spPr>
        <p:txBody>
          <a:bodyPr wrap="square">
            <a:spAutoFit/>
          </a:bodyPr>
          <a:lstStyle/>
          <a:p>
            <a:r>
              <a:rPr lang="en-US" sz="2800" dirty="0">
                <a:solidFill>
                  <a:srgbClr val="FF0000"/>
                </a:solidFill>
              </a:rPr>
              <a:t>Find best values of θ</a:t>
            </a:r>
            <a:r>
              <a:rPr lang="en-US" sz="2800" baseline="-25000" dirty="0">
                <a:solidFill>
                  <a:srgbClr val="FF0000"/>
                </a:solidFill>
              </a:rPr>
              <a:t>0</a:t>
            </a:r>
            <a:r>
              <a:rPr lang="en-US" sz="2800" dirty="0">
                <a:solidFill>
                  <a:srgbClr val="FF0000"/>
                </a:solidFill>
              </a:rPr>
              <a:t> and</a:t>
            </a:r>
            <a:r>
              <a:rPr lang="en-US" sz="2800" baseline="-25000" dirty="0">
                <a:solidFill>
                  <a:srgbClr val="FF0000"/>
                </a:solidFill>
              </a:rPr>
              <a:t> </a:t>
            </a:r>
            <a:r>
              <a:rPr lang="en-US" sz="2800" dirty="0">
                <a:solidFill>
                  <a:srgbClr val="FF0000"/>
                </a:solidFill>
              </a:rPr>
              <a:t>θ</a:t>
            </a:r>
            <a:r>
              <a:rPr lang="en-US" sz="2800" baseline="-25000" dirty="0">
                <a:solidFill>
                  <a:srgbClr val="FF0000"/>
                </a:solidFill>
              </a:rPr>
              <a:t>1 </a:t>
            </a:r>
            <a:r>
              <a:rPr lang="en-US" sz="2800" dirty="0">
                <a:solidFill>
                  <a:srgbClr val="FF0000"/>
                </a:solidFill>
              </a:rPr>
              <a:t>so that J(θ</a:t>
            </a:r>
            <a:r>
              <a:rPr lang="en-US" sz="2800" baseline="-25000" dirty="0">
                <a:solidFill>
                  <a:srgbClr val="FF0000"/>
                </a:solidFill>
              </a:rPr>
              <a:t>0</a:t>
            </a:r>
            <a:r>
              <a:rPr lang="en-US" sz="2800" dirty="0">
                <a:solidFill>
                  <a:srgbClr val="FF0000"/>
                </a:solidFill>
              </a:rPr>
              <a:t>,θ</a:t>
            </a:r>
            <a:r>
              <a:rPr lang="en-US" sz="2800" baseline="-25000" dirty="0">
                <a:solidFill>
                  <a:srgbClr val="FF0000"/>
                </a:solidFill>
              </a:rPr>
              <a:t>1</a:t>
            </a:r>
            <a:r>
              <a:rPr lang="en-US" sz="2800" dirty="0">
                <a:solidFill>
                  <a:srgbClr val="FF0000"/>
                </a:solidFill>
              </a:rPr>
              <a:t>) is minimum </a:t>
            </a:r>
          </a:p>
        </p:txBody>
      </p:sp>
      <p:sp>
        <p:nvSpPr>
          <p:cNvPr id="4" name="TextBox 3">
            <a:extLst>
              <a:ext uri="{FF2B5EF4-FFF2-40B4-BE49-F238E27FC236}">
                <a16:creationId xmlns:a16="http://schemas.microsoft.com/office/drawing/2014/main" id="{53A199C0-EE32-7D1C-543D-8B8962A63A9D}"/>
              </a:ext>
            </a:extLst>
          </p:cNvPr>
          <p:cNvSpPr txBox="1"/>
          <p:nvPr/>
        </p:nvSpPr>
        <p:spPr>
          <a:xfrm>
            <a:off x="6825622" y="5863196"/>
            <a:ext cx="5319267" cy="954107"/>
          </a:xfrm>
          <a:prstGeom prst="rect">
            <a:avLst/>
          </a:prstGeom>
          <a:noFill/>
        </p:spPr>
        <p:txBody>
          <a:bodyPr wrap="square">
            <a:spAutoFit/>
          </a:bodyPr>
          <a:lstStyle/>
          <a:p>
            <a:r>
              <a:rPr lang="en-US" sz="2800" dirty="0">
                <a:solidFill>
                  <a:srgbClr val="FF0000"/>
                </a:solidFill>
              </a:rPr>
              <a:t>Find best values of θ</a:t>
            </a:r>
            <a:r>
              <a:rPr lang="en-US" sz="2800" baseline="-25000" dirty="0">
                <a:solidFill>
                  <a:srgbClr val="FF0000"/>
                </a:solidFill>
              </a:rPr>
              <a:t>1 </a:t>
            </a:r>
            <a:r>
              <a:rPr lang="en-US" sz="2800" dirty="0">
                <a:solidFill>
                  <a:srgbClr val="FF0000"/>
                </a:solidFill>
              </a:rPr>
              <a:t>so that J(θ</a:t>
            </a:r>
            <a:r>
              <a:rPr lang="en-US" sz="2800" baseline="-25000" dirty="0">
                <a:solidFill>
                  <a:srgbClr val="FF0000"/>
                </a:solidFill>
              </a:rPr>
              <a:t>1</a:t>
            </a:r>
            <a:r>
              <a:rPr lang="en-US" sz="2800" dirty="0">
                <a:solidFill>
                  <a:srgbClr val="FF0000"/>
                </a:solidFill>
              </a:rPr>
              <a:t>) is minimum </a:t>
            </a:r>
          </a:p>
        </p:txBody>
      </p:sp>
      <p:sp>
        <p:nvSpPr>
          <p:cNvPr id="5" name="TextBox 4">
            <a:extLst>
              <a:ext uri="{FF2B5EF4-FFF2-40B4-BE49-F238E27FC236}">
                <a16:creationId xmlns:a16="http://schemas.microsoft.com/office/drawing/2014/main" id="{57E0465E-3A7C-C685-6ACC-11CBD6165371}"/>
              </a:ext>
            </a:extLst>
          </p:cNvPr>
          <p:cNvSpPr txBox="1"/>
          <p:nvPr/>
        </p:nvSpPr>
        <p:spPr>
          <a:xfrm>
            <a:off x="9665854" y="183922"/>
            <a:ext cx="2526146" cy="369332"/>
          </a:xfrm>
          <a:prstGeom prst="rect">
            <a:avLst/>
          </a:prstGeom>
          <a:noFill/>
        </p:spPr>
        <p:txBody>
          <a:bodyPr wrap="square">
            <a:spAutoFit/>
          </a:bodyPr>
          <a:lstStyle/>
          <a:p>
            <a:pPr lvl="1"/>
            <a:r>
              <a:rPr lang="en-US" sz="1800" dirty="0">
                <a:solidFill>
                  <a:srgbClr val="FF0000"/>
                </a:solidFill>
              </a:rPr>
              <a:t>Assumes θ</a:t>
            </a:r>
            <a:r>
              <a:rPr lang="en-US" sz="1800" baseline="-25000" dirty="0">
                <a:solidFill>
                  <a:srgbClr val="FF0000"/>
                </a:solidFill>
              </a:rPr>
              <a:t>0</a:t>
            </a:r>
            <a:r>
              <a:rPr lang="en-US" sz="1800" dirty="0">
                <a:solidFill>
                  <a:srgbClr val="FF0000"/>
                </a:solidFill>
              </a:rPr>
              <a:t> = 0</a:t>
            </a:r>
          </a:p>
        </p:txBody>
      </p:sp>
    </p:spTree>
    <p:extLst>
      <p:ext uri="{BB962C8B-B14F-4D97-AF65-F5344CB8AC3E}">
        <p14:creationId xmlns:p14="http://schemas.microsoft.com/office/powerpoint/2010/main" val="97038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9"/>
          <p:cNvSpPr txBox="1"/>
          <p:nvPr/>
        </p:nvSpPr>
        <p:spPr>
          <a:xfrm>
            <a:off x="406400" y="482601"/>
            <a:ext cx="11379200" cy="2965364"/>
          </a:xfrm>
          <a:prstGeom prst="rect">
            <a:avLst/>
          </a:prstGeom>
          <a:noFill/>
        </p:spPr>
        <p:txBody>
          <a:bodyPr wrap="square" rtlCol="0">
            <a:spAutoFit/>
          </a:bodyPr>
          <a:lstStyle/>
          <a:p>
            <a:r>
              <a:rPr lang="en-US" sz="2667" dirty="0"/>
              <a:t>Lets consider some intuition about the cost function and why we want to use it</a:t>
            </a:r>
          </a:p>
          <a:p>
            <a:pPr marL="990575" lvl="1" indent="-380990">
              <a:buFont typeface="Wingdings" panose="05000000000000000000" pitchFamily="2" charset="2"/>
              <a:buChar char="ü"/>
            </a:pPr>
            <a:r>
              <a:rPr lang="en-US" sz="2667" dirty="0"/>
              <a:t>The cost function determines parameters</a:t>
            </a:r>
          </a:p>
          <a:p>
            <a:pPr marL="990575" lvl="1" indent="-380990">
              <a:buFont typeface="Wingdings" panose="05000000000000000000" pitchFamily="2" charset="2"/>
              <a:buChar char="ü"/>
            </a:pPr>
            <a:r>
              <a:rPr lang="en-US" sz="2667" dirty="0"/>
              <a:t>The value associated with the parameters determines how your hypothesis behaves, with different values generate different </a:t>
            </a:r>
          </a:p>
          <a:p>
            <a:pPr marL="990575" lvl="1" indent="-380990">
              <a:buFont typeface="Wingdings" panose="05000000000000000000" pitchFamily="2" charset="2"/>
              <a:buChar char="ü"/>
            </a:pPr>
            <a:r>
              <a:rPr lang="en-US" sz="2667" dirty="0"/>
              <a:t>Simplified hypothesis </a:t>
            </a:r>
          </a:p>
          <a:p>
            <a:pPr lvl="1"/>
            <a:endParaRPr lang="en-US" sz="2667" dirty="0"/>
          </a:p>
          <a:p>
            <a:pPr lvl="1"/>
            <a:r>
              <a:rPr lang="en-US" sz="2667" dirty="0"/>
              <a:t>Assumes θ</a:t>
            </a:r>
            <a:r>
              <a:rPr lang="en-US" sz="2667" baseline="-25000" dirty="0"/>
              <a:t>0</a:t>
            </a:r>
            <a:r>
              <a:rPr lang="en-US" sz="2667" dirty="0"/>
              <a:t> = 0</a:t>
            </a:r>
          </a:p>
        </p:txBody>
      </p:sp>
      <p:pic>
        <p:nvPicPr>
          <p:cNvPr id="3" name="Picture 2">
            <a:extLst>
              <a:ext uri="{FF2B5EF4-FFF2-40B4-BE49-F238E27FC236}">
                <a16:creationId xmlns:a16="http://schemas.microsoft.com/office/drawing/2014/main" id="{D0F0115A-9B66-4DB9-BE75-82990A3E9AD2}"/>
              </a:ext>
            </a:extLst>
          </p:cNvPr>
          <p:cNvPicPr>
            <a:picLocks noChangeAspect="1"/>
          </p:cNvPicPr>
          <p:nvPr/>
        </p:nvPicPr>
        <p:blipFill>
          <a:blip r:embed="rId2"/>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605118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982DEE7E-070A-49FD-951B-7A993B447DC8}"/>
              </a:ext>
            </a:extLst>
          </p:cNvPr>
          <p:cNvSpPr txBox="1"/>
          <p:nvPr/>
        </p:nvSpPr>
        <p:spPr>
          <a:xfrm>
            <a:off x="609600" y="1803401"/>
            <a:ext cx="11379200" cy="2062103"/>
          </a:xfrm>
          <a:prstGeom prst="rect">
            <a:avLst/>
          </a:prstGeom>
          <a:noFill/>
        </p:spPr>
        <p:txBody>
          <a:bodyPr wrap="square" rtlCol="0">
            <a:spAutoFit/>
          </a:bodyPr>
          <a:lstStyle/>
          <a:p>
            <a:r>
              <a:rPr lang="en-US" sz="3200" dirty="0"/>
              <a:t>Cost function and goal here are very similar to when we have θ</a:t>
            </a:r>
            <a:r>
              <a:rPr lang="en-US" sz="3200" baseline="-25000" dirty="0"/>
              <a:t>0</a:t>
            </a:r>
            <a:r>
              <a:rPr lang="en-US" sz="3200" dirty="0"/>
              <a:t>, but with a simpler parameter</a:t>
            </a:r>
          </a:p>
          <a:p>
            <a:pPr marL="380990" indent="-380990">
              <a:buFont typeface="Wingdings" panose="05000000000000000000" pitchFamily="2" charset="2"/>
              <a:buChar char="ü"/>
            </a:pPr>
            <a:r>
              <a:rPr lang="en-US" sz="3200" dirty="0"/>
              <a:t>Simplified hypothesis makes visualizing cost function J() a bit easier</a:t>
            </a:r>
          </a:p>
        </p:txBody>
      </p:sp>
      <p:pic>
        <p:nvPicPr>
          <p:cNvPr id="3" name="Picture 2">
            <a:extLst>
              <a:ext uri="{FF2B5EF4-FFF2-40B4-BE49-F238E27FC236}">
                <a16:creationId xmlns:a16="http://schemas.microsoft.com/office/drawing/2014/main" id="{1D7494A0-CF3D-4A4A-9083-CBB41B5BA4AC}"/>
              </a:ext>
            </a:extLst>
          </p:cNvPr>
          <p:cNvPicPr>
            <a:picLocks noChangeAspect="1"/>
          </p:cNvPicPr>
          <p:nvPr/>
        </p:nvPicPr>
        <p:blipFill>
          <a:blip r:embed="rId2"/>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97632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1125697523"/>
              </p:ext>
            </p:extLst>
          </p:nvPr>
        </p:nvGraphicFramePr>
        <p:xfrm>
          <a:off x="711200" y="1558967"/>
          <a:ext cx="4226560" cy="3581400"/>
        </p:xfrm>
        <a:graphic>
          <a:graphicData uri="http://schemas.openxmlformats.org/drawingml/2006/chart">
            <c:chart xmlns:c="http://schemas.openxmlformats.org/drawingml/2006/chart" xmlns:r="http://schemas.openxmlformats.org/officeDocument/2006/relationships" r:id="rId11"/>
          </a:graphicData>
        </a:graphic>
      </p:graphicFrame>
      <p:sp>
        <p:nvSpPr>
          <p:cNvPr id="16" name="TextBox 15"/>
          <p:cNvSpPr txBox="1"/>
          <p:nvPr/>
        </p:nvSpPr>
        <p:spPr>
          <a:xfrm>
            <a:off x="304800" y="2803567"/>
            <a:ext cx="370614" cy="584775"/>
          </a:xfrm>
          <a:prstGeom prst="rect">
            <a:avLst/>
          </a:prstGeom>
          <a:noFill/>
        </p:spPr>
        <p:txBody>
          <a:bodyPr wrap="none" rtlCol="0">
            <a:spAutoFit/>
          </a:bodyPr>
          <a:lstStyle/>
          <a:p>
            <a:r>
              <a:rPr lang="en-US" sz="3200" dirty="0"/>
              <a:t>y</a:t>
            </a:r>
          </a:p>
        </p:txBody>
      </p:sp>
      <p:sp>
        <p:nvSpPr>
          <p:cNvPr id="17" name="TextBox 16"/>
          <p:cNvSpPr txBox="1"/>
          <p:nvPr/>
        </p:nvSpPr>
        <p:spPr>
          <a:xfrm>
            <a:off x="2743200" y="4728014"/>
            <a:ext cx="362600" cy="584775"/>
          </a:xfrm>
          <a:prstGeom prst="rect">
            <a:avLst/>
          </a:prstGeom>
          <a:noFill/>
        </p:spPr>
        <p:txBody>
          <a:bodyPr wrap="none" rtlCol="0">
            <a:spAutoFit/>
          </a:bodyPr>
          <a:lstStyle/>
          <a:p>
            <a:r>
              <a:rPr lang="en-US" sz="3200" dirty="0"/>
              <a:t>x</a:t>
            </a:r>
          </a:p>
        </p:txBody>
      </p:sp>
      <p:cxnSp>
        <p:nvCxnSpPr>
          <p:cNvPr id="20" name="Straight Connector 19"/>
          <p:cNvCxnSpPr/>
          <p:nvPr/>
        </p:nvCxnSpPr>
        <p:spPr>
          <a:xfrm flipV="1">
            <a:off x="975360" y="1524000"/>
            <a:ext cx="4084320" cy="3139440"/>
          </a:xfrm>
          <a:prstGeom prst="line">
            <a:avLst/>
          </a:prstGeom>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5080000" y="1679856"/>
            <a:ext cx="724205" cy="326745"/>
          </a:xfrm>
          <a:prstGeom prst="rect">
            <a:avLst/>
          </a:prstGeom>
        </p:spPr>
      </p:pic>
      <p:pic>
        <p:nvPicPr>
          <p:cNvPr id="29" name="Picture 28"/>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4084320" y="2294910"/>
            <a:ext cx="853440" cy="277977"/>
          </a:xfrm>
          <a:prstGeom prst="rect">
            <a:avLst/>
          </a:prstGeom>
        </p:spPr>
      </p:pic>
      <p:sp>
        <p:nvSpPr>
          <p:cNvPr id="30" name="TextBox 29"/>
          <p:cNvSpPr txBox="1"/>
          <p:nvPr/>
        </p:nvSpPr>
        <p:spPr>
          <a:xfrm>
            <a:off x="736971" y="771568"/>
            <a:ext cx="4466094" cy="461665"/>
          </a:xfrm>
          <a:prstGeom prst="rect">
            <a:avLst/>
          </a:prstGeom>
          <a:noFill/>
        </p:spPr>
        <p:txBody>
          <a:bodyPr wrap="none" rtlCol="0">
            <a:spAutoFit/>
          </a:bodyPr>
          <a:lstStyle/>
          <a:p>
            <a:r>
              <a:rPr lang="en-US" sz="2400" dirty="0"/>
              <a:t>(for fixed     , this is a function of x)</a:t>
            </a:r>
          </a:p>
        </p:txBody>
      </p:sp>
      <p:pic>
        <p:nvPicPr>
          <p:cNvPr id="33" name="Picture 32"/>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2045461" y="889001"/>
            <a:ext cx="246279" cy="277977"/>
          </a:xfrm>
          <a:prstGeom prst="rect">
            <a:avLst/>
          </a:prstGeom>
        </p:spPr>
      </p:pic>
      <p:cxnSp>
        <p:nvCxnSpPr>
          <p:cNvPr id="34" name="Straight Connector 33"/>
          <p:cNvCxnSpPr/>
          <p:nvPr/>
        </p:nvCxnSpPr>
        <p:spPr>
          <a:xfrm>
            <a:off x="6197600" y="755733"/>
            <a:ext cx="0" cy="52832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38" name="Picture 37"/>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8734379" y="279400"/>
            <a:ext cx="883920" cy="408432"/>
          </a:xfrm>
          <a:prstGeom prst="rect">
            <a:avLst/>
          </a:prstGeom>
        </p:spPr>
      </p:pic>
      <p:sp>
        <p:nvSpPr>
          <p:cNvPr id="36" name="TextBox 35"/>
          <p:cNvSpPr txBox="1"/>
          <p:nvPr/>
        </p:nvSpPr>
        <p:spPr>
          <a:xfrm>
            <a:off x="6861246" y="771568"/>
            <a:ext cx="4027000" cy="461665"/>
          </a:xfrm>
          <a:prstGeom prst="rect">
            <a:avLst/>
          </a:prstGeom>
          <a:noFill/>
        </p:spPr>
        <p:txBody>
          <a:bodyPr wrap="none" rtlCol="0">
            <a:spAutoFit/>
          </a:bodyPr>
          <a:lstStyle/>
          <a:p>
            <a:r>
              <a:rPr lang="en-US" sz="2400" dirty="0"/>
              <a:t>(function of the parameter      )</a:t>
            </a:r>
          </a:p>
        </p:txBody>
      </p:sp>
      <p:pic>
        <p:nvPicPr>
          <p:cNvPr id="37" name="Picture 36"/>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10421722" y="889001"/>
            <a:ext cx="246279" cy="277977"/>
          </a:xfrm>
          <a:prstGeom prst="rect">
            <a:avLst/>
          </a:prstGeom>
        </p:spPr>
      </p:pic>
      <p:grpSp>
        <p:nvGrpSpPr>
          <p:cNvPr id="49" name="Group 48"/>
          <p:cNvGrpSpPr/>
          <p:nvPr/>
        </p:nvGrpSpPr>
        <p:grpSpPr>
          <a:xfrm>
            <a:off x="6608064" y="1473200"/>
            <a:ext cx="5177536" cy="3886200"/>
            <a:chOff x="4956048" y="1104900"/>
            <a:chExt cx="3883152" cy="2914650"/>
          </a:xfrm>
        </p:grpSpPr>
        <p:graphicFrame>
          <p:nvGraphicFramePr>
            <p:cNvPr id="40" name="Chart 39"/>
            <p:cNvGraphicFramePr>
              <a:graphicFrameLocks/>
            </p:cNvGraphicFramePr>
            <p:nvPr/>
          </p:nvGraphicFramePr>
          <p:xfrm>
            <a:off x="5334000" y="1104900"/>
            <a:ext cx="3505200" cy="2686050"/>
          </p:xfrm>
          <a:graphic>
            <a:graphicData uri="http://schemas.openxmlformats.org/drawingml/2006/chart">
              <c:chart xmlns:c="http://schemas.openxmlformats.org/drawingml/2006/chart" xmlns:r="http://schemas.openxmlformats.org/officeDocument/2006/relationships" r:id="rId16"/>
            </a:graphicData>
          </a:graphic>
        </p:graphicFrame>
        <p:pic>
          <p:nvPicPr>
            <p:cNvPr id="48" name="Picture 47"/>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4956048" y="2132859"/>
              <a:ext cx="530352" cy="245059"/>
            </a:xfrm>
            <a:prstGeom prst="rect">
              <a:avLst/>
            </a:prstGeom>
          </p:spPr>
        </p:pic>
        <p:pic>
          <p:nvPicPr>
            <p:cNvPr id="47" name="Picture 46"/>
            <p:cNvPicPr>
              <a:picLocks noChangeAspect="1"/>
            </p:cNvPicPr>
            <p:nvPr>
              <p:custDataLst>
                <p:tags r:id="rId8"/>
              </p:custDataLst>
            </p:nvPr>
          </p:nvPicPr>
          <p:blipFill>
            <a:blip r:embed="rId14" cstate="print">
              <a:extLst>
                <a:ext uri="{28A0092B-C50C-407E-A947-70E740481C1C}">
                  <a14:useLocalDpi xmlns:a14="http://schemas.microsoft.com/office/drawing/2010/main" val="0"/>
                </a:ext>
              </a:extLst>
            </a:blip>
            <a:stretch>
              <a:fillRect/>
            </a:stretch>
          </p:blipFill>
          <p:spPr>
            <a:xfrm>
              <a:off x="7022276" y="3811067"/>
              <a:ext cx="184709" cy="208483"/>
            </a:xfrm>
            <a:prstGeom prst="rect">
              <a:avLst/>
            </a:prstGeom>
          </p:spPr>
        </p:pic>
      </p:grpSp>
      <p:sp>
        <p:nvSpPr>
          <p:cNvPr id="21" name="TextBox 20">
            <a:extLst>
              <a:ext uri="{FF2B5EF4-FFF2-40B4-BE49-F238E27FC236}">
                <a16:creationId xmlns:a16="http://schemas.microsoft.com/office/drawing/2014/main" id="{3D408DCF-8292-4371-8C2F-519F978548FE}"/>
              </a:ext>
            </a:extLst>
          </p:cNvPr>
          <p:cNvSpPr txBox="1"/>
          <p:nvPr/>
        </p:nvSpPr>
        <p:spPr>
          <a:xfrm rot="10800000" flipV="1">
            <a:off x="202991" y="5360000"/>
            <a:ext cx="3684939" cy="830997"/>
          </a:xfrm>
          <a:prstGeom prst="rect">
            <a:avLst/>
          </a:prstGeom>
          <a:noFill/>
        </p:spPr>
        <p:txBody>
          <a:bodyPr wrap="square" rtlCol="0">
            <a:spAutoFit/>
          </a:bodyPr>
          <a:lstStyle/>
          <a:p>
            <a:r>
              <a:rPr lang="en-US" sz="2400" dirty="0">
                <a:solidFill>
                  <a:srgbClr val="FF0000"/>
                </a:solidFill>
              </a:rPr>
              <a:t>θ</a:t>
            </a:r>
            <a:r>
              <a:rPr lang="en-US" sz="2400" baseline="-25000" dirty="0">
                <a:solidFill>
                  <a:srgbClr val="FF0000"/>
                </a:solidFill>
              </a:rPr>
              <a:t>1</a:t>
            </a:r>
            <a:r>
              <a:rPr lang="en-US" sz="2400" dirty="0">
                <a:solidFill>
                  <a:srgbClr val="FF0000"/>
                </a:solidFill>
              </a:rPr>
              <a:t> = 1</a:t>
            </a:r>
          </a:p>
          <a:p>
            <a:r>
              <a:rPr lang="en-US" sz="2400" dirty="0">
                <a:solidFill>
                  <a:srgbClr val="FF0000"/>
                </a:solidFill>
              </a:rPr>
              <a:t>J(θ</a:t>
            </a:r>
            <a:r>
              <a:rPr lang="en-US" sz="2400" baseline="-25000" dirty="0">
                <a:solidFill>
                  <a:srgbClr val="FF0000"/>
                </a:solidFill>
              </a:rPr>
              <a:t>1</a:t>
            </a:r>
            <a:r>
              <a:rPr lang="en-US" sz="2400" dirty="0">
                <a:solidFill>
                  <a:srgbClr val="FF0000"/>
                </a:solidFill>
              </a:rPr>
              <a:t>) = 0</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B0E886C-17C0-44E0-8375-1ED8C107F25A}"/>
                  </a:ext>
                </a:extLst>
              </p:cNvPr>
              <p:cNvSpPr txBox="1"/>
              <p:nvPr/>
            </p:nvSpPr>
            <p:spPr>
              <a:xfrm rot="10800000" flipV="1">
                <a:off x="2331586" y="5256306"/>
                <a:ext cx="3684939" cy="830997"/>
              </a:xfrm>
              <a:prstGeom prst="rect">
                <a:avLst/>
              </a:prstGeom>
              <a:noFill/>
            </p:spPr>
            <p:txBody>
              <a:bodyPr wrap="square" rtlCol="0">
                <a:spAutoFit/>
              </a:bodyPr>
              <a:lstStyle/>
              <a:p>
                <a:r>
                  <a:rPr lang="el-GR" sz="2400" dirty="0"/>
                  <a:t>θ</a:t>
                </a:r>
                <a:r>
                  <a:rPr lang="el-GR" sz="2400" baseline="-25000" dirty="0"/>
                  <a:t>1</a:t>
                </a:r>
                <a:r>
                  <a:rPr lang="el-GR" sz="2400" dirty="0"/>
                  <a:t> = 0.5</a:t>
                </a:r>
              </a:p>
              <a:p>
                <a:r>
                  <a:rPr lang="el-GR" sz="2400" dirty="0"/>
                  <a:t>J(θ</a:t>
                </a:r>
                <a:r>
                  <a:rPr lang="el-GR" sz="2400" baseline="-25000" dirty="0"/>
                  <a:t>1</a:t>
                </a:r>
                <a:r>
                  <a:rPr lang="el-GR" sz="2400" dirty="0"/>
                  <a:t>) </a:t>
                </a:r>
                <a14:m>
                  <m:oMath xmlns:m="http://schemas.openxmlformats.org/officeDocument/2006/math">
                    <m:r>
                      <a:rPr lang="el-GR" sz="2400" i="1" dirty="0" smtClean="0">
                        <a:latin typeface="Cambria Math" panose="02040503050406030204" pitchFamily="18" charset="0"/>
                        <a:ea typeface="Cambria Math" panose="02040503050406030204" pitchFamily="18" charset="0"/>
                      </a:rPr>
                      <m:t>≅</m:t>
                    </m:r>
                  </m:oMath>
                </a14:m>
                <a:r>
                  <a:rPr lang="el-GR" sz="2400" dirty="0"/>
                  <a:t>0.58</a:t>
                </a:r>
              </a:p>
            </p:txBody>
          </p:sp>
        </mc:Choice>
        <mc:Fallback xmlns="">
          <p:sp>
            <p:nvSpPr>
              <p:cNvPr id="22" name="TextBox 21">
                <a:extLst>
                  <a:ext uri="{FF2B5EF4-FFF2-40B4-BE49-F238E27FC236}">
                    <a16:creationId xmlns:a16="http://schemas.microsoft.com/office/drawing/2014/main" id="{6B0E886C-17C0-44E0-8375-1ED8C107F25A}"/>
                  </a:ext>
                </a:extLst>
              </p:cNvPr>
              <p:cNvSpPr txBox="1">
                <a:spLocks noRot="1" noChangeAspect="1" noMove="1" noResize="1" noEditPoints="1" noAdjustHandles="1" noChangeArrowheads="1" noChangeShapeType="1" noTextEdit="1"/>
              </p:cNvSpPr>
              <p:nvPr/>
            </p:nvSpPr>
            <p:spPr>
              <a:xfrm rot="10800000" flipV="1">
                <a:off x="2331586" y="5256306"/>
                <a:ext cx="3684939" cy="830997"/>
              </a:xfrm>
              <a:prstGeom prst="rect">
                <a:avLst/>
              </a:prstGeom>
              <a:blipFill>
                <a:blip r:embed="rId19"/>
                <a:stretch>
                  <a:fillRect l="-2479" t="-5839" b="-15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DB1A5A9-AAF3-4C4A-B889-B2E278DCE7E5}"/>
                  </a:ext>
                </a:extLst>
              </p:cNvPr>
              <p:cNvSpPr txBox="1"/>
              <p:nvPr/>
            </p:nvSpPr>
            <p:spPr>
              <a:xfrm rot="10800000" flipV="1">
                <a:off x="4443061" y="5247496"/>
                <a:ext cx="3684939" cy="830997"/>
              </a:xfrm>
              <a:prstGeom prst="rect">
                <a:avLst/>
              </a:prstGeom>
              <a:noFill/>
            </p:spPr>
            <p:txBody>
              <a:bodyPr wrap="square" rtlCol="0">
                <a:spAutoFit/>
              </a:bodyPr>
              <a:lstStyle/>
              <a:p>
                <a:r>
                  <a:rPr lang="el-GR" sz="2400" dirty="0"/>
                  <a:t>θ</a:t>
                </a:r>
                <a:r>
                  <a:rPr lang="el-GR" sz="2400" baseline="-25000" dirty="0"/>
                  <a:t>1</a:t>
                </a:r>
                <a:r>
                  <a:rPr lang="el-GR" sz="2400" dirty="0"/>
                  <a:t> = 0</a:t>
                </a:r>
              </a:p>
              <a:p>
                <a:r>
                  <a:rPr lang="el-GR" sz="2400" dirty="0"/>
                  <a:t>J(θ</a:t>
                </a:r>
                <a:r>
                  <a:rPr lang="el-GR" sz="2400" baseline="-25000" dirty="0"/>
                  <a:t>1</a:t>
                </a:r>
                <a:r>
                  <a:rPr lang="el-GR" sz="2400" dirty="0"/>
                  <a:t>) </a:t>
                </a:r>
                <a14:m>
                  <m:oMath xmlns:m="http://schemas.openxmlformats.org/officeDocument/2006/math">
                    <m:r>
                      <a:rPr lang="el-GR" sz="2400" i="1" dirty="0">
                        <a:latin typeface="Cambria Math" panose="02040503050406030204" pitchFamily="18" charset="0"/>
                        <a:ea typeface="Cambria Math" panose="02040503050406030204" pitchFamily="18" charset="0"/>
                      </a:rPr>
                      <m:t>≅ </m:t>
                    </m:r>
                  </m:oMath>
                </a14:m>
                <a:r>
                  <a:rPr lang="el-GR" sz="2400" dirty="0"/>
                  <a:t>2.3</a:t>
                </a:r>
              </a:p>
            </p:txBody>
          </p:sp>
        </mc:Choice>
        <mc:Fallback xmlns="">
          <p:sp>
            <p:nvSpPr>
              <p:cNvPr id="23" name="TextBox 22">
                <a:extLst>
                  <a:ext uri="{FF2B5EF4-FFF2-40B4-BE49-F238E27FC236}">
                    <a16:creationId xmlns:a16="http://schemas.microsoft.com/office/drawing/2014/main" id="{4DB1A5A9-AAF3-4C4A-B889-B2E278DCE7E5}"/>
                  </a:ext>
                </a:extLst>
              </p:cNvPr>
              <p:cNvSpPr txBox="1">
                <a:spLocks noRot="1" noChangeAspect="1" noMove="1" noResize="1" noEditPoints="1" noAdjustHandles="1" noChangeArrowheads="1" noChangeShapeType="1" noTextEdit="1"/>
              </p:cNvSpPr>
              <p:nvPr/>
            </p:nvSpPr>
            <p:spPr>
              <a:xfrm rot="10800000" flipV="1">
                <a:off x="4443061" y="5247496"/>
                <a:ext cx="3684939" cy="830997"/>
              </a:xfrm>
              <a:prstGeom prst="rect">
                <a:avLst/>
              </a:prstGeom>
              <a:blipFill>
                <a:blip r:embed="rId20"/>
                <a:stretch>
                  <a:fillRect l="-2649" t="-5882" b="-16176"/>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4E39304B-DB52-440E-8990-BC61A9EF216D}"/>
              </a:ext>
            </a:extLst>
          </p:cNvPr>
          <p:cNvPicPr>
            <a:picLocks noChangeAspect="1"/>
          </p:cNvPicPr>
          <p:nvPr/>
        </p:nvPicPr>
        <p:blipFill>
          <a:blip r:embed="rId21"/>
          <a:stretch>
            <a:fillRect/>
          </a:stretch>
        </p:blipFill>
        <p:spPr>
          <a:xfrm>
            <a:off x="10922000" y="6438901"/>
            <a:ext cx="1270000" cy="419100"/>
          </a:xfrm>
          <a:prstGeom prst="rect">
            <a:avLst/>
          </a:prstGeom>
        </p:spPr>
      </p:pic>
      <p:sp>
        <p:nvSpPr>
          <p:cNvPr id="4" name="TextBox 3">
            <a:extLst>
              <a:ext uri="{FF2B5EF4-FFF2-40B4-BE49-F238E27FC236}">
                <a16:creationId xmlns:a16="http://schemas.microsoft.com/office/drawing/2014/main" id="{32710CF3-951F-7AC1-70B7-832BF369B7CF}"/>
              </a:ext>
            </a:extLst>
          </p:cNvPr>
          <p:cNvSpPr txBox="1"/>
          <p:nvPr/>
        </p:nvSpPr>
        <p:spPr>
          <a:xfrm>
            <a:off x="38718" y="6255434"/>
            <a:ext cx="6094520" cy="646331"/>
          </a:xfrm>
          <a:prstGeom prst="rect">
            <a:avLst/>
          </a:prstGeom>
          <a:noFill/>
        </p:spPr>
        <p:txBody>
          <a:bodyPr wrap="square">
            <a:spAutoFit/>
          </a:bodyPr>
          <a:lstStyle/>
          <a:p>
            <a:r>
              <a:rPr lang="en-US" b="1" i="0" dirty="0">
                <a:solidFill>
                  <a:srgbClr val="FF0000"/>
                </a:solidFill>
                <a:effectLst/>
                <a:latin typeface="arial" panose="020B0604020202020204" pitchFamily="34" charset="0"/>
              </a:rPr>
              <a:t>The line which has the least sum of squares of errors</a:t>
            </a:r>
            <a:r>
              <a:rPr lang="en-US" b="0" i="0" dirty="0">
                <a:solidFill>
                  <a:srgbClr val="FF0000"/>
                </a:solidFill>
                <a:effectLst/>
                <a:latin typeface="arial" panose="020B0604020202020204" pitchFamily="34" charset="0"/>
              </a:rPr>
              <a:t> is the best fit line</a:t>
            </a:r>
            <a:endParaRPr lang="en-US" dirty="0">
              <a:solidFill>
                <a:srgbClr val="FF0000"/>
              </a:solidFill>
            </a:endParaRPr>
          </a:p>
        </p:txBody>
      </p:sp>
      <p:pic>
        <p:nvPicPr>
          <p:cNvPr id="26" name="Picture 25">
            <a:extLst>
              <a:ext uri="{FF2B5EF4-FFF2-40B4-BE49-F238E27FC236}">
                <a16:creationId xmlns:a16="http://schemas.microsoft.com/office/drawing/2014/main" id="{E4E1D125-82C6-4D2C-9BC0-1AC2ED19FECB}"/>
              </a:ext>
            </a:extLst>
          </p:cNvPr>
          <p:cNvPicPr>
            <a:picLocks noChangeAspect="1"/>
          </p:cNvPicPr>
          <p:nvPr>
            <p:custDataLst>
              <p:tags r:id="rId6"/>
            </p:custDataLst>
          </p:nvPr>
        </p:nvPicPr>
        <p:blipFill>
          <a:blip r:embed="rId22" cstate="print">
            <a:extLst>
              <a:ext uri="{28A0092B-C50C-407E-A947-70E740481C1C}">
                <a14:useLocalDpi xmlns:a14="http://schemas.microsoft.com/office/drawing/2010/main" val="0"/>
              </a:ext>
            </a:extLst>
          </a:blip>
          <a:stretch>
            <a:fillRect/>
          </a:stretch>
        </p:blipFill>
        <p:spPr>
          <a:xfrm>
            <a:off x="1906192" y="174983"/>
            <a:ext cx="2399216" cy="474181"/>
          </a:xfrm>
          <a:prstGeom prst="rect">
            <a:avLst/>
          </a:prstGeom>
        </p:spPr>
      </p:pic>
      <p:sp>
        <p:nvSpPr>
          <p:cNvPr id="27" name="TextBox 26">
            <a:extLst>
              <a:ext uri="{FF2B5EF4-FFF2-40B4-BE49-F238E27FC236}">
                <a16:creationId xmlns:a16="http://schemas.microsoft.com/office/drawing/2014/main" id="{94C0F2E6-5EC9-414F-9ECB-0107F8D0E70E}"/>
              </a:ext>
            </a:extLst>
          </p:cNvPr>
          <p:cNvSpPr txBox="1"/>
          <p:nvPr/>
        </p:nvSpPr>
        <p:spPr>
          <a:xfrm>
            <a:off x="2168600" y="3927912"/>
            <a:ext cx="6104964" cy="369332"/>
          </a:xfrm>
          <a:prstGeom prst="rect">
            <a:avLst/>
          </a:prstGeom>
          <a:noFill/>
        </p:spPr>
        <p:txBody>
          <a:bodyPr wrap="square">
            <a:spAutoFit/>
          </a:bodyPr>
          <a:lstStyle/>
          <a:p>
            <a:r>
              <a:rPr lang="en-US" dirty="0">
                <a:solidFill>
                  <a:srgbClr val="FF0000"/>
                </a:solidFill>
              </a:rPr>
              <a:t>+</a:t>
            </a:r>
            <a:endParaRPr lang="en-US" dirty="0"/>
          </a:p>
        </p:txBody>
      </p:sp>
      <p:sp>
        <p:nvSpPr>
          <p:cNvPr id="31" name="TextBox 30">
            <a:extLst>
              <a:ext uri="{FF2B5EF4-FFF2-40B4-BE49-F238E27FC236}">
                <a16:creationId xmlns:a16="http://schemas.microsoft.com/office/drawing/2014/main" id="{04FF3802-D469-497E-A81A-D6A3A0663077}"/>
              </a:ext>
            </a:extLst>
          </p:cNvPr>
          <p:cNvSpPr txBox="1"/>
          <p:nvPr/>
        </p:nvSpPr>
        <p:spPr>
          <a:xfrm>
            <a:off x="3381210" y="3451451"/>
            <a:ext cx="6104964" cy="369332"/>
          </a:xfrm>
          <a:prstGeom prst="rect">
            <a:avLst/>
          </a:prstGeom>
          <a:noFill/>
        </p:spPr>
        <p:txBody>
          <a:bodyPr wrap="square">
            <a:spAutoFit/>
          </a:bodyPr>
          <a:lstStyle/>
          <a:p>
            <a:r>
              <a:rPr lang="en-US" dirty="0">
                <a:solidFill>
                  <a:srgbClr val="FF0000"/>
                </a:solidFill>
              </a:rPr>
              <a:t>+</a:t>
            </a:r>
            <a:endParaRPr lang="en-US" dirty="0"/>
          </a:p>
        </p:txBody>
      </p:sp>
      <p:sp>
        <p:nvSpPr>
          <p:cNvPr id="32" name="TextBox 31">
            <a:extLst>
              <a:ext uri="{FF2B5EF4-FFF2-40B4-BE49-F238E27FC236}">
                <a16:creationId xmlns:a16="http://schemas.microsoft.com/office/drawing/2014/main" id="{49C7EE23-74B0-467D-AC15-F8EEC397EDED}"/>
              </a:ext>
            </a:extLst>
          </p:cNvPr>
          <p:cNvSpPr txBox="1"/>
          <p:nvPr/>
        </p:nvSpPr>
        <p:spPr>
          <a:xfrm>
            <a:off x="4595929" y="2887793"/>
            <a:ext cx="6104964" cy="369332"/>
          </a:xfrm>
          <a:prstGeom prst="rect">
            <a:avLst/>
          </a:prstGeom>
          <a:noFill/>
        </p:spPr>
        <p:txBody>
          <a:bodyPr wrap="square">
            <a:spAutoFit/>
          </a:bodyPr>
          <a:lstStyle/>
          <a:p>
            <a:r>
              <a:rPr lang="en-US" dirty="0">
                <a:solidFill>
                  <a:srgbClr val="FF0000"/>
                </a:solidFill>
              </a:rPr>
              <a:t>+</a:t>
            </a:r>
            <a:endParaRPr lang="en-US" dirty="0"/>
          </a:p>
        </p:txBody>
      </p:sp>
      <p:cxnSp>
        <p:nvCxnSpPr>
          <p:cNvPr id="9" name="Straight Connector 8">
            <a:extLst>
              <a:ext uri="{FF2B5EF4-FFF2-40B4-BE49-F238E27FC236}">
                <a16:creationId xmlns:a16="http://schemas.microsoft.com/office/drawing/2014/main" id="{173DEC8E-F4F6-44A9-A4DC-9C49F04A560D}"/>
              </a:ext>
            </a:extLst>
          </p:cNvPr>
          <p:cNvCxnSpPr/>
          <p:nvPr/>
        </p:nvCxnSpPr>
        <p:spPr>
          <a:xfrm flipV="1">
            <a:off x="1906192" y="2857259"/>
            <a:ext cx="3296873" cy="145343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3891CD-06F1-496C-89FC-972BF48909BB}"/>
              </a:ext>
            </a:extLst>
          </p:cNvPr>
          <p:cNvCxnSpPr/>
          <p:nvPr/>
        </p:nvCxnSpPr>
        <p:spPr>
          <a:xfrm>
            <a:off x="1129553" y="4609652"/>
            <a:ext cx="3466376" cy="0"/>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796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16" grpId="0"/>
      <p:bldP spid="17" grpId="0"/>
      <p:bldP spid="30" grpId="0"/>
      <p:bldP spid="36" grpId="0"/>
      <p:bldP spid="21" grpId="0"/>
      <p:bldP spid="22" grpId="0"/>
      <p:bldP spid="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Chart 43"/>
          <p:cNvGraphicFramePr>
            <a:graphicFrameLocks/>
          </p:cNvGraphicFramePr>
          <p:nvPr/>
        </p:nvGraphicFramePr>
        <p:xfrm>
          <a:off x="711200" y="1558967"/>
          <a:ext cx="4226560" cy="3581400"/>
        </p:xfrm>
        <a:graphic>
          <a:graphicData uri="http://schemas.openxmlformats.org/drawingml/2006/chart">
            <c:chart xmlns:c="http://schemas.openxmlformats.org/drawingml/2006/chart" xmlns:r="http://schemas.openxmlformats.org/officeDocument/2006/relationships" r:id="rId10"/>
          </a:graphicData>
        </a:graphic>
      </p:graphicFrame>
      <p:pic>
        <p:nvPicPr>
          <p:cNvPr id="5" name="Picture 4"/>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2610104" y="279400"/>
            <a:ext cx="905256" cy="408432"/>
          </a:xfrm>
          <a:prstGeom prst="rect">
            <a:avLst/>
          </a:prstGeom>
        </p:spPr>
      </p:pic>
      <p:sp>
        <p:nvSpPr>
          <p:cNvPr id="16" name="TextBox 15"/>
          <p:cNvSpPr txBox="1"/>
          <p:nvPr/>
        </p:nvSpPr>
        <p:spPr>
          <a:xfrm>
            <a:off x="304800" y="2803567"/>
            <a:ext cx="370614" cy="584775"/>
          </a:xfrm>
          <a:prstGeom prst="rect">
            <a:avLst/>
          </a:prstGeom>
          <a:noFill/>
        </p:spPr>
        <p:txBody>
          <a:bodyPr wrap="none" rtlCol="0">
            <a:spAutoFit/>
          </a:bodyPr>
          <a:lstStyle/>
          <a:p>
            <a:r>
              <a:rPr lang="en-US" sz="3200" dirty="0"/>
              <a:t>y</a:t>
            </a:r>
          </a:p>
        </p:txBody>
      </p:sp>
      <p:sp>
        <p:nvSpPr>
          <p:cNvPr id="17" name="TextBox 16"/>
          <p:cNvSpPr txBox="1"/>
          <p:nvPr/>
        </p:nvSpPr>
        <p:spPr>
          <a:xfrm>
            <a:off x="2743200" y="4728014"/>
            <a:ext cx="362600" cy="584775"/>
          </a:xfrm>
          <a:prstGeom prst="rect">
            <a:avLst/>
          </a:prstGeom>
          <a:noFill/>
        </p:spPr>
        <p:txBody>
          <a:bodyPr wrap="none" rtlCol="0">
            <a:spAutoFit/>
          </a:bodyPr>
          <a:lstStyle/>
          <a:p>
            <a:r>
              <a:rPr lang="en-US" sz="3200" dirty="0"/>
              <a:t>x</a:t>
            </a:r>
          </a:p>
        </p:txBody>
      </p:sp>
      <p:cxnSp>
        <p:nvCxnSpPr>
          <p:cNvPr id="20" name="Straight Connector 19"/>
          <p:cNvCxnSpPr/>
          <p:nvPr/>
        </p:nvCxnSpPr>
        <p:spPr>
          <a:xfrm flipV="1">
            <a:off x="1111003" y="3108369"/>
            <a:ext cx="3460997" cy="1372588"/>
          </a:xfrm>
          <a:prstGeom prst="line">
            <a:avLst/>
          </a:prstGeom>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4795520" y="3108369"/>
            <a:ext cx="1114349" cy="277977"/>
          </a:xfrm>
          <a:prstGeom prst="rect">
            <a:avLst/>
          </a:prstGeom>
        </p:spPr>
      </p:pic>
      <p:sp>
        <p:nvSpPr>
          <p:cNvPr id="30" name="TextBox 29"/>
          <p:cNvSpPr txBox="1"/>
          <p:nvPr/>
        </p:nvSpPr>
        <p:spPr>
          <a:xfrm>
            <a:off x="736971" y="771568"/>
            <a:ext cx="4466094" cy="461665"/>
          </a:xfrm>
          <a:prstGeom prst="rect">
            <a:avLst/>
          </a:prstGeom>
          <a:noFill/>
        </p:spPr>
        <p:txBody>
          <a:bodyPr wrap="none" rtlCol="0">
            <a:spAutoFit/>
          </a:bodyPr>
          <a:lstStyle/>
          <a:p>
            <a:r>
              <a:rPr lang="en-US" sz="2400" dirty="0"/>
              <a:t>(for fixed     , this is a function of x)</a:t>
            </a:r>
          </a:p>
        </p:txBody>
      </p:sp>
      <p:pic>
        <p:nvPicPr>
          <p:cNvPr id="33" name="Picture 32"/>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045461" y="889001"/>
            <a:ext cx="246279" cy="277977"/>
          </a:xfrm>
          <a:prstGeom prst="rect">
            <a:avLst/>
          </a:prstGeom>
        </p:spPr>
      </p:pic>
      <p:cxnSp>
        <p:nvCxnSpPr>
          <p:cNvPr id="34" name="Straight Connector 33"/>
          <p:cNvCxnSpPr/>
          <p:nvPr/>
        </p:nvCxnSpPr>
        <p:spPr>
          <a:xfrm>
            <a:off x="6197600" y="755733"/>
            <a:ext cx="0" cy="52832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6861246" y="279400"/>
            <a:ext cx="4027000" cy="953832"/>
            <a:chOff x="5145934" y="209550"/>
            <a:chExt cx="3020250" cy="715374"/>
          </a:xfrm>
        </p:grpSpPr>
        <p:pic>
          <p:nvPicPr>
            <p:cNvPr id="38" name="Picture 37"/>
            <p:cNvPicPr>
              <a:picLocks noChangeAspect="1"/>
            </p:cNvPicPr>
            <p:nvPr>
              <p:custDataLst>
                <p:tags r:id="rId7"/>
              </p:custDataLst>
            </p:nvPr>
          </p:nvPicPr>
          <p:blipFill>
            <a:blip r:embed="rId14" cstate="print">
              <a:extLst>
                <a:ext uri="{28A0092B-C50C-407E-A947-70E740481C1C}">
                  <a14:useLocalDpi xmlns:a14="http://schemas.microsoft.com/office/drawing/2010/main" val="0"/>
                </a:ext>
              </a:extLst>
            </a:blip>
            <a:stretch>
              <a:fillRect/>
            </a:stretch>
          </p:blipFill>
          <p:spPr>
            <a:xfrm>
              <a:off x="6550784" y="209550"/>
              <a:ext cx="662940" cy="306324"/>
            </a:xfrm>
            <a:prstGeom prst="rect">
              <a:avLst/>
            </a:prstGeom>
          </p:spPr>
        </p:pic>
        <p:sp>
          <p:nvSpPr>
            <p:cNvPr id="36" name="TextBox 35"/>
            <p:cNvSpPr txBox="1"/>
            <p:nvPr/>
          </p:nvSpPr>
          <p:spPr>
            <a:xfrm>
              <a:off x="5145934" y="578675"/>
              <a:ext cx="3020250" cy="346249"/>
            </a:xfrm>
            <a:prstGeom prst="rect">
              <a:avLst/>
            </a:prstGeom>
            <a:noFill/>
          </p:spPr>
          <p:txBody>
            <a:bodyPr wrap="none" rtlCol="0">
              <a:spAutoFit/>
            </a:bodyPr>
            <a:lstStyle/>
            <a:p>
              <a:r>
                <a:rPr lang="en-US" sz="2400" dirty="0"/>
                <a:t>(function of the parameter      )</a:t>
              </a:r>
            </a:p>
          </p:txBody>
        </p:sp>
        <p:pic>
          <p:nvPicPr>
            <p:cNvPr id="37" name="Picture 36"/>
            <p:cNvPicPr>
              <a:picLocks noChangeAspect="1"/>
            </p:cNvPicPr>
            <p:nvPr>
              <p:custDataLst>
                <p:tags r:id="rId8"/>
              </p:custDataLst>
            </p:nvPr>
          </p:nvPicPr>
          <p:blipFill>
            <a:blip r:embed="rId13" cstate="print">
              <a:extLst>
                <a:ext uri="{28A0092B-C50C-407E-A947-70E740481C1C}">
                  <a14:useLocalDpi xmlns:a14="http://schemas.microsoft.com/office/drawing/2010/main" val="0"/>
                </a:ext>
              </a:extLst>
            </a:blip>
            <a:stretch>
              <a:fillRect/>
            </a:stretch>
          </p:blipFill>
          <p:spPr>
            <a:xfrm>
              <a:off x="7816291" y="666750"/>
              <a:ext cx="184709" cy="208483"/>
            </a:xfrm>
            <a:prstGeom prst="rect">
              <a:avLst/>
            </a:prstGeom>
          </p:spPr>
        </p:pic>
      </p:grpSp>
      <p:pic>
        <p:nvPicPr>
          <p:cNvPr id="45" name="Picture 44"/>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5080000" y="1679856"/>
            <a:ext cx="724205" cy="326745"/>
          </a:xfrm>
          <a:prstGeom prst="rect">
            <a:avLst/>
          </a:prstGeom>
        </p:spPr>
      </p:pic>
      <p:grpSp>
        <p:nvGrpSpPr>
          <p:cNvPr id="46" name="Group 45"/>
          <p:cNvGrpSpPr/>
          <p:nvPr/>
        </p:nvGrpSpPr>
        <p:grpSpPr>
          <a:xfrm>
            <a:off x="6608064" y="1473200"/>
            <a:ext cx="5177536" cy="3886200"/>
            <a:chOff x="4956048" y="1104900"/>
            <a:chExt cx="3883152" cy="2914650"/>
          </a:xfrm>
        </p:grpSpPr>
        <p:graphicFrame>
          <p:nvGraphicFramePr>
            <p:cNvPr id="50" name="Chart 49"/>
            <p:cNvGraphicFramePr>
              <a:graphicFrameLocks/>
            </p:cNvGraphicFramePr>
            <p:nvPr/>
          </p:nvGraphicFramePr>
          <p:xfrm>
            <a:off x="5334000" y="1104900"/>
            <a:ext cx="3505200" cy="2686050"/>
          </p:xfrm>
          <a:graphic>
            <a:graphicData uri="http://schemas.openxmlformats.org/drawingml/2006/chart">
              <c:chart xmlns:c="http://schemas.openxmlformats.org/drawingml/2006/chart" xmlns:r="http://schemas.openxmlformats.org/officeDocument/2006/relationships" r:id="rId16"/>
            </a:graphicData>
          </a:graphic>
        </p:graphicFrame>
        <p:pic>
          <p:nvPicPr>
            <p:cNvPr id="51" name="Picture 50"/>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4956048" y="2132859"/>
              <a:ext cx="530352" cy="245059"/>
            </a:xfrm>
            <a:prstGeom prst="rect">
              <a:avLst/>
            </a:prstGeom>
          </p:spPr>
        </p:pic>
        <p:pic>
          <p:nvPicPr>
            <p:cNvPr id="52" name="Picture 51"/>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7022276" y="3811067"/>
              <a:ext cx="184709" cy="208483"/>
            </a:xfrm>
            <a:prstGeom prst="rect">
              <a:avLst/>
            </a:prstGeom>
          </p:spPr>
        </p:pic>
      </p:grpSp>
      <mc:AlternateContent xmlns:mc="http://schemas.openxmlformats.org/markup-compatibility/2006" xmlns:p14="http://schemas.microsoft.com/office/powerpoint/2010/main">
        <mc:Choice Requires="p14">
          <p:contentPart p14:bwMode="auto" r:id="rId18">
            <p14:nvContentPartPr>
              <p14:cNvPr id="21" name="Ink 20"/>
              <p14:cNvContentPartPr/>
              <p14:nvPr/>
            </p14:nvContentPartPr>
            <p14:xfrm>
              <a:off x="9328320" y="4196640"/>
              <a:ext cx="352800" cy="257760"/>
            </p14:xfrm>
          </p:contentPart>
        </mc:Choice>
        <mc:Fallback xmlns="">
          <p:pic>
            <p:nvPicPr>
              <p:cNvPr id="21" name="Ink 20"/>
              <p:cNvPicPr/>
              <p:nvPr/>
            </p:nvPicPr>
            <p:blipFill>
              <a:blip r:embed="rId19"/>
              <a:stretch>
                <a:fillRect/>
              </a:stretch>
            </p:blipFill>
            <p:spPr>
              <a:xfrm>
                <a:off x="9316800" y="4185840"/>
                <a:ext cx="3733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 name="Ink 1"/>
              <p14:cNvContentPartPr/>
              <p14:nvPr/>
            </p14:nvContentPartPr>
            <p14:xfrm>
              <a:off x="313920" y="1897920"/>
              <a:ext cx="6880320" cy="4750080"/>
            </p14:xfrm>
          </p:contentPart>
        </mc:Choice>
        <mc:Fallback xmlns="">
          <p:pic>
            <p:nvPicPr>
              <p:cNvPr id="2" name="Ink 1"/>
              <p:cNvPicPr/>
              <p:nvPr/>
            </p:nvPicPr>
            <p:blipFill>
              <a:blip r:embed="rId21"/>
              <a:stretch>
                <a:fillRect/>
              </a:stretch>
            </p:blipFill>
            <p:spPr>
              <a:xfrm>
                <a:off x="303480" y="1892520"/>
                <a:ext cx="6900840" cy="4765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 name="Ink 5"/>
              <p14:cNvContentPartPr/>
              <p14:nvPr/>
            </p14:nvContentPartPr>
            <p14:xfrm>
              <a:off x="5316480" y="3691200"/>
              <a:ext cx="4069440" cy="2938080"/>
            </p14:xfrm>
          </p:contentPart>
        </mc:Choice>
        <mc:Fallback xmlns="">
          <p:pic>
            <p:nvPicPr>
              <p:cNvPr id="6" name="Ink 5"/>
              <p:cNvPicPr/>
              <p:nvPr/>
            </p:nvPicPr>
            <p:blipFill>
              <a:blip r:embed="rId23"/>
              <a:stretch>
                <a:fillRect/>
              </a:stretch>
            </p:blipFill>
            <p:spPr>
              <a:xfrm>
                <a:off x="5307480" y="3680041"/>
                <a:ext cx="4087800" cy="2954279"/>
              </a:xfrm>
              <a:prstGeom prst="rect">
                <a:avLst/>
              </a:prstGeom>
            </p:spPr>
          </p:pic>
        </mc:Fallback>
      </mc:AlternateContent>
      <p:pic>
        <p:nvPicPr>
          <p:cNvPr id="23" name="Picture 22">
            <a:extLst>
              <a:ext uri="{FF2B5EF4-FFF2-40B4-BE49-F238E27FC236}">
                <a16:creationId xmlns:a16="http://schemas.microsoft.com/office/drawing/2014/main" id="{09959E11-A920-49D7-B24A-085810B98843}"/>
              </a:ext>
            </a:extLst>
          </p:cNvPr>
          <p:cNvPicPr>
            <a:picLocks noChangeAspect="1"/>
          </p:cNvPicPr>
          <p:nvPr/>
        </p:nvPicPr>
        <p:blipFill>
          <a:blip r:embed="rId24"/>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578391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D3CE8D-F4F7-4020-B90B-87087BEA2A0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19733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EBF7CD6B-A5C3-4E10-B82F-2EA0EE735064}"/>
              </a:ext>
            </a:extLst>
          </p:cNvPr>
          <p:cNvSpPr txBox="1"/>
          <p:nvPr/>
        </p:nvSpPr>
        <p:spPr>
          <a:xfrm>
            <a:off x="406400" y="177800"/>
            <a:ext cx="11379200" cy="913199"/>
          </a:xfrm>
          <a:prstGeom prst="rect">
            <a:avLst/>
          </a:prstGeom>
          <a:noFill/>
        </p:spPr>
        <p:txBody>
          <a:bodyPr wrap="square" rtlCol="0">
            <a:spAutoFit/>
          </a:bodyPr>
          <a:lstStyle/>
          <a:p>
            <a:r>
              <a:rPr lang="en-US" sz="2667" dirty="0"/>
              <a:t>If we compute a range of values plot</a:t>
            </a:r>
          </a:p>
          <a:p>
            <a:pPr marL="1066773" lvl="1" indent="-457189">
              <a:buFont typeface="Wingdings" panose="05000000000000000000" pitchFamily="2" charset="2"/>
              <a:buChar char="Ø"/>
            </a:pPr>
            <a:r>
              <a:rPr lang="en-US" sz="2667" dirty="0"/>
              <a:t>J(θ</a:t>
            </a:r>
            <a:r>
              <a:rPr lang="en-US" sz="2667" baseline="-25000" dirty="0"/>
              <a:t>1</a:t>
            </a:r>
            <a:r>
              <a:rPr lang="en-US" sz="2667" dirty="0"/>
              <a:t>) vs θ</a:t>
            </a:r>
            <a:r>
              <a:rPr lang="en-US" sz="2667" baseline="-25000" dirty="0"/>
              <a:t>1</a:t>
            </a:r>
            <a:r>
              <a:rPr lang="en-US" sz="2667" dirty="0"/>
              <a:t> we get a polynomial (looks like a quadratic)</a:t>
            </a:r>
          </a:p>
        </p:txBody>
      </p:sp>
      <p:pic>
        <p:nvPicPr>
          <p:cNvPr id="3" name="Picture 2">
            <a:extLst>
              <a:ext uri="{FF2B5EF4-FFF2-40B4-BE49-F238E27FC236}">
                <a16:creationId xmlns:a16="http://schemas.microsoft.com/office/drawing/2014/main" id="{7FDB78D6-AC93-4943-9277-AA3244A1F2C2}"/>
              </a:ext>
            </a:extLst>
          </p:cNvPr>
          <p:cNvPicPr>
            <a:picLocks noChangeAspect="1"/>
          </p:cNvPicPr>
          <p:nvPr/>
        </p:nvPicPr>
        <p:blipFill>
          <a:blip r:embed="rId3"/>
          <a:stretch>
            <a:fillRect/>
          </a:stretch>
        </p:blipFill>
        <p:spPr>
          <a:xfrm>
            <a:off x="3352800" y="1121649"/>
            <a:ext cx="4267200" cy="3263153"/>
          </a:xfrm>
          <a:prstGeom prst="rect">
            <a:avLst/>
          </a:prstGeom>
        </p:spPr>
      </p:pic>
      <p:sp>
        <p:nvSpPr>
          <p:cNvPr id="25" name="TextBox 24">
            <a:extLst>
              <a:ext uri="{FF2B5EF4-FFF2-40B4-BE49-F238E27FC236}">
                <a16:creationId xmlns:a16="http://schemas.microsoft.com/office/drawing/2014/main" id="{B9810D63-A5DE-4854-8776-21C38D2C3426}"/>
              </a:ext>
            </a:extLst>
          </p:cNvPr>
          <p:cNvSpPr txBox="1"/>
          <p:nvPr/>
        </p:nvSpPr>
        <p:spPr>
          <a:xfrm>
            <a:off x="0" y="4851401"/>
            <a:ext cx="12192000" cy="1200329"/>
          </a:xfrm>
          <a:prstGeom prst="rect">
            <a:avLst/>
          </a:prstGeom>
          <a:noFill/>
        </p:spPr>
        <p:txBody>
          <a:bodyPr wrap="square" rtlCol="0">
            <a:spAutoFit/>
          </a:bodyPr>
          <a:lstStyle/>
          <a:p>
            <a:r>
              <a:rPr lang="en-US" sz="2400" dirty="0"/>
              <a:t>The optimization objective for the learning algorithm is find the value of θ</a:t>
            </a:r>
            <a:r>
              <a:rPr lang="en-US" sz="2400" baseline="-25000" dirty="0"/>
              <a:t>1</a:t>
            </a:r>
            <a:r>
              <a:rPr lang="en-US" sz="2400" dirty="0"/>
              <a:t> which minimizes J(θ</a:t>
            </a:r>
            <a:r>
              <a:rPr lang="en-US" sz="2400" baseline="-25000" dirty="0"/>
              <a:t>1</a:t>
            </a:r>
            <a:r>
              <a:rPr lang="en-US" sz="2400" dirty="0"/>
              <a:t>)</a:t>
            </a:r>
          </a:p>
          <a:p>
            <a:pPr marL="990575" lvl="1" indent="-380990">
              <a:buFont typeface="Wingdings" panose="05000000000000000000" pitchFamily="2" charset="2"/>
              <a:buChar char="Ø"/>
            </a:pPr>
            <a:r>
              <a:rPr lang="en-US" sz="2400" dirty="0"/>
              <a:t>So, here θ</a:t>
            </a:r>
            <a:r>
              <a:rPr lang="en-US" sz="2400" baseline="-25000" dirty="0"/>
              <a:t>1</a:t>
            </a:r>
            <a:r>
              <a:rPr lang="en-US" sz="2400" dirty="0"/>
              <a:t> = 1 is the best value for θ</a:t>
            </a:r>
            <a:r>
              <a:rPr lang="en-US" sz="2400" baseline="-25000" dirty="0"/>
              <a:t>1</a:t>
            </a:r>
          </a:p>
          <a:p>
            <a:pPr marL="609585" lvl="1"/>
            <a:r>
              <a:rPr lang="en-US" sz="2400" b="1" i="0" dirty="0">
                <a:solidFill>
                  <a:srgbClr val="FF0000"/>
                </a:solidFill>
                <a:effectLst/>
                <a:latin typeface="arial" panose="020B0604020202020204" pitchFamily="34" charset="0"/>
              </a:rPr>
              <a:t>The line which has the least sum of squares of errors</a:t>
            </a:r>
            <a:r>
              <a:rPr lang="en-US" sz="2400" b="0" i="0" dirty="0">
                <a:solidFill>
                  <a:srgbClr val="FF0000"/>
                </a:solidFill>
                <a:effectLst/>
                <a:latin typeface="arial" panose="020B0604020202020204" pitchFamily="34" charset="0"/>
              </a:rPr>
              <a:t> is the best fit line</a:t>
            </a:r>
            <a:endParaRPr lang="en-US" sz="2400" dirty="0">
              <a:solidFill>
                <a:srgbClr val="FF0000"/>
              </a:solidFill>
            </a:endParaRPr>
          </a:p>
        </p:txBody>
      </p:sp>
      <p:pic>
        <p:nvPicPr>
          <p:cNvPr id="5" name="Picture 4">
            <a:extLst>
              <a:ext uri="{FF2B5EF4-FFF2-40B4-BE49-F238E27FC236}">
                <a16:creationId xmlns:a16="http://schemas.microsoft.com/office/drawing/2014/main" id="{CE93F49B-971F-4B33-A46E-3F2D24A39B7A}"/>
              </a:ext>
            </a:extLst>
          </p:cNvPr>
          <p:cNvPicPr>
            <a:picLocks noChangeAspect="1"/>
          </p:cNvPicPr>
          <p:nvPr/>
        </p:nvPicPr>
        <p:blipFill>
          <a:blip r:embed="rId4"/>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563889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687291" y="1193801"/>
            <a:ext cx="3440709" cy="478769"/>
          </a:xfrm>
          <a:prstGeom prst="rect">
            <a:avLst/>
          </a:prstGeom>
        </p:spPr>
      </p:pic>
      <p:sp>
        <p:nvSpPr>
          <p:cNvPr id="10" name="TextBox 9"/>
          <p:cNvSpPr txBox="1"/>
          <p:nvPr/>
        </p:nvSpPr>
        <p:spPr>
          <a:xfrm>
            <a:off x="829678" y="1049180"/>
            <a:ext cx="2792752" cy="748988"/>
          </a:xfrm>
          <a:prstGeom prst="rect">
            <a:avLst/>
          </a:prstGeom>
          <a:noFill/>
        </p:spPr>
        <p:txBody>
          <a:bodyPr wrap="none" rtlCol="0">
            <a:spAutoFit/>
          </a:bodyPr>
          <a:lstStyle/>
          <a:p>
            <a:r>
              <a:rPr lang="en-US" sz="4267" dirty="0"/>
              <a:t>Hypothesis:</a:t>
            </a:r>
          </a:p>
        </p:txBody>
      </p:sp>
      <p:pic>
        <p:nvPicPr>
          <p:cNvPr id="20" name="Picture 1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638040" y="2503887"/>
            <a:ext cx="1007560" cy="428749"/>
          </a:xfrm>
          <a:prstGeom prst="rect">
            <a:avLst/>
          </a:prstGeom>
        </p:spPr>
      </p:pic>
      <p:sp>
        <p:nvSpPr>
          <p:cNvPr id="15" name="TextBox 14"/>
          <p:cNvSpPr txBox="1"/>
          <p:nvPr/>
        </p:nvSpPr>
        <p:spPr>
          <a:xfrm>
            <a:off x="829677" y="2293187"/>
            <a:ext cx="2858988" cy="748988"/>
          </a:xfrm>
          <a:prstGeom prst="rect">
            <a:avLst/>
          </a:prstGeom>
          <a:noFill/>
        </p:spPr>
        <p:txBody>
          <a:bodyPr wrap="none" rtlCol="0">
            <a:spAutoFit/>
          </a:bodyPr>
          <a:lstStyle/>
          <a:p>
            <a:r>
              <a:rPr lang="en-US" sz="4267" dirty="0"/>
              <a:t>Parameters:</a:t>
            </a:r>
          </a:p>
        </p:txBody>
      </p:sp>
      <p:pic>
        <p:nvPicPr>
          <p:cNvPr id="4" name="Picture 3"/>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638040" y="3429001"/>
            <a:ext cx="7147560" cy="1004465"/>
          </a:xfrm>
          <a:prstGeom prst="rect">
            <a:avLst/>
          </a:prstGeom>
        </p:spPr>
      </p:pic>
      <p:sp>
        <p:nvSpPr>
          <p:cNvPr id="17" name="TextBox 16"/>
          <p:cNvSpPr txBox="1"/>
          <p:nvPr/>
        </p:nvSpPr>
        <p:spPr>
          <a:xfrm>
            <a:off x="829677" y="3487580"/>
            <a:ext cx="3365280" cy="748988"/>
          </a:xfrm>
          <a:prstGeom prst="rect">
            <a:avLst/>
          </a:prstGeom>
          <a:noFill/>
        </p:spPr>
        <p:txBody>
          <a:bodyPr wrap="none" rtlCol="0">
            <a:spAutoFit/>
          </a:bodyPr>
          <a:lstStyle/>
          <a:p>
            <a:r>
              <a:rPr lang="en-US" sz="4267" dirty="0"/>
              <a:t>Cost Function:</a:t>
            </a:r>
          </a:p>
        </p:txBody>
      </p:sp>
      <p:pic>
        <p:nvPicPr>
          <p:cNvPr id="2" name="Picture 1"/>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4638041" y="4935221"/>
            <a:ext cx="3687572" cy="728980"/>
          </a:xfrm>
          <a:prstGeom prst="rect">
            <a:avLst/>
          </a:prstGeom>
        </p:spPr>
      </p:pic>
      <p:sp>
        <p:nvSpPr>
          <p:cNvPr id="19" name="TextBox 18"/>
          <p:cNvSpPr txBox="1"/>
          <p:nvPr/>
        </p:nvSpPr>
        <p:spPr>
          <a:xfrm>
            <a:off x="829677" y="4782900"/>
            <a:ext cx="1351652" cy="748988"/>
          </a:xfrm>
          <a:prstGeom prst="rect">
            <a:avLst/>
          </a:prstGeom>
          <a:noFill/>
        </p:spPr>
        <p:txBody>
          <a:bodyPr wrap="none" rtlCol="0">
            <a:spAutoFit/>
          </a:bodyPr>
          <a:lstStyle/>
          <a:p>
            <a:r>
              <a:rPr lang="en-US" sz="4267" dirty="0"/>
              <a:t>Goal:</a:t>
            </a:r>
          </a:p>
        </p:txBody>
      </p:sp>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10"/>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923755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2990733" y="279400"/>
            <a:ext cx="905256" cy="408432"/>
          </a:xfrm>
          <a:prstGeom prst="rect">
            <a:avLst/>
          </a:prstGeom>
        </p:spPr>
      </p:pic>
      <p:pic>
        <p:nvPicPr>
          <p:cNvPr id="4" name="Picture 3"/>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462024" y="5867400"/>
            <a:ext cx="3313176" cy="408432"/>
          </a:xfrm>
          <a:prstGeom prst="rect">
            <a:avLst/>
          </a:prstGeom>
        </p:spPr>
      </p:pic>
      <p:sp>
        <p:nvSpPr>
          <p:cNvPr id="30" name="TextBox 29"/>
          <p:cNvSpPr txBox="1"/>
          <p:nvPr/>
        </p:nvSpPr>
        <p:spPr>
          <a:xfrm>
            <a:off x="1117601" y="771568"/>
            <a:ext cx="4879669" cy="461665"/>
          </a:xfrm>
          <a:prstGeom prst="rect">
            <a:avLst/>
          </a:prstGeom>
          <a:noFill/>
        </p:spPr>
        <p:txBody>
          <a:bodyPr wrap="none" rtlCol="0">
            <a:spAutoFit/>
          </a:bodyPr>
          <a:lstStyle/>
          <a:p>
            <a:r>
              <a:rPr lang="en-US" sz="2400" dirty="0"/>
              <a:t>(for fixed           , this is a function of x)</a:t>
            </a:r>
          </a:p>
        </p:txBody>
      </p:sp>
      <p:pic>
        <p:nvPicPr>
          <p:cNvPr id="3" name="Picture 2"/>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2426092" y="889001"/>
            <a:ext cx="692521" cy="297145"/>
          </a:xfrm>
          <a:prstGeom prst="rect">
            <a:avLst/>
          </a:prstGeom>
        </p:spPr>
      </p:pic>
      <p:cxnSp>
        <p:nvCxnSpPr>
          <p:cNvPr id="34" name="Straight Connector 33"/>
          <p:cNvCxnSpPr/>
          <p:nvPr/>
        </p:nvCxnSpPr>
        <p:spPr>
          <a:xfrm>
            <a:off x="6807200" y="755733"/>
            <a:ext cx="0" cy="52832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8734379" y="279400"/>
            <a:ext cx="1435608" cy="408432"/>
          </a:xfrm>
          <a:prstGeom prst="rect">
            <a:avLst/>
          </a:prstGeom>
        </p:spPr>
      </p:pic>
      <p:sp>
        <p:nvSpPr>
          <p:cNvPr id="36" name="TextBox 35"/>
          <p:cNvSpPr txBox="1"/>
          <p:nvPr/>
        </p:nvSpPr>
        <p:spPr>
          <a:xfrm>
            <a:off x="7104416" y="771568"/>
            <a:ext cx="4555542" cy="461665"/>
          </a:xfrm>
          <a:prstGeom prst="rect">
            <a:avLst/>
          </a:prstGeom>
          <a:noFill/>
        </p:spPr>
        <p:txBody>
          <a:bodyPr wrap="none" rtlCol="0">
            <a:spAutoFit/>
          </a:bodyPr>
          <a:lstStyle/>
          <a:p>
            <a:r>
              <a:rPr lang="en-US" sz="2400" dirty="0"/>
              <a:t>(function of the parameters            )</a:t>
            </a:r>
          </a:p>
        </p:txBody>
      </p:sp>
      <p:pic>
        <p:nvPicPr>
          <p:cNvPr id="66" name="Picture 65"/>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10774076" y="889000"/>
            <a:ext cx="687629" cy="292608"/>
          </a:xfrm>
          <a:prstGeom prst="rect">
            <a:avLst/>
          </a:prstGeom>
        </p:spPr>
      </p:pic>
      <p:pic>
        <p:nvPicPr>
          <p:cNvPr id="48" name="Picture 47"/>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0570464" y="1516482"/>
            <a:ext cx="707136" cy="326745"/>
          </a:xfrm>
          <a:prstGeom prst="rect">
            <a:avLst/>
          </a:prstGeom>
        </p:spPr>
      </p:pic>
      <p:pic>
        <p:nvPicPr>
          <p:cNvPr id="47" name="Picture 46"/>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9011071" y="4714850"/>
            <a:ext cx="246279" cy="277977"/>
          </a:xfrm>
          <a:prstGeom prst="rect">
            <a:avLst/>
          </a:prstGeom>
        </p:spPr>
      </p:pic>
      <p:graphicFrame>
        <p:nvGraphicFramePr>
          <p:cNvPr id="54" name="Chart 53"/>
          <p:cNvGraphicFramePr>
            <a:graphicFrameLocks/>
          </p:cNvGraphicFramePr>
          <p:nvPr/>
        </p:nvGraphicFramePr>
        <p:xfrm>
          <a:off x="1273728" y="1600201"/>
          <a:ext cx="5486400" cy="3878727"/>
        </p:xfrm>
        <a:graphic>
          <a:graphicData uri="http://schemas.openxmlformats.org/drawingml/2006/chart">
            <c:chart xmlns:c="http://schemas.openxmlformats.org/drawingml/2006/chart" xmlns:r="http://schemas.openxmlformats.org/officeDocument/2006/relationships" r:id="rId16"/>
          </a:graphicData>
        </a:graphic>
      </p:graphicFrame>
      <p:sp>
        <p:nvSpPr>
          <p:cNvPr id="55" name="TextBox 54"/>
          <p:cNvSpPr txBox="1"/>
          <p:nvPr/>
        </p:nvSpPr>
        <p:spPr>
          <a:xfrm>
            <a:off x="32638" y="2668826"/>
            <a:ext cx="1286378" cy="830997"/>
          </a:xfrm>
          <a:prstGeom prst="rect">
            <a:avLst/>
          </a:prstGeom>
          <a:noFill/>
        </p:spPr>
        <p:txBody>
          <a:bodyPr vert="horz" wrap="none" rtlCol="0">
            <a:spAutoFit/>
          </a:bodyPr>
          <a:lstStyle/>
          <a:p>
            <a:pPr algn="ctr"/>
            <a:r>
              <a:rPr lang="en-US" sz="2400" dirty="0"/>
              <a:t>Price ($) </a:t>
            </a:r>
          </a:p>
          <a:p>
            <a:pPr algn="ctr"/>
            <a:r>
              <a:rPr lang="en-US" sz="2400" dirty="0"/>
              <a:t>in 1000’s</a:t>
            </a:r>
          </a:p>
        </p:txBody>
      </p:sp>
      <p:sp>
        <p:nvSpPr>
          <p:cNvPr id="57" name="TextBox 56"/>
          <p:cNvSpPr txBox="1"/>
          <p:nvPr/>
        </p:nvSpPr>
        <p:spPr>
          <a:xfrm>
            <a:off x="3107921" y="5257801"/>
            <a:ext cx="2023054" cy="461665"/>
          </a:xfrm>
          <a:prstGeom prst="rect">
            <a:avLst/>
          </a:prstGeom>
          <a:noFill/>
        </p:spPr>
        <p:txBody>
          <a:bodyPr vert="horz" wrap="none" rtlCol="0">
            <a:spAutoFit/>
          </a:bodyPr>
          <a:lstStyle/>
          <a:p>
            <a:pPr algn="ctr"/>
            <a:r>
              <a:rPr lang="en-US" sz="2400" dirty="0"/>
              <a:t>Size in feet</a:t>
            </a:r>
            <a:r>
              <a:rPr lang="en-US" sz="2400" baseline="30000" dirty="0"/>
              <a:t>2</a:t>
            </a:r>
            <a:r>
              <a:rPr lang="en-US" sz="2400" dirty="0"/>
              <a:t> (x)</a:t>
            </a:r>
          </a:p>
        </p:txBody>
      </p:sp>
      <p:cxnSp>
        <p:nvCxnSpPr>
          <p:cNvPr id="59" name="Straight Connector 58"/>
          <p:cNvCxnSpPr/>
          <p:nvPr/>
        </p:nvCxnSpPr>
        <p:spPr>
          <a:xfrm flipV="1">
            <a:off x="1351653" y="3380018"/>
            <a:ext cx="5150748" cy="1396287"/>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7522464" y="1361732"/>
            <a:ext cx="0" cy="3506621"/>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217664" y="4511331"/>
            <a:ext cx="39624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7395464" y="1944827"/>
            <a:ext cx="3276600" cy="2347447"/>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AB7A368A-E9AD-44E7-9DAC-8A54F8C81F5A}"/>
              </a:ext>
            </a:extLst>
          </p:cNvPr>
          <p:cNvPicPr>
            <a:picLocks noChangeAspect="1"/>
          </p:cNvPicPr>
          <p:nvPr/>
        </p:nvPicPr>
        <p:blipFill>
          <a:blip r:embed="rId17"/>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67775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982DEE7E-070A-49FD-951B-7A993B447DC8}"/>
              </a:ext>
            </a:extLst>
          </p:cNvPr>
          <p:cNvSpPr txBox="1"/>
          <p:nvPr/>
        </p:nvSpPr>
        <p:spPr>
          <a:xfrm>
            <a:off x="304800" y="177801"/>
            <a:ext cx="11379200" cy="4031873"/>
          </a:xfrm>
          <a:prstGeom prst="rect">
            <a:avLst/>
          </a:prstGeom>
          <a:noFill/>
        </p:spPr>
        <p:txBody>
          <a:bodyPr wrap="square" rtlCol="0">
            <a:spAutoFit/>
          </a:bodyPr>
          <a:lstStyle/>
          <a:p>
            <a:r>
              <a:rPr lang="en-US" sz="3200" dirty="0"/>
              <a:t>Previously we plotted our cost function by plotting</a:t>
            </a:r>
          </a:p>
          <a:p>
            <a:pPr lvl="1"/>
            <a:r>
              <a:rPr lang="en-US" sz="3200" dirty="0"/>
              <a:t>θ</a:t>
            </a:r>
            <a:r>
              <a:rPr lang="en-US" sz="3200" baseline="-25000" dirty="0"/>
              <a:t>1</a:t>
            </a:r>
            <a:r>
              <a:rPr lang="en-US" sz="3200" dirty="0"/>
              <a:t> vs J(θ</a:t>
            </a:r>
            <a:r>
              <a:rPr lang="en-US" sz="3200" baseline="-25000" dirty="0"/>
              <a:t>1</a:t>
            </a:r>
            <a:r>
              <a:rPr lang="en-US" sz="3200" dirty="0"/>
              <a:t>)</a:t>
            </a:r>
          </a:p>
          <a:p>
            <a:r>
              <a:rPr lang="en-US" sz="3200" dirty="0"/>
              <a:t>Now we have two parameters</a:t>
            </a:r>
          </a:p>
          <a:p>
            <a:pPr lvl="1"/>
            <a:r>
              <a:rPr lang="en-US" sz="3200" dirty="0"/>
              <a:t>Plot becomes a bit more complicated</a:t>
            </a:r>
          </a:p>
          <a:p>
            <a:pPr lvl="1"/>
            <a:r>
              <a:rPr lang="en-US" sz="3200" dirty="0">
                <a:solidFill>
                  <a:srgbClr val="FF0000"/>
                </a:solidFill>
              </a:rPr>
              <a:t>Generates a 3D surface plot </a:t>
            </a:r>
            <a:r>
              <a:rPr lang="en-US" sz="3200" dirty="0"/>
              <a:t>where axis are</a:t>
            </a:r>
          </a:p>
          <a:p>
            <a:pPr lvl="2"/>
            <a:r>
              <a:rPr lang="en-US" sz="3200" dirty="0"/>
              <a:t>X = θ</a:t>
            </a:r>
            <a:r>
              <a:rPr lang="en-US" sz="3200" baseline="-25000" dirty="0"/>
              <a:t>1</a:t>
            </a:r>
            <a:endParaRPr lang="en-US" sz="3200" dirty="0"/>
          </a:p>
          <a:p>
            <a:pPr lvl="2"/>
            <a:r>
              <a:rPr lang="en-US" sz="3200" dirty="0"/>
              <a:t>Z = θ</a:t>
            </a:r>
            <a:r>
              <a:rPr lang="en-US" sz="3200" baseline="-25000" dirty="0"/>
              <a:t>0</a:t>
            </a:r>
            <a:endParaRPr lang="en-US" sz="3200" dirty="0"/>
          </a:p>
          <a:p>
            <a:pPr lvl="2"/>
            <a:r>
              <a:rPr lang="en-US" sz="3200" dirty="0"/>
              <a:t>Y = J(θ</a:t>
            </a:r>
            <a:r>
              <a:rPr lang="en-US" sz="3200" baseline="-25000" dirty="0"/>
              <a:t>0</a:t>
            </a:r>
            <a:r>
              <a:rPr lang="en-US" sz="3200" dirty="0"/>
              <a:t>,θ</a:t>
            </a:r>
            <a:r>
              <a:rPr lang="en-US" sz="3200" baseline="-25000" dirty="0"/>
              <a:t>1</a:t>
            </a:r>
            <a:r>
              <a:rPr lang="en-US" sz="3200" dirty="0"/>
              <a:t>)</a:t>
            </a:r>
          </a:p>
        </p:txBody>
      </p:sp>
      <p:pic>
        <p:nvPicPr>
          <p:cNvPr id="3" name="Picture 2">
            <a:extLst>
              <a:ext uri="{FF2B5EF4-FFF2-40B4-BE49-F238E27FC236}">
                <a16:creationId xmlns:a16="http://schemas.microsoft.com/office/drawing/2014/main" id="{7B9C37B5-EA4B-4994-B6B4-4676E1536B71}"/>
              </a:ext>
            </a:extLst>
          </p:cNvPr>
          <p:cNvPicPr>
            <a:picLocks noChangeAspect="1"/>
          </p:cNvPicPr>
          <p:nvPr/>
        </p:nvPicPr>
        <p:blipFill>
          <a:blip r:embed="rId4"/>
          <a:stretch>
            <a:fillRect/>
          </a:stretch>
        </p:blipFill>
        <p:spPr>
          <a:xfrm>
            <a:off x="10922000" y="6464301"/>
            <a:ext cx="1270000" cy="419100"/>
          </a:xfrm>
          <a:prstGeom prst="rect">
            <a:avLst/>
          </a:prstGeom>
        </p:spPr>
      </p:pic>
      <p:pic>
        <p:nvPicPr>
          <p:cNvPr id="6" name="Picture 5"/>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8534400" y="3101150"/>
            <a:ext cx="707136" cy="326745"/>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975007" y="6299518"/>
            <a:ext cx="246279" cy="277977"/>
          </a:xfrm>
          <a:prstGeom prst="rect">
            <a:avLst/>
          </a:prstGeom>
        </p:spPr>
      </p:pic>
      <p:cxnSp>
        <p:nvCxnSpPr>
          <p:cNvPr id="8" name="Straight Connector 7"/>
          <p:cNvCxnSpPr/>
          <p:nvPr/>
        </p:nvCxnSpPr>
        <p:spPr>
          <a:xfrm flipV="1">
            <a:off x="5486400" y="2946400"/>
            <a:ext cx="0" cy="3506621"/>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181600" y="6095999"/>
            <a:ext cx="39624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a:off x="5359400" y="3529495"/>
            <a:ext cx="3276600" cy="2347447"/>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Tree>
    <p:extLst>
      <p:ext uri="{BB962C8B-B14F-4D97-AF65-F5344CB8AC3E}">
        <p14:creationId xmlns:p14="http://schemas.microsoft.com/office/powerpoint/2010/main" val="4089822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ublic\Documents\ml-class\lectures-slides\assets\2.bow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0"/>
            <a:ext cx="5892800" cy="46249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2DEE7E-070A-49FD-951B-7A993B447DC8}"/>
              </a:ext>
            </a:extLst>
          </p:cNvPr>
          <p:cNvSpPr txBox="1"/>
          <p:nvPr/>
        </p:nvSpPr>
        <p:spPr>
          <a:xfrm>
            <a:off x="508000" y="5054600"/>
            <a:ext cx="11379200" cy="1077218"/>
          </a:xfrm>
          <a:prstGeom prst="rect">
            <a:avLst/>
          </a:prstGeom>
          <a:noFill/>
        </p:spPr>
        <p:txBody>
          <a:bodyPr wrap="square" rtlCol="0">
            <a:spAutoFit/>
          </a:bodyPr>
          <a:lstStyle/>
          <a:p>
            <a:r>
              <a:rPr lang="en-US" sz="3200" dirty="0"/>
              <a:t>We can see that the height (y) indicates the value of the cost function, so find where y is at a minimum</a:t>
            </a:r>
          </a:p>
        </p:txBody>
      </p:sp>
      <p:pic>
        <p:nvPicPr>
          <p:cNvPr id="4" name="Picture 3">
            <a:extLst>
              <a:ext uri="{FF2B5EF4-FFF2-40B4-BE49-F238E27FC236}">
                <a16:creationId xmlns:a16="http://schemas.microsoft.com/office/drawing/2014/main" id="{9E76A003-1894-4F12-AAF1-5D6766C1141B}"/>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2926511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6035525"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04801" y="1173843"/>
            <a:ext cx="5851676" cy="43887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90733" y="279400"/>
            <a:ext cx="905256" cy="408432"/>
          </a:xfrm>
          <a:prstGeom prst="rect">
            <a:avLst/>
          </a:prstGeom>
        </p:spPr>
      </p:pic>
      <p:sp>
        <p:nvSpPr>
          <p:cNvPr id="9" name="TextBox 8"/>
          <p:cNvSpPr txBox="1"/>
          <p:nvPr/>
        </p:nvSpPr>
        <p:spPr>
          <a:xfrm>
            <a:off x="1117601" y="771568"/>
            <a:ext cx="4879669" cy="461665"/>
          </a:xfrm>
          <a:prstGeom prst="rect">
            <a:avLst/>
          </a:prstGeom>
          <a:noFill/>
        </p:spPr>
        <p:txBody>
          <a:bodyPr wrap="none" rtlCol="0">
            <a:spAutoFit/>
          </a:bodyPr>
          <a:lstStyle/>
          <a:p>
            <a:r>
              <a:rPr lang="en-US" sz="2400" dirty="0"/>
              <a:t>(for fixed           , this is a function of x)</a:t>
            </a:r>
          </a:p>
        </p:txBody>
      </p:sp>
      <p:pic>
        <p:nvPicPr>
          <p:cNvPr id="10" name="Picture 9"/>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426092" y="889001"/>
            <a:ext cx="692521" cy="297145"/>
          </a:xfrm>
          <a:prstGeom prst="rect">
            <a:avLst/>
          </a:prstGeom>
        </p:spPr>
      </p:pic>
      <p:pic>
        <p:nvPicPr>
          <p:cNvPr id="11" name="Picture 10"/>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8734379" y="279400"/>
            <a:ext cx="1435608" cy="408432"/>
          </a:xfrm>
          <a:prstGeom prst="rect">
            <a:avLst/>
          </a:prstGeom>
        </p:spPr>
      </p:pic>
      <p:sp>
        <p:nvSpPr>
          <p:cNvPr id="12" name="TextBox 11"/>
          <p:cNvSpPr txBox="1"/>
          <p:nvPr/>
        </p:nvSpPr>
        <p:spPr>
          <a:xfrm>
            <a:off x="7104416" y="771568"/>
            <a:ext cx="4555542" cy="461665"/>
          </a:xfrm>
          <a:prstGeom prst="rect">
            <a:avLst/>
          </a:prstGeom>
          <a:noFill/>
        </p:spPr>
        <p:txBody>
          <a:bodyPr wrap="none" rtlCol="0">
            <a:spAutoFit/>
          </a:bodyPr>
          <a:lstStyle/>
          <a:p>
            <a:r>
              <a:rPr lang="en-US" sz="2400" dirty="0"/>
              <a:t>(function of the parameters            )</a:t>
            </a:r>
          </a:p>
        </p:txBody>
      </p:sp>
      <p:pic>
        <p:nvPicPr>
          <p:cNvPr id="13" name="Picture 12"/>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0774076" y="889000"/>
            <a:ext cx="687629" cy="292608"/>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1A7DFC4-AB40-4BFB-8495-8297B10987F3}"/>
                  </a:ext>
                </a:extLst>
              </p:cNvPr>
              <p:cNvSpPr txBox="1"/>
              <p:nvPr/>
            </p:nvSpPr>
            <p:spPr>
              <a:xfrm>
                <a:off x="0" y="5684157"/>
                <a:ext cx="12192000" cy="830997"/>
              </a:xfrm>
              <a:prstGeom prst="rect">
                <a:avLst/>
              </a:prstGeom>
              <a:noFill/>
            </p:spPr>
            <p:txBody>
              <a:bodyPr wrap="square">
                <a:spAutoFit/>
              </a:bodyPr>
              <a:lstStyle/>
              <a:p>
                <a:r>
                  <a:rPr lang="en-US" sz="2400" b="0" i="0" dirty="0">
                    <a:solidFill>
                      <a:srgbClr val="FF0000"/>
                    </a:solidFill>
                    <a:effectLst/>
                    <a:latin typeface="Google Sans"/>
                  </a:rPr>
                  <a:t>A contour plot is a graphical technique for representing a 3-dimensional surface by plotting constant </a:t>
                </a:r>
                <a14:m>
                  <m:oMath xmlns:m="http://schemas.openxmlformats.org/officeDocument/2006/math">
                    <m:r>
                      <a:rPr lang="en-US" sz="2400" b="0" i="1" dirty="0" smtClean="0">
                        <a:solidFill>
                          <a:srgbClr val="FF0000"/>
                        </a:solidFill>
                        <a:effectLst/>
                        <a:latin typeface="Cambria Math" panose="02040503050406030204" pitchFamily="18" charset="0"/>
                      </a:rPr>
                      <m:t>𝑧</m:t>
                    </m:r>
                  </m:oMath>
                </a14:m>
                <a:r>
                  <a:rPr lang="en-US" sz="2400" b="0" i="0" dirty="0">
                    <a:solidFill>
                      <a:srgbClr val="FF0000"/>
                    </a:solidFill>
                    <a:effectLst/>
                    <a:latin typeface="Google Sans"/>
                  </a:rPr>
                  <a:t> slices, called contours, on a 2-dimensional format</a:t>
                </a:r>
                <a:endParaRPr lang="en-US" sz="2400" dirty="0">
                  <a:solidFill>
                    <a:srgbClr val="FF0000"/>
                  </a:solidFill>
                </a:endParaRPr>
              </a:p>
            </p:txBody>
          </p:sp>
        </mc:Choice>
        <mc:Fallback xmlns="">
          <p:sp>
            <p:nvSpPr>
              <p:cNvPr id="14" name="TextBox 13">
                <a:extLst>
                  <a:ext uri="{FF2B5EF4-FFF2-40B4-BE49-F238E27FC236}">
                    <a16:creationId xmlns:a16="http://schemas.microsoft.com/office/drawing/2014/main" id="{B1A7DFC4-AB40-4BFB-8495-8297B10987F3}"/>
                  </a:ext>
                </a:extLst>
              </p:cNvPr>
              <p:cNvSpPr txBox="1">
                <a:spLocks noRot="1" noChangeAspect="1" noMove="1" noResize="1" noEditPoints="1" noAdjustHandles="1" noChangeArrowheads="1" noChangeShapeType="1" noTextEdit="1"/>
              </p:cNvSpPr>
              <p:nvPr/>
            </p:nvSpPr>
            <p:spPr>
              <a:xfrm>
                <a:off x="0" y="5684157"/>
                <a:ext cx="12192000" cy="830997"/>
              </a:xfrm>
              <a:prstGeom prst="rect">
                <a:avLst/>
              </a:prstGeom>
              <a:blipFill>
                <a:blip r:embed="rId12"/>
                <a:stretch>
                  <a:fillRect l="-750" t="-5839" b="-15328"/>
                </a:stretch>
              </a:blipFill>
            </p:spPr>
            <p:txBody>
              <a:bodyPr/>
              <a:lstStyle/>
              <a:p>
                <a:r>
                  <a:rPr lang="en-US">
                    <a:noFill/>
                  </a:rPr>
                  <a:t> </a:t>
                </a:r>
              </a:p>
            </p:txBody>
          </p:sp>
        </mc:Fallback>
      </mc:AlternateContent>
    </p:spTree>
    <p:extLst>
      <p:ext uri="{BB962C8B-B14F-4D97-AF65-F5344CB8AC3E}">
        <p14:creationId xmlns:p14="http://schemas.microsoft.com/office/powerpoint/2010/main" val="1215241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6035525"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04800"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90733" y="279400"/>
            <a:ext cx="905256" cy="408432"/>
          </a:xfrm>
          <a:prstGeom prst="rect">
            <a:avLst/>
          </a:prstGeom>
        </p:spPr>
      </p:pic>
      <p:sp>
        <p:nvSpPr>
          <p:cNvPr id="5" name="TextBox 4"/>
          <p:cNvSpPr txBox="1"/>
          <p:nvPr/>
        </p:nvSpPr>
        <p:spPr>
          <a:xfrm>
            <a:off x="1117601" y="771568"/>
            <a:ext cx="4879669" cy="461665"/>
          </a:xfrm>
          <a:prstGeom prst="rect">
            <a:avLst/>
          </a:prstGeom>
          <a:noFill/>
        </p:spPr>
        <p:txBody>
          <a:bodyPr wrap="none" rtlCol="0">
            <a:spAutoFit/>
          </a:bodyPr>
          <a:lstStyle/>
          <a:p>
            <a:r>
              <a:rPr lang="en-US" sz="2400"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426092" y="889001"/>
            <a:ext cx="692521" cy="297145"/>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8734379" y="279400"/>
            <a:ext cx="1435608" cy="408432"/>
          </a:xfrm>
          <a:prstGeom prst="rect">
            <a:avLst/>
          </a:prstGeom>
        </p:spPr>
      </p:pic>
      <p:sp>
        <p:nvSpPr>
          <p:cNvPr id="8" name="TextBox 7"/>
          <p:cNvSpPr txBox="1"/>
          <p:nvPr/>
        </p:nvSpPr>
        <p:spPr>
          <a:xfrm>
            <a:off x="7104416" y="771568"/>
            <a:ext cx="4555542" cy="461665"/>
          </a:xfrm>
          <a:prstGeom prst="rect">
            <a:avLst/>
          </a:prstGeom>
          <a:noFill/>
        </p:spPr>
        <p:txBody>
          <a:bodyPr wrap="none" rtlCol="0">
            <a:spAutoFit/>
          </a:bodyPr>
          <a:lstStyle/>
          <a:p>
            <a:r>
              <a:rPr lang="en-US" sz="2400"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0774076" y="889000"/>
            <a:ext cx="687629" cy="292608"/>
          </a:xfrm>
          <a:prstGeom prst="rect">
            <a:avLst/>
          </a:prstGeom>
        </p:spPr>
      </p:pic>
    </p:spTree>
    <p:extLst>
      <p:ext uri="{BB962C8B-B14F-4D97-AF65-F5344CB8AC3E}">
        <p14:creationId xmlns:p14="http://schemas.microsoft.com/office/powerpoint/2010/main" val="2586600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6035525"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04800"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90733" y="279400"/>
            <a:ext cx="905256" cy="408432"/>
          </a:xfrm>
          <a:prstGeom prst="rect">
            <a:avLst/>
          </a:prstGeom>
        </p:spPr>
      </p:pic>
      <p:sp>
        <p:nvSpPr>
          <p:cNvPr id="5" name="TextBox 4"/>
          <p:cNvSpPr txBox="1"/>
          <p:nvPr/>
        </p:nvSpPr>
        <p:spPr>
          <a:xfrm>
            <a:off x="1117601" y="771568"/>
            <a:ext cx="4879669" cy="461665"/>
          </a:xfrm>
          <a:prstGeom prst="rect">
            <a:avLst/>
          </a:prstGeom>
          <a:noFill/>
        </p:spPr>
        <p:txBody>
          <a:bodyPr wrap="none" rtlCol="0">
            <a:spAutoFit/>
          </a:bodyPr>
          <a:lstStyle/>
          <a:p>
            <a:r>
              <a:rPr lang="en-US" sz="2400"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426092" y="889001"/>
            <a:ext cx="692521" cy="297145"/>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8734379" y="279400"/>
            <a:ext cx="1435608" cy="408432"/>
          </a:xfrm>
          <a:prstGeom prst="rect">
            <a:avLst/>
          </a:prstGeom>
        </p:spPr>
      </p:pic>
      <p:sp>
        <p:nvSpPr>
          <p:cNvPr id="8" name="TextBox 7"/>
          <p:cNvSpPr txBox="1"/>
          <p:nvPr/>
        </p:nvSpPr>
        <p:spPr>
          <a:xfrm>
            <a:off x="7104416" y="771568"/>
            <a:ext cx="4555542" cy="461665"/>
          </a:xfrm>
          <a:prstGeom prst="rect">
            <a:avLst/>
          </a:prstGeom>
          <a:noFill/>
        </p:spPr>
        <p:txBody>
          <a:bodyPr wrap="none" rtlCol="0">
            <a:spAutoFit/>
          </a:bodyPr>
          <a:lstStyle/>
          <a:p>
            <a:r>
              <a:rPr lang="en-US" sz="2400"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0774076" y="889000"/>
            <a:ext cx="687629" cy="292608"/>
          </a:xfrm>
          <a:prstGeom prst="rect">
            <a:avLst/>
          </a:prstGeom>
        </p:spPr>
      </p:pic>
    </p:spTree>
    <p:extLst>
      <p:ext uri="{BB962C8B-B14F-4D97-AF65-F5344CB8AC3E}">
        <p14:creationId xmlns:p14="http://schemas.microsoft.com/office/powerpoint/2010/main" val="3945857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6035525"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04800"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90733" y="279400"/>
            <a:ext cx="905256" cy="408432"/>
          </a:xfrm>
          <a:prstGeom prst="rect">
            <a:avLst/>
          </a:prstGeom>
        </p:spPr>
      </p:pic>
      <p:sp>
        <p:nvSpPr>
          <p:cNvPr id="5" name="TextBox 4"/>
          <p:cNvSpPr txBox="1"/>
          <p:nvPr/>
        </p:nvSpPr>
        <p:spPr>
          <a:xfrm>
            <a:off x="1117601" y="771568"/>
            <a:ext cx="4879669" cy="461665"/>
          </a:xfrm>
          <a:prstGeom prst="rect">
            <a:avLst/>
          </a:prstGeom>
          <a:noFill/>
        </p:spPr>
        <p:txBody>
          <a:bodyPr wrap="none" rtlCol="0">
            <a:spAutoFit/>
          </a:bodyPr>
          <a:lstStyle/>
          <a:p>
            <a:r>
              <a:rPr lang="en-US" sz="2400"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426092" y="889001"/>
            <a:ext cx="692521" cy="297145"/>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8734379" y="279400"/>
            <a:ext cx="1435608" cy="408432"/>
          </a:xfrm>
          <a:prstGeom prst="rect">
            <a:avLst/>
          </a:prstGeom>
        </p:spPr>
      </p:pic>
      <p:sp>
        <p:nvSpPr>
          <p:cNvPr id="8" name="TextBox 7"/>
          <p:cNvSpPr txBox="1"/>
          <p:nvPr/>
        </p:nvSpPr>
        <p:spPr>
          <a:xfrm>
            <a:off x="7104416" y="771568"/>
            <a:ext cx="4555542" cy="461665"/>
          </a:xfrm>
          <a:prstGeom prst="rect">
            <a:avLst/>
          </a:prstGeom>
          <a:noFill/>
        </p:spPr>
        <p:txBody>
          <a:bodyPr wrap="none" rtlCol="0">
            <a:spAutoFit/>
          </a:bodyPr>
          <a:lstStyle/>
          <a:p>
            <a:r>
              <a:rPr lang="en-US" sz="2400"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0774076" y="889000"/>
            <a:ext cx="687629" cy="292608"/>
          </a:xfrm>
          <a:prstGeom prst="rect">
            <a:avLst/>
          </a:prstGeom>
        </p:spPr>
      </p:pic>
    </p:spTree>
    <p:extLst>
      <p:ext uri="{BB962C8B-B14F-4D97-AF65-F5344CB8AC3E}">
        <p14:creationId xmlns:p14="http://schemas.microsoft.com/office/powerpoint/2010/main" val="3527775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6035525"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04800" y="1173843"/>
            <a:ext cx="5851675" cy="43887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90733" y="279400"/>
            <a:ext cx="905256" cy="408432"/>
          </a:xfrm>
          <a:prstGeom prst="rect">
            <a:avLst/>
          </a:prstGeom>
        </p:spPr>
      </p:pic>
      <p:sp>
        <p:nvSpPr>
          <p:cNvPr id="5" name="TextBox 4"/>
          <p:cNvSpPr txBox="1"/>
          <p:nvPr/>
        </p:nvSpPr>
        <p:spPr>
          <a:xfrm>
            <a:off x="1117601" y="771568"/>
            <a:ext cx="4879669" cy="461665"/>
          </a:xfrm>
          <a:prstGeom prst="rect">
            <a:avLst/>
          </a:prstGeom>
          <a:noFill/>
        </p:spPr>
        <p:txBody>
          <a:bodyPr wrap="none" rtlCol="0">
            <a:spAutoFit/>
          </a:bodyPr>
          <a:lstStyle/>
          <a:p>
            <a:r>
              <a:rPr lang="en-US" sz="2400"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426092" y="889001"/>
            <a:ext cx="692521" cy="297145"/>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8734379" y="279400"/>
            <a:ext cx="1435608" cy="408432"/>
          </a:xfrm>
          <a:prstGeom prst="rect">
            <a:avLst/>
          </a:prstGeom>
        </p:spPr>
      </p:pic>
      <p:sp>
        <p:nvSpPr>
          <p:cNvPr id="8" name="TextBox 7"/>
          <p:cNvSpPr txBox="1"/>
          <p:nvPr/>
        </p:nvSpPr>
        <p:spPr>
          <a:xfrm>
            <a:off x="7104416" y="771568"/>
            <a:ext cx="4555542" cy="461665"/>
          </a:xfrm>
          <a:prstGeom prst="rect">
            <a:avLst/>
          </a:prstGeom>
          <a:noFill/>
        </p:spPr>
        <p:txBody>
          <a:bodyPr wrap="none" rtlCol="0">
            <a:spAutoFit/>
          </a:bodyPr>
          <a:lstStyle/>
          <a:p>
            <a:r>
              <a:rPr lang="en-US" sz="2400"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0774076" y="889000"/>
            <a:ext cx="687629" cy="292608"/>
          </a:xfrm>
          <a:prstGeom prst="rect">
            <a:avLst/>
          </a:prstGeom>
        </p:spPr>
      </p:pic>
      <p:cxnSp>
        <p:nvCxnSpPr>
          <p:cNvPr id="3" name="Straight Connector 2">
            <a:extLst>
              <a:ext uri="{FF2B5EF4-FFF2-40B4-BE49-F238E27FC236}">
                <a16:creationId xmlns:a16="http://schemas.microsoft.com/office/drawing/2014/main" id="{4B0A8939-7A42-430D-8F2F-A6C7BCB0527B}"/>
              </a:ext>
            </a:extLst>
          </p:cNvPr>
          <p:cNvCxnSpPr>
            <a:cxnSpLocks/>
          </p:cNvCxnSpPr>
          <p:nvPr/>
        </p:nvCxnSpPr>
        <p:spPr>
          <a:xfrm>
            <a:off x="8458200" y="2904565"/>
            <a:ext cx="109025" cy="220200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DE256E6-3F40-4416-A2DB-D8DA5B4F18B0}"/>
              </a:ext>
            </a:extLst>
          </p:cNvPr>
          <p:cNvCxnSpPr/>
          <p:nvPr/>
        </p:nvCxnSpPr>
        <p:spPr>
          <a:xfrm flipH="1">
            <a:off x="6808763" y="2848293"/>
            <a:ext cx="1519311"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579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914400" y="787400"/>
            <a:ext cx="10464800" cy="3915966"/>
          </a:xfrm>
          <a:prstGeom prst="roundRect">
            <a:avLst/>
          </a:prstGeom>
          <a:noFill/>
          <a:ln>
            <a:noFill/>
          </a:ln>
        </p:spPr>
        <p:txBody>
          <a:bodyPr wrap="square" rtlCol="0">
            <a:spAutoFit/>
          </a:bodyPr>
          <a:lstStyle/>
          <a:p>
            <a:pPr>
              <a:buFont typeface="Arial" panose="020B0604020202020204" pitchFamily="34" charset="0"/>
              <a:buChar char="•"/>
            </a:pPr>
            <a:r>
              <a:rPr lang="en-US" sz="3200" dirty="0">
                <a:solidFill>
                  <a:srgbClr val="000000"/>
                </a:solidFill>
                <a:latin typeface="Georgia" panose="02040502050405020303" pitchFamily="18" charset="0"/>
              </a:rPr>
              <a:t>Minimize cost function J</a:t>
            </a:r>
          </a:p>
          <a:p>
            <a:pPr>
              <a:buFont typeface="Arial" panose="020B0604020202020204" pitchFamily="34" charset="0"/>
              <a:buChar char="•"/>
            </a:pPr>
            <a:r>
              <a:rPr lang="en-US" sz="3200" dirty="0">
                <a:solidFill>
                  <a:srgbClr val="000000"/>
                </a:solidFill>
                <a:latin typeface="Georgia" panose="02040502050405020303" pitchFamily="18" charset="0"/>
              </a:rPr>
              <a:t>Gradient descent</a:t>
            </a:r>
          </a:p>
          <a:p>
            <a:pPr marL="990575" lvl="1" indent="-380990">
              <a:buFont typeface="Arial" panose="020B0604020202020204" pitchFamily="34" charset="0"/>
              <a:buChar char="•"/>
            </a:pPr>
            <a:r>
              <a:rPr lang="en-US" sz="3200" dirty="0">
                <a:solidFill>
                  <a:srgbClr val="000000"/>
                </a:solidFill>
                <a:latin typeface="Georgia" panose="02040502050405020303" pitchFamily="18" charset="0"/>
              </a:rPr>
              <a:t>Used all over machine learning for minimization</a:t>
            </a:r>
          </a:p>
          <a:p>
            <a:pPr>
              <a:buFont typeface="Arial" panose="020B0604020202020204" pitchFamily="34" charset="0"/>
              <a:buChar char="•"/>
            </a:pPr>
            <a:r>
              <a:rPr lang="en-US" sz="3200" dirty="0">
                <a:solidFill>
                  <a:srgbClr val="000000"/>
                </a:solidFill>
                <a:latin typeface="Georgia" panose="02040502050405020303" pitchFamily="18" charset="0"/>
              </a:rPr>
              <a:t>Start by looking at a general J() function</a:t>
            </a:r>
          </a:p>
          <a:p>
            <a:pPr>
              <a:buFont typeface="Arial" panose="020B0604020202020204" pitchFamily="34" charset="0"/>
              <a:buChar char="•"/>
            </a:pPr>
            <a:r>
              <a:rPr lang="en-US" sz="3200" dirty="0">
                <a:solidFill>
                  <a:srgbClr val="000000"/>
                </a:solidFill>
                <a:latin typeface="Georgia" panose="02040502050405020303" pitchFamily="18" charset="0"/>
              </a:rPr>
              <a:t>Problem</a:t>
            </a:r>
          </a:p>
          <a:p>
            <a:pPr marL="990575" lvl="1" indent="-380990">
              <a:buFont typeface="Arial" panose="020B0604020202020204" pitchFamily="34" charset="0"/>
              <a:buChar char="•"/>
            </a:pPr>
            <a:r>
              <a:rPr lang="en-US" sz="3200" dirty="0">
                <a:solidFill>
                  <a:srgbClr val="000000"/>
                </a:solidFill>
                <a:latin typeface="Georgia" panose="02040502050405020303" pitchFamily="18" charset="0"/>
              </a:rPr>
              <a:t>We have J(θ</a:t>
            </a:r>
            <a:r>
              <a:rPr lang="en-US" sz="3200" baseline="-25000" dirty="0">
                <a:solidFill>
                  <a:srgbClr val="000000"/>
                </a:solidFill>
                <a:latin typeface="Georgia" panose="02040502050405020303" pitchFamily="18" charset="0"/>
              </a:rPr>
              <a:t>0</a:t>
            </a:r>
            <a:r>
              <a:rPr lang="en-US" sz="3200" dirty="0">
                <a:solidFill>
                  <a:srgbClr val="000000"/>
                </a:solidFill>
                <a:latin typeface="Georgia" panose="02040502050405020303" pitchFamily="18" charset="0"/>
              </a:rPr>
              <a:t>, θ</a:t>
            </a:r>
            <a:r>
              <a:rPr lang="en-US" sz="3200" baseline="-25000" dirty="0">
                <a:solidFill>
                  <a:srgbClr val="000000"/>
                </a:solidFill>
                <a:latin typeface="Georgia" panose="02040502050405020303" pitchFamily="18" charset="0"/>
              </a:rPr>
              <a:t>1</a:t>
            </a:r>
            <a:r>
              <a:rPr lang="en-US" sz="3200" dirty="0">
                <a:solidFill>
                  <a:srgbClr val="000000"/>
                </a:solidFill>
                <a:latin typeface="Georgia" panose="02040502050405020303" pitchFamily="18" charset="0"/>
              </a:rPr>
              <a:t>)</a:t>
            </a:r>
          </a:p>
          <a:p>
            <a:pPr marL="990575" lvl="1" indent="-380990">
              <a:buFont typeface="Arial" panose="020B0604020202020204" pitchFamily="34" charset="0"/>
              <a:buChar char="•"/>
            </a:pPr>
            <a:r>
              <a:rPr lang="en-US" sz="3200" dirty="0">
                <a:solidFill>
                  <a:srgbClr val="000000"/>
                </a:solidFill>
                <a:latin typeface="Georgia" panose="02040502050405020303" pitchFamily="18" charset="0"/>
              </a:rPr>
              <a:t>We want to get </a:t>
            </a:r>
            <a:r>
              <a:rPr lang="en-US" sz="3200" b="1" dirty="0">
                <a:solidFill>
                  <a:srgbClr val="000000"/>
                </a:solidFill>
                <a:latin typeface="Georgia" panose="02040502050405020303" pitchFamily="18" charset="0"/>
              </a:rPr>
              <a:t>min J(θ</a:t>
            </a:r>
            <a:r>
              <a:rPr lang="en-US" sz="3200" b="1" baseline="-25000" dirty="0">
                <a:solidFill>
                  <a:srgbClr val="000000"/>
                </a:solidFill>
                <a:latin typeface="Georgia" panose="02040502050405020303" pitchFamily="18" charset="0"/>
              </a:rPr>
              <a:t>0</a:t>
            </a:r>
            <a:r>
              <a:rPr lang="en-US" sz="3200" b="1" dirty="0">
                <a:solidFill>
                  <a:srgbClr val="000000"/>
                </a:solidFill>
                <a:latin typeface="Georgia" panose="02040502050405020303" pitchFamily="18" charset="0"/>
              </a:rPr>
              <a:t>, θ</a:t>
            </a:r>
            <a:r>
              <a:rPr lang="en-US" sz="3200" b="1" baseline="-25000" dirty="0">
                <a:solidFill>
                  <a:srgbClr val="000000"/>
                </a:solidFill>
                <a:latin typeface="Georgia" panose="02040502050405020303" pitchFamily="18" charset="0"/>
              </a:rPr>
              <a:t>1</a:t>
            </a:r>
            <a:r>
              <a:rPr lang="en-US" sz="3200" b="1" dirty="0">
                <a:solidFill>
                  <a:srgbClr val="000000"/>
                </a:solidFill>
                <a:latin typeface="Georgia" panose="02040502050405020303" pitchFamily="18" charset="0"/>
              </a:rPr>
              <a:t>)</a:t>
            </a:r>
          </a:p>
        </p:txBody>
      </p:sp>
      <p:pic>
        <p:nvPicPr>
          <p:cNvPr id="3" name="Picture 2">
            <a:extLst>
              <a:ext uri="{FF2B5EF4-FFF2-40B4-BE49-F238E27FC236}">
                <a16:creationId xmlns:a16="http://schemas.microsoft.com/office/drawing/2014/main" id="{C0957A52-3EAE-4E66-8864-A03261A9FE8E}"/>
              </a:ext>
            </a:extLst>
          </p:cNvPr>
          <p:cNvPicPr>
            <a:picLocks noChangeAspect="1"/>
          </p:cNvPicPr>
          <p:nvPr/>
        </p:nvPicPr>
        <p:blipFill>
          <a:blip r:embed="rId2"/>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364358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119791" y="584200"/>
            <a:ext cx="4059316" cy="666786"/>
          </a:xfrm>
          <a:prstGeom prst="rect">
            <a:avLst/>
          </a:prstGeom>
          <a:noFill/>
        </p:spPr>
        <p:txBody>
          <a:bodyPr wrap="none" rtlCol="0">
            <a:spAutoFit/>
          </a:bodyPr>
          <a:lstStyle/>
          <a:p>
            <a:r>
              <a:rPr lang="en-US" sz="3733" dirty="0"/>
              <a:t>Have some function</a:t>
            </a:r>
          </a:p>
        </p:txBody>
      </p:sp>
      <p:pic>
        <p:nvPicPr>
          <p:cNvPr id="43" name="Picture 42"/>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5315464" y="701040"/>
            <a:ext cx="1740656" cy="495219"/>
          </a:xfrm>
          <a:prstGeom prst="rect">
            <a:avLst/>
          </a:prstGeom>
        </p:spPr>
      </p:pic>
      <p:sp>
        <p:nvSpPr>
          <p:cNvPr id="44" name="TextBox 43"/>
          <p:cNvSpPr txBox="1"/>
          <p:nvPr/>
        </p:nvSpPr>
        <p:spPr>
          <a:xfrm>
            <a:off x="1119792" y="1410573"/>
            <a:ext cx="1340239" cy="666786"/>
          </a:xfrm>
          <a:prstGeom prst="rect">
            <a:avLst/>
          </a:prstGeom>
          <a:noFill/>
        </p:spPr>
        <p:txBody>
          <a:bodyPr wrap="none" rtlCol="0">
            <a:spAutoFit/>
          </a:bodyPr>
          <a:lstStyle/>
          <a:p>
            <a:r>
              <a:rPr lang="en-US" sz="3733" dirty="0"/>
              <a:t>Want </a:t>
            </a:r>
          </a:p>
        </p:txBody>
      </p:sp>
      <p:pic>
        <p:nvPicPr>
          <p:cNvPr id="3" name="Picture 2"/>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753361" y="1529080"/>
            <a:ext cx="2768049" cy="757611"/>
          </a:xfrm>
          <a:prstGeom prst="rect">
            <a:avLst/>
          </a:prstGeom>
        </p:spPr>
      </p:pic>
      <p:sp>
        <p:nvSpPr>
          <p:cNvPr id="15" name="TextBox 14"/>
          <p:cNvSpPr txBox="1"/>
          <p:nvPr/>
        </p:nvSpPr>
        <p:spPr>
          <a:xfrm>
            <a:off x="914400" y="2383291"/>
            <a:ext cx="11277600" cy="3915682"/>
          </a:xfrm>
          <a:prstGeom prst="roundRect">
            <a:avLst/>
          </a:prstGeom>
          <a:noFill/>
          <a:ln>
            <a:noFill/>
          </a:ln>
        </p:spPr>
        <p:txBody>
          <a:bodyPr wrap="square" rtlCol="0">
            <a:spAutoFit/>
          </a:bodyPr>
          <a:lstStyle/>
          <a:p>
            <a:pPr>
              <a:lnSpc>
                <a:spcPct val="150000"/>
              </a:lnSpc>
            </a:pPr>
            <a:r>
              <a:rPr lang="en-US" sz="3733" b="1" dirty="0"/>
              <a:t>Outline:</a:t>
            </a:r>
          </a:p>
          <a:p>
            <a:pPr marL="1066773" lvl="1" indent="-457189">
              <a:lnSpc>
                <a:spcPct val="150000"/>
              </a:lnSpc>
              <a:buFont typeface="Arial" pitchFamily="34" charset="0"/>
              <a:buChar char="•"/>
            </a:pPr>
            <a:r>
              <a:rPr lang="en-US" sz="3733" dirty="0"/>
              <a:t>Start with some 		initial values</a:t>
            </a:r>
          </a:p>
          <a:p>
            <a:pPr marL="1066773" lvl="1" indent="-457189">
              <a:lnSpc>
                <a:spcPct val="150000"/>
              </a:lnSpc>
              <a:buFont typeface="Arial" pitchFamily="34" charset="0"/>
              <a:buChar char="•"/>
            </a:pPr>
            <a:r>
              <a:rPr lang="en-US" sz="3733" dirty="0"/>
              <a:t>Keep changing              to reduce                     until we hopefully end up at a minimum</a:t>
            </a:r>
          </a:p>
        </p:txBody>
      </p:sp>
      <p:pic>
        <p:nvPicPr>
          <p:cNvPr id="48" name="Picture 4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532120" y="3759200"/>
            <a:ext cx="1062483" cy="452120"/>
          </a:xfrm>
          <a:prstGeom prst="rect">
            <a:avLst/>
          </a:prstGeom>
          <a:ln>
            <a:noFill/>
          </a:ln>
        </p:spPr>
      </p:pic>
      <p:pic>
        <p:nvPicPr>
          <p:cNvPr id="49" name="Picture 48"/>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8666480" y="4600747"/>
            <a:ext cx="1774573" cy="504868"/>
          </a:xfrm>
          <a:prstGeom prst="rect">
            <a:avLst/>
          </a:prstGeom>
          <a:ln>
            <a:noFill/>
          </a:ln>
        </p:spPr>
      </p:pic>
      <p:pic>
        <p:nvPicPr>
          <p:cNvPr id="12" name="Picture 11"/>
          <p:cNvPicPr>
            <a:picLocks noChangeAspect="1"/>
          </p:cNvPicPr>
          <p:nvPr>
            <p:custDataLst>
              <p:tags r:id="rId5"/>
            </p:custDataLst>
          </p:nvPr>
        </p:nvPicPr>
        <p:blipFill>
          <a:blip r:embed="rId9" cstate="print">
            <a:extLst>
              <a:ext uri="{28A0092B-C50C-407E-A947-70E740481C1C}">
                <a14:useLocalDpi xmlns:a14="http://schemas.microsoft.com/office/drawing/2010/main" val="0"/>
              </a:ext>
            </a:extLst>
          </a:blip>
          <a:stretch>
            <a:fillRect/>
          </a:stretch>
        </p:blipFill>
        <p:spPr>
          <a:xfrm>
            <a:off x="5283200" y="4607560"/>
            <a:ext cx="1062483" cy="452120"/>
          </a:xfrm>
          <a:prstGeom prst="rect">
            <a:avLst/>
          </a:prstGeom>
        </p:spPr>
      </p:pic>
      <p:sp>
        <p:nvSpPr>
          <p:cNvPr id="11" name="TextBox 10"/>
          <p:cNvSpPr txBox="1"/>
          <p:nvPr/>
        </p:nvSpPr>
        <p:spPr>
          <a:xfrm>
            <a:off x="7213600" y="882332"/>
            <a:ext cx="4775200" cy="1554752"/>
          </a:xfrm>
          <a:prstGeom prst="roundRect">
            <a:avLst/>
          </a:prstGeom>
          <a:noFill/>
          <a:ln>
            <a:noFill/>
          </a:ln>
        </p:spPr>
        <p:txBody>
          <a:bodyPr wrap="square" rtlCol="0">
            <a:spAutoFit/>
          </a:bodyPr>
          <a:lstStyle/>
          <a:p>
            <a:r>
              <a:rPr lang="en-US" sz="2133" dirty="0"/>
              <a:t>Gradient descent applies to more general functions</a:t>
            </a:r>
          </a:p>
          <a:p>
            <a:pPr marL="380990" indent="-380990">
              <a:buFont typeface="Wingdings" panose="05000000000000000000" pitchFamily="2" charset="2"/>
              <a:buChar char="ü"/>
            </a:pPr>
            <a:r>
              <a:rPr lang="en-US" sz="2133" dirty="0"/>
              <a:t>J(θ</a:t>
            </a:r>
            <a:r>
              <a:rPr lang="en-US" sz="2133" baseline="-25000" dirty="0"/>
              <a:t>0</a:t>
            </a:r>
            <a:r>
              <a:rPr lang="en-US" sz="2133" dirty="0"/>
              <a:t>, θ</a:t>
            </a:r>
            <a:r>
              <a:rPr lang="en-US" sz="2133" baseline="-25000" dirty="0"/>
              <a:t>1</a:t>
            </a:r>
            <a:r>
              <a:rPr lang="en-US" sz="2133" dirty="0"/>
              <a:t>, θ</a:t>
            </a:r>
            <a:r>
              <a:rPr lang="en-US" sz="2133" baseline="-25000" dirty="0"/>
              <a:t>2</a:t>
            </a:r>
            <a:r>
              <a:rPr lang="en-US" sz="2133" dirty="0"/>
              <a:t> .... </a:t>
            </a:r>
            <a:r>
              <a:rPr lang="en-US" sz="2133" dirty="0" err="1"/>
              <a:t>θ</a:t>
            </a:r>
            <a:r>
              <a:rPr lang="en-US" sz="2133" baseline="-25000" dirty="0" err="1"/>
              <a:t>n</a:t>
            </a:r>
            <a:r>
              <a:rPr lang="en-US" sz="2133" dirty="0"/>
              <a:t>)</a:t>
            </a:r>
          </a:p>
          <a:p>
            <a:pPr marL="380990" indent="-380990">
              <a:buFont typeface="Wingdings" panose="05000000000000000000" pitchFamily="2" charset="2"/>
              <a:buChar char="ü"/>
            </a:pPr>
            <a:r>
              <a:rPr lang="en-US" sz="2133" dirty="0"/>
              <a:t>min J(θ</a:t>
            </a:r>
            <a:r>
              <a:rPr lang="en-US" sz="2133" baseline="-25000" dirty="0"/>
              <a:t>0</a:t>
            </a:r>
            <a:r>
              <a:rPr lang="en-US" sz="2133" dirty="0"/>
              <a:t>, θ</a:t>
            </a:r>
            <a:r>
              <a:rPr lang="en-US" sz="2133" baseline="-25000" dirty="0"/>
              <a:t>1</a:t>
            </a:r>
            <a:r>
              <a:rPr lang="en-US" sz="2133" dirty="0"/>
              <a:t>, θ</a:t>
            </a:r>
            <a:r>
              <a:rPr lang="en-US" sz="2133" baseline="-25000" dirty="0"/>
              <a:t>2</a:t>
            </a:r>
            <a:r>
              <a:rPr lang="en-US" sz="2133" dirty="0"/>
              <a:t> .... </a:t>
            </a:r>
            <a:r>
              <a:rPr lang="en-US" sz="2133" dirty="0" err="1"/>
              <a:t>θ</a:t>
            </a:r>
            <a:r>
              <a:rPr lang="en-US" sz="2133" baseline="-25000" dirty="0" err="1"/>
              <a:t>n</a:t>
            </a:r>
            <a:r>
              <a:rPr lang="en-US" sz="2133" dirty="0"/>
              <a:t>)</a:t>
            </a:r>
          </a:p>
        </p:txBody>
      </p:sp>
      <p:pic>
        <p:nvPicPr>
          <p:cNvPr id="13" name="Picture 12">
            <a:extLst>
              <a:ext uri="{FF2B5EF4-FFF2-40B4-BE49-F238E27FC236}">
                <a16:creationId xmlns:a16="http://schemas.microsoft.com/office/drawing/2014/main" id="{2BBCBEC0-5A6A-45ED-8D9F-7391C066528A}"/>
              </a:ext>
            </a:extLst>
          </p:cNvPr>
          <p:cNvPicPr>
            <a:picLocks noChangeAspect="1"/>
          </p:cNvPicPr>
          <p:nvPr/>
        </p:nvPicPr>
        <p:blipFill>
          <a:blip r:embed="rId10"/>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2642485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914400" y="76201"/>
            <a:ext cx="10160000" cy="6005403"/>
          </a:xfrm>
          <a:prstGeom prst="roundRect">
            <a:avLst/>
          </a:prstGeom>
          <a:noFill/>
          <a:ln>
            <a:noFill/>
          </a:ln>
        </p:spPr>
        <p:txBody>
          <a:bodyPr wrap="square" rtlCol="0">
            <a:spAutoFit/>
          </a:bodyPr>
          <a:lstStyle/>
          <a:p>
            <a:pPr marL="380990" indent="-380990">
              <a:buFont typeface="Wingdings" panose="05000000000000000000" pitchFamily="2" charset="2"/>
              <a:buChar char="§"/>
            </a:pPr>
            <a:r>
              <a:rPr lang="en-US" sz="2667" dirty="0"/>
              <a:t>Start with </a:t>
            </a:r>
            <a:r>
              <a:rPr lang="en-US" sz="2667" dirty="0">
                <a:solidFill>
                  <a:srgbClr val="FF0000"/>
                </a:solidFill>
              </a:rPr>
              <a:t>initial guesses</a:t>
            </a:r>
          </a:p>
          <a:p>
            <a:pPr marL="990575" lvl="1" indent="-380990">
              <a:buFont typeface="Wingdings" panose="05000000000000000000" pitchFamily="2" charset="2"/>
              <a:buChar char="Ø"/>
            </a:pPr>
            <a:r>
              <a:rPr lang="en-US" sz="2667" dirty="0"/>
              <a:t>Start at 0,0 (or any other value)</a:t>
            </a:r>
          </a:p>
          <a:p>
            <a:pPr marL="990575" lvl="1" indent="-380990">
              <a:buFont typeface="Wingdings" panose="05000000000000000000" pitchFamily="2" charset="2"/>
              <a:buChar char="Ø"/>
            </a:pPr>
            <a:r>
              <a:rPr lang="en-US" sz="2667" dirty="0"/>
              <a:t>Keeping changing θ</a:t>
            </a:r>
            <a:r>
              <a:rPr lang="en-US" sz="2667" baseline="-25000" dirty="0"/>
              <a:t>0</a:t>
            </a:r>
            <a:r>
              <a:rPr lang="en-US" sz="2667" dirty="0"/>
              <a:t> and θ</a:t>
            </a:r>
            <a:r>
              <a:rPr lang="en-US" sz="2667" baseline="-25000" dirty="0"/>
              <a:t>1</a:t>
            </a:r>
            <a:r>
              <a:rPr lang="en-US" sz="2667" dirty="0"/>
              <a:t> </a:t>
            </a:r>
            <a:r>
              <a:rPr lang="en-US" sz="2667" dirty="0">
                <a:solidFill>
                  <a:srgbClr val="FF0000"/>
                </a:solidFill>
              </a:rPr>
              <a:t>a little bit </a:t>
            </a:r>
            <a:r>
              <a:rPr lang="en-US" sz="2667" dirty="0"/>
              <a:t>to try and reduce J(θ</a:t>
            </a:r>
            <a:r>
              <a:rPr lang="en-US" sz="2667" baseline="-25000" dirty="0"/>
              <a:t>0</a:t>
            </a:r>
            <a:r>
              <a:rPr lang="en-US" sz="2667" dirty="0"/>
              <a:t>,θ</a:t>
            </a:r>
            <a:r>
              <a:rPr lang="en-US" sz="2667" baseline="-25000" dirty="0"/>
              <a:t>1</a:t>
            </a:r>
            <a:r>
              <a:rPr lang="en-US" sz="2667" dirty="0"/>
              <a:t>)</a:t>
            </a:r>
          </a:p>
          <a:p>
            <a:pPr marL="380990" indent="-380990">
              <a:buFont typeface="Wingdings" panose="05000000000000000000" pitchFamily="2" charset="2"/>
              <a:buChar char="§"/>
            </a:pPr>
            <a:r>
              <a:rPr lang="en-US" sz="2667" dirty="0"/>
              <a:t>Each time you change the parameters, you select the gradient which reduces J(θ</a:t>
            </a:r>
            <a:r>
              <a:rPr lang="en-US" sz="2667" baseline="-25000" dirty="0"/>
              <a:t>0</a:t>
            </a:r>
            <a:r>
              <a:rPr lang="en-US" sz="2667" dirty="0"/>
              <a:t>,θ</a:t>
            </a:r>
            <a:r>
              <a:rPr lang="en-US" sz="2667" baseline="-25000" dirty="0"/>
              <a:t>1</a:t>
            </a:r>
            <a:r>
              <a:rPr lang="en-US" sz="2667" dirty="0"/>
              <a:t>) the most possible </a:t>
            </a:r>
          </a:p>
          <a:p>
            <a:pPr marL="380990" indent="-380990">
              <a:buFont typeface="Wingdings" panose="05000000000000000000" pitchFamily="2" charset="2"/>
              <a:buChar char="§"/>
            </a:pPr>
            <a:r>
              <a:rPr lang="en-US" sz="2667" dirty="0"/>
              <a:t>Repeat</a:t>
            </a:r>
          </a:p>
          <a:p>
            <a:pPr marL="380990" indent="-380990">
              <a:buFont typeface="Wingdings" panose="05000000000000000000" pitchFamily="2" charset="2"/>
              <a:buChar char="§"/>
            </a:pPr>
            <a:r>
              <a:rPr lang="en-US" sz="2667" dirty="0"/>
              <a:t>Do so until you converge to a local minimum</a:t>
            </a:r>
          </a:p>
          <a:p>
            <a:pPr marL="380990" indent="-380990">
              <a:buFont typeface="Wingdings" panose="05000000000000000000" pitchFamily="2" charset="2"/>
              <a:buChar char="§"/>
            </a:pPr>
            <a:r>
              <a:rPr lang="en-US" sz="2667" dirty="0"/>
              <a:t>Has an interesting property</a:t>
            </a:r>
          </a:p>
          <a:p>
            <a:pPr marL="990575" lvl="1" indent="-380990">
              <a:buFont typeface="Wingdings" panose="05000000000000000000" pitchFamily="2" charset="2"/>
              <a:buChar char="Ø"/>
            </a:pPr>
            <a:r>
              <a:rPr lang="en-US" sz="2667" dirty="0"/>
              <a:t>Where you start can determine which minimum you end up</a:t>
            </a:r>
          </a:p>
          <a:p>
            <a:pPr marL="990575" lvl="1" indent="-380990">
              <a:buFont typeface="Wingdings" panose="05000000000000000000" pitchFamily="2" charset="2"/>
              <a:buChar char="Ø"/>
            </a:pPr>
            <a:r>
              <a:rPr lang="en-US" sz="2667" dirty="0"/>
              <a:t>Here we can see one initialization point led to one local minimum</a:t>
            </a:r>
          </a:p>
          <a:p>
            <a:pPr marL="990575" lvl="1" indent="-380990">
              <a:buFont typeface="Wingdings" panose="05000000000000000000" pitchFamily="2" charset="2"/>
              <a:buChar char="Ø"/>
            </a:pPr>
            <a:r>
              <a:rPr lang="en-US" sz="2667" dirty="0"/>
              <a:t>The other led to a different one</a:t>
            </a:r>
          </a:p>
        </p:txBody>
      </p:sp>
      <p:pic>
        <p:nvPicPr>
          <p:cNvPr id="3" name="Picture 2">
            <a:extLst>
              <a:ext uri="{FF2B5EF4-FFF2-40B4-BE49-F238E27FC236}">
                <a16:creationId xmlns:a16="http://schemas.microsoft.com/office/drawing/2014/main" id="{CBCE6BA1-19E0-4700-B0CF-CF79BABC9F85}"/>
              </a:ext>
            </a:extLst>
          </p:cNvPr>
          <p:cNvPicPr>
            <a:picLocks noChangeAspect="1"/>
          </p:cNvPicPr>
          <p:nvPr/>
        </p:nvPicPr>
        <p:blipFill>
          <a:blip r:embed="rId2"/>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36054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3" cstate="print"/>
          <a:srcRect/>
          <a:stretch>
            <a:fillRect/>
          </a:stretch>
        </p:blipFill>
        <p:spPr bwMode="auto">
          <a:xfrm>
            <a:off x="812800" y="681038"/>
            <a:ext cx="10236200" cy="5376863"/>
          </a:xfrm>
          <a:prstGeom prst="rect">
            <a:avLst/>
          </a:prstGeom>
          <a:noFill/>
          <a:ln w="9525">
            <a:noFill/>
            <a:miter lim="800000"/>
            <a:headEnd/>
            <a:tailEnd/>
          </a:ln>
        </p:spPr>
      </p:pic>
      <p:sp>
        <p:nvSpPr>
          <p:cNvPr id="477191" name="AutoShape 7"/>
          <p:cNvSpPr>
            <a:spLocks noChangeArrowheads="1"/>
          </p:cNvSpPr>
          <p:nvPr/>
        </p:nvSpPr>
        <p:spPr bwMode="auto">
          <a:xfrm>
            <a:off x="5054600" y="269874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2" name="AutoShape 8"/>
          <p:cNvSpPr>
            <a:spLocks noChangeArrowheads="1"/>
          </p:cNvSpPr>
          <p:nvPr/>
        </p:nvSpPr>
        <p:spPr bwMode="auto">
          <a:xfrm>
            <a:off x="5105400" y="2989261"/>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3" name="AutoShape 9"/>
          <p:cNvSpPr>
            <a:spLocks noChangeArrowheads="1"/>
          </p:cNvSpPr>
          <p:nvPr/>
        </p:nvSpPr>
        <p:spPr bwMode="auto">
          <a:xfrm>
            <a:off x="5080000" y="32845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4" name="AutoShape 10"/>
          <p:cNvSpPr>
            <a:spLocks noChangeArrowheads="1"/>
          </p:cNvSpPr>
          <p:nvPr/>
        </p:nvSpPr>
        <p:spPr bwMode="auto">
          <a:xfrm>
            <a:off x="4775200" y="35893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5" name="AutoShape 11"/>
          <p:cNvSpPr>
            <a:spLocks noChangeArrowheads="1"/>
          </p:cNvSpPr>
          <p:nvPr/>
        </p:nvSpPr>
        <p:spPr bwMode="auto">
          <a:xfrm>
            <a:off x="4876800" y="38941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6" name="AutoShape 12"/>
          <p:cNvSpPr>
            <a:spLocks noChangeArrowheads="1"/>
          </p:cNvSpPr>
          <p:nvPr/>
        </p:nvSpPr>
        <p:spPr bwMode="auto">
          <a:xfrm>
            <a:off x="5283200" y="39703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7" name="AutoShape 13"/>
          <p:cNvSpPr>
            <a:spLocks noChangeArrowheads="1"/>
          </p:cNvSpPr>
          <p:nvPr/>
        </p:nvSpPr>
        <p:spPr bwMode="auto">
          <a:xfrm>
            <a:off x="5486400" y="41989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8" name="AutoShape 14"/>
          <p:cNvSpPr>
            <a:spLocks noChangeArrowheads="1"/>
          </p:cNvSpPr>
          <p:nvPr/>
        </p:nvSpPr>
        <p:spPr bwMode="auto">
          <a:xfrm>
            <a:off x="5384800" y="45037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cxnSp>
        <p:nvCxnSpPr>
          <p:cNvPr id="477199" name="AutoShape 15"/>
          <p:cNvCxnSpPr>
            <a:cxnSpLocks noChangeShapeType="1"/>
          </p:cNvCxnSpPr>
          <p:nvPr/>
        </p:nvCxnSpPr>
        <p:spPr bwMode="auto">
          <a:xfrm>
            <a:off x="4923367" y="3703636"/>
            <a:ext cx="101600" cy="304800"/>
          </a:xfrm>
          <a:prstGeom prst="straightConnector1">
            <a:avLst/>
          </a:prstGeom>
          <a:noFill/>
          <a:ln w="28575">
            <a:solidFill>
              <a:schemeClr val="tx1"/>
            </a:solidFill>
            <a:round/>
            <a:headEnd/>
            <a:tailEnd/>
          </a:ln>
        </p:spPr>
      </p:cxnSp>
      <p:cxnSp>
        <p:nvCxnSpPr>
          <p:cNvPr id="477200" name="AutoShape 16"/>
          <p:cNvCxnSpPr>
            <a:cxnSpLocks noChangeShapeType="1"/>
          </p:cNvCxnSpPr>
          <p:nvPr/>
        </p:nvCxnSpPr>
        <p:spPr bwMode="auto">
          <a:xfrm flipH="1">
            <a:off x="4923367" y="3398836"/>
            <a:ext cx="304800" cy="304800"/>
          </a:xfrm>
          <a:prstGeom prst="straightConnector1">
            <a:avLst/>
          </a:prstGeom>
          <a:noFill/>
          <a:ln w="28575">
            <a:solidFill>
              <a:schemeClr val="tx1"/>
            </a:solidFill>
            <a:round/>
            <a:headEnd/>
            <a:tailEnd/>
          </a:ln>
        </p:spPr>
      </p:cxnSp>
      <p:cxnSp>
        <p:nvCxnSpPr>
          <p:cNvPr id="477201" name="AutoShape 17"/>
          <p:cNvCxnSpPr>
            <a:cxnSpLocks noChangeShapeType="1"/>
          </p:cNvCxnSpPr>
          <p:nvPr/>
        </p:nvCxnSpPr>
        <p:spPr bwMode="auto">
          <a:xfrm>
            <a:off x="5033433" y="4008436"/>
            <a:ext cx="406400" cy="76200"/>
          </a:xfrm>
          <a:prstGeom prst="straightConnector1">
            <a:avLst/>
          </a:prstGeom>
          <a:noFill/>
          <a:ln w="28575">
            <a:solidFill>
              <a:schemeClr val="tx1"/>
            </a:solidFill>
            <a:round/>
            <a:headEnd/>
            <a:tailEnd/>
          </a:ln>
        </p:spPr>
      </p:cxnSp>
      <p:cxnSp>
        <p:nvCxnSpPr>
          <p:cNvPr id="477202" name="AutoShape 18"/>
          <p:cNvCxnSpPr>
            <a:cxnSpLocks noChangeShapeType="1"/>
          </p:cNvCxnSpPr>
          <p:nvPr/>
        </p:nvCxnSpPr>
        <p:spPr bwMode="auto">
          <a:xfrm>
            <a:off x="5425017" y="4084636"/>
            <a:ext cx="203200" cy="228600"/>
          </a:xfrm>
          <a:prstGeom prst="straightConnector1">
            <a:avLst/>
          </a:prstGeom>
          <a:noFill/>
          <a:ln w="28575">
            <a:solidFill>
              <a:schemeClr val="tx1"/>
            </a:solidFill>
            <a:round/>
            <a:headEnd/>
            <a:tailEnd/>
          </a:ln>
        </p:spPr>
      </p:cxnSp>
      <p:cxnSp>
        <p:nvCxnSpPr>
          <p:cNvPr id="477203" name="AutoShape 19"/>
          <p:cNvCxnSpPr>
            <a:cxnSpLocks noChangeShapeType="1"/>
          </p:cNvCxnSpPr>
          <p:nvPr/>
        </p:nvCxnSpPr>
        <p:spPr bwMode="auto">
          <a:xfrm flipH="1">
            <a:off x="5526617" y="4313236"/>
            <a:ext cx="101600" cy="304800"/>
          </a:xfrm>
          <a:prstGeom prst="straightConnector1">
            <a:avLst/>
          </a:prstGeom>
          <a:noFill/>
          <a:ln w="28575">
            <a:solidFill>
              <a:schemeClr val="tx1"/>
            </a:solidFill>
            <a:round/>
            <a:headEnd/>
            <a:tailEnd/>
          </a:ln>
        </p:spPr>
      </p:cxnSp>
      <p:sp>
        <p:nvSpPr>
          <p:cNvPr id="477204" name="Line 20"/>
          <p:cNvSpPr>
            <a:spLocks noChangeShapeType="1"/>
          </p:cNvSpPr>
          <p:nvPr/>
        </p:nvSpPr>
        <p:spPr bwMode="auto">
          <a:xfrm>
            <a:off x="5207002" y="2813049"/>
            <a:ext cx="57151" cy="304800"/>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477205" name="Line 21"/>
          <p:cNvSpPr>
            <a:spLocks noChangeShapeType="1"/>
          </p:cNvSpPr>
          <p:nvPr/>
        </p:nvSpPr>
        <p:spPr bwMode="auto">
          <a:xfrm flipH="1">
            <a:off x="5232402" y="3113087"/>
            <a:ext cx="31751" cy="280988"/>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50196" name="Text Box 22"/>
          <p:cNvSpPr txBox="1">
            <a:spLocks noChangeArrowheads="1"/>
          </p:cNvSpPr>
          <p:nvPr/>
        </p:nvSpPr>
        <p:spPr bwMode="auto">
          <a:xfrm>
            <a:off x="9029701" y="4953000"/>
            <a:ext cx="447558" cy="461665"/>
          </a:xfrm>
          <a:prstGeom prst="rect">
            <a:avLst/>
          </a:prstGeom>
          <a:noFill/>
          <a:ln w="9525">
            <a:noFill/>
            <a:miter lim="800000"/>
            <a:headEnd/>
            <a:tailEnd/>
          </a:ln>
        </p:spPr>
        <p:txBody>
          <a:bodyPr wrap="none">
            <a:spAutoFit/>
          </a:bodyPr>
          <a:lstStyle/>
          <a:p>
            <a:r>
              <a:rPr lang="en-US" sz="2400">
                <a:solidFill>
                  <a:prstClr val="black"/>
                </a:solidFill>
                <a:latin typeface="Symbol" pitchFamily="18" charset="2"/>
                <a:sym typeface="Symbol" pitchFamily="18" charset="2"/>
              </a:rPr>
              <a:t></a:t>
            </a:r>
            <a:r>
              <a:rPr lang="en-US" sz="2400" baseline="-25000">
                <a:solidFill>
                  <a:prstClr val="black"/>
                </a:solidFill>
                <a:latin typeface="Symbol" pitchFamily="18" charset="2"/>
                <a:sym typeface="Symbol" pitchFamily="18" charset="2"/>
              </a:rPr>
              <a:t>1</a:t>
            </a:r>
            <a:endParaRPr lang="en-US" sz="2400" baseline="-25000">
              <a:solidFill>
                <a:prstClr val="black"/>
              </a:solidFill>
              <a:latin typeface="Symbol" pitchFamily="18" charset="2"/>
            </a:endParaRPr>
          </a:p>
        </p:txBody>
      </p:sp>
      <p:sp>
        <p:nvSpPr>
          <p:cNvPr id="50197" name="Text Box 23"/>
          <p:cNvSpPr txBox="1">
            <a:spLocks noChangeArrowheads="1"/>
          </p:cNvSpPr>
          <p:nvPr/>
        </p:nvSpPr>
        <p:spPr bwMode="auto">
          <a:xfrm>
            <a:off x="3668184" y="5332413"/>
            <a:ext cx="447558" cy="461665"/>
          </a:xfrm>
          <a:prstGeom prst="rect">
            <a:avLst/>
          </a:prstGeom>
          <a:noFill/>
          <a:ln w="9525">
            <a:noFill/>
            <a:miter lim="800000"/>
            <a:headEnd/>
            <a:tailEnd/>
          </a:ln>
        </p:spPr>
        <p:txBody>
          <a:bodyPr wrap="none">
            <a:spAutoFit/>
          </a:bodyPr>
          <a:lstStyle/>
          <a:p>
            <a:r>
              <a:rPr lang="en-US" sz="2400">
                <a:solidFill>
                  <a:prstClr val="black"/>
                </a:solidFill>
                <a:latin typeface="Symbol" pitchFamily="18" charset="2"/>
                <a:sym typeface="Symbol" pitchFamily="18" charset="2"/>
              </a:rPr>
              <a:t></a:t>
            </a:r>
            <a:r>
              <a:rPr lang="en-US" sz="2400" baseline="-25000">
                <a:solidFill>
                  <a:prstClr val="black"/>
                </a:solidFill>
                <a:latin typeface="Symbol" pitchFamily="18" charset="2"/>
                <a:sym typeface="Symbol" pitchFamily="18" charset="2"/>
              </a:rPr>
              <a:t>0</a:t>
            </a:r>
            <a:endParaRPr lang="en-US" sz="2400" baseline="-25000">
              <a:solidFill>
                <a:prstClr val="black"/>
              </a:solidFill>
              <a:latin typeface="Symbol" pitchFamily="18" charset="2"/>
            </a:endParaRPr>
          </a:p>
        </p:txBody>
      </p:sp>
      <p:sp>
        <p:nvSpPr>
          <p:cNvPr id="23" name="Text Box 21"/>
          <p:cNvSpPr txBox="1">
            <a:spLocks noChangeArrowheads="1"/>
          </p:cNvSpPr>
          <p:nvPr/>
        </p:nvSpPr>
        <p:spPr bwMode="auto">
          <a:xfrm>
            <a:off x="795048" y="3173094"/>
            <a:ext cx="1071127" cy="461665"/>
          </a:xfrm>
          <a:prstGeom prst="rect">
            <a:avLst/>
          </a:prstGeom>
          <a:noFill/>
          <a:ln w="9525">
            <a:noFill/>
            <a:miter lim="800000"/>
            <a:headEnd/>
            <a:tailEnd/>
          </a:ln>
        </p:spPr>
        <p:txBody>
          <a:bodyPr wrap="none">
            <a:spAutoFit/>
          </a:bodyPr>
          <a:lstStyle/>
          <a:p>
            <a:r>
              <a:rPr lang="en-US" sz="2400" dirty="0">
                <a:solidFill>
                  <a:prstClr val="black"/>
                </a:solidFill>
              </a:rPr>
              <a:t>J(</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0</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1</a:t>
            </a:r>
            <a:r>
              <a:rPr lang="en-US" sz="2400" dirty="0">
                <a:solidFill>
                  <a:prstClr val="black"/>
                </a:solidFill>
              </a:rPr>
              <a:t>)</a:t>
            </a:r>
            <a:endParaRPr lang="en-US" sz="2400" baseline="-25000" dirty="0">
              <a:solidFill>
                <a:prstClr val="black"/>
              </a:solidFill>
              <a:latin typeface="Symbol" pitchFamily="18" charset="2"/>
              <a:sym typeface="Symbol" pitchFamily="18" charset="2"/>
            </a:endParaRPr>
          </a:p>
        </p:txBody>
      </p:sp>
      <p:pic>
        <p:nvPicPr>
          <p:cNvPr id="21" name="Picture 20">
            <a:extLst>
              <a:ext uri="{FF2B5EF4-FFF2-40B4-BE49-F238E27FC236}">
                <a16:creationId xmlns:a16="http://schemas.microsoft.com/office/drawing/2014/main" id="{549E052D-55AC-47A7-91B2-195F6F946041}"/>
              </a:ext>
            </a:extLst>
          </p:cNvPr>
          <p:cNvPicPr>
            <a:picLocks noChangeAspect="1"/>
          </p:cNvPicPr>
          <p:nvPr/>
        </p:nvPicPr>
        <p:blipFill>
          <a:blip r:embed="rId4"/>
          <a:stretch>
            <a:fillRect/>
          </a:stretch>
        </p:blipFill>
        <p:spPr>
          <a:xfrm>
            <a:off x="10922000" y="6438901"/>
            <a:ext cx="1270000" cy="419100"/>
          </a:xfrm>
          <a:prstGeom prst="rect">
            <a:avLst/>
          </a:prstGeom>
        </p:spPr>
      </p:pic>
      <p:sp>
        <p:nvSpPr>
          <p:cNvPr id="24" name="TextBox 23">
            <a:extLst>
              <a:ext uri="{FF2B5EF4-FFF2-40B4-BE49-F238E27FC236}">
                <a16:creationId xmlns:a16="http://schemas.microsoft.com/office/drawing/2014/main" id="{159A4C95-4B58-43A2-A27F-42113B03ED5B}"/>
              </a:ext>
            </a:extLst>
          </p:cNvPr>
          <p:cNvSpPr txBox="1"/>
          <p:nvPr/>
        </p:nvSpPr>
        <p:spPr>
          <a:xfrm>
            <a:off x="1984313" y="27454"/>
            <a:ext cx="6098240" cy="646331"/>
          </a:xfrm>
          <a:prstGeom prst="rect">
            <a:avLst/>
          </a:prstGeom>
          <a:noFill/>
        </p:spPr>
        <p:txBody>
          <a:bodyPr wrap="square">
            <a:spAutoFit/>
          </a:bodyPr>
          <a:lstStyle/>
          <a:p>
            <a:pPr marL="990575" lvl="1" indent="-380990">
              <a:buFont typeface="Wingdings" panose="05000000000000000000" pitchFamily="2" charset="2"/>
              <a:buChar char="Ø"/>
            </a:pPr>
            <a:r>
              <a:rPr lang="en-US" sz="1800" dirty="0"/>
              <a:t>one initialization point led to one local minimum</a:t>
            </a:r>
          </a:p>
          <a:p>
            <a:pPr marL="990575" lvl="1" indent="-380990">
              <a:buFont typeface="Wingdings" panose="05000000000000000000" pitchFamily="2" charset="2"/>
              <a:buChar char="Ø"/>
            </a:pPr>
            <a:r>
              <a:rPr lang="en-US" sz="1800" dirty="0"/>
              <a:t>The other led to a different one</a:t>
            </a:r>
          </a:p>
        </p:txBody>
      </p:sp>
    </p:spTree>
    <p:extLst>
      <p:ext uri="{BB962C8B-B14F-4D97-AF65-F5344CB8AC3E}">
        <p14:creationId xmlns:p14="http://schemas.microsoft.com/office/powerpoint/2010/main" val="358071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1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720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7719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77205"/>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771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7200"/>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477194"/>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500"/>
                                  </p:stCondLst>
                                  <p:childTnLst>
                                    <p:set>
                                      <p:cBhvr>
                                        <p:cTn id="30" dur="1" fill="hold">
                                          <p:stCondLst>
                                            <p:cond delay="0"/>
                                          </p:stCondLst>
                                        </p:cTn>
                                        <p:tgtEl>
                                          <p:spTgt spid="477199"/>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477195"/>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500"/>
                                  </p:stCondLst>
                                  <p:childTnLst>
                                    <p:set>
                                      <p:cBhvr>
                                        <p:cTn id="36" dur="1" fill="hold">
                                          <p:stCondLst>
                                            <p:cond delay="0"/>
                                          </p:stCondLst>
                                        </p:cTn>
                                        <p:tgtEl>
                                          <p:spTgt spid="477201"/>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0"/>
                                          </p:stCondLst>
                                        </p:cTn>
                                        <p:tgtEl>
                                          <p:spTgt spid="477196"/>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500"/>
                                  </p:stCondLst>
                                  <p:childTnLst>
                                    <p:set>
                                      <p:cBhvr>
                                        <p:cTn id="42" dur="1" fill="hold">
                                          <p:stCondLst>
                                            <p:cond delay="0"/>
                                          </p:stCondLst>
                                        </p:cTn>
                                        <p:tgtEl>
                                          <p:spTgt spid="477202"/>
                                        </p:tgtEl>
                                        <p:attrNameLst>
                                          <p:attrName>style.visibility</p:attrName>
                                        </p:attrNameLst>
                                      </p:cBhvr>
                                      <p:to>
                                        <p:strVal val="visible"/>
                                      </p:to>
                                    </p:set>
                                  </p:childTnLst>
                                </p:cTn>
                              </p:par>
                            </p:childTnLst>
                          </p:cTn>
                        </p:par>
                        <p:par>
                          <p:cTn id="43" fill="hold">
                            <p:stCondLst>
                              <p:cond delay="1500"/>
                            </p:stCondLst>
                            <p:childTnLst>
                              <p:par>
                                <p:cTn id="44" presetID="1" presetClass="entr" presetSubtype="0" fill="hold" grpId="0" nodeType="afterEffect">
                                  <p:stCondLst>
                                    <p:cond delay="0"/>
                                  </p:stCondLst>
                                  <p:childTnLst>
                                    <p:set>
                                      <p:cBhvr>
                                        <p:cTn id="45" dur="1" fill="hold">
                                          <p:stCondLst>
                                            <p:cond delay="0"/>
                                          </p:stCondLst>
                                        </p:cTn>
                                        <p:tgtEl>
                                          <p:spTgt spid="477197"/>
                                        </p:tgtEl>
                                        <p:attrNameLst>
                                          <p:attrName>style.visibility</p:attrName>
                                        </p:attrNameLst>
                                      </p:cBhvr>
                                      <p:to>
                                        <p:strVal val="visible"/>
                                      </p:to>
                                    </p:set>
                                  </p:childTnLst>
                                </p:cTn>
                              </p:par>
                            </p:childTnLst>
                          </p:cTn>
                        </p:par>
                        <p:par>
                          <p:cTn id="46" fill="hold">
                            <p:stCondLst>
                              <p:cond delay="1500"/>
                            </p:stCondLst>
                            <p:childTnLst>
                              <p:par>
                                <p:cTn id="47" presetID="1" presetClass="entr" presetSubtype="0" fill="hold" nodeType="afterEffect">
                                  <p:stCondLst>
                                    <p:cond delay="500"/>
                                  </p:stCondLst>
                                  <p:childTnLst>
                                    <p:set>
                                      <p:cBhvr>
                                        <p:cTn id="48" dur="1" fill="hold">
                                          <p:stCondLst>
                                            <p:cond delay="0"/>
                                          </p:stCondLst>
                                        </p:cTn>
                                        <p:tgtEl>
                                          <p:spTgt spid="477203"/>
                                        </p:tgtEl>
                                        <p:attrNameLst>
                                          <p:attrName>style.visibility</p:attrName>
                                        </p:attrNameLst>
                                      </p:cBhvr>
                                      <p:to>
                                        <p:strVal val="visible"/>
                                      </p:to>
                                    </p:set>
                                  </p:childTnLst>
                                </p:cTn>
                              </p:par>
                            </p:childTnLst>
                          </p:cTn>
                        </p:par>
                        <p:par>
                          <p:cTn id="49" fill="hold">
                            <p:stCondLst>
                              <p:cond delay="2000"/>
                            </p:stCondLst>
                            <p:childTnLst>
                              <p:par>
                                <p:cTn id="50" presetID="1" presetClass="entr" presetSubtype="0" fill="hold" grpId="0" nodeType="afterEffect">
                                  <p:stCondLst>
                                    <p:cond delay="0"/>
                                  </p:stCondLst>
                                  <p:childTnLst>
                                    <p:set>
                                      <p:cBhvr>
                                        <p:cTn id="51" dur="1" fill="hold">
                                          <p:stCondLst>
                                            <p:cond delay="0"/>
                                          </p:stCondLst>
                                        </p:cTn>
                                        <p:tgtEl>
                                          <p:spTgt spid="477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1" grpId="0" animBg="1"/>
      <p:bldP spid="477192" grpId="0" animBg="1"/>
      <p:bldP spid="477193" grpId="0" animBg="1"/>
      <p:bldP spid="477194" grpId="0" animBg="1"/>
      <p:bldP spid="477195" grpId="0" animBg="1"/>
      <p:bldP spid="477196" grpId="0" animBg="1"/>
      <p:bldP spid="477197" grpId="0" animBg="1"/>
      <p:bldP spid="477198" grpId="0" animBg="1"/>
      <p:bldP spid="477204" grpId="0" animBg="1"/>
      <p:bldP spid="47720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a:blip r:embed="rId3" cstate="print"/>
          <a:srcRect/>
          <a:stretch>
            <a:fillRect/>
          </a:stretch>
        </p:blipFill>
        <p:spPr bwMode="auto">
          <a:xfrm>
            <a:off x="812800" y="681038"/>
            <a:ext cx="10236200" cy="5376863"/>
          </a:xfrm>
          <a:prstGeom prst="rect">
            <a:avLst/>
          </a:prstGeom>
          <a:noFill/>
          <a:ln w="9525">
            <a:noFill/>
            <a:miter lim="800000"/>
            <a:headEnd/>
            <a:tailEnd/>
          </a:ln>
        </p:spPr>
      </p:pic>
      <p:sp>
        <p:nvSpPr>
          <p:cNvPr id="51204" name="Text Box 4"/>
          <p:cNvSpPr txBox="1">
            <a:spLocks noChangeArrowheads="1"/>
          </p:cNvSpPr>
          <p:nvPr/>
        </p:nvSpPr>
        <p:spPr bwMode="auto">
          <a:xfrm>
            <a:off x="3668184" y="5324476"/>
            <a:ext cx="447558" cy="461665"/>
          </a:xfrm>
          <a:prstGeom prst="rect">
            <a:avLst/>
          </a:prstGeom>
          <a:noFill/>
          <a:ln w="9525">
            <a:noFill/>
            <a:miter lim="800000"/>
            <a:headEnd/>
            <a:tailEnd/>
          </a:ln>
        </p:spPr>
        <p:txBody>
          <a:bodyPr wrap="none">
            <a:spAutoFit/>
          </a:bodyPr>
          <a:lstStyle/>
          <a:p>
            <a:r>
              <a:rPr lang="en-US" sz="2400">
                <a:solidFill>
                  <a:prstClr val="black"/>
                </a:solidFill>
                <a:latin typeface="Symbol" pitchFamily="18" charset="2"/>
                <a:sym typeface="Symbol" pitchFamily="18" charset="2"/>
              </a:rPr>
              <a:t></a:t>
            </a:r>
            <a:r>
              <a:rPr lang="en-US" sz="2400" baseline="-25000">
                <a:solidFill>
                  <a:prstClr val="black"/>
                </a:solidFill>
                <a:latin typeface="Symbol" pitchFamily="18" charset="2"/>
                <a:sym typeface="Symbol" pitchFamily="18" charset="2"/>
              </a:rPr>
              <a:t>0</a:t>
            </a:r>
            <a:endParaRPr lang="en-US" sz="2400" baseline="-25000">
              <a:solidFill>
                <a:prstClr val="black"/>
              </a:solidFill>
              <a:latin typeface="Symbol" pitchFamily="18" charset="2"/>
            </a:endParaRPr>
          </a:p>
        </p:txBody>
      </p:sp>
      <p:sp>
        <p:nvSpPr>
          <p:cNvPr id="51205" name="Text Box 5"/>
          <p:cNvSpPr txBox="1">
            <a:spLocks noChangeArrowheads="1"/>
          </p:cNvSpPr>
          <p:nvPr/>
        </p:nvSpPr>
        <p:spPr bwMode="auto">
          <a:xfrm>
            <a:off x="9029701" y="4945062"/>
            <a:ext cx="447558" cy="461665"/>
          </a:xfrm>
          <a:prstGeom prst="rect">
            <a:avLst/>
          </a:prstGeom>
          <a:noFill/>
          <a:ln w="9525">
            <a:noFill/>
            <a:miter lim="800000"/>
            <a:headEnd/>
            <a:tailEnd/>
          </a:ln>
        </p:spPr>
        <p:txBody>
          <a:bodyPr wrap="none">
            <a:spAutoFit/>
          </a:bodyPr>
          <a:lstStyle/>
          <a:p>
            <a:r>
              <a:rPr lang="en-US" sz="2400">
                <a:solidFill>
                  <a:prstClr val="black"/>
                </a:solidFill>
                <a:latin typeface="Symbol" pitchFamily="18" charset="2"/>
                <a:sym typeface="Symbol" pitchFamily="18" charset="2"/>
              </a:rPr>
              <a:t></a:t>
            </a:r>
            <a:r>
              <a:rPr lang="en-US" sz="2400" baseline="-25000">
                <a:solidFill>
                  <a:prstClr val="black"/>
                </a:solidFill>
                <a:latin typeface="Symbol" pitchFamily="18" charset="2"/>
                <a:sym typeface="Symbol" pitchFamily="18" charset="2"/>
              </a:rPr>
              <a:t>1</a:t>
            </a:r>
            <a:endParaRPr lang="en-US" sz="2400" baseline="-25000">
              <a:solidFill>
                <a:prstClr val="black"/>
              </a:solidFill>
              <a:latin typeface="Symbol" pitchFamily="18" charset="2"/>
            </a:endParaRPr>
          </a:p>
        </p:txBody>
      </p:sp>
      <p:sp>
        <p:nvSpPr>
          <p:cNvPr id="479239" name="AutoShape 7"/>
          <p:cNvSpPr>
            <a:spLocks noChangeArrowheads="1"/>
          </p:cNvSpPr>
          <p:nvPr/>
        </p:nvSpPr>
        <p:spPr bwMode="auto">
          <a:xfrm>
            <a:off x="5314951" y="2566987"/>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0" name="AutoShape 8"/>
          <p:cNvSpPr>
            <a:spLocks noChangeArrowheads="1"/>
          </p:cNvSpPr>
          <p:nvPr/>
        </p:nvSpPr>
        <p:spPr bwMode="auto">
          <a:xfrm>
            <a:off x="5657851" y="287654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1" name="AutoShape 9"/>
          <p:cNvSpPr>
            <a:spLocks noChangeArrowheads="1"/>
          </p:cNvSpPr>
          <p:nvPr/>
        </p:nvSpPr>
        <p:spPr bwMode="auto">
          <a:xfrm>
            <a:off x="6038851" y="3000373"/>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2" name="AutoShape 10"/>
          <p:cNvSpPr>
            <a:spLocks noChangeArrowheads="1"/>
          </p:cNvSpPr>
          <p:nvPr/>
        </p:nvSpPr>
        <p:spPr bwMode="auto">
          <a:xfrm>
            <a:off x="6502400" y="32765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3" name="AutoShape 11"/>
          <p:cNvSpPr>
            <a:spLocks noChangeArrowheads="1"/>
          </p:cNvSpPr>
          <p:nvPr/>
        </p:nvSpPr>
        <p:spPr bwMode="auto">
          <a:xfrm>
            <a:off x="7010400" y="35051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4" name="AutoShape 12"/>
          <p:cNvSpPr>
            <a:spLocks noChangeArrowheads="1"/>
          </p:cNvSpPr>
          <p:nvPr/>
        </p:nvSpPr>
        <p:spPr bwMode="auto">
          <a:xfrm>
            <a:off x="7518400" y="36575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5" name="AutoShape 13"/>
          <p:cNvSpPr>
            <a:spLocks noChangeArrowheads="1"/>
          </p:cNvSpPr>
          <p:nvPr/>
        </p:nvSpPr>
        <p:spPr bwMode="auto">
          <a:xfrm>
            <a:off x="8026400" y="38099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cxnSp>
        <p:nvCxnSpPr>
          <p:cNvPr id="479246" name="AutoShape 14"/>
          <p:cNvCxnSpPr>
            <a:cxnSpLocks noChangeShapeType="1"/>
          </p:cNvCxnSpPr>
          <p:nvPr/>
        </p:nvCxnSpPr>
        <p:spPr bwMode="auto">
          <a:xfrm>
            <a:off x="6635751" y="3390899"/>
            <a:ext cx="508000" cy="228600"/>
          </a:xfrm>
          <a:prstGeom prst="straightConnector1">
            <a:avLst/>
          </a:prstGeom>
          <a:noFill/>
          <a:ln w="28575">
            <a:solidFill>
              <a:schemeClr val="tx1"/>
            </a:solidFill>
            <a:round/>
            <a:headEnd/>
            <a:tailEnd/>
          </a:ln>
        </p:spPr>
      </p:cxnSp>
      <p:cxnSp>
        <p:nvCxnSpPr>
          <p:cNvPr id="479247" name="AutoShape 15"/>
          <p:cNvCxnSpPr>
            <a:cxnSpLocks noChangeShapeType="1"/>
          </p:cNvCxnSpPr>
          <p:nvPr/>
        </p:nvCxnSpPr>
        <p:spPr bwMode="auto">
          <a:xfrm>
            <a:off x="7158567" y="3619499"/>
            <a:ext cx="508000" cy="152400"/>
          </a:xfrm>
          <a:prstGeom prst="straightConnector1">
            <a:avLst/>
          </a:prstGeom>
          <a:noFill/>
          <a:ln w="28575">
            <a:solidFill>
              <a:schemeClr val="tx1"/>
            </a:solidFill>
            <a:round/>
            <a:headEnd/>
            <a:tailEnd/>
          </a:ln>
        </p:spPr>
      </p:cxnSp>
      <p:cxnSp>
        <p:nvCxnSpPr>
          <p:cNvPr id="479248" name="AutoShape 16"/>
          <p:cNvCxnSpPr>
            <a:cxnSpLocks noChangeShapeType="1"/>
          </p:cNvCxnSpPr>
          <p:nvPr/>
        </p:nvCxnSpPr>
        <p:spPr bwMode="auto">
          <a:xfrm>
            <a:off x="7666567" y="3771899"/>
            <a:ext cx="508000" cy="152400"/>
          </a:xfrm>
          <a:prstGeom prst="straightConnector1">
            <a:avLst/>
          </a:prstGeom>
          <a:noFill/>
          <a:ln w="28575">
            <a:solidFill>
              <a:schemeClr val="tx1"/>
            </a:solidFill>
            <a:round/>
            <a:headEnd/>
            <a:tailEnd/>
          </a:ln>
        </p:spPr>
      </p:cxnSp>
      <p:sp>
        <p:nvSpPr>
          <p:cNvPr id="479249" name="Line 17"/>
          <p:cNvSpPr>
            <a:spLocks noChangeShapeType="1"/>
          </p:cNvSpPr>
          <p:nvPr/>
        </p:nvSpPr>
        <p:spPr bwMode="auto">
          <a:xfrm>
            <a:off x="5467351" y="2686049"/>
            <a:ext cx="330200" cy="300039"/>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479250" name="Line 18"/>
          <p:cNvSpPr>
            <a:spLocks noChangeShapeType="1"/>
          </p:cNvSpPr>
          <p:nvPr/>
        </p:nvSpPr>
        <p:spPr bwMode="auto">
          <a:xfrm>
            <a:off x="5797551" y="2990849"/>
            <a:ext cx="387349" cy="133351"/>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479251" name="AutoShape 19"/>
          <p:cNvSpPr>
            <a:spLocks noChangeArrowheads="1"/>
          </p:cNvSpPr>
          <p:nvPr/>
        </p:nvSpPr>
        <p:spPr bwMode="auto">
          <a:xfrm>
            <a:off x="5054600" y="2690812"/>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52" name="Line 20"/>
          <p:cNvSpPr>
            <a:spLocks noChangeShapeType="1"/>
          </p:cNvSpPr>
          <p:nvPr/>
        </p:nvSpPr>
        <p:spPr bwMode="auto">
          <a:xfrm>
            <a:off x="6191253" y="3128964"/>
            <a:ext cx="444500" cy="261937"/>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22" name="Text Box 21"/>
          <p:cNvSpPr txBox="1">
            <a:spLocks noChangeArrowheads="1"/>
          </p:cNvSpPr>
          <p:nvPr/>
        </p:nvSpPr>
        <p:spPr bwMode="auto">
          <a:xfrm>
            <a:off x="795048" y="3177857"/>
            <a:ext cx="1071127" cy="461665"/>
          </a:xfrm>
          <a:prstGeom prst="rect">
            <a:avLst/>
          </a:prstGeom>
          <a:noFill/>
          <a:ln w="9525">
            <a:noFill/>
            <a:miter lim="800000"/>
            <a:headEnd/>
            <a:tailEnd/>
          </a:ln>
        </p:spPr>
        <p:txBody>
          <a:bodyPr wrap="none">
            <a:spAutoFit/>
          </a:bodyPr>
          <a:lstStyle/>
          <a:p>
            <a:r>
              <a:rPr lang="en-US" sz="2400" dirty="0">
                <a:solidFill>
                  <a:prstClr val="black"/>
                </a:solidFill>
              </a:rPr>
              <a:t>J(</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0</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1</a:t>
            </a:r>
            <a:r>
              <a:rPr lang="en-US" sz="2400" dirty="0">
                <a:solidFill>
                  <a:prstClr val="black"/>
                </a:solidFill>
              </a:rPr>
              <a:t>)</a:t>
            </a:r>
            <a:endParaRPr lang="en-US" sz="2400" baseline="-25000" dirty="0">
              <a:solidFill>
                <a:prstClr val="black"/>
              </a:solidFill>
              <a:latin typeface="Symbol" pitchFamily="18" charset="2"/>
              <a:sym typeface="Symbol" pitchFamily="18" charset="2"/>
            </a:endParaRPr>
          </a:p>
        </p:txBody>
      </p:sp>
      <p:pic>
        <p:nvPicPr>
          <p:cNvPr id="21" name="Picture 20">
            <a:extLst>
              <a:ext uri="{FF2B5EF4-FFF2-40B4-BE49-F238E27FC236}">
                <a16:creationId xmlns:a16="http://schemas.microsoft.com/office/drawing/2014/main" id="{156F1D66-0C6A-4939-BDC4-20DC0789F968}"/>
              </a:ext>
            </a:extLst>
          </p:cNvPr>
          <p:cNvPicPr>
            <a:picLocks noChangeAspect="1"/>
          </p:cNvPicPr>
          <p:nvPr/>
        </p:nvPicPr>
        <p:blipFill>
          <a:blip r:embed="rId4"/>
          <a:stretch>
            <a:fillRect/>
          </a:stretch>
        </p:blipFill>
        <p:spPr>
          <a:xfrm>
            <a:off x="10922000" y="6438901"/>
            <a:ext cx="1270000" cy="419100"/>
          </a:xfrm>
          <a:prstGeom prst="rect">
            <a:avLst/>
          </a:prstGeom>
        </p:spPr>
      </p:pic>
      <p:sp>
        <p:nvSpPr>
          <p:cNvPr id="23" name="TextBox 22">
            <a:extLst>
              <a:ext uri="{FF2B5EF4-FFF2-40B4-BE49-F238E27FC236}">
                <a16:creationId xmlns:a16="http://schemas.microsoft.com/office/drawing/2014/main" id="{3D58DFB2-BBF2-44F4-BA8E-DA69546697DB}"/>
              </a:ext>
            </a:extLst>
          </p:cNvPr>
          <p:cNvSpPr txBox="1"/>
          <p:nvPr/>
        </p:nvSpPr>
        <p:spPr>
          <a:xfrm>
            <a:off x="2748431" y="68040"/>
            <a:ext cx="6098240" cy="646331"/>
          </a:xfrm>
          <a:prstGeom prst="rect">
            <a:avLst/>
          </a:prstGeom>
          <a:noFill/>
        </p:spPr>
        <p:txBody>
          <a:bodyPr wrap="square">
            <a:spAutoFit/>
          </a:bodyPr>
          <a:lstStyle/>
          <a:p>
            <a:pPr marL="990575" lvl="1" indent="-380990">
              <a:buFont typeface="Wingdings" panose="05000000000000000000" pitchFamily="2" charset="2"/>
              <a:buChar char="Ø"/>
            </a:pPr>
            <a:r>
              <a:rPr lang="en-US" sz="1800" dirty="0"/>
              <a:t>one initialization point led to one local minimum</a:t>
            </a:r>
          </a:p>
          <a:p>
            <a:pPr marL="990575" lvl="1" indent="-380990">
              <a:buFont typeface="Wingdings" panose="05000000000000000000" pitchFamily="2" charset="2"/>
              <a:buChar char="Ø"/>
            </a:pPr>
            <a:r>
              <a:rPr lang="en-US" sz="1800" dirty="0"/>
              <a:t>The other led to a different one</a:t>
            </a:r>
          </a:p>
        </p:txBody>
      </p:sp>
    </p:spTree>
    <p:extLst>
      <p:ext uri="{BB962C8B-B14F-4D97-AF65-F5344CB8AC3E}">
        <p14:creationId xmlns:p14="http://schemas.microsoft.com/office/powerpoint/2010/main" val="219456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9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92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9249"/>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7924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7925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792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925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479242"/>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479246"/>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479243"/>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500"/>
                                  </p:stCondLst>
                                  <p:childTnLst>
                                    <p:set>
                                      <p:cBhvr>
                                        <p:cTn id="40" dur="1" fill="hold">
                                          <p:stCondLst>
                                            <p:cond delay="0"/>
                                          </p:stCondLst>
                                        </p:cTn>
                                        <p:tgtEl>
                                          <p:spTgt spid="479247"/>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479244"/>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nodeType="afterEffect">
                                  <p:stCondLst>
                                    <p:cond delay="500"/>
                                  </p:stCondLst>
                                  <p:childTnLst>
                                    <p:set>
                                      <p:cBhvr>
                                        <p:cTn id="46" dur="1" fill="hold">
                                          <p:stCondLst>
                                            <p:cond delay="0"/>
                                          </p:stCondLst>
                                        </p:cTn>
                                        <p:tgtEl>
                                          <p:spTgt spid="479248"/>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grpId="0" nodeType="afterEffect">
                                  <p:stCondLst>
                                    <p:cond delay="0"/>
                                  </p:stCondLst>
                                  <p:childTnLst>
                                    <p:set>
                                      <p:cBhvr>
                                        <p:cTn id="49" dur="1" fill="hold">
                                          <p:stCondLst>
                                            <p:cond delay="0"/>
                                          </p:stCondLst>
                                        </p:cTn>
                                        <p:tgtEl>
                                          <p:spTgt spid="479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9" grpId="0" animBg="1"/>
      <p:bldP spid="479240" grpId="0" animBg="1"/>
      <p:bldP spid="479241" grpId="0" animBg="1"/>
      <p:bldP spid="479242" grpId="0" animBg="1"/>
      <p:bldP spid="479243" grpId="0" animBg="1"/>
      <p:bldP spid="479244" grpId="0" animBg="1"/>
      <p:bldP spid="479245" grpId="0" animBg="1"/>
      <p:bldP spid="479249" grpId="0" animBg="1"/>
      <p:bldP spid="479250" grpId="0" animBg="1"/>
      <p:bldP spid="479251" grpId="0" animBg="1"/>
      <p:bldP spid="47925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711201" y="685800"/>
            <a:ext cx="10641391" cy="5384800"/>
          </a:xfrm>
          <a:prstGeom prst="rect">
            <a:avLst/>
          </a:prstGeom>
        </p:spPr>
      </p:pic>
      <p:pic>
        <p:nvPicPr>
          <p:cNvPr id="3" name="Picture 2">
            <a:extLst>
              <a:ext uri="{FF2B5EF4-FFF2-40B4-BE49-F238E27FC236}">
                <a16:creationId xmlns:a16="http://schemas.microsoft.com/office/drawing/2014/main" id="{5B55B870-C749-438F-9AC4-AC49A173A627}"/>
              </a:ext>
            </a:extLst>
          </p:cNvPr>
          <p:cNvPicPr>
            <a:picLocks noChangeAspect="1"/>
          </p:cNvPicPr>
          <p:nvPr/>
        </p:nvPicPr>
        <p:blipFill>
          <a:blip r:embed="rId4"/>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2C72F21A-5735-499F-AF88-3274E5BB7301}"/>
              </a:ext>
            </a:extLst>
          </p:cNvPr>
          <p:cNvSpPr txBox="1"/>
          <p:nvPr/>
        </p:nvSpPr>
        <p:spPr>
          <a:xfrm>
            <a:off x="2847415" y="0"/>
            <a:ext cx="6098240" cy="646331"/>
          </a:xfrm>
          <a:prstGeom prst="rect">
            <a:avLst/>
          </a:prstGeom>
          <a:noFill/>
        </p:spPr>
        <p:txBody>
          <a:bodyPr wrap="square">
            <a:spAutoFit/>
          </a:bodyPr>
          <a:lstStyle/>
          <a:p>
            <a:pPr marL="990575" lvl="1" indent="-380990">
              <a:buFont typeface="Wingdings" panose="05000000000000000000" pitchFamily="2" charset="2"/>
              <a:buChar char="Ø"/>
            </a:pPr>
            <a:r>
              <a:rPr lang="en-US" sz="1800" dirty="0"/>
              <a:t>one initialization point led to one local minimum</a:t>
            </a:r>
          </a:p>
          <a:p>
            <a:pPr marL="990575" lvl="1" indent="-380990">
              <a:buFont typeface="Wingdings" panose="05000000000000000000" pitchFamily="2" charset="2"/>
              <a:buChar char="Ø"/>
            </a:pPr>
            <a:r>
              <a:rPr lang="en-US" sz="1800" dirty="0"/>
              <a:t>The other led to a different one</a:t>
            </a:r>
          </a:p>
        </p:txBody>
      </p:sp>
    </p:spTree>
    <p:extLst>
      <p:ext uri="{BB962C8B-B14F-4D97-AF65-F5344CB8AC3E}">
        <p14:creationId xmlns:p14="http://schemas.microsoft.com/office/powerpoint/2010/main" val="36362486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 y="15185"/>
            <a:ext cx="12192000" cy="1241237"/>
          </a:xfrm>
          <a:prstGeom prst="rect">
            <a:avLst/>
          </a:prstGeom>
          <a:noFill/>
        </p:spPr>
        <p:txBody>
          <a:bodyPr wrap="square" rtlCol="0">
            <a:spAutoFit/>
          </a:bodyPr>
          <a:lstStyle/>
          <a:p>
            <a:r>
              <a:rPr lang="en-US" sz="3733" b="1" dirty="0"/>
              <a:t>Gradient descent is used to minimize the MSE by calculating the </a:t>
            </a:r>
            <a:r>
              <a:rPr lang="en-US" sz="3733" b="1" dirty="0">
                <a:solidFill>
                  <a:srgbClr val="FF0000"/>
                </a:solidFill>
              </a:rPr>
              <a:t>gradient of the cost function</a:t>
            </a:r>
          </a:p>
        </p:txBody>
      </p:sp>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976378" y="1530533"/>
            <a:ext cx="4306823" cy="1695268"/>
          </a:xfrm>
          <a:prstGeom prst="rect">
            <a:avLst/>
          </a:prstGeom>
        </p:spPr>
      </p:pic>
      <p:pic>
        <p:nvPicPr>
          <p:cNvPr id="3" name="Picture 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5918200" y="2190425"/>
            <a:ext cx="3642360" cy="408432"/>
          </a:xfrm>
          <a:prstGeom prst="rect">
            <a:avLst/>
          </a:prstGeom>
        </p:spPr>
      </p:pic>
      <p:cxnSp>
        <p:nvCxnSpPr>
          <p:cNvPr id="30" name="Straight Connector 29"/>
          <p:cNvCxnSpPr/>
          <p:nvPr/>
        </p:nvCxnSpPr>
        <p:spPr>
          <a:xfrm>
            <a:off x="812800" y="3733800"/>
            <a:ext cx="10261600" cy="0"/>
          </a:xfrm>
          <a:prstGeom prst="line">
            <a:avLst/>
          </a:prstGeom>
          <a:ln w="127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84620" y="3835401"/>
            <a:ext cx="5157822" cy="584775"/>
          </a:xfrm>
          <a:prstGeom prst="rect">
            <a:avLst/>
          </a:prstGeom>
          <a:noFill/>
        </p:spPr>
        <p:txBody>
          <a:bodyPr wrap="none" rtlCol="0">
            <a:spAutoFit/>
          </a:bodyPr>
          <a:lstStyle/>
          <a:p>
            <a:r>
              <a:rPr lang="en-US" sz="3200" dirty="0"/>
              <a:t>Correct: </a:t>
            </a:r>
            <a:r>
              <a:rPr lang="en-US" sz="3200" dirty="0">
                <a:solidFill>
                  <a:srgbClr val="FF0000"/>
                </a:solidFill>
              </a:rPr>
              <a:t>Simultaneous update</a:t>
            </a:r>
          </a:p>
        </p:txBody>
      </p:sp>
      <p:pic>
        <p:nvPicPr>
          <p:cNvPr id="6" name="Picture 5"/>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936149" y="4582363"/>
            <a:ext cx="3952647" cy="1589837"/>
          </a:xfrm>
          <a:prstGeom prst="rect">
            <a:avLst/>
          </a:prstGeom>
        </p:spPr>
      </p:pic>
      <p:cxnSp>
        <p:nvCxnSpPr>
          <p:cNvPr id="39" name="Straight Connector 38"/>
          <p:cNvCxnSpPr/>
          <p:nvPr/>
        </p:nvCxnSpPr>
        <p:spPr>
          <a:xfrm>
            <a:off x="5943600" y="3835400"/>
            <a:ext cx="0" cy="2540000"/>
          </a:xfrm>
          <a:prstGeom prst="line">
            <a:avLst/>
          </a:prstGeom>
          <a:ln w="127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272621" y="3835401"/>
            <a:ext cx="1796517" cy="584775"/>
          </a:xfrm>
          <a:prstGeom prst="rect">
            <a:avLst/>
          </a:prstGeom>
          <a:noFill/>
        </p:spPr>
        <p:txBody>
          <a:bodyPr wrap="none" rtlCol="0">
            <a:spAutoFit/>
          </a:bodyPr>
          <a:lstStyle/>
          <a:p>
            <a:r>
              <a:rPr lang="en-US" sz="3200" dirty="0"/>
              <a:t>Incorrect:</a:t>
            </a:r>
          </a:p>
        </p:txBody>
      </p:sp>
      <p:pic>
        <p:nvPicPr>
          <p:cNvPr id="7" name="Picture 6"/>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6524147" y="4582363"/>
            <a:ext cx="3952647" cy="1519123"/>
          </a:xfrm>
          <a:prstGeom prst="rect">
            <a:avLst/>
          </a:prstGeom>
        </p:spPr>
      </p:pic>
      <p:pic>
        <p:nvPicPr>
          <p:cNvPr id="11" name="Picture 10">
            <a:extLst>
              <a:ext uri="{FF2B5EF4-FFF2-40B4-BE49-F238E27FC236}">
                <a16:creationId xmlns:a16="http://schemas.microsoft.com/office/drawing/2014/main" id="{C1F79BC4-BC96-4CA1-B700-05910E0A8C9D}"/>
              </a:ext>
            </a:extLst>
          </p:cNvPr>
          <p:cNvPicPr>
            <a:picLocks noChangeAspect="1"/>
          </p:cNvPicPr>
          <p:nvPr/>
        </p:nvPicPr>
        <p:blipFill>
          <a:blip r:embed="rId10"/>
          <a:stretch>
            <a:fillRect/>
          </a:stretch>
        </p:blipFill>
        <p:spPr>
          <a:xfrm>
            <a:off x="10922000" y="6438901"/>
            <a:ext cx="1270000" cy="419100"/>
          </a:xfrm>
          <a:prstGeom prst="rect">
            <a:avLst/>
          </a:prstGeom>
        </p:spPr>
      </p:pic>
      <p:sp>
        <p:nvSpPr>
          <p:cNvPr id="4" name="Rectangle 3">
            <a:extLst>
              <a:ext uri="{FF2B5EF4-FFF2-40B4-BE49-F238E27FC236}">
                <a16:creationId xmlns:a16="http://schemas.microsoft.com/office/drawing/2014/main" id="{CC200951-4987-4203-9B72-4B790E486181}"/>
              </a:ext>
            </a:extLst>
          </p:cNvPr>
          <p:cNvSpPr/>
          <p:nvPr/>
        </p:nvSpPr>
        <p:spPr>
          <a:xfrm>
            <a:off x="3321424" y="1909482"/>
            <a:ext cx="2057400" cy="975752"/>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851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TextBox 31"/>
              <p:cNvSpPr txBox="1"/>
              <p:nvPr/>
            </p:nvSpPr>
            <p:spPr>
              <a:xfrm>
                <a:off x="0" y="482601"/>
                <a:ext cx="12192000" cy="6352445"/>
              </a:xfrm>
              <a:prstGeom prst="rect">
                <a:avLst/>
              </a:prstGeom>
              <a:noFill/>
            </p:spPr>
            <p:txBody>
              <a:bodyPr wrap="square" rtlCol="0">
                <a:spAutoFit/>
              </a:bodyPr>
              <a:lstStyle/>
              <a:p>
                <a:endParaRPr lang="en-US" sz="3200" dirty="0"/>
              </a:p>
              <a:p>
                <a:r>
                  <a:rPr lang="en-US" sz="3200" dirty="0"/>
                  <a:t>α (alpha): learning rate: hyperparameter</a:t>
                </a:r>
              </a:p>
              <a:p>
                <a:pPr lvl="1"/>
                <a:r>
                  <a:rPr lang="en-US" sz="3200" dirty="0"/>
                  <a:t>Controls how big a step you take</a:t>
                </a:r>
              </a:p>
              <a:p>
                <a:pPr lvl="2"/>
                <a:r>
                  <a:rPr lang="en-US" sz="3200" dirty="0"/>
                  <a:t>If α is big have an aggressive gradient descent</a:t>
                </a:r>
              </a:p>
              <a:p>
                <a:pPr lvl="2"/>
                <a:r>
                  <a:rPr lang="en-US" sz="3200" dirty="0"/>
                  <a:t>If α is small take tiny steps</a:t>
                </a:r>
              </a:p>
              <a:p>
                <a:pPr algn="l"/>
                <a:endParaRPr lang="en-US" sz="3200" b="1" i="0" dirty="0">
                  <a:solidFill>
                    <a:srgbClr val="292929"/>
                  </a:solidFill>
                  <a:effectLst/>
                </a:endParaRPr>
              </a:p>
              <a:p>
                <a:pPr algn="l"/>
                <a:r>
                  <a:rPr lang="en-US" sz="3200" i="0" dirty="0">
                    <a:solidFill>
                      <a:srgbClr val="FF0000"/>
                    </a:solidFill>
                    <a:effectLst/>
                  </a:rPr>
                  <a:t>Learning Rate Annealing/adaptable learning rates</a:t>
                </a:r>
              </a:p>
              <a:p>
                <a:pPr algn="l"/>
                <a:r>
                  <a:rPr lang="en-US" sz="3200" i="0" dirty="0">
                    <a:effectLst/>
                  </a:rPr>
                  <a:t>Rather than using a constant learning rate throughout training, we may anneal the learning rate, and have it decline/reduce as time progresses</a:t>
                </a:r>
              </a:p>
              <a:p>
                <a:pPr algn="l"/>
                <a14:m>
                  <m:oMathPara xmlns:m="http://schemas.openxmlformats.org/officeDocument/2006/math">
                    <m:oMathParaPr>
                      <m:jc m:val="centerGroup"/>
                    </m:oMathParaPr>
                    <m:oMath xmlns:m="http://schemas.openxmlformats.org/officeDocument/2006/math">
                      <m:r>
                        <a:rPr lang="en-US" sz="3200" i="1" smtClean="0">
                          <a:effectLst/>
                          <a:latin typeface="Cambria Math" panose="02040503050406030204" pitchFamily="18" charset="0"/>
                          <a:ea typeface="Cambria Math" panose="02040503050406030204" pitchFamily="18" charset="0"/>
                        </a:rPr>
                        <m:t>𝛼</m:t>
                      </m:r>
                      <m:r>
                        <a:rPr lang="en-US" sz="3200" b="0" i="1" smtClean="0">
                          <a:effectLst/>
                          <a:latin typeface="Cambria Math" panose="02040503050406030204" pitchFamily="18" charset="0"/>
                          <a:ea typeface="Cambria Math" panose="02040503050406030204" pitchFamily="18" charset="0"/>
                        </a:rPr>
                        <m:t>=</m:t>
                      </m:r>
                      <m:f>
                        <m:fPr>
                          <m:ctrlPr>
                            <a:rPr lang="en-US" sz="3200" b="0" i="1" smtClean="0">
                              <a:effectLst/>
                              <a:latin typeface="Cambria Math" panose="02040503050406030204" pitchFamily="18" charset="0"/>
                              <a:ea typeface="Cambria Math" panose="02040503050406030204" pitchFamily="18" charset="0"/>
                            </a:rPr>
                          </m:ctrlPr>
                        </m:fPr>
                        <m:num>
                          <m:sSub>
                            <m:sSubPr>
                              <m:ctrlPr>
                                <a:rPr lang="en-US" sz="3200" b="0" i="1" smtClean="0">
                                  <a:effectLst/>
                                  <a:latin typeface="Cambria Math" panose="02040503050406030204" pitchFamily="18" charset="0"/>
                                  <a:ea typeface="Cambria Math" panose="02040503050406030204" pitchFamily="18" charset="0"/>
                                </a:rPr>
                              </m:ctrlPr>
                            </m:sSubPr>
                            <m:e>
                              <m:r>
                                <a:rPr lang="en-US" sz="3200" b="0" i="1" smtClean="0">
                                  <a:effectLst/>
                                  <a:latin typeface="Cambria Math" panose="02040503050406030204" pitchFamily="18" charset="0"/>
                                  <a:ea typeface="Cambria Math" panose="02040503050406030204" pitchFamily="18" charset="0"/>
                                </a:rPr>
                                <m:t>𝛼</m:t>
                              </m:r>
                            </m:e>
                            <m:sub>
                              <m:r>
                                <a:rPr lang="en-US" sz="3200" b="0" i="1" smtClean="0">
                                  <a:effectLst/>
                                  <a:latin typeface="Cambria Math" panose="02040503050406030204" pitchFamily="18" charset="0"/>
                                  <a:ea typeface="Cambria Math" panose="02040503050406030204" pitchFamily="18" charset="0"/>
                                </a:rPr>
                                <m:t>0</m:t>
                              </m:r>
                            </m:sub>
                          </m:sSub>
                        </m:num>
                        <m:den>
                          <m:r>
                            <a:rPr lang="en-US" sz="3200" b="0" i="1" smtClean="0">
                              <a:effectLst/>
                              <a:latin typeface="Cambria Math" panose="02040503050406030204" pitchFamily="18" charset="0"/>
                              <a:ea typeface="Cambria Math" panose="02040503050406030204" pitchFamily="18" charset="0"/>
                            </a:rPr>
                            <m:t>𝑡</m:t>
                          </m:r>
                        </m:den>
                      </m:f>
                    </m:oMath>
                  </m:oMathPara>
                </a14:m>
                <a:endParaRPr lang="en-US" sz="3200" i="0" dirty="0">
                  <a:effectLst/>
                </a:endParaRPr>
              </a:p>
              <a:p>
                <a:pPr lvl="2"/>
                <a:endParaRPr lang="en-US" sz="3200" dirty="0"/>
              </a:p>
              <a:p>
                <a:pPr lvl="2"/>
                <a:endParaRPr lang="en-US" sz="3200" dirty="0"/>
              </a:p>
            </p:txBody>
          </p:sp>
        </mc:Choice>
        <mc:Fallback xmlns="">
          <p:sp>
            <p:nvSpPr>
              <p:cNvPr id="32" name="TextBox 31"/>
              <p:cNvSpPr txBox="1">
                <a:spLocks noRot="1" noChangeAspect="1" noMove="1" noResize="1" noEditPoints="1" noAdjustHandles="1" noChangeArrowheads="1" noChangeShapeType="1" noTextEdit="1"/>
              </p:cNvSpPr>
              <p:nvPr/>
            </p:nvSpPr>
            <p:spPr>
              <a:xfrm>
                <a:off x="0" y="482601"/>
                <a:ext cx="12192000" cy="6352445"/>
              </a:xfrm>
              <a:prstGeom prst="rect">
                <a:avLst/>
              </a:prstGeom>
              <a:blipFill>
                <a:blip r:embed="rId2"/>
                <a:stretch>
                  <a:fillRect l="-1250"/>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C1F79BC4-BC96-4CA1-B700-05910E0A8C9D}"/>
              </a:ext>
            </a:extLst>
          </p:cNvPr>
          <p:cNvPicPr>
            <a:picLocks noChangeAspect="1"/>
          </p:cNvPicPr>
          <p:nvPr/>
        </p:nvPicPr>
        <p:blipFill>
          <a:blip r:embed="rId3"/>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2293887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2800" y="761920"/>
            <a:ext cx="6396046" cy="748988"/>
          </a:xfrm>
          <a:prstGeom prst="rect">
            <a:avLst/>
          </a:prstGeom>
          <a:noFill/>
        </p:spPr>
        <p:txBody>
          <a:bodyPr wrap="none" rtlCol="0">
            <a:spAutoFit/>
          </a:bodyPr>
          <a:lstStyle/>
          <a:p>
            <a:r>
              <a:rPr lang="en-US" sz="4267" b="1" dirty="0"/>
              <a:t>Gradient descent algorithm</a:t>
            </a:r>
          </a:p>
        </p:txBody>
      </p:sp>
      <p:pic>
        <p:nvPicPr>
          <p:cNvPr id="3"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281176" y="1969008"/>
            <a:ext cx="4684776" cy="1844040"/>
          </a:xfrm>
          <a:prstGeom prst="rect">
            <a:avLst/>
          </a:prstGeom>
        </p:spPr>
      </p:pic>
      <p:pic>
        <p:nvPicPr>
          <p:cNvPr id="4" name="Picture 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642074" y="2634489"/>
            <a:ext cx="3721127" cy="816427"/>
          </a:xfrm>
          <a:prstGeom prst="rect">
            <a:avLst/>
          </a:prstGeom>
        </p:spPr>
      </p:pic>
      <p:sp>
        <p:nvSpPr>
          <p:cNvPr id="7" name="TextBox 6"/>
          <p:cNvSpPr txBox="1"/>
          <p:nvPr/>
        </p:nvSpPr>
        <p:spPr>
          <a:xfrm>
            <a:off x="0" y="4084015"/>
            <a:ext cx="12192000" cy="2656046"/>
          </a:xfrm>
          <a:prstGeom prst="roundRect">
            <a:avLst/>
          </a:prstGeom>
          <a:noFill/>
          <a:ln>
            <a:noFill/>
          </a:ln>
        </p:spPr>
        <p:txBody>
          <a:bodyPr wrap="square" rtlCol="0">
            <a:spAutoFit/>
          </a:bodyPr>
          <a:lstStyle/>
          <a:p>
            <a:pPr algn="just"/>
            <a:r>
              <a:rPr lang="en-US" sz="3000" dirty="0"/>
              <a:t>To understand gradient descent, we'll return to a simpler function where we minimize one parameter to help explain the algorithm in more detail.</a:t>
            </a:r>
          </a:p>
          <a:p>
            <a:pPr marL="457189" indent="-457189" algn="just">
              <a:buFont typeface="Wingdings" panose="05000000000000000000" pitchFamily="2" charset="2"/>
              <a:buChar char="Ø"/>
            </a:pPr>
            <a:r>
              <a:rPr lang="en-US" sz="3000" dirty="0"/>
              <a:t>min θ</a:t>
            </a:r>
            <a:r>
              <a:rPr lang="en-US" sz="3000" baseline="-25000" dirty="0"/>
              <a:t>1</a:t>
            </a:r>
            <a:r>
              <a:rPr lang="en-US" sz="3000" dirty="0"/>
              <a:t> J(θ</a:t>
            </a:r>
            <a:r>
              <a:rPr lang="en-US" sz="3000" baseline="-25000" dirty="0"/>
              <a:t>1</a:t>
            </a:r>
            <a:r>
              <a:rPr lang="en-US" sz="3000" dirty="0"/>
              <a:t>) where θ</a:t>
            </a:r>
            <a:r>
              <a:rPr lang="en-US" sz="3000" baseline="-25000" dirty="0"/>
              <a:t>1</a:t>
            </a:r>
            <a:r>
              <a:rPr lang="en-US" sz="3000" dirty="0"/>
              <a:t> is a real number</a:t>
            </a:r>
          </a:p>
          <a:p>
            <a:pPr marL="457189" indent="-457189" algn="just">
              <a:buFont typeface="Wingdings" panose="05000000000000000000" pitchFamily="2" charset="2"/>
              <a:buChar char="Ø"/>
            </a:pPr>
            <a:r>
              <a:rPr lang="en-US" sz="3000" dirty="0">
                <a:solidFill>
                  <a:srgbClr val="FF0000"/>
                </a:solidFill>
              </a:rPr>
              <a:t>This way of first adjusting the weights </a:t>
            </a:r>
            <a:r>
              <a:rPr lang="en-US" sz="3000">
                <a:solidFill>
                  <a:srgbClr val="FF0000"/>
                </a:solidFill>
              </a:rPr>
              <a:t>or parameters is </a:t>
            </a:r>
            <a:r>
              <a:rPr lang="en-US" sz="3000" dirty="0">
                <a:solidFill>
                  <a:srgbClr val="FF0000"/>
                </a:solidFill>
              </a:rPr>
              <a:t>known as Backward Error Propagation</a:t>
            </a:r>
          </a:p>
        </p:txBody>
      </p:sp>
      <p:pic>
        <p:nvPicPr>
          <p:cNvPr id="6" name="Picture 5">
            <a:extLst>
              <a:ext uri="{FF2B5EF4-FFF2-40B4-BE49-F238E27FC236}">
                <a16:creationId xmlns:a16="http://schemas.microsoft.com/office/drawing/2014/main" id="{1F0BF717-CF73-4374-8E4E-19826CEC715C}"/>
              </a:ext>
            </a:extLst>
          </p:cNvPr>
          <p:cNvPicPr>
            <a:picLocks noChangeAspect="1"/>
          </p:cNvPicPr>
          <p:nvPr/>
        </p:nvPicPr>
        <p:blipFill>
          <a:blip r:embed="rId6"/>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42502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0" y="30970"/>
                <a:ext cx="12192000" cy="5822871"/>
              </a:xfrm>
              <a:prstGeom prst="roundRect">
                <a:avLst/>
              </a:prstGeom>
              <a:noFill/>
              <a:ln>
                <a:noFill/>
              </a:ln>
            </p:spPr>
            <p:txBody>
              <a:bodyPr wrap="square" rtlCol="0">
                <a:spAutoFit/>
              </a:bodyPr>
              <a:lstStyle/>
              <a:p>
                <a:pPr algn="just"/>
                <a:r>
                  <a:rPr lang="en-US" sz="2800" dirty="0"/>
                  <a:t>Notation nuances</a:t>
                </a:r>
              </a:p>
              <a:p>
                <a:pPr marL="380990" indent="-380990" algn="just">
                  <a:buFont typeface="Wingdings" panose="05000000000000000000" pitchFamily="2" charset="2"/>
                  <a:buChar char="Ø"/>
                </a:pPr>
                <a:r>
                  <a:rPr lang="en-US" sz="2800" dirty="0"/>
                  <a:t>Partial derivative vs. derivative</a:t>
                </a:r>
              </a:p>
              <a:p>
                <a:pPr marL="990575" lvl="1" indent="-380990" algn="just">
                  <a:buFont typeface="Wingdings" panose="05000000000000000000" pitchFamily="2" charset="2"/>
                  <a:buChar char="v"/>
                </a:pPr>
                <a:r>
                  <a:rPr lang="en-US" sz="2800" dirty="0"/>
                  <a:t>Use partial derivative when we have multiple variables but only derive with respect to one</a:t>
                </a:r>
              </a:p>
              <a:p>
                <a:pPr marL="990575" lvl="1" indent="-380990" algn="just">
                  <a:buFont typeface="Wingdings" panose="05000000000000000000" pitchFamily="2" charset="2"/>
                  <a:buChar char="v"/>
                </a:pPr>
                <a:r>
                  <a:rPr lang="en-US" sz="2800" dirty="0"/>
                  <a:t>Use derivative when we are deriving with respect to all the variables</a:t>
                </a:r>
              </a:p>
              <a:p>
                <a:pPr marL="990575" lvl="1" indent="-380990" algn="just">
                  <a:buFont typeface="Wingdings" panose="05000000000000000000" pitchFamily="2" charset="2"/>
                  <a:buChar char="v"/>
                </a:pPr>
                <a:r>
                  <a:rPr lang="en-US" sz="2800" dirty="0">
                    <a:solidFill>
                      <a:srgbClr val="FF0000"/>
                    </a:solidFill>
                  </a:rPr>
                  <a:t>Momentum</a:t>
                </a:r>
                <a:r>
                  <a:rPr lang="en-US" sz="2800" dirty="0"/>
                  <a:t>: adding a fraction of the </a:t>
                </a:r>
                <a:r>
                  <a:rPr lang="en-US" sz="2800" dirty="0">
                    <a:solidFill>
                      <a:srgbClr val="FF0000"/>
                    </a:solidFill>
                  </a:rPr>
                  <a:t>past weight update (</a:t>
                </a: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i="1" smtClean="0">
                        <a:solidFill>
                          <a:srgbClr val="FF0000"/>
                        </a:solidFill>
                        <a:latin typeface="Cambria Math" panose="02040503050406030204" pitchFamily="18" charset="0"/>
                        <a:ea typeface="Cambria Math" panose="02040503050406030204" pitchFamily="18" charset="0"/>
                      </a:rPr>
                      <m:t>𝜃</m:t>
                    </m:r>
                  </m:oMath>
                </a14:m>
                <a:r>
                  <a:rPr lang="en-US" sz="2800" dirty="0">
                    <a:solidFill>
                      <a:srgbClr val="FF0000"/>
                    </a:solidFill>
                  </a:rPr>
                  <a:t>) </a:t>
                </a:r>
                <a:r>
                  <a:rPr lang="en-US" sz="2800" dirty="0"/>
                  <a:t>to the current weight. This helps prevent the model from getting stuck in local minima. By using momentum, the movements along the error surface are smoother in general and the network can move more quickly throughout the local minima and finally reaches global minima. </a:t>
                </a:r>
                <a:r>
                  <a:rPr lang="en-US" sz="2800" dirty="0">
                    <a:solidFill>
                      <a:srgbClr val="FF0000"/>
                    </a:solidFill>
                  </a:rPr>
                  <a:t>Momentum considers previous weight changes when updating current weights</a:t>
                </a:r>
              </a:p>
            </p:txBody>
          </p:sp>
        </mc:Choice>
        <mc:Fallback xmlns="">
          <p:sp>
            <p:nvSpPr>
              <p:cNvPr id="7" name="TextBox 6"/>
              <p:cNvSpPr txBox="1">
                <a:spLocks noRot="1" noChangeAspect="1" noMove="1" noResize="1" noEditPoints="1" noAdjustHandles="1" noChangeArrowheads="1" noChangeShapeType="1" noTextEdit="1"/>
              </p:cNvSpPr>
              <p:nvPr/>
            </p:nvSpPr>
            <p:spPr>
              <a:xfrm>
                <a:off x="0" y="30970"/>
                <a:ext cx="12192000" cy="5822871"/>
              </a:xfrm>
              <a:prstGeom prst="roundRect">
                <a:avLst/>
              </a:prstGeom>
              <a:blipFill>
                <a:blip r:embed="rId3"/>
                <a:stretch>
                  <a:fillRect/>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9FE850E7-88E9-4892-86D1-6076B522945B}"/>
              </a:ext>
            </a:extLst>
          </p:cNvPr>
          <p:cNvPicPr>
            <a:picLocks noChangeAspect="1"/>
          </p:cNvPicPr>
          <p:nvPr/>
        </p:nvPicPr>
        <p:blipFill>
          <a:blip r:embed="rId4"/>
          <a:stretch>
            <a:fillRect/>
          </a:stretch>
        </p:blipFill>
        <p:spPr>
          <a:xfrm>
            <a:off x="10922000" y="6438901"/>
            <a:ext cx="1270000" cy="419100"/>
          </a:xfrm>
          <a:prstGeom prst="rect">
            <a:avLst/>
          </a:prstGeom>
        </p:spPr>
      </p:pic>
      <p:pic>
        <p:nvPicPr>
          <p:cNvPr id="2" name="Picture 1">
            <a:extLst>
              <a:ext uri="{FF2B5EF4-FFF2-40B4-BE49-F238E27FC236}">
                <a16:creationId xmlns:a16="http://schemas.microsoft.com/office/drawing/2014/main" id="{B72BAB8D-3BCC-BEFF-6AF4-53B44C375D3A}"/>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888303" y="5013960"/>
            <a:ext cx="4684776" cy="184404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119786-8EC1-463C-18DF-82D02645EC09}"/>
                  </a:ext>
                </a:extLst>
              </p:cNvPr>
              <p:cNvSpPr txBox="1"/>
              <p:nvPr/>
            </p:nvSpPr>
            <p:spPr>
              <a:xfrm>
                <a:off x="4959927" y="5625120"/>
                <a:ext cx="609600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panose="02040503050406030204" pitchFamily="18" charset="0"/>
                          <a:ea typeface="Cambria Math" panose="02040503050406030204" pitchFamily="18" charset="0"/>
                        </a:rPr>
                        <m:t>+</m:t>
                      </m:r>
                      <m:r>
                        <a:rPr lang="en-US" sz="3200" i="1" smtClean="0">
                          <a:solidFill>
                            <a:srgbClr val="FF0000"/>
                          </a:solidFill>
                          <a:latin typeface="Cambria Math" panose="02040503050406030204" pitchFamily="18" charset="0"/>
                          <a:ea typeface="Cambria Math" panose="02040503050406030204" pitchFamily="18" charset="0"/>
                        </a:rPr>
                        <m:t>∆</m:t>
                      </m:r>
                      <m:r>
                        <a:rPr lang="en-US" sz="3200" i="1" smtClean="0">
                          <a:solidFill>
                            <a:srgbClr val="FF0000"/>
                          </a:solidFill>
                          <a:latin typeface="Cambria Math" panose="02040503050406030204" pitchFamily="18" charset="0"/>
                          <a:ea typeface="Cambria Math" panose="02040503050406030204" pitchFamily="18" charset="0"/>
                        </a:rPr>
                        <m:t>𝜃</m:t>
                      </m:r>
                    </m:oMath>
                  </m:oMathPara>
                </a14:m>
                <a:endParaRPr lang="en-US" sz="3200" dirty="0"/>
              </a:p>
            </p:txBody>
          </p:sp>
        </mc:Choice>
        <mc:Fallback xmlns="">
          <p:sp>
            <p:nvSpPr>
              <p:cNvPr id="5" name="TextBox 4">
                <a:extLst>
                  <a:ext uri="{FF2B5EF4-FFF2-40B4-BE49-F238E27FC236}">
                    <a16:creationId xmlns:a16="http://schemas.microsoft.com/office/drawing/2014/main" id="{10119786-8EC1-463C-18DF-82D02645EC09}"/>
                  </a:ext>
                </a:extLst>
              </p:cNvPr>
              <p:cNvSpPr txBox="1">
                <a:spLocks noRot="1" noChangeAspect="1" noMove="1" noResize="1" noEditPoints="1" noAdjustHandles="1" noChangeArrowheads="1" noChangeShapeType="1" noTextEdit="1"/>
              </p:cNvSpPr>
              <p:nvPr/>
            </p:nvSpPr>
            <p:spPr>
              <a:xfrm>
                <a:off x="4959927" y="5625120"/>
                <a:ext cx="6096000" cy="58477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096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D38CEE-1B8B-42D7-9F74-FE72E7B588D0}"/>
              </a:ext>
            </a:extLst>
          </p:cNvPr>
          <p:cNvPicPr>
            <a:picLocks noChangeAspect="1"/>
          </p:cNvPicPr>
          <p:nvPr/>
        </p:nvPicPr>
        <p:blipFill>
          <a:blip r:embed="rId2"/>
          <a:stretch>
            <a:fillRect/>
          </a:stretch>
        </p:blipFill>
        <p:spPr>
          <a:xfrm>
            <a:off x="1412875" y="555418"/>
            <a:ext cx="9366251" cy="5747164"/>
          </a:xfrm>
          <a:prstGeom prst="rect">
            <a:avLst/>
          </a:prstGeom>
        </p:spPr>
      </p:pic>
      <p:pic>
        <p:nvPicPr>
          <p:cNvPr id="3" name="Picture 2">
            <a:extLst>
              <a:ext uri="{FF2B5EF4-FFF2-40B4-BE49-F238E27FC236}">
                <a16:creationId xmlns:a16="http://schemas.microsoft.com/office/drawing/2014/main" id="{59D4BE12-60EC-4452-A628-A833AEF0F177}"/>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FBA7C342-5E5D-4CA6-9926-336AA604095A}"/>
              </a:ext>
            </a:extLst>
          </p:cNvPr>
          <p:cNvSpPr txBox="1"/>
          <p:nvPr/>
        </p:nvSpPr>
        <p:spPr>
          <a:xfrm>
            <a:off x="1838886" y="555418"/>
            <a:ext cx="6098240" cy="461665"/>
          </a:xfrm>
          <a:prstGeom prst="rect">
            <a:avLst/>
          </a:prstGeom>
          <a:noFill/>
        </p:spPr>
        <p:txBody>
          <a:bodyPr wrap="square">
            <a:spAutoFit/>
          </a:bodyPr>
          <a:lstStyle/>
          <a:p>
            <a:r>
              <a:rPr lang="en-US" sz="2400" b="0" i="0" dirty="0">
                <a:solidFill>
                  <a:srgbClr val="FF0000"/>
                </a:solidFill>
                <a:effectLst/>
                <a:latin typeface="Google Sans"/>
              </a:rPr>
              <a:t>Error</a:t>
            </a:r>
            <a:endParaRPr lang="en-US" sz="2400" dirty="0"/>
          </a:p>
        </p:txBody>
      </p:sp>
    </p:spTree>
    <p:extLst>
      <p:ext uri="{BB962C8B-B14F-4D97-AF65-F5344CB8AC3E}">
        <p14:creationId xmlns:p14="http://schemas.microsoft.com/office/powerpoint/2010/main" val="18339054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58FB8F-CE45-48AA-83A8-46C6FAF5129E}"/>
              </a:ext>
            </a:extLst>
          </p:cNvPr>
          <p:cNvPicPr>
            <a:picLocks noChangeAspect="1"/>
          </p:cNvPicPr>
          <p:nvPr/>
        </p:nvPicPr>
        <p:blipFill>
          <a:blip r:embed="rId2"/>
          <a:stretch>
            <a:fillRect/>
          </a:stretch>
        </p:blipFill>
        <p:spPr>
          <a:xfrm>
            <a:off x="590550" y="1397000"/>
            <a:ext cx="11010900" cy="4064000"/>
          </a:xfrm>
          <a:prstGeom prst="rect">
            <a:avLst/>
          </a:prstGeom>
        </p:spPr>
      </p:pic>
      <p:pic>
        <p:nvPicPr>
          <p:cNvPr id="3" name="Picture 2">
            <a:extLst>
              <a:ext uri="{FF2B5EF4-FFF2-40B4-BE49-F238E27FC236}">
                <a16:creationId xmlns:a16="http://schemas.microsoft.com/office/drawing/2014/main" id="{39B53FAB-5F73-4C8C-B7F5-E6A65E15136E}"/>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4" name="TextBox 3">
            <a:extLst>
              <a:ext uri="{FF2B5EF4-FFF2-40B4-BE49-F238E27FC236}">
                <a16:creationId xmlns:a16="http://schemas.microsoft.com/office/drawing/2014/main" id="{31DBF7E9-D655-4FFC-954E-6069040FDB9B}"/>
              </a:ext>
            </a:extLst>
          </p:cNvPr>
          <p:cNvSpPr txBox="1"/>
          <p:nvPr/>
        </p:nvSpPr>
        <p:spPr>
          <a:xfrm>
            <a:off x="590550" y="1166167"/>
            <a:ext cx="6098240" cy="461665"/>
          </a:xfrm>
          <a:prstGeom prst="rect">
            <a:avLst/>
          </a:prstGeom>
          <a:noFill/>
        </p:spPr>
        <p:txBody>
          <a:bodyPr wrap="square">
            <a:spAutoFit/>
          </a:bodyPr>
          <a:lstStyle/>
          <a:p>
            <a:r>
              <a:rPr lang="en-US" sz="2400" b="0" i="0" dirty="0">
                <a:solidFill>
                  <a:srgbClr val="FF0000"/>
                </a:solidFill>
                <a:effectLst/>
                <a:latin typeface="Google Sans"/>
              </a:rPr>
              <a:t>Error</a:t>
            </a:r>
            <a:endParaRPr lang="en-US" sz="2400" dirty="0"/>
          </a:p>
        </p:txBody>
      </p:sp>
    </p:spTree>
    <p:extLst>
      <p:ext uri="{BB962C8B-B14F-4D97-AF65-F5344CB8AC3E}">
        <p14:creationId xmlns:p14="http://schemas.microsoft.com/office/powerpoint/2010/main" val="1353276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708A24-753F-4DEB-9E3E-5AAFB83F560A}"/>
              </a:ext>
            </a:extLst>
          </p:cNvPr>
          <p:cNvPicPr>
            <a:picLocks noChangeAspect="1"/>
          </p:cNvPicPr>
          <p:nvPr/>
        </p:nvPicPr>
        <p:blipFill>
          <a:blip r:embed="rId2"/>
          <a:stretch>
            <a:fillRect/>
          </a:stretch>
        </p:blipFill>
        <p:spPr>
          <a:xfrm>
            <a:off x="336550" y="1454150"/>
            <a:ext cx="11518900" cy="3949700"/>
          </a:xfrm>
          <a:prstGeom prst="rect">
            <a:avLst/>
          </a:prstGeom>
        </p:spPr>
      </p:pic>
      <p:pic>
        <p:nvPicPr>
          <p:cNvPr id="4" name="Picture 3">
            <a:extLst>
              <a:ext uri="{FF2B5EF4-FFF2-40B4-BE49-F238E27FC236}">
                <a16:creationId xmlns:a16="http://schemas.microsoft.com/office/drawing/2014/main" id="{EEB41363-F8EE-4E2C-8DC4-287751D48B1A}"/>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CE4636CD-A552-45FE-847F-A1ACC83835C1}"/>
              </a:ext>
            </a:extLst>
          </p:cNvPr>
          <p:cNvSpPr txBox="1"/>
          <p:nvPr/>
        </p:nvSpPr>
        <p:spPr>
          <a:xfrm>
            <a:off x="588310" y="1223317"/>
            <a:ext cx="6098240" cy="461665"/>
          </a:xfrm>
          <a:prstGeom prst="rect">
            <a:avLst/>
          </a:prstGeom>
          <a:noFill/>
        </p:spPr>
        <p:txBody>
          <a:bodyPr wrap="square">
            <a:spAutoFit/>
          </a:bodyPr>
          <a:lstStyle/>
          <a:p>
            <a:r>
              <a:rPr lang="en-US" sz="2400" b="0" i="0" dirty="0">
                <a:solidFill>
                  <a:srgbClr val="FF0000"/>
                </a:solidFill>
                <a:effectLst/>
                <a:latin typeface="Google Sans"/>
              </a:rPr>
              <a:t>Error</a:t>
            </a:r>
            <a:endParaRPr lang="en-US" sz="2400" dirty="0"/>
          </a:p>
        </p:txBody>
      </p:sp>
    </p:spTree>
    <p:extLst>
      <p:ext uri="{BB962C8B-B14F-4D97-AF65-F5344CB8AC3E}">
        <p14:creationId xmlns:p14="http://schemas.microsoft.com/office/powerpoint/2010/main" val="1790218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708A24-753F-4DEB-9E3E-5AAFB83F560A}"/>
              </a:ext>
            </a:extLst>
          </p:cNvPr>
          <p:cNvPicPr>
            <a:picLocks noChangeAspect="1"/>
          </p:cNvPicPr>
          <p:nvPr/>
        </p:nvPicPr>
        <p:blipFill>
          <a:blip r:embed="rId2"/>
          <a:stretch>
            <a:fillRect/>
          </a:stretch>
        </p:blipFill>
        <p:spPr>
          <a:xfrm>
            <a:off x="336550" y="1454150"/>
            <a:ext cx="11518900" cy="3949700"/>
          </a:xfrm>
          <a:prstGeom prst="rect">
            <a:avLst/>
          </a:prstGeom>
        </p:spPr>
      </p:pic>
      <p:pic>
        <p:nvPicPr>
          <p:cNvPr id="2" name="Picture 1">
            <a:extLst>
              <a:ext uri="{FF2B5EF4-FFF2-40B4-BE49-F238E27FC236}">
                <a16:creationId xmlns:a16="http://schemas.microsoft.com/office/drawing/2014/main" id="{19FA9E0E-2995-42F4-BBA3-8683F72160F7}"/>
              </a:ext>
            </a:extLst>
          </p:cNvPr>
          <p:cNvPicPr>
            <a:picLocks noChangeAspect="1"/>
          </p:cNvPicPr>
          <p:nvPr/>
        </p:nvPicPr>
        <p:blipFill>
          <a:blip r:embed="rId3"/>
          <a:stretch>
            <a:fillRect/>
          </a:stretch>
        </p:blipFill>
        <p:spPr>
          <a:xfrm>
            <a:off x="6077098" y="3937000"/>
            <a:ext cx="5314951" cy="1249411"/>
          </a:xfrm>
          <a:prstGeom prst="rect">
            <a:avLst/>
          </a:prstGeom>
        </p:spPr>
      </p:pic>
      <p:pic>
        <p:nvPicPr>
          <p:cNvPr id="4" name="Picture 3">
            <a:extLst>
              <a:ext uri="{FF2B5EF4-FFF2-40B4-BE49-F238E27FC236}">
                <a16:creationId xmlns:a16="http://schemas.microsoft.com/office/drawing/2014/main" id="{B67AD6CC-6DB5-4F1C-AB11-1B7D7D8647B4}"/>
              </a:ext>
            </a:extLst>
          </p:cNvPr>
          <p:cNvPicPr>
            <a:picLocks noChangeAspect="1"/>
          </p:cNvPicPr>
          <p:nvPr/>
        </p:nvPicPr>
        <p:blipFill>
          <a:blip r:embed="rId4"/>
          <a:stretch>
            <a:fillRect/>
          </a:stretch>
        </p:blipFill>
        <p:spPr>
          <a:xfrm>
            <a:off x="10922000" y="6438901"/>
            <a:ext cx="1270000" cy="4191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87798D6-5CDA-42DA-9A1E-0D17DD1142E3}"/>
                  </a:ext>
                </a:extLst>
              </p:cNvPr>
              <p:cNvSpPr txBox="1"/>
              <p:nvPr/>
            </p:nvSpPr>
            <p:spPr>
              <a:xfrm>
                <a:off x="6195733" y="5186411"/>
                <a:ext cx="5996267" cy="461665"/>
              </a:xfrm>
              <a:prstGeom prst="rect">
                <a:avLst/>
              </a:prstGeom>
              <a:noFill/>
            </p:spPr>
            <p:txBody>
              <a:bodyPr wrap="square">
                <a:spAutoFit/>
              </a:bodyPr>
              <a:lstStyle/>
              <a:p>
                <a:r>
                  <a:rPr lang="en-US" sz="2400" b="0" i="0" dirty="0">
                    <a:solidFill>
                      <a:srgbClr val="FF0000"/>
                    </a:solidFill>
                    <a:effectLst/>
                    <a:latin typeface="Google Sans"/>
                  </a:rPr>
                  <a:t>Want to reduce </a:t>
                </a:r>
                <a14:m>
                  <m:oMath xmlns:m="http://schemas.openxmlformats.org/officeDocument/2006/math">
                    <m:r>
                      <a:rPr lang="en-US" sz="2400" b="0" i="1" smtClean="0">
                        <a:solidFill>
                          <a:srgbClr val="FF0000"/>
                        </a:solidFill>
                        <a:effectLst/>
                        <a:latin typeface="Cambria Math" panose="02040503050406030204" pitchFamily="18" charset="0"/>
                        <a:ea typeface="Cambria Math" panose="02040503050406030204" pitchFamily="18" charset="0"/>
                      </a:rPr>
                      <m:t>𝜃</m:t>
                    </m:r>
                  </m:oMath>
                </a14:m>
                <a:r>
                  <a:rPr lang="en-US" sz="2400" dirty="0">
                    <a:solidFill>
                      <a:srgbClr val="FF0000"/>
                    </a:solidFill>
                  </a:rPr>
                  <a:t> </a:t>
                </a:r>
              </a:p>
            </p:txBody>
          </p:sp>
        </mc:Choice>
        <mc:Fallback xmlns="">
          <p:sp>
            <p:nvSpPr>
              <p:cNvPr id="6" name="TextBox 5">
                <a:extLst>
                  <a:ext uri="{FF2B5EF4-FFF2-40B4-BE49-F238E27FC236}">
                    <a16:creationId xmlns:a16="http://schemas.microsoft.com/office/drawing/2014/main" id="{D87798D6-5CDA-42DA-9A1E-0D17DD1142E3}"/>
                  </a:ext>
                </a:extLst>
              </p:cNvPr>
              <p:cNvSpPr txBox="1">
                <a:spLocks noRot="1" noChangeAspect="1" noMove="1" noResize="1" noEditPoints="1" noAdjustHandles="1" noChangeArrowheads="1" noChangeShapeType="1" noTextEdit="1"/>
              </p:cNvSpPr>
              <p:nvPr/>
            </p:nvSpPr>
            <p:spPr>
              <a:xfrm>
                <a:off x="6195733" y="5186411"/>
                <a:ext cx="5996267" cy="461665"/>
              </a:xfrm>
              <a:prstGeom prst="rect">
                <a:avLst/>
              </a:prstGeom>
              <a:blipFill>
                <a:blip r:embed="rId5"/>
                <a:stretch>
                  <a:fillRect l="-1524" t="-10526" b="-2894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A29B52A-324D-4153-8C12-7E35FBA597F3}"/>
              </a:ext>
            </a:extLst>
          </p:cNvPr>
          <p:cNvSpPr txBox="1"/>
          <p:nvPr/>
        </p:nvSpPr>
        <p:spPr>
          <a:xfrm>
            <a:off x="561416" y="1378372"/>
            <a:ext cx="6098240" cy="461665"/>
          </a:xfrm>
          <a:prstGeom prst="rect">
            <a:avLst/>
          </a:prstGeom>
          <a:noFill/>
        </p:spPr>
        <p:txBody>
          <a:bodyPr wrap="square">
            <a:spAutoFit/>
          </a:bodyPr>
          <a:lstStyle/>
          <a:p>
            <a:r>
              <a:rPr lang="en-US" sz="2400" b="0" i="0" dirty="0">
                <a:solidFill>
                  <a:srgbClr val="FF0000"/>
                </a:solidFill>
                <a:effectLst/>
                <a:latin typeface="Google Sans"/>
              </a:rPr>
              <a:t>Error</a:t>
            </a:r>
            <a:endParaRPr lang="en-US" sz="2400" dirty="0"/>
          </a:p>
        </p:txBody>
      </p:sp>
    </p:spTree>
    <p:extLst>
      <p:ext uri="{BB962C8B-B14F-4D97-AF65-F5344CB8AC3E}">
        <p14:creationId xmlns:p14="http://schemas.microsoft.com/office/powerpoint/2010/main" val="2947788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C8638A-117C-4DEB-9499-B365419924EC}"/>
              </a:ext>
            </a:extLst>
          </p:cNvPr>
          <p:cNvPicPr>
            <a:picLocks noChangeAspect="1"/>
          </p:cNvPicPr>
          <p:nvPr/>
        </p:nvPicPr>
        <p:blipFill>
          <a:blip r:embed="rId2"/>
          <a:stretch>
            <a:fillRect/>
          </a:stretch>
        </p:blipFill>
        <p:spPr>
          <a:xfrm>
            <a:off x="1727200" y="910908"/>
            <a:ext cx="7823200" cy="5036185"/>
          </a:xfrm>
          <a:prstGeom prst="rect">
            <a:avLst/>
          </a:prstGeom>
        </p:spPr>
      </p:pic>
      <p:pic>
        <p:nvPicPr>
          <p:cNvPr id="3" name="Picture 2">
            <a:extLst>
              <a:ext uri="{FF2B5EF4-FFF2-40B4-BE49-F238E27FC236}">
                <a16:creationId xmlns:a16="http://schemas.microsoft.com/office/drawing/2014/main" id="{89E98B84-B6EF-4A3B-B357-F376A20BBD88}"/>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E5CE279A-9942-4F20-A4BB-F434612E743B}"/>
              </a:ext>
            </a:extLst>
          </p:cNvPr>
          <p:cNvSpPr txBox="1"/>
          <p:nvPr/>
        </p:nvSpPr>
        <p:spPr>
          <a:xfrm>
            <a:off x="2013697" y="555418"/>
            <a:ext cx="6098240" cy="461665"/>
          </a:xfrm>
          <a:prstGeom prst="rect">
            <a:avLst/>
          </a:prstGeom>
          <a:noFill/>
        </p:spPr>
        <p:txBody>
          <a:bodyPr wrap="square">
            <a:spAutoFit/>
          </a:bodyPr>
          <a:lstStyle/>
          <a:p>
            <a:r>
              <a:rPr lang="en-US" sz="2400" b="0" i="0" dirty="0">
                <a:solidFill>
                  <a:srgbClr val="FF0000"/>
                </a:solidFill>
                <a:effectLst/>
                <a:latin typeface="Google Sans"/>
              </a:rPr>
              <a:t>Error</a:t>
            </a:r>
            <a:endParaRPr lang="en-US" sz="2400" dirty="0"/>
          </a:p>
        </p:txBody>
      </p:sp>
    </p:spTree>
    <p:extLst>
      <p:ext uri="{BB962C8B-B14F-4D97-AF65-F5344CB8AC3E}">
        <p14:creationId xmlns:p14="http://schemas.microsoft.com/office/powerpoint/2010/main" val="38714397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68D16E-A792-43E3-9951-3F4E2F25119A}"/>
              </a:ext>
            </a:extLst>
          </p:cNvPr>
          <p:cNvPicPr>
            <a:picLocks noChangeAspect="1"/>
          </p:cNvPicPr>
          <p:nvPr/>
        </p:nvPicPr>
        <p:blipFill>
          <a:blip r:embed="rId2"/>
          <a:stretch>
            <a:fillRect/>
          </a:stretch>
        </p:blipFill>
        <p:spPr>
          <a:xfrm>
            <a:off x="0" y="1643952"/>
            <a:ext cx="12192000" cy="3570097"/>
          </a:xfrm>
          <a:prstGeom prst="rect">
            <a:avLst/>
          </a:prstGeom>
        </p:spPr>
      </p:pic>
      <p:pic>
        <p:nvPicPr>
          <p:cNvPr id="3" name="Picture 2">
            <a:extLst>
              <a:ext uri="{FF2B5EF4-FFF2-40B4-BE49-F238E27FC236}">
                <a16:creationId xmlns:a16="http://schemas.microsoft.com/office/drawing/2014/main" id="{600E54BD-B46C-4363-A5E7-72FDC0D2873E}"/>
              </a:ext>
            </a:extLst>
          </p:cNvPr>
          <p:cNvPicPr>
            <a:picLocks noChangeAspect="1"/>
          </p:cNvPicPr>
          <p:nvPr/>
        </p:nvPicPr>
        <p:blipFill>
          <a:blip r:embed="rId3"/>
          <a:stretch>
            <a:fillRect/>
          </a:stretch>
        </p:blipFill>
        <p:spPr>
          <a:xfrm>
            <a:off x="10922000" y="6438901"/>
            <a:ext cx="1270000" cy="419100"/>
          </a:xfrm>
          <a:prstGeom prst="rect">
            <a:avLst/>
          </a:prstGeom>
        </p:spPr>
      </p:pic>
      <p:pic>
        <p:nvPicPr>
          <p:cNvPr id="4" name="Picture 3">
            <a:extLst>
              <a:ext uri="{FF2B5EF4-FFF2-40B4-BE49-F238E27FC236}">
                <a16:creationId xmlns:a16="http://schemas.microsoft.com/office/drawing/2014/main" id="{476180F3-7346-47B9-BABC-2B32E4C1ABFF}"/>
              </a:ext>
            </a:extLst>
          </p:cNvPr>
          <p:cNvPicPr>
            <a:picLocks noChangeAspect="1"/>
          </p:cNvPicPr>
          <p:nvPr/>
        </p:nvPicPr>
        <p:blipFill rotWithShape="1">
          <a:blip r:embed="rId4"/>
          <a:srcRect l="51167" t="31274" r="2293" b="39787"/>
          <a:stretch/>
        </p:blipFill>
        <p:spPr>
          <a:xfrm>
            <a:off x="6701118" y="201706"/>
            <a:ext cx="5360894" cy="11430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4EDF85-E2A8-4BE8-B4F2-5250128813EC}"/>
                  </a:ext>
                </a:extLst>
              </p:cNvPr>
              <p:cNvSpPr txBox="1"/>
              <p:nvPr/>
            </p:nvSpPr>
            <p:spPr>
              <a:xfrm>
                <a:off x="6195733" y="5186411"/>
                <a:ext cx="5996267" cy="461665"/>
              </a:xfrm>
              <a:prstGeom prst="rect">
                <a:avLst/>
              </a:prstGeom>
              <a:noFill/>
            </p:spPr>
            <p:txBody>
              <a:bodyPr wrap="square">
                <a:spAutoFit/>
              </a:bodyPr>
              <a:lstStyle/>
              <a:p>
                <a:r>
                  <a:rPr lang="en-US" sz="2400" b="0" i="0" dirty="0">
                    <a:solidFill>
                      <a:srgbClr val="FF0000"/>
                    </a:solidFill>
                    <a:effectLst/>
                    <a:latin typeface="Google Sans"/>
                  </a:rPr>
                  <a:t>Want to increase </a:t>
                </a:r>
                <a14:m>
                  <m:oMath xmlns:m="http://schemas.openxmlformats.org/officeDocument/2006/math">
                    <m:r>
                      <a:rPr lang="en-US" sz="2400" b="0" i="1" smtClean="0">
                        <a:solidFill>
                          <a:srgbClr val="FF0000"/>
                        </a:solidFill>
                        <a:effectLst/>
                        <a:latin typeface="Cambria Math" panose="02040503050406030204" pitchFamily="18" charset="0"/>
                        <a:ea typeface="Cambria Math" panose="02040503050406030204" pitchFamily="18" charset="0"/>
                      </a:rPr>
                      <m:t>𝜃</m:t>
                    </m:r>
                  </m:oMath>
                </a14:m>
                <a:r>
                  <a:rPr lang="en-US" sz="2400" dirty="0">
                    <a:solidFill>
                      <a:srgbClr val="FF0000"/>
                    </a:solidFill>
                  </a:rPr>
                  <a:t> </a:t>
                </a:r>
              </a:p>
            </p:txBody>
          </p:sp>
        </mc:Choice>
        <mc:Fallback xmlns="">
          <p:sp>
            <p:nvSpPr>
              <p:cNvPr id="6" name="TextBox 5">
                <a:extLst>
                  <a:ext uri="{FF2B5EF4-FFF2-40B4-BE49-F238E27FC236}">
                    <a16:creationId xmlns:a16="http://schemas.microsoft.com/office/drawing/2014/main" id="{7C4EDF85-E2A8-4BE8-B4F2-5250128813EC}"/>
                  </a:ext>
                </a:extLst>
              </p:cNvPr>
              <p:cNvSpPr txBox="1">
                <a:spLocks noRot="1" noChangeAspect="1" noMove="1" noResize="1" noEditPoints="1" noAdjustHandles="1" noChangeArrowheads="1" noChangeShapeType="1" noTextEdit="1"/>
              </p:cNvSpPr>
              <p:nvPr/>
            </p:nvSpPr>
            <p:spPr>
              <a:xfrm>
                <a:off x="6195733" y="5186411"/>
                <a:ext cx="5996267" cy="461665"/>
              </a:xfrm>
              <a:prstGeom prst="rect">
                <a:avLst/>
              </a:prstGeom>
              <a:blipFill>
                <a:blip r:embed="rId5"/>
                <a:stretch>
                  <a:fillRect l="-1524" t="-10526" b="-2894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082834C-F309-4F95-8FEF-2C8C79D4FFD2}"/>
              </a:ext>
            </a:extLst>
          </p:cNvPr>
          <p:cNvSpPr txBox="1"/>
          <p:nvPr/>
        </p:nvSpPr>
        <p:spPr>
          <a:xfrm>
            <a:off x="373156" y="1344706"/>
            <a:ext cx="6098240" cy="461665"/>
          </a:xfrm>
          <a:prstGeom prst="rect">
            <a:avLst/>
          </a:prstGeom>
          <a:noFill/>
        </p:spPr>
        <p:txBody>
          <a:bodyPr wrap="square">
            <a:spAutoFit/>
          </a:bodyPr>
          <a:lstStyle/>
          <a:p>
            <a:r>
              <a:rPr lang="en-US" sz="2400" b="0" i="0" dirty="0">
                <a:solidFill>
                  <a:srgbClr val="FF0000"/>
                </a:solidFill>
                <a:effectLst/>
                <a:latin typeface="Google Sans"/>
              </a:rPr>
              <a:t>Error</a:t>
            </a:r>
            <a:endParaRPr lang="en-US" sz="2400" dirty="0"/>
          </a:p>
        </p:txBody>
      </p:sp>
    </p:spTree>
    <p:extLst>
      <p:ext uri="{BB962C8B-B14F-4D97-AF65-F5344CB8AC3E}">
        <p14:creationId xmlns:p14="http://schemas.microsoft.com/office/powerpoint/2010/main" val="32536596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7924800" y="381001"/>
            <a:ext cx="0" cy="2893783"/>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7620000" y="2969983"/>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7924800" y="3583218"/>
            <a:ext cx="0" cy="2893783"/>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7620000" y="6172200"/>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9548091" y="3124201"/>
            <a:ext cx="332180" cy="374935"/>
          </a:xfrm>
          <a:prstGeom prst="rect">
            <a:avLst/>
          </a:prstGeom>
        </p:spPr>
      </p:pic>
      <p:pic>
        <p:nvPicPr>
          <p:cNvPr id="7" name="Picture 6"/>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9548091" y="6338011"/>
            <a:ext cx="332180" cy="374935"/>
          </a:xfrm>
          <a:prstGeom prst="rect">
            <a:avLst/>
          </a:prstGeom>
        </p:spPr>
      </p:pic>
      <p:pic>
        <p:nvPicPr>
          <p:cNvPr id="8" name="Picture 7"/>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1016000" y="1092287"/>
            <a:ext cx="3755136" cy="899160"/>
          </a:xfrm>
          <a:prstGeom prst="rect">
            <a:avLst/>
          </a:prstGeom>
        </p:spPr>
      </p:pic>
      <p:sp>
        <p:nvSpPr>
          <p:cNvPr id="10" name="TextBox 9"/>
          <p:cNvSpPr txBox="1"/>
          <p:nvPr/>
        </p:nvSpPr>
        <p:spPr>
          <a:xfrm>
            <a:off x="812800" y="2002966"/>
            <a:ext cx="5181600" cy="1323632"/>
          </a:xfrm>
          <a:prstGeom prst="rect">
            <a:avLst/>
          </a:prstGeom>
          <a:noFill/>
        </p:spPr>
        <p:txBody>
          <a:bodyPr wrap="square" rtlCol="0">
            <a:spAutoFit/>
          </a:bodyPr>
          <a:lstStyle/>
          <a:p>
            <a:r>
              <a:rPr lang="en-US" sz="2667" dirty="0"/>
              <a:t>If </a:t>
            </a:r>
            <a:r>
              <a:rPr lang="el-GR" sz="2667" dirty="0"/>
              <a:t>α</a:t>
            </a:r>
            <a:r>
              <a:rPr lang="en-US" sz="2667" dirty="0"/>
              <a:t> is too small, gradient descent can be slow.</a:t>
            </a:r>
          </a:p>
          <a:p>
            <a:r>
              <a:rPr lang="en-US" sz="2667" dirty="0"/>
              <a:t>Higher training time</a:t>
            </a:r>
          </a:p>
        </p:txBody>
      </p:sp>
      <p:sp>
        <p:nvSpPr>
          <p:cNvPr id="11" name="TextBox 10"/>
          <p:cNvSpPr txBox="1"/>
          <p:nvPr/>
        </p:nvSpPr>
        <p:spPr>
          <a:xfrm>
            <a:off x="812800" y="4343400"/>
            <a:ext cx="5181600" cy="1323632"/>
          </a:xfrm>
          <a:prstGeom prst="rect">
            <a:avLst/>
          </a:prstGeom>
          <a:noFill/>
        </p:spPr>
        <p:txBody>
          <a:bodyPr wrap="square" rtlCol="0">
            <a:spAutoFit/>
          </a:bodyPr>
          <a:lstStyle/>
          <a:p>
            <a:r>
              <a:rPr lang="en-US" sz="2667" dirty="0"/>
              <a:t>If </a:t>
            </a:r>
            <a:r>
              <a:rPr lang="el-GR" sz="2667" dirty="0"/>
              <a:t>α</a:t>
            </a:r>
            <a:r>
              <a:rPr lang="en-US" sz="2667" dirty="0"/>
              <a:t> is too large, gradient descent can overshoot the minimum. It may fail to converge, or even diverge.</a:t>
            </a:r>
          </a:p>
        </p:txBody>
      </p:sp>
      <p:pic>
        <p:nvPicPr>
          <p:cNvPr id="12" name="Picture 11">
            <a:extLst>
              <a:ext uri="{FF2B5EF4-FFF2-40B4-BE49-F238E27FC236}">
                <a16:creationId xmlns:a16="http://schemas.microsoft.com/office/drawing/2014/main" id="{8A328BF2-2886-4AA3-A729-47530013DB3A}"/>
              </a:ext>
            </a:extLst>
          </p:cNvPr>
          <p:cNvPicPr>
            <a:picLocks noChangeAspect="1"/>
          </p:cNvPicPr>
          <p:nvPr/>
        </p:nvPicPr>
        <p:blipFill>
          <a:blip r:embed="rId7"/>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39862592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7924800" y="3583218"/>
            <a:ext cx="0" cy="2893783"/>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7620000" y="6172200"/>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9548091" y="6338011"/>
            <a:ext cx="332180" cy="374935"/>
          </a:xfrm>
          <a:prstGeom prst="rect">
            <a:avLst/>
          </a:prstGeom>
        </p:spPr>
      </p:pic>
      <p:pic>
        <p:nvPicPr>
          <p:cNvPr id="8" name="Picture 7"/>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1016000" y="1092287"/>
            <a:ext cx="3755136" cy="899160"/>
          </a:xfrm>
          <a:prstGeom prst="rect">
            <a:avLst/>
          </a:prstGeom>
        </p:spPr>
      </p:pic>
      <p:sp>
        <p:nvSpPr>
          <p:cNvPr id="10" name="TextBox 9"/>
          <p:cNvSpPr txBox="1"/>
          <p:nvPr/>
        </p:nvSpPr>
        <p:spPr>
          <a:xfrm>
            <a:off x="812800" y="2002966"/>
            <a:ext cx="5181600" cy="913199"/>
          </a:xfrm>
          <a:prstGeom prst="rect">
            <a:avLst/>
          </a:prstGeom>
          <a:noFill/>
        </p:spPr>
        <p:txBody>
          <a:bodyPr wrap="square" rtlCol="0">
            <a:spAutoFit/>
          </a:bodyPr>
          <a:lstStyle/>
          <a:p>
            <a:r>
              <a:rPr lang="en-US" sz="2667" dirty="0"/>
              <a:t>If </a:t>
            </a:r>
            <a:r>
              <a:rPr lang="el-GR" sz="2667" dirty="0"/>
              <a:t>α</a:t>
            </a:r>
            <a:r>
              <a:rPr lang="en-US" sz="2667" dirty="0"/>
              <a:t> is too small, gradient descent can be slow.</a:t>
            </a:r>
          </a:p>
        </p:txBody>
      </p:sp>
      <p:sp>
        <p:nvSpPr>
          <p:cNvPr id="11" name="TextBox 10"/>
          <p:cNvSpPr txBox="1"/>
          <p:nvPr/>
        </p:nvSpPr>
        <p:spPr>
          <a:xfrm>
            <a:off x="812800" y="4343400"/>
            <a:ext cx="5181600" cy="1323632"/>
          </a:xfrm>
          <a:prstGeom prst="rect">
            <a:avLst/>
          </a:prstGeom>
          <a:noFill/>
        </p:spPr>
        <p:txBody>
          <a:bodyPr wrap="square" rtlCol="0">
            <a:spAutoFit/>
          </a:bodyPr>
          <a:lstStyle/>
          <a:p>
            <a:r>
              <a:rPr lang="en-US" sz="2667" dirty="0"/>
              <a:t>If </a:t>
            </a:r>
            <a:r>
              <a:rPr lang="el-GR" sz="2667" dirty="0"/>
              <a:t>α</a:t>
            </a:r>
            <a:r>
              <a:rPr lang="en-US" sz="2667" dirty="0"/>
              <a:t> is too large, gradient descent can overshoot the minimum. It may fail to converge, or even diverge.</a:t>
            </a:r>
          </a:p>
        </p:txBody>
      </p:sp>
      <p:pic>
        <p:nvPicPr>
          <p:cNvPr id="9" name="Picture 8">
            <a:extLst>
              <a:ext uri="{FF2B5EF4-FFF2-40B4-BE49-F238E27FC236}">
                <a16:creationId xmlns:a16="http://schemas.microsoft.com/office/drawing/2014/main" id="{3F150419-FB76-4BF3-806D-3C026F03195A}"/>
              </a:ext>
            </a:extLst>
          </p:cNvPr>
          <p:cNvPicPr>
            <a:picLocks noChangeAspect="1"/>
          </p:cNvPicPr>
          <p:nvPr/>
        </p:nvPicPr>
        <p:blipFill>
          <a:blip r:embed="rId6"/>
          <a:stretch>
            <a:fillRect/>
          </a:stretch>
        </p:blipFill>
        <p:spPr>
          <a:xfrm>
            <a:off x="7376269" y="114515"/>
            <a:ext cx="4815732" cy="3375411"/>
          </a:xfrm>
          <a:prstGeom prst="rect">
            <a:avLst/>
          </a:prstGeom>
        </p:spPr>
      </p:pic>
      <p:pic>
        <p:nvPicPr>
          <p:cNvPr id="12" name="Picture 11">
            <a:extLst>
              <a:ext uri="{FF2B5EF4-FFF2-40B4-BE49-F238E27FC236}">
                <a16:creationId xmlns:a16="http://schemas.microsoft.com/office/drawing/2014/main" id="{A15F5146-88B9-4815-91B6-9B2081EC8EA7}"/>
              </a:ext>
            </a:extLst>
          </p:cNvPr>
          <p:cNvPicPr>
            <a:picLocks noChangeAspect="1"/>
          </p:cNvPicPr>
          <p:nvPr/>
        </p:nvPicPr>
        <p:blipFill>
          <a:blip r:embed="rId7"/>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24211063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016000" y="1092287"/>
            <a:ext cx="3755136" cy="899160"/>
          </a:xfrm>
          <a:prstGeom prst="rect">
            <a:avLst/>
          </a:prstGeom>
        </p:spPr>
      </p:pic>
      <p:sp>
        <p:nvSpPr>
          <p:cNvPr id="10" name="TextBox 9"/>
          <p:cNvSpPr txBox="1"/>
          <p:nvPr/>
        </p:nvSpPr>
        <p:spPr>
          <a:xfrm>
            <a:off x="812800" y="2002966"/>
            <a:ext cx="5181600" cy="913199"/>
          </a:xfrm>
          <a:prstGeom prst="rect">
            <a:avLst/>
          </a:prstGeom>
          <a:noFill/>
        </p:spPr>
        <p:txBody>
          <a:bodyPr wrap="square" rtlCol="0">
            <a:spAutoFit/>
          </a:bodyPr>
          <a:lstStyle/>
          <a:p>
            <a:r>
              <a:rPr lang="en-US" sz="2667" dirty="0"/>
              <a:t>If </a:t>
            </a:r>
            <a:r>
              <a:rPr lang="el-GR" sz="2667" dirty="0"/>
              <a:t>α</a:t>
            </a:r>
            <a:r>
              <a:rPr lang="en-US" sz="2667" dirty="0"/>
              <a:t> is too small, gradient descent can be slow.</a:t>
            </a:r>
          </a:p>
        </p:txBody>
      </p:sp>
      <p:sp>
        <p:nvSpPr>
          <p:cNvPr id="11" name="TextBox 10"/>
          <p:cNvSpPr txBox="1"/>
          <p:nvPr/>
        </p:nvSpPr>
        <p:spPr>
          <a:xfrm>
            <a:off x="812800" y="4343400"/>
            <a:ext cx="5181600" cy="1323632"/>
          </a:xfrm>
          <a:prstGeom prst="rect">
            <a:avLst/>
          </a:prstGeom>
          <a:noFill/>
        </p:spPr>
        <p:txBody>
          <a:bodyPr wrap="square" rtlCol="0">
            <a:spAutoFit/>
          </a:bodyPr>
          <a:lstStyle/>
          <a:p>
            <a:r>
              <a:rPr lang="en-US" sz="2667" dirty="0"/>
              <a:t>If </a:t>
            </a:r>
            <a:r>
              <a:rPr lang="el-GR" sz="2667" dirty="0"/>
              <a:t>α</a:t>
            </a:r>
            <a:r>
              <a:rPr lang="en-US" sz="2667" dirty="0"/>
              <a:t> is too large, gradient descent can overshoot the minimum. It may fail to converge, or even diverge.</a:t>
            </a:r>
          </a:p>
        </p:txBody>
      </p:sp>
      <p:pic>
        <p:nvPicPr>
          <p:cNvPr id="9" name="Picture 8">
            <a:extLst>
              <a:ext uri="{FF2B5EF4-FFF2-40B4-BE49-F238E27FC236}">
                <a16:creationId xmlns:a16="http://schemas.microsoft.com/office/drawing/2014/main" id="{3F150419-FB76-4BF3-806D-3C026F03195A}"/>
              </a:ext>
            </a:extLst>
          </p:cNvPr>
          <p:cNvPicPr>
            <a:picLocks noChangeAspect="1"/>
          </p:cNvPicPr>
          <p:nvPr/>
        </p:nvPicPr>
        <p:blipFill>
          <a:blip r:embed="rId4"/>
          <a:stretch>
            <a:fillRect/>
          </a:stretch>
        </p:blipFill>
        <p:spPr>
          <a:xfrm>
            <a:off x="7376269" y="114515"/>
            <a:ext cx="4815732" cy="3375411"/>
          </a:xfrm>
          <a:prstGeom prst="rect">
            <a:avLst/>
          </a:prstGeom>
        </p:spPr>
      </p:pic>
      <p:pic>
        <p:nvPicPr>
          <p:cNvPr id="2" name="Picture 1">
            <a:extLst>
              <a:ext uri="{FF2B5EF4-FFF2-40B4-BE49-F238E27FC236}">
                <a16:creationId xmlns:a16="http://schemas.microsoft.com/office/drawing/2014/main" id="{AA0067F7-089C-4D4A-929C-F7F0C7886540}"/>
              </a:ext>
            </a:extLst>
          </p:cNvPr>
          <p:cNvPicPr>
            <a:picLocks noChangeAspect="1"/>
          </p:cNvPicPr>
          <p:nvPr/>
        </p:nvPicPr>
        <p:blipFill>
          <a:blip r:embed="rId5"/>
          <a:stretch>
            <a:fillRect/>
          </a:stretch>
        </p:blipFill>
        <p:spPr>
          <a:xfrm>
            <a:off x="7477878" y="3334962"/>
            <a:ext cx="4440061" cy="3142039"/>
          </a:xfrm>
          <a:prstGeom prst="rect">
            <a:avLst/>
          </a:prstGeom>
        </p:spPr>
      </p:pic>
      <p:pic>
        <p:nvPicPr>
          <p:cNvPr id="7" name="Picture 6">
            <a:extLst>
              <a:ext uri="{FF2B5EF4-FFF2-40B4-BE49-F238E27FC236}">
                <a16:creationId xmlns:a16="http://schemas.microsoft.com/office/drawing/2014/main" id="{9CD047AD-5D4F-4385-A751-42C266BCFB31}"/>
              </a:ext>
            </a:extLst>
          </p:cNvPr>
          <p:cNvPicPr>
            <a:picLocks noChangeAspect="1"/>
          </p:cNvPicPr>
          <p:nvPr/>
        </p:nvPicPr>
        <p:blipFill>
          <a:blip r:embed="rId6"/>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15042672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1937748" y="694013"/>
            <a:ext cx="0" cy="3300184"/>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1632948" y="3689396"/>
            <a:ext cx="51816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5473103" y="3902104"/>
            <a:ext cx="246279" cy="277977"/>
          </a:xfrm>
          <a:prstGeom prst="rect">
            <a:avLst/>
          </a:prstGeom>
        </p:spPr>
      </p:pic>
      <p:sp>
        <p:nvSpPr>
          <p:cNvPr id="9" name="Freeform 8"/>
          <p:cNvSpPr/>
          <p:nvPr/>
        </p:nvSpPr>
        <p:spPr>
          <a:xfrm>
            <a:off x="1632948" y="972573"/>
            <a:ext cx="4908467" cy="2371244"/>
          </a:xfrm>
          <a:custGeom>
            <a:avLst/>
            <a:gdLst>
              <a:gd name="connsiteX0" fmla="*/ 0 w 3681350"/>
              <a:gd name="connsiteY0" fmla="*/ 757675 h 1784229"/>
              <a:gd name="connsiteX1" fmla="*/ 356259 w 3681350"/>
              <a:gd name="connsiteY1" fmla="*/ 401415 h 1784229"/>
              <a:gd name="connsiteX2" fmla="*/ 688768 w 3681350"/>
              <a:gd name="connsiteY2" fmla="*/ 698298 h 1784229"/>
              <a:gd name="connsiteX3" fmla="*/ 890649 w 3681350"/>
              <a:gd name="connsiteY3" fmla="*/ 1339565 h 1784229"/>
              <a:gd name="connsiteX4" fmla="*/ 1045028 w 3681350"/>
              <a:gd name="connsiteY4" fmla="*/ 1707700 h 1784229"/>
              <a:gd name="connsiteX5" fmla="*/ 1187532 w 3681350"/>
              <a:gd name="connsiteY5" fmla="*/ 1778952 h 1784229"/>
              <a:gd name="connsiteX6" fmla="*/ 1246909 w 3681350"/>
              <a:gd name="connsiteY6" fmla="*/ 1778952 h 1784229"/>
              <a:gd name="connsiteX7" fmla="*/ 1377537 w 3681350"/>
              <a:gd name="connsiteY7" fmla="*/ 1778952 h 1784229"/>
              <a:gd name="connsiteX8" fmla="*/ 1579418 w 3681350"/>
              <a:gd name="connsiteY8" fmla="*/ 1707700 h 1784229"/>
              <a:gd name="connsiteX9" fmla="*/ 1733797 w 3681350"/>
              <a:gd name="connsiteY9" fmla="*/ 1327690 h 1784229"/>
              <a:gd name="connsiteX10" fmla="*/ 1805049 w 3681350"/>
              <a:gd name="connsiteY10" fmla="*/ 971430 h 1784229"/>
              <a:gd name="connsiteX11" fmla="*/ 1911927 w 3681350"/>
              <a:gd name="connsiteY11" fmla="*/ 555794 h 1784229"/>
              <a:gd name="connsiteX12" fmla="*/ 1983179 w 3681350"/>
              <a:gd name="connsiteY12" fmla="*/ 401415 h 1784229"/>
              <a:gd name="connsiteX13" fmla="*/ 2066306 w 3681350"/>
              <a:gd name="connsiteY13" fmla="*/ 187659 h 1784229"/>
              <a:gd name="connsiteX14" fmla="*/ 2149433 w 3681350"/>
              <a:gd name="connsiteY14" fmla="*/ 92656 h 1784229"/>
              <a:gd name="connsiteX15" fmla="*/ 2244436 w 3681350"/>
              <a:gd name="connsiteY15" fmla="*/ 21404 h 1784229"/>
              <a:gd name="connsiteX16" fmla="*/ 2375065 w 3681350"/>
              <a:gd name="connsiteY16" fmla="*/ 21404 h 1784229"/>
              <a:gd name="connsiteX17" fmla="*/ 2576945 w 3681350"/>
              <a:gd name="connsiteY17" fmla="*/ 270786 h 1784229"/>
              <a:gd name="connsiteX18" fmla="*/ 2719449 w 3681350"/>
              <a:gd name="connsiteY18" fmla="*/ 1066433 h 1784229"/>
              <a:gd name="connsiteX19" fmla="*/ 2909454 w 3681350"/>
              <a:gd name="connsiteY19" fmla="*/ 1517695 h 1784229"/>
              <a:gd name="connsiteX20" fmla="*/ 3384467 w 3681350"/>
              <a:gd name="connsiteY20" fmla="*/ 1315815 h 1784229"/>
              <a:gd name="connsiteX21" fmla="*/ 3681350 w 3681350"/>
              <a:gd name="connsiteY21" fmla="*/ 508293 h 1784229"/>
              <a:gd name="connsiteX0" fmla="*/ 0 w 3681350"/>
              <a:gd name="connsiteY0" fmla="*/ 757675 h 1784229"/>
              <a:gd name="connsiteX1" fmla="*/ 356259 w 3681350"/>
              <a:gd name="connsiteY1" fmla="*/ 401415 h 1784229"/>
              <a:gd name="connsiteX2" fmla="*/ 688768 w 3681350"/>
              <a:gd name="connsiteY2" fmla="*/ 698298 h 1784229"/>
              <a:gd name="connsiteX3" fmla="*/ 890649 w 3681350"/>
              <a:gd name="connsiteY3" fmla="*/ 1339565 h 1784229"/>
              <a:gd name="connsiteX4" fmla="*/ 1187532 w 3681350"/>
              <a:gd name="connsiteY4" fmla="*/ 1778952 h 1784229"/>
              <a:gd name="connsiteX5" fmla="*/ 1246909 w 3681350"/>
              <a:gd name="connsiteY5" fmla="*/ 1778952 h 1784229"/>
              <a:gd name="connsiteX6" fmla="*/ 1377537 w 3681350"/>
              <a:gd name="connsiteY6" fmla="*/ 1778952 h 1784229"/>
              <a:gd name="connsiteX7" fmla="*/ 1579418 w 3681350"/>
              <a:gd name="connsiteY7" fmla="*/ 1707700 h 1784229"/>
              <a:gd name="connsiteX8" fmla="*/ 1733797 w 3681350"/>
              <a:gd name="connsiteY8" fmla="*/ 1327690 h 1784229"/>
              <a:gd name="connsiteX9" fmla="*/ 1805049 w 3681350"/>
              <a:gd name="connsiteY9" fmla="*/ 971430 h 1784229"/>
              <a:gd name="connsiteX10" fmla="*/ 1911927 w 3681350"/>
              <a:gd name="connsiteY10" fmla="*/ 555794 h 1784229"/>
              <a:gd name="connsiteX11" fmla="*/ 1983179 w 3681350"/>
              <a:gd name="connsiteY11" fmla="*/ 401415 h 1784229"/>
              <a:gd name="connsiteX12" fmla="*/ 2066306 w 3681350"/>
              <a:gd name="connsiteY12" fmla="*/ 187659 h 1784229"/>
              <a:gd name="connsiteX13" fmla="*/ 2149433 w 3681350"/>
              <a:gd name="connsiteY13" fmla="*/ 92656 h 1784229"/>
              <a:gd name="connsiteX14" fmla="*/ 2244436 w 3681350"/>
              <a:gd name="connsiteY14" fmla="*/ 21404 h 1784229"/>
              <a:gd name="connsiteX15" fmla="*/ 2375065 w 3681350"/>
              <a:gd name="connsiteY15" fmla="*/ 21404 h 1784229"/>
              <a:gd name="connsiteX16" fmla="*/ 2576945 w 3681350"/>
              <a:gd name="connsiteY16" fmla="*/ 270786 h 1784229"/>
              <a:gd name="connsiteX17" fmla="*/ 2719449 w 3681350"/>
              <a:gd name="connsiteY17" fmla="*/ 1066433 h 1784229"/>
              <a:gd name="connsiteX18" fmla="*/ 2909454 w 3681350"/>
              <a:gd name="connsiteY18" fmla="*/ 1517695 h 1784229"/>
              <a:gd name="connsiteX19" fmla="*/ 3384467 w 3681350"/>
              <a:gd name="connsiteY19" fmla="*/ 1315815 h 1784229"/>
              <a:gd name="connsiteX20" fmla="*/ 3681350 w 3681350"/>
              <a:gd name="connsiteY20" fmla="*/ 508293 h 1784229"/>
              <a:gd name="connsiteX0" fmla="*/ 0 w 3681350"/>
              <a:gd name="connsiteY0" fmla="*/ 757675 h 1814302"/>
              <a:gd name="connsiteX1" fmla="*/ 356259 w 3681350"/>
              <a:gd name="connsiteY1" fmla="*/ 401415 h 1814302"/>
              <a:gd name="connsiteX2" fmla="*/ 688768 w 3681350"/>
              <a:gd name="connsiteY2" fmla="*/ 698298 h 1814302"/>
              <a:gd name="connsiteX3" fmla="*/ 890649 w 3681350"/>
              <a:gd name="connsiteY3" fmla="*/ 1339565 h 1814302"/>
              <a:gd name="connsiteX4" fmla="*/ 1187532 w 3681350"/>
              <a:gd name="connsiteY4" fmla="*/ 1778952 h 1814302"/>
              <a:gd name="connsiteX5" fmla="*/ 1377537 w 3681350"/>
              <a:gd name="connsiteY5" fmla="*/ 1778952 h 1814302"/>
              <a:gd name="connsiteX6" fmla="*/ 1579418 w 3681350"/>
              <a:gd name="connsiteY6" fmla="*/ 1707700 h 1814302"/>
              <a:gd name="connsiteX7" fmla="*/ 1733797 w 3681350"/>
              <a:gd name="connsiteY7" fmla="*/ 1327690 h 1814302"/>
              <a:gd name="connsiteX8" fmla="*/ 1805049 w 3681350"/>
              <a:gd name="connsiteY8" fmla="*/ 971430 h 1814302"/>
              <a:gd name="connsiteX9" fmla="*/ 1911927 w 3681350"/>
              <a:gd name="connsiteY9" fmla="*/ 555794 h 1814302"/>
              <a:gd name="connsiteX10" fmla="*/ 1983179 w 3681350"/>
              <a:gd name="connsiteY10" fmla="*/ 401415 h 1814302"/>
              <a:gd name="connsiteX11" fmla="*/ 2066306 w 3681350"/>
              <a:gd name="connsiteY11" fmla="*/ 187659 h 1814302"/>
              <a:gd name="connsiteX12" fmla="*/ 2149433 w 3681350"/>
              <a:gd name="connsiteY12" fmla="*/ 92656 h 1814302"/>
              <a:gd name="connsiteX13" fmla="*/ 2244436 w 3681350"/>
              <a:gd name="connsiteY13" fmla="*/ 21404 h 1814302"/>
              <a:gd name="connsiteX14" fmla="*/ 2375065 w 3681350"/>
              <a:gd name="connsiteY14" fmla="*/ 21404 h 1814302"/>
              <a:gd name="connsiteX15" fmla="*/ 2576945 w 3681350"/>
              <a:gd name="connsiteY15" fmla="*/ 270786 h 1814302"/>
              <a:gd name="connsiteX16" fmla="*/ 2719449 w 3681350"/>
              <a:gd name="connsiteY16" fmla="*/ 1066433 h 1814302"/>
              <a:gd name="connsiteX17" fmla="*/ 2909454 w 3681350"/>
              <a:gd name="connsiteY17" fmla="*/ 1517695 h 1814302"/>
              <a:gd name="connsiteX18" fmla="*/ 3384467 w 3681350"/>
              <a:gd name="connsiteY18" fmla="*/ 1315815 h 1814302"/>
              <a:gd name="connsiteX19" fmla="*/ 3681350 w 3681350"/>
              <a:gd name="connsiteY19" fmla="*/ 508293 h 1814302"/>
              <a:gd name="connsiteX0" fmla="*/ 0 w 3681350"/>
              <a:gd name="connsiteY0" fmla="*/ 757675 h 1804839"/>
              <a:gd name="connsiteX1" fmla="*/ 356259 w 3681350"/>
              <a:gd name="connsiteY1" fmla="*/ 401415 h 1804839"/>
              <a:gd name="connsiteX2" fmla="*/ 688768 w 3681350"/>
              <a:gd name="connsiteY2" fmla="*/ 698298 h 1804839"/>
              <a:gd name="connsiteX3" fmla="*/ 890649 w 3681350"/>
              <a:gd name="connsiteY3" fmla="*/ 1339565 h 1804839"/>
              <a:gd name="connsiteX4" fmla="*/ 1187532 w 3681350"/>
              <a:gd name="connsiteY4" fmla="*/ 1778952 h 1804839"/>
              <a:gd name="connsiteX5" fmla="*/ 1579418 w 3681350"/>
              <a:gd name="connsiteY5" fmla="*/ 1707700 h 1804839"/>
              <a:gd name="connsiteX6" fmla="*/ 1733797 w 3681350"/>
              <a:gd name="connsiteY6" fmla="*/ 1327690 h 1804839"/>
              <a:gd name="connsiteX7" fmla="*/ 1805049 w 3681350"/>
              <a:gd name="connsiteY7" fmla="*/ 971430 h 1804839"/>
              <a:gd name="connsiteX8" fmla="*/ 1911927 w 3681350"/>
              <a:gd name="connsiteY8" fmla="*/ 555794 h 1804839"/>
              <a:gd name="connsiteX9" fmla="*/ 1983179 w 3681350"/>
              <a:gd name="connsiteY9" fmla="*/ 401415 h 1804839"/>
              <a:gd name="connsiteX10" fmla="*/ 2066306 w 3681350"/>
              <a:gd name="connsiteY10" fmla="*/ 187659 h 1804839"/>
              <a:gd name="connsiteX11" fmla="*/ 2149433 w 3681350"/>
              <a:gd name="connsiteY11" fmla="*/ 92656 h 1804839"/>
              <a:gd name="connsiteX12" fmla="*/ 2244436 w 3681350"/>
              <a:gd name="connsiteY12" fmla="*/ 21404 h 1804839"/>
              <a:gd name="connsiteX13" fmla="*/ 2375065 w 3681350"/>
              <a:gd name="connsiteY13" fmla="*/ 21404 h 1804839"/>
              <a:gd name="connsiteX14" fmla="*/ 2576945 w 3681350"/>
              <a:gd name="connsiteY14" fmla="*/ 270786 h 1804839"/>
              <a:gd name="connsiteX15" fmla="*/ 2719449 w 3681350"/>
              <a:gd name="connsiteY15" fmla="*/ 1066433 h 1804839"/>
              <a:gd name="connsiteX16" fmla="*/ 2909454 w 3681350"/>
              <a:gd name="connsiteY16" fmla="*/ 1517695 h 1804839"/>
              <a:gd name="connsiteX17" fmla="*/ 3384467 w 3681350"/>
              <a:gd name="connsiteY17" fmla="*/ 1315815 h 1804839"/>
              <a:gd name="connsiteX18" fmla="*/ 3681350 w 3681350"/>
              <a:gd name="connsiteY18" fmla="*/ 508293 h 1804839"/>
              <a:gd name="connsiteX0" fmla="*/ 0 w 3681350"/>
              <a:gd name="connsiteY0" fmla="*/ 757675 h 1778952"/>
              <a:gd name="connsiteX1" fmla="*/ 356259 w 3681350"/>
              <a:gd name="connsiteY1" fmla="*/ 401415 h 1778952"/>
              <a:gd name="connsiteX2" fmla="*/ 688768 w 3681350"/>
              <a:gd name="connsiteY2" fmla="*/ 698298 h 1778952"/>
              <a:gd name="connsiteX3" fmla="*/ 890649 w 3681350"/>
              <a:gd name="connsiteY3" fmla="*/ 1339565 h 1778952"/>
              <a:gd name="connsiteX4" fmla="*/ 1187532 w 3681350"/>
              <a:gd name="connsiteY4" fmla="*/ 1778952 h 1778952"/>
              <a:gd name="connsiteX5" fmla="*/ 1733797 w 3681350"/>
              <a:gd name="connsiteY5" fmla="*/ 1327690 h 1778952"/>
              <a:gd name="connsiteX6" fmla="*/ 1805049 w 3681350"/>
              <a:gd name="connsiteY6" fmla="*/ 971430 h 1778952"/>
              <a:gd name="connsiteX7" fmla="*/ 1911927 w 3681350"/>
              <a:gd name="connsiteY7" fmla="*/ 555794 h 1778952"/>
              <a:gd name="connsiteX8" fmla="*/ 1983179 w 3681350"/>
              <a:gd name="connsiteY8" fmla="*/ 401415 h 1778952"/>
              <a:gd name="connsiteX9" fmla="*/ 2066306 w 3681350"/>
              <a:gd name="connsiteY9" fmla="*/ 187659 h 1778952"/>
              <a:gd name="connsiteX10" fmla="*/ 2149433 w 3681350"/>
              <a:gd name="connsiteY10" fmla="*/ 92656 h 1778952"/>
              <a:gd name="connsiteX11" fmla="*/ 2244436 w 3681350"/>
              <a:gd name="connsiteY11" fmla="*/ 21404 h 1778952"/>
              <a:gd name="connsiteX12" fmla="*/ 2375065 w 3681350"/>
              <a:gd name="connsiteY12" fmla="*/ 21404 h 1778952"/>
              <a:gd name="connsiteX13" fmla="*/ 2576945 w 3681350"/>
              <a:gd name="connsiteY13" fmla="*/ 270786 h 1778952"/>
              <a:gd name="connsiteX14" fmla="*/ 2719449 w 3681350"/>
              <a:gd name="connsiteY14" fmla="*/ 1066433 h 1778952"/>
              <a:gd name="connsiteX15" fmla="*/ 2909454 w 3681350"/>
              <a:gd name="connsiteY15" fmla="*/ 1517695 h 1778952"/>
              <a:gd name="connsiteX16" fmla="*/ 3384467 w 3681350"/>
              <a:gd name="connsiteY16" fmla="*/ 1315815 h 1778952"/>
              <a:gd name="connsiteX17" fmla="*/ 3681350 w 3681350"/>
              <a:gd name="connsiteY17" fmla="*/ 508293 h 177895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5611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5611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5611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5611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33612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7897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7897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2066306 w 3681350"/>
              <a:gd name="connsiteY8" fmla="*/ 187659 h 1790382"/>
              <a:gd name="connsiteX9" fmla="*/ 2149433 w 3681350"/>
              <a:gd name="connsiteY9" fmla="*/ 92656 h 1790382"/>
              <a:gd name="connsiteX10" fmla="*/ 2244436 w 3681350"/>
              <a:gd name="connsiteY10" fmla="*/ 21404 h 1790382"/>
              <a:gd name="connsiteX11" fmla="*/ 2375065 w 3681350"/>
              <a:gd name="connsiteY11" fmla="*/ 21404 h 1790382"/>
              <a:gd name="connsiteX12" fmla="*/ 2576945 w 3681350"/>
              <a:gd name="connsiteY12" fmla="*/ 270786 h 1790382"/>
              <a:gd name="connsiteX13" fmla="*/ 2719449 w 3681350"/>
              <a:gd name="connsiteY13" fmla="*/ 1066433 h 1790382"/>
              <a:gd name="connsiteX14" fmla="*/ 2909454 w 3681350"/>
              <a:gd name="connsiteY14" fmla="*/ 1517695 h 1790382"/>
              <a:gd name="connsiteX15" fmla="*/ 3384467 w 3681350"/>
              <a:gd name="connsiteY15" fmla="*/ 1315815 h 1790382"/>
              <a:gd name="connsiteX16" fmla="*/ 3681350 w 3681350"/>
              <a:gd name="connsiteY16"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2066306 w 3681350"/>
              <a:gd name="connsiteY7" fmla="*/ 187659 h 1790382"/>
              <a:gd name="connsiteX8" fmla="*/ 2149433 w 3681350"/>
              <a:gd name="connsiteY8" fmla="*/ 92656 h 1790382"/>
              <a:gd name="connsiteX9" fmla="*/ 2244436 w 3681350"/>
              <a:gd name="connsiteY9" fmla="*/ 21404 h 1790382"/>
              <a:gd name="connsiteX10" fmla="*/ 2375065 w 3681350"/>
              <a:gd name="connsiteY10" fmla="*/ 21404 h 1790382"/>
              <a:gd name="connsiteX11" fmla="*/ 2576945 w 3681350"/>
              <a:gd name="connsiteY11" fmla="*/ 270786 h 1790382"/>
              <a:gd name="connsiteX12" fmla="*/ 2719449 w 3681350"/>
              <a:gd name="connsiteY12" fmla="*/ 1066433 h 1790382"/>
              <a:gd name="connsiteX13" fmla="*/ 2909454 w 3681350"/>
              <a:gd name="connsiteY13" fmla="*/ 1517695 h 1790382"/>
              <a:gd name="connsiteX14" fmla="*/ 3384467 w 3681350"/>
              <a:gd name="connsiteY14" fmla="*/ 1315815 h 1790382"/>
              <a:gd name="connsiteX15" fmla="*/ 3681350 w 3681350"/>
              <a:gd name="connsiteY15"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73629 w 3681350"/>
              <a:gd name="connsiteY6" fmla="*/ 834270 h 1790382"/>
              <a:gd name="connsiteX7" fmla="*/ 2066306 w 3681350"/>
              <a:gd name="connsiteY7" fmla="*/ 187659 h 1790382"/>
              <a:gd name="connsiteX8" fmla="*/ 2149433 w 3681350"/>
              <a:gd name="connsiteY8" fmla="*/ 92656 h 1790382"/>
              <a:gd name="connsiteX9" fmla="*/ 2244436 w 3681350"/>
              <a:gd name="connsiteY9" fmla="*/ 21404 h 1790382"/>
              <a:gd name="connsiteX10" fmla="*/ 2375065 w 3681350"/>
              <a:gd name="connsiteY10" fmla="*/ 21404 h 1790382"/>
              <a:gd name="connsiteX11" fmla="*/ 2576945 w 3681350"/>
              <a:gd name="connsiteY11" fmla="*/ 270786 h 1790382"/>
              <a:gd name="connsiteX12" fmla="*/ 2719449 w 3681350"/>
              <a:gd name="connsiteY12" fmla="*/ 1066433 h 1790382"/>
              <a:gd name="connsiteX13" fmla="*/ 2909454 w 3681350"/>
              <a:gd name="connsiteY13" fmla="*/ 1517695 h 1790382"/>
              <a:gd name="connsiteX14" fmla="*/ 3384467 w 3681350"/>
              <a:gd name="connsiteY14" fmla="*/ 1315815 h 1790382"/>
              <a:gd name="connsiteX15" fmla="*/ 3681350 w 3681350"/>
              <a:gd name="connsiteY15"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2066306 w 3681350"/>
              <a:gd name="connsiteY6" fmla="*/ 187659 h 1790382"/>
              <a:gd name="connsiteX7" fmla="*/ 2149433 w 3681350"/>
              <a:gd name="connsiteY7" fmla="*/ 92656 h 1790382"/>
              <a:gd name="connsiteX8" fmla="*/ 2244436 w 3681350"/>
              <a:gd name="connsiteY8" fmla="*/ 21404 h 1790382"/>
              <a:gd name="connsiteX9" fmla="*/ 2375065 w 3681350"/>
              <a:gd name="connsiteY9" fmla="*/ 21404 h 1790382"/>
              <a:gd name="connsiteX10" fmla="*/ 2576945 w 3681350"/>
              <a:gd name="connsiteY10" fmla="*/ 270786 h 1790382"/>
              <a:gd name="connsiteX11" fmla="*/ 2719449 w 3681350"/>
              <a:gd name="connsiteY11" fmla="*/ 1066433 h 1790382"/>
              <a:gd name="connsiteX12" fmla="*/ 2909454 w 3681350"/>
              <a:gd name="connsiteY12" fmla="*/ 1517695 h 1790382"/>
              <a:gd name="connsiteX13" fmla="*/ 3384467 w 3681350"/>
              <a:gd name="connsiteY13" fmla="*/ 1315815 h 1790382"/>
              <a:gd name="connsiteX14" fmla="*/ 3681350 w 3681350"/>
              <a:gd name="connsiteY14" fmla="*/ 508293 h 1790382"/>
              <a:gd name="connsiteX0" fmla="*/ 0 w 3681350"/>
              <a:gd name="connsiteY0" fmla="*/ 762503 h 1795210"/>
              <a:gd name="connsiteX1" fmla="*/ 356259 w 3681350"/>
              <a:gd name="connsiteY1" fmla="*/ 406243 h 1795210"/>
              <a:gd name="connsiteX2" fmla="*/ 688768 w 3681350"/>
              <a:gd name="connsiteY2" fmla="*/ 703126 h 1795210"/>
              <a:gd name="connsiteX3" fmla="*/ 890649 w 3681350"/>
              <a:gd name="connsiteY3" fmla="*/ 1344393 h 1795210"/>
              <a:gd name="connsiteX4" fmla="*/ 1278972 w 3681350"/>
              <a:gd name="connsiteY4" fmla="*/ 1795210 h 1795210"/>
              <a:gd name="connsiteX5" fmla="*/ 1733797 w 3681350"/>
              <a:gd name="connsiteY5" fmla="*/ 1332518 h 1795210"/>
              <a:gd name="connsiteX6" fmla="*/ 2066306 w 3681350"/>
              <a:gd name="connsiteY6" fmla="*/ 192487 h 1795210"/>
              <a:gd name="connsiteX7" fmla="*/ 2244436 w 3681350"/>
              <a:gd name="connsiteY7" fmla="*/ 26232 h 1795210"/>
              <a:gd name="connsiteX8" fmla="*/ 2375065 w 3681350"/>
              <a:gd name="connsiteY8" fmla="*/ 26232 h 1795210"/>
              <a:gd name="connsiteX9" fmla="*/ 2576945 w 3681350"/>
              <a:gd name="connsiteY9" fmla="*/ 275614 h 1795210"/>
              <a:gd name="connsiteX10" fmla="*/ 2719449 w 3681350"/>
              <a:gd name="connsiteY10" fmla="*/ 1071261 h 1795210"/>
              <a:gd name="connsiteX11" fmla="*/ 2909454 w 3681350"/>
              <a:gd name="connsiteY11" fmla="*/ 1522523 h 1795210"/>
              <a:gd name="connsiteX12" fmla="*/ 3384467 w 3681350"/>
              <a:gd name="connsiteY12" fmla="*/ 1320643 h 1795210"/>
              <a:gd name="connsiteX13" fmla="*/ 3681350 w 3681350"/>
              <a:gd name="connsiteY13" fmla="*/ 513121 h 1795210"/>
              <a:gd name="connsiteX0" fmla="*/ 0 w 3681350"/>
              <a:gd name="connsiteY0" fmla="*/ 842948 h 1875655"/>
              <a:gd name="connsiteX1" fmla="*/ 356259 w 3681350"/>
              <a:gd name="connsiteY1" fmla="*/ 486688 h 1875655"/>
              <a:gd name="connsiteX2" fmla="*/ 688768 w 3681350"/>
              <a:gd name="connsiteY2" fmla="*/ 783571 h 1875655"/>
              <a:gd name="connsiteX3" fmla="*/ 890649 w 3681350"/>
              <a:gd name="connsiteY3" fmla="*/ 1424838 h 1875655"/>
              <a:gd name="connsiteX4" fmla="*/ 1278972 w 3681350"/>
              <a:gd name="connsiteY4" fmla="*/ 1875655 h 1875655"/>
              <a:gd name="connsiteX5" fmla="*/ 1733797 w 3681350"/>
              <a:gd name="connsiteY5" fmla="*/ 1412963 h 1875655"/>
              <a:gd name="connsiteX6" fmla="*/ 2244436 w 3681350"/>
              <a:gd name="connsiteY6" fmla="*/ 106677 h 1875655"/>
              <a:gd name="connsiteX7" fmla="*/ 2375065 w 3681350"/>
              <a:gd name="connsiteY7" fmla="*/ 106677 h 1875655"/>
              <a:gd name="connsiteX8" fmla="*/ 2576945 w 3681350"/>
              <a:gd name="connsiteY8" fmla="*/ 356059 h 1875655"/>
              <a:gd name="connsiteX9" fmla="*/ 2719449 w 3681350"/>
              <a:gd name="connsiteY9" fmla="*/ 1151706 h 1875655"/>
              <a:gd name="connsiteX10" fmla="*/ 2909454 w 3681350"/>
              <a:gd name="connsiteY10" fmla="*/ 1602968 h 1875655"/>
              <a:gd name="connsiteX11" fmla="*/ 3384467 w 3681350"/>
              <a:gd name="connsiteY11" fmla="*/ 1401088 h 1875655"/>
              <a:gd name="connsiteX12" fmla="*/ 3681350 w 3681350"/>
              <a:gd name="connsiteY12" fmla="*/ 593566 h 1875655"/>
              <a:gd name="connsiteX0" fmla="*/ 0 w 3681350"/>
              <a:gd name="connsiteY0" fmla="*/ 796203 h 1828910"/>
              <a:gd name="connsiteX1" fmla="*/ 356259 w 3681350"/>
              <a:gd name="connsiteY1" fmla="*/ 439943 h 1828910"/>
              <a:gd name="connsiteX2" fmla="*/ 688768 w 3681350"/>
              <a:gd name="connsiteY2" fmla="*/ 736826 h 1828910"/>
              <a:gd name="connsiteX3" fmla="*/ 890649 w 3681350"/>
              <a:gd name="connsiteY3" fmla="*/ 1378093 h 1828910"/>
              <a:gd name="connsiteX4" fmla="*/ 1278972 w 3681350"/>
              <a:gd name="connsiteY4" fmla="*/ 1828910 h 1828910"/>
              <a:gd name="connsiteX5" fmla="*/ 1733797 w 3681350"/>
              <a:gd name="connsiteY5" fmla="*/ 1366218 h 1828910"/>
              <a:gd name="connsiteX6" fmla="*/ 2375065 w 3681350"/>
              <a:gd name="connsiteY6" fmla="*/ 59932 h 1828910"/>
              <a:gd name="connsiteX7" fmla="*/ 2576945 w 3681350"/>
              <a:gd name="connsiteY7" fmla="*/ 309314 h 1828910"/>
              <a:gd name="connsiteX8" fmla="*/ 2719449 w 3681350"/>
              <a:gd name="connsiteY8" fmla="*/ 1104961 h 1828910"/>
              <a:gd name="connsiteX9" fmla="*/ 2909454 w 3681350"/>
              <a:gd name="connsiteY9" fmla="*/ 1556223 h 1828910"/>
              <a:gd name="connsiteX10" fmla="*/ 3384467 w 3681350"/>
              <a:gd name="connsiteY10" fmla="*/ 1354343 h 1828910"/>
              <a:gd name="connsiteX11" fmla="*/ 3681350 w 3681350"/>
              <a:gd name="connsiteY11" fmla="*/ 546821 h 1828910"/>
              <a:gd name="connsiteX0" fmla="*/ 0 w 3681350"/>
              <a:gd name="connsiteY0" fmla="*/ 772905 h 1805612"/>
              <a:gd name="connsiteX1" fmla="*/ 356259 w 3681350"/>
              <a:gd name="connsiteY1" fmla="*/ 416645 h 1805612"/>
              <a:gd name="connsiteX2" fmla="*/ 688768 w 3681350"/>
              <a:gd name="connsiteY2" fmla="*/ 713528 h 1805612"/>
              <a:gd name="connsiteX3" fmla="*/ 890649 w 3681350"/>
              <a:gd name="connsiteY3" fmla="*/ 1354795 h 1805612"/>
              <a:gd name="connsiteX4" fmla="*/ 1278972 w 3681350"/>
              <a:gd name="connsiteY4" fmla="*/ 1805612 h 1805612"/>
              <a:gd name="connsiteX5" fmla="*/ 1733797 w 3681350"/>
              <a:gd name="connsiteY5" fmla="*/ 1342920 h 1805612"/>
              <a:gd name="connsiteX6" fmla="*/ 2375065 w 3681350"/>
              <a:gd name="connsiteY6" fmla="*/ 36634 h 1805612"/>
              <a:gd name="connsiteX7" fmla="*/ 2576945 w 3681350"/>
              <a:gd name="connsiteY7" fmla="*/ 286016 h 1805612"/>
              <a:gd name="connsiteX8" fmla="*/ 2719449 w 3681350"/>
              <a:gd name="connsiteY8" fmla="*/ 1081663 h 1805612"/>
              <a:gd name="connsiteX9" fmla="*/ 2909454 w 3681350"/>
              <a:gd name="connsiteY9" fmla="*/ 1532925 h 1805612"/>
              <a:gd name="connsiteX10" fmla="*/ 3384467 w 3681350"/>
              <a:gd name="connsiteY10" fmla="*/ 1331045 h 1805612"/>
              <a:gd name="connsiteX11" fmla="*/ 3681350 w 3681350"/>
              <a:gd name="connsiteY11" fmla="*/ 523523 h 1805612"/>
              <a:gd name="connsiteX0" fmla="*/ 0 w 3681350"/>
              <a:gd name="connsiteY0" fmla="*/ 736509 h 1769216"/>
              <a:gd name="connsiteX1" fmla="*/ 356259 w 3681350"/>
              <a:gd name="connsiteY1" fmla="*/ 380249 h 1769216"/>
              <a:gd name="connsiteX2" fmla="*/ 688768 w 3681350"/>
              <a:gd name="connsiteY2" fmla="*/ 677132 h 1769216"/>
              <a:gd name="connsiteX3" fmla="*/ 890649 w 3681350"/>
              <a:gd name="connsiteY3" fmla="*/ 1318399 h 1769216"/>
              <a:gd name="connsiteX4" fmla="*/ 1278972 w 3681350"/>
              <a:gd name="connsiteY4" fmla="*/ 1769216 h 1769216"/>
              <a:gd name="connsiteX5" fmla="*/ 1733797 w 3681350"/>
              <a:gd name="connsiteY5" fmla="*/ 1306524 h 1769216"/>
              <a:gd name="connsiteX6" fmla="*/ 2375065 w 3681350"/>
              <a:gd name="connsiteY6" fmla="*/ 238 h 1769216"/>
              <a:gd name="connsiteX7" fmla="*/ 2576945 w 3681350"/>
              <a:gd name="connsiteY7" fmla="*/ 249620 h 1769216"/>
              <a:gd name="connsiteX8" fmla="*/ 2719449 w 3681350"/>
              <a:gd name="connsiteY8" fmla="*/ 1045267 h 1769216"/>
              <a:gd name="connsiteX9" fmla="*/ 2909454 w 3681350"/>
              <a:gd name="connsiteY9" fmla="*/ 1496529 h 1769216"/>
              <a:gd name="connsiteX10" fmla="*/ 3384467 w 3681350"/>
              <a:gd name="connsiteY10" fmla="*/ 1294649 h 1769216"/>
              <a:gd name="connsiteX11" fmla="*/ 3681350 w 3681350"/>
              <a:gd name="connsiteY11" fmla="*/ 487127 h 1769216"/>
              <a:gd name="connsiteX0" fmla="*/ 0 w 3681350"/>
              <a:gd name="connsiteY0" fmla="*/ 737904 h 1770611"/>
              <a:gd name="connsiteX1" fmla="*/ 356259 w 3681350"/>
              <a:gd name="connsiteY1" fmla="*/ 381644 h 1770611"/>
              <a:gd name="connsiteX2" fmla="*/ 688768 w 3681350"/>
              <a:gd name="connsiteY2" fmla="*/ 678527 h 1770611"/>
              <a:gd name="connsiteX3" fmla="*/ 890649 w 3681350"/>
              <a:gd name="connsiteY3" fmla="*/ 1319794 h 1770611"/>
              <a:gd name="connsiteX4" fmla="*/ 1278972 w 3681350"/>
              <a:gd name="connsiteY4" fmla="*/ 1770611 h 1770611"/>
              <a:gd name="connsiteX5" fmla="*/ 1733797 w 3681350"/>
              <a:gd name="connsiteY5" fmla="*/ 1307919 h 1770611"/>
              <a:gd name="connsiteX6" fmla="*/ 2375065 w 3681350"/>
              <a:gd name="connsiteY6" fmla="*/ 1633 h 1770611"/>
              <a:gd name="connsiteX7" fmla="*/ 2719449 w 3681350"/>
              <a:gd name="connsiteY7" fmla="*/ 1046662 h 1770611"/>
              <a:gd name="connsiteX8" fmla="*/ 2909454 w 3681350"/>
              <a:gd name="connsiteY8" fmla="*/ 1497924 h 1770611"/>
              <a:gd name="connsiteX9" fmla="*/ 3384467 w 3681350"/>
              <a:gd name="connsiteY9" fmla="*/ 1296044 h 1770611"/>
              <a:gd name="connsiteX10" fmla="*/ 3681350 w 3681350"/>
              <a:gd name="connsiteY10" fmla="*/ 488522 h 1770611"/>
              <a:gd name="connsiteX0" fmla="*/ 0 w 3681350"/>
              <a:gd name="connsiteY0" fmla="*/ 737908 h 1770615"/>
              <a:gd name="connsiteX1" fmla="*/ 356259 w 3681350"/>
              <a:gd name="connsiteY1" fmla="*/ 381648 h 1770615"/>
              <a:gd name="connsiteX2" fmla="*/ 688768 w 3681350"/>
              <a:gd name="connsiteY2" fmla="*/ 678531 h 1770615"/>
              <a:gd name="connsiteX3" fmla="*/ 890649 w 3681350"/>
              <a:gd name="connsiteY3" fmla="*/ 1319798 h 1770615"/>
              <a:gd name="connsiteX4" fmla="*/ 1278972 w 3681350"/>
              <a:gd name="connsiteY4" fmla="*/ 1770615 h 1770615"/>
              <a:gd name="connsiteX5" fmla="*/ 1733797 w 3681350"/>
              <a:gd name="connsiteY5" fmla="*/ 1307923 h 1770615"/>
              <a:gd name="connsiteX6" fmla="*/ 2375065 w 3681350"/>
              <a:gd name="connsiteY6" fmla="*/ 1637 h 1770615"/>
              <a:gd name="connsiteX7" fmla="*/ 2719449 w 3681350"/>
              <a:gd name="connsiteY7" fmla="*/ 1046666 h 1770615"/>
              <a:gd name="connsiteX8" fmla="*/ 3000894 w 3681350"/>
              <a:gd name="connsiteY8" fmla="*/ 1509358 h 1770615"/>
              <a:gd name="connsiteX9" fmla="*/ 3384467 w 3681350"/>
              <a:gd name="connsiteY9" fmla="*/ 1296048 h 1770615"/>
              <a:gd name="connsiteX10" fmla="*/ 3681350 w 3681350"/>
              <a:gd name="connsiteY10" fmla="*/ 488526 h 1770615"/>
              <a:gd name="connsiteX0" fmla="*/ 0 w 3681350"/>
              <a:gd name="connsiteY0" fmla="*/ 737908 h 1770615"/>
              <a:gd name="connsiteX1" fmla="*/ 356259 w 3681350"/>
              <a:gd name="connsiteY1" fmla="*/ 381648 h 1770615"/>
              <a:gd name="connsiteX2" fmla="*/ 688768 w 3681350"/>
              <a:gd name="connsiteY2" fmla="*/ 678531 h 1770615"/>
              <a:gd name="connsiteX3" fmla="*/ 890649 w 3681350"/>
              <a:gd name="connsiteY3" fmla="*/ 1319798 h 1770615"/>
              <a:gd name="connsiteX4" fmla="*/ 1278972 w 3681350"/>
              <a:gd name="connsiteY4" fmla="*/ 1770615 h 1770615"/>
              <a:gd name="connsiteX5" fmla="*/ 1733797 w 3681350"/>
              <a:gd name="connsiteY5" fmla="*/ 1307923 h 1770615"/>
              <a:gd name="connsiteX6" fmla="*/ 2375065 w 3681350"/>
              <a:gd name="connsiteY6" fmla="*/ 1637 h 1770615"/>
              <a:gd name="connsiteX7" fmla="*/ 2719449 w 3681350"/>
              <a:gd name="connsiteY7" fmla="*/ 1046666 h 1770615"/>
              <a:gd name="connsiteX8" fmla="*/ 3000894 w 3681350"/>
              <a:gd name="connsiteY8" fmla="*/ 1509358 h 1770615"/>
              <a:gd name="connsiteX9" fmla="*/ 3384467 w 3681350"/>
              <a:gd name="connsiteY9" fmla="*/ 1296048 h 1770615"/>
              <a:gd name="connsiteX10" fmla="*/ 3681350 w 3681350"/>
              <a:gd name="connsiteY10" fmla="*/ 488526 h 1770615"/>
              <a:gd name="connsiteX0" fmla="*/ 0 w 3681350"/>
              <a:gd name="connsiteY0" fmla="*/ 746138 h 1778845"/>
              <a:gd name="connsiteX1" fmla="*/ 356259 w 3681350"/>
              <a:gd name="connsiteY1" fmla="*/ 389878 h 1778845"/>
              <a:gd name="connsiteX2" fmla="*/ 688768 w 3681350"/>
              <a:gd name="connsiteY2" fmla="*/ 686761 h 1778845"/>
              <a:gd name="connsiteX3" fmla="*/ 890649 w 3681350"/>
              <a:gd name="connsiteY3" fmla="*/ 1328028 h 1778845"/>
              <a:gd name="connsiteX4" fmla="*/ 1278972 w 3681350"/>
              <a:gd name="connsiteY4" fmla="*/ 1778845 h 1778845"/>
              <a:gd name="connsiteX5" fmla="*/ 1733797 w 3681350"/>
              <a:gd name="connsiteY5" fmla="*/ 1316153 h 1778845"/>
              <a:gd name="connsiteX6" fmla="*/ 2375065 w 3681350"/>
              <a:gd name="connsiteY6" fmla="*/ 9867 h 1778845"/>
              <a:gd name="connsiteX7" fmla="*/ 2662299 w 3681350"/>
              <a:gd name="connsiteY7" fmla="*/ 757716 h 1778845"/>
              <a:gd name="connsiteX8" fmla="*/ 3000894 w 3681350"/>
              <a:gd name="connsiteY8" fmla="*/ 1517588 h 1778845"/>
              <a:gd name="connsiteX9" fmla="*/ 3384467 w 3681350"/>
              <a:gd name="connsiteY9" fmla="*/ 1304278 h 1778845"/>
              <a:gd name="connsiteX10" fmla="*/ 3681350 w 3681350"/>
              <a:gd name="connsiteY10" fmla="*/ 496756 h 1778845"/>
              <a:gd name="connsiteX0" fmla="*/ 0 w 3681350"/>
              <a:gd name="connsiteY0" fmla="*/ 747440 h 1780147"/>
              <a:gd name="connsiteX1" fmla="*/ 356259 w 3681350"/>
              <a:gd name="connsiteY1" fmla="*/ 391180 h 1780147"/>
              <a:gd name="connsiteX2" fmla="*/ 688768 w 3681350"/>
              <a:gd name="connsiteY2" fmla="*/ 688063 h 1780147"/>
              <a:gd name="connsiteX3" fmla="*/ 890649 w 3681350"/>
              <a:gd name="connsiteY3" fmla="*/ 1329330 h 1780147"/>
              <a:gd name="connsiteX4" fmla="*/ 1278972 w 3681350"/>
              <a:gd name="connsiteY4" fmla="*/ 1780147 h 1780147"/>
              <a:gd name="connsiteX5" fmla="*/ 1733797 w 3681350"/>
              <a:gd name="connsiteY5" fmla="*/ 1317455 h 1780147"/>
              <a:gd name="connsiteX6" fmla="*/ 2375065 w 3681350"/>
              <a:gd name="connsiteY6" fmla="*/ 11169 h 1780147"/>
              <a:gd name="connsiteX7" fmla="*/ 2662299 w 3681350"/>
              <a:gd name="connsiteY7" fmla="*/ 759018 h 1780147"/>
              <a:gd name="connsiteX8" fmla="*/ 3000894 w 3681350"/>
              <a:gd name="connsiteY8" fmla="*/ 1518890 h 1780147"/>
              <a:gd name="connsiteX9" fmla="*/ 3384467 w 3681350"/>
              <a:gd name="connsiteY9" fmla="*/ 1305580 h 1780147"/>
              <a:gd name="connsiteX10" fmla="*/ 3681350 w 3681350"/>
              <a:gd name="connsiteY10" fmla="*/ 498058 h 1780147"/>
              <a:gd name="connsiteX0" fmla="*/ 0 w 3681350"/>
              <a:gd name="connsiteY0" fmla="*/ 747440 h 1780147"/>
              <a:gd name="connsiteX1" fmla="*/ 356259 w 3681350"/>
              <a:gd name="connsiteY1" fmla="*/ 391180 h 1780147"/>
              <a:gd name="connsiteX2" fmla="*/ 688768 w 3681350"/>
              <a:gd name="connsiteY2" fmla="*/ 688063 h 1780147"/>
              <a:gd name="connsiteX3" fmla="*/ 890649 w 3681350"/>
              <a:gd name="connsiteY3" fmla="*/ 1329330 h 1780147"/>
              <a:gd name="connsiteX4" fmla="*/ 1278972 w 3681350"/>
              <a:gd name="connsiteY4" fmla="*/ 1780147 h 1780147"/>
              <a:gd name="connsiteX5" fmla="*/ 1733797 w 3681350"/>
              <a:gd name="connsiteY5" fmla="*/ 1317455 h 1780147"/>
              <a:gd name="connsiteX6" fmla="*/ 2375065 w 3681350"/>
              <a:gd name="connsiteY6" fmla="*/ 11169 h 1780147"/>
              <a:gd name="connsiteX7" fmla="*/ 2662299 w 3681350"/>
              <a:gd name="connsiteY7" fmla="*/ 759018 h 1780147"/>
              <a:gd name="connsiteX8" fmla="*/ 3000894 w 3681350"/>
              <a:gd name="connsiteY8" fmla="*/ 1518890 h 1780147"/>
              <a:gd name="connsiteX9" fmla="*/ 3384467 w 3681350"/>
              <a:gd name="connsiteY9" fmla="*/ 1305580 h 1780147"/>
              <a:gd name="connsiteX10" fmla="*/ 3681350 w 3681350"/>
              <a:gd name="connsiteY10" fmla="*/ 498058 h 1780147"/>
              <a:gd name="connsiteX0" fmla="*/ 0 w 3681350"/>
              <a:gd name="connsiteY0" fmla="*/ 745726 h 1778433"/>
              <a:gd name="connsiteX1" fmla="*/ 356259 w 3681350"/>
              <a:gd name="connsiteY1" fmla="*/ 389466 h 1778433"/>
              <a:gd name="connsiteX2" fmla="*/ 688768 w 3681350"/>
              <a:gd name="connsiteY2" fmla="*/ 686349 h 1778433"/>
              <a:gd name="connsiteX3" fmla="*/ 890649 w 3681350"/>
              <a:gd name="connsiteY3" fmla="*/ 1327616 h 1778433"/>
              <a:gd name="connsiteX4" fmla="*/ 1278972 w 3681350"/>
              <a:gd name="connsiteY4" fmla="*/ 1778433 h 1778433"/>
              <a:gd name="connsiteX5" fmla="*/ 1733797 w 3681350"/>
              <a:gd name="connsiteY5" fmla="*/ 1315741 h 1778433"/>
              <a:gd name="connsiteX6" fmla="*/ 2375065 w 3681350"/>
              <a:gd name="connsiteY6" fmla="*/ 9455 h 1778433"/>
              <a:gd name="connsiteX7" fmla="*/ 2708019 w 3681350"/>
              <a:gd name="connsiteY7" fmla="*/ 791594 h 1778433"/>
              <a:gd name="connsiteX8" fmla="*/ 3000894 w 3681350"/>
              <a:gd name="connsiteY8" fmla="*/ 1517176 h 1778433"/>
              <a:gd name="connsiteX9" fmla="*/ 3384467 w 3681350"/>
              <a:gd name="connsiteY9" fmla="*/ 1303866 h 1778433"/>
              <a:gd name="connsiteX10" fmla="*/ 3681350 w 3681350"/>
              <a:gd name="connsiteY10" fmla="*/ 496344 h 1778433"/>
              <a:gd name="connsiteX0" fmla="*/ 0 w 3681350"/>
              <a:gd name="connsiteY0" fmla="*/ 745726 h 1778433"/>
              <a:gd name="connsiteX1" fmla="*/ 356259 w 3681350"/>
              <a:gd name="connsiteY1" fmla="*/ 389466 h 1778433"/>
              <a:gd name="connsiteX2" fmla="*/ 688768 w 3681350"/>
              <a:gd name="connsiteY2" fmla="*/ 686349 h 1778433"/>
              <a:gd name="connsiteX3" fmla="*/ 890649 w 3681350"/>
              <a:gd name="connsiteY3" fmla="*/ 1327616 h 1778433"/>
              <a:gd name="connsiteX4" fmla="*/ 1278972 w 3681350"/>
              <a:gd name="connsiteY4" fmla="*/ 1778433 h 1778433"/>
              <a:gd name="connsiteX5" fmla="*/ 1733797 w 3681350"/>
              <a:gd name="connsiteY5" fmla="*/ 1315741 h 1778433"/>
              <a:gd name="connsiteX6" fmla="*/ 2375065 w 3681350"/>
              <a:gd name="connsiteY6" fmla="*/ 9455 h 1778433"/>
              <a:gd name="connsiteX7" fmla="*/ 2708019 w 3681350"/>
              <a:gd name="connsiteY7" fmla="*/ 791594 h 1778433"/>
              <a:gd name="connsiteX8" fmla="*/ 3000894 w 3681350"/>
              <a:gd name="connsiteY8" fmla="*/ 1517176 h 1778433"/>
              <a:gd name="connsiteX9" fmla="*/ 3384467 w 3681350"/>
              <a:gd name="connsiteY9" fmla="*/ 1303866 h 1778433"/>
              <a:gd name="connsiteX10" fmla="*/ 3681350 w 3681350"/>
              <a:gd name="connsiteY10" fmla="*/ 496344 h 1778433"/>
              <a:gd name="connsiteX0" fmla="*/ 0 w 3681350"/>
              <a:gd name="connsiteY0" fmla="*/ 745726 h 1778433"/>
              <a:gd name="connsiteX1" fmla="*/ 356259 w 3681350"/>
              <a:gd name="connsiteY1" fmla="*/ 389466 h 1778433"/>
              <a:gd name="connsiteX2" fmla="*/ 890649 w 3681350"/>
              <a:gd name="connsiteY2" fmla="*/ 132761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 name="connsiteX0" fmla="*/ 0 w 3681350"/>
              <a:gd name="connsiteY0" fmla="*/ 745726 h 1778433"/>
              <a:gd name="connsiteX1" fmla="*/ 356259 w 3681350"/>
              <a:gd name="connsiteY1" fmla="*/ 389466 h 1778433"/>
              <a:gd name="connsiteX2" fmla="*/ 856359 w 3681350"/>
              <a:gd name="connsiteY2" fmla="*/ 100757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 name="connsiteX0" fmla="*/ 0 w 3681350"/>
              <a:gd name="connsiteY0" fmla="*/ 745726 h 1778433"/>
              <a:gd name="connsiteX1" fmla="*/ 356259 w 3681350"/>
              <a:gd name="connsiteY1" fmla="*/ 389466 h 1778433"/>
              <a:gd name="connsiteX2" fmla="*/ 856359 w 3681350"/>
              <a:gd name="connsiteY2" fmla="*/ 100757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350" h="1778433">
                <a:moveTo>
                  <a:pt x="0" y="745726"/>
                </a:moveTo>
                <a:cubicBezTo>
                  <a:pt x="120732" y="572544"/>
                  <a:pt x="213533" y="345824"/>
                  <a:pt x="356259" y="389466"/>
                </a:cubicBezTo>
                <a:cubicBezTo>
                  <a:pt x="498985" y="433108"/>
                  <a:pt x="702574" y="661782"/>
                  <a:pt x="856359" y="1007576"/>
                </a:cubicBezTo>
                <a:cubicBezTo>
                  <a:pt x="1010144" y="1353370"/>
                  <a:pt x="1048145" y="1762352"/>
                  <a:pt x="1278972" y="1778433"/>
                </a:cubicBezTo>
                <a:cubicBezTo>
                  <a:pt x="1522367" y="1753594"/>
                  <a:pt x="1551115" y="1610571"/>
                  <a:pt x="1733797" y="1315741"/>
                </a:cubicBezTo>
                <a:cubicBezTo>
                  <a:pt x="1916479" y="1020911"/>
                  <a:pt x="2212695" y="96813"/>
                  <a:pt x="2375065" y="9455"/>
                </a:cubicBezTo>
                <a:cubicBezTo>
                  <a:pt x="2537435" y="-77903"/>
                  <a:pt x="2603714" y="460297"/>
                  <a:pt x="2708019" y="791594"/>
                </a:cubicBezTo>
                <a:cubicBezTo>
                  <a:pt x="2812324" y="1122891"/>
                  <a:pt x="2888153" y="1431797"/>
                  <a:pt x="3000894" y="1517176"/>
                </a:cubicBezTo>
                <a:cubicBezTo>
                  <a:pt x="3113635" y="1602555"/>
                  <a:pt x="3255818" y="1472100"/>
                  <a:pt x="3384467" y="1303866"/>
                </a:cubicBezTo>
                <a:cubicBezTo>
                  <a:pt x="3513116" y="1135632"/>
                  <a:pt x="3597233" y="815988"/>
                  <a:pt x="3681350" y="496344"/>
                </a:cubicBezTo>
              </a:path>
            </a:pathLst>
          </a:cu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13" name="TextBox 12"/>
          <p:cNvSpPr txBox="1"/>
          <p:nvPr/>
        </p:nvSpPr>
        <p:spPr>
          <a:xfrm>
            <a:off x="7259215" y="3290887"/>
            <a:ext cx="2243499" cy="502766"/>
          </a:xfrm>
          <a:prstGeom prst="rect">
            <a:avLst/>
          </a:prstGeom>
          <a:noFill/>
        </p:spPr>
        <p:txBody>
          <a:bodyPr wrap="none" rtlCol="0">
            <a:spAutoFit/>
          </a:bodyPr>
          <a:lstStyle/>
          <a:p>
            <a:r>
              <a:rPr lang="en-US" sz="2667" dirty="0">
                <a:solidFill>
                  <a:srgbClr val="FF0000"/>
                </a:solidFill>
              </a:rPr>
              <a:t>at local optima</a:t>
            </a:r>
          </a:p>
        </p:txBody>
      </p:sp>
      <p:pic>
        <p:nvPicPr>
          <p:cNvPr id="6" name="Picture 5"/>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031245" y="3414930"/>
            <a:ext cx="265635" cy="299825"/>
          </a:xfrm>
          <a:prstGeom prst="rect">
            <a:avLst/>
          </a:prstGeom>
        </p:spPr>
      </p:pic>
      <p:cxnSp>
        <p:nvCxnSpPr>
          <p:cNvPr id="18" name="Straight Arrow Connector 17"/>
          <p:cNvCxnSpPr/>
          <p:nvPr/>
        </p:nvCxnSpPr>
        <p:spPr>
          <a:xfrm flipH="1" flipV="1">
            <a:off x="5696948" y="3105137"/>
            <a:ext cx="1117600" cy="309793"/>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589642" y="3580127"/>
            <a:ext cx="1" cy="2476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524001" y="4408487"/>
            <a:ext cx="2496389" cy="502766"/>
          </a:xfrm>
          <a:prstGeom prst="rect">
            <a:avLst/>
          </a:prstGeom>
          <a:noFill/>
        </p:spPr>
        <p:txBody>
          <a:bodyPr wrap="none" rtlCol="0">
            <a:spAutoFit/>
          </a:bodyPr>
          <a:lstStyle/>
          <a:p>
            <a:r>
              <a:rPr lang="en-US" sz="2667" dirty="0">
                <a:solidFill>
                  <a:srgbClr val="FF0000"/>
                </a:solidFill>
              </a:rPr>
              <a:t>Current value of </a:t>
            </a:r>
          </a:p>
        </p:txBody>
      </p:sp>
      <p:pic>
        <p:nvPicPr>
          <p:cNvPr id="7" name="Picture 6"/>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3996605" y="4521593"/>
            <a:ext cx="265635" cy="299825"/>
          </a:xfrm>
          <a:prstGeom prst="rect">
            <a:avLst/>
          </a:prstGeom>
        </p:spPr>
      </p:pic>
      <p:cxnSp>
        <p:nvCxnSpPr>
          <p:cNvPr id="23" name="Straight Arrow Connector 22"/>
          <p:cNvCxnSpPr/>
          <p:nvPr/>
        </p:nvCxnSpPr>
        <p:spPr>
          <a:xfrm flipV="1">
            <a:off x="3360148" y="3827780"/>
            <a:ext cx="2032000" cy="580707"/>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6197602" y="4241801"/>
            <a:ext cx="4368799" cy="1050227"/>
          </a:xfrm>
          <a:prstGeom prst="rect">
            <a:avLst/>
          </a:prstGeom>
        </p:spPr>
      </p:pic>
      <p:pic>
        <p:nvPicPr>
          <p:cNvPr id="5" name="Picture 4">
            <a:extLst>
              <a:ext uri="{FF2B5EF4-FFF2-40B4-BE49-F238E27FC236}">
                <a16:creationId xmlns:a16="http://schemas.microsoft.com/office/drawing/2014/main" id="{524E5046-947C-412B-BF63-F9EE579DFDEC}"/>
              </a:ext>
            </a:extLst>
          </p:cNvPr>
          <p:cNvPicPr>
            <a:picLocks noChangeAspect="1"/>
          </p:cNvPicPr>
          <p:nvPr/>
        </p:nvPicPr>
        <p:blipFill>
          <a:blip r:embed="rId9"/>
          <a:stretch>
            <a:fillRect/>
          </a:stretch>
        </p:blipFill>
        <p:spPr>
          <a:xfrm>
            <a:off x="3149858" y="5032084"/>
            <a:ext cx="3676293" cy="1573981"/>
          </a:xfrm>
          <a:prstGeom prst="rect">
            <a:avLst/>
          </a:prstGeom>
        </p:spPr>
      </p:pic>
      <p:pic>
        <p:nvPicPr>
          <p:cNvPr id="15" name="Picture 14">
            <a:extLst>
              <a:ext uri="{FF2B5EF4-FFF2-40B4-BE49-F238E27FC236}">
                <a16:creationId xmlns:a16="http://schemas.microsoft.com/office/drawing/2014/main" id="{00C7B76E-70E0-42C6-AC37-859374CA132B}"/>
              </a:ext>
            </a:extLst>
          </p:cNvPr>
          <p:cNvPicPr>
            <a:picLocks noChangeAspect="1"/>
          </p:cNvPicPr>
          <p:nvPr/>
        </p:nvPicPr>
        <p:blipFill>
          <a:blip r:embed="rId10"/>
          <a:stretch>
            <a:fillRect/>
          </a:stretch>
        </p:blipFill>
        <p:spPr>
          <a:xfrm>
            <a:off x="10922000" y="6438901"/>
            <a:ext cx="1270000" cy="419100"/>
          </a:xfrm>
          <a:prstGeom prst="rect">
            <a:avLst/>
          </a:prstGeom>
        </p:spPr>
      </p:pic>
      <p:sp>
        <p:nvSpPr>
          <p:cNvPr id="17" name="TextBox 16">
            <a:extLst>
              <a:ext uri="{FF2B5EF4-FFF2-40B4-BE49-F238E27FC236}">
                <a16:creationId xmlns:a16="http://schemas.microsoft.com/office/drawing/2014/main" id="{0352497A-1EFF-4DF8-A90F-DEC97D661EC6}"/>
              </a:ext>
            </a:extLst>
          </p:cNvPr>
          <p:cNvSpPr txBox="1"/>
          <p:nvPr/>
        </p:nvSpPr>
        <p:spPr>
          <a:xfrm>
            <a:off x="1" y="15022"/>
            <a:ext cx="12192000" cy="1107996"/>
          </a:xfrm>
          <a:prstGeom prst="rect">
            <a:avLst/>
          </a:prstGeom>
          <a:noFill/>
        </p:spPr>
        <p:txBody>
          <a:bodyPr wrap="square">
            <a:spAutoFit/>
          </a:bodyPr>
          <a:lstStyle/>
          <a:p>
            <a:r>
              <a:rPr lang="en-US" sz="2200" b="0" i="0" dirty="0">
                <a:solidFill>
                  <a:srgbClr val="FF0000"/>
                </a:solidFill>
                <a:effectLst/>
                <a:latin typeface="Poppins" panose="020B0502040204020203" pitchFamily="2" charset="0"/>
              </a:rPr>
              <a:t>Local minimum: value of the loss function is minimum at that point in a local region. Global minima: value of the loss function is minimum </a:t>
            </a:r>
            <a:r>
              <a:rPr lang="en-US" sz="2200" b="0" i="1" dirty="0">
                <a:solidFill>
                  <a:srgbClr val="FF0000"/>
                </a:solidFill>
                <a:effectLst/>
                <a:latin typeface="Poppins" panose="020B0502040204020203" pitchFamily="2" charset="0"/>
              </a:rPr>
              <a:t>globally</a:t>
            </a:r>
            <a:r>
              <a:rPr lang="en-US" sz="2200" b="0" i="0" dirty="0">
                <a:solidFill>
                  <a:srgbClr val="FF0000"/>
                </a:solidFill>
                <a:effectLst/>
                <a:latin typeface="Poppins" panose="020B0502040204020203" pitchFamily="2" charset="0"/>
              </a:rPr>
              <a:t> across the entire domain the loss function</a:t>
            </a:r>
            <a:endParaRPr lang="en-US" sz="2200" dirty="0">
              <a:solidFill>
                <a:srgbClr val="FF0000"/>
              </a:solidFill>
            </a:endParaRPr>
          </a:p>
        </p:txBody>
      </p:sp>
      <p:sp>
        <p:nvSpPr>
          <p:cNvPr id="22" name="TextBox 21">
            <a:extLst>
              <a:ext uri="{FF2B5EF4-FFF2-40B4-BE49-F238E27FC236}">
                <a16:creationId xmlns:a16="http://schemas.microsoft.com/office/drawing/2014/main" id="{237B8073-6BED-4826-9D8C-9E0E23E8FF0E}"/>
              </a:ext>
            </a:extLst>
          </p:cNvPr>
          <p:cNvSpPr txBox="1"/>
          <p:nvPr/>
        </p:nvSpPr>
        <p:spPr>
          <a:xfrm>
            <a:off x="4044143" y="3118614"/>
            <a:ext cx="2204450" cy="502766"/>
          </a:xfrm>
          <a:prstGeom prst="rect">
            <a:avLst/>
          </a:prstGeom>
          <a:noFill/>
        </p:spPr>
        <p:txBody>
          <a:bodyPr wrap="none" rtlCol="0">
            <a:spAutoFit/>
          </a:bodyPr>
          <a:lstStyle/>
          <a:p>
            <a:r>
              <a:rPr lang="en-US" sz="2667" dirty="0">
                <a:solidFill>
                  <a:srgbClr val="FF0000"/>
                </a:solidFill>
              </a:rPr>
              <a:t>Global minima</a:t>
            </a:r>
          </a:p>
        </p:txBody>
      </p:sp>
      <p:cxnSp>
        <p:nvCxnSpPr>
          <p:cNvPr id="24" name="Straight Arrow Connector 23">
            <a:extLst>
              <a:ext uri="{FF2B5EF4-FFF2-40B4-BE49-F238E27FC236}">
                <a16:creationId xmlns:a16="http://schemas.microsoft.com/office/drawing/2014/main" id="{519FA036-5940-4C98-8F1D-5E5610B01341}"/>
              </a:ext>
            </a:extLst>
          </p:cNvPr>
          <p:cNvCxnSpPr>
            <a:cxnSpLocks/>
            <a:stCxn id="22" idx="1"/>
          </p:cNvCxnSpPr>
          <p:nvPr/>
        </p:nvCxnSpPr>
        <p:spPr>
          <a:xfrm flipH="1">
            <a:off x="3330565" y="3369997"/>
            <a:ext cx="713578" cy="35713"/>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42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E0B4025-F439-45AF-B8BD-F690FDA8124A}"/>
              </a:ext>
            </a:extLst>
          </p:cNvPr>
          <p:cNvPicPr>
            <a:picLocks noChangeAspect="1"/>
          </p:cNvPicPr>
          <p:nvPr/>
        </p:nvPicPr>
        <p:blipFill>
          <a:blip r:embed="rId2"/>
          <a:stretch>
            <a:fillRect/>
          </a:stretch>
        </p:blipFill>
        <p:spPr>
          <a:xfrm>
            <a:off x="832544" y="381000"/>
            <a:ext cx="10630989" cy="5791200"/>
          </a:xfrm>
          <a:prstGeom prst="rect">
            <a:avLst/>
          </a:prstGeom>
        </p:spPr>
      </p:pic>
      <p:pic>
        <p:nvPicPr>
          <p:cNvPr id="3" name="Picture 2">
            <a:extLst>
              <a:ext uri="{FF2B5EF4-FFF2-40B4-BE49-F238E27FC236}">
                <a16:creationId xmlns:a16="http://schemas.microsoft.com/office/drawing/2014/main" id="{C93A0952-7BD6-4107-BD1B-65D34A33E00E}"/>
              </a:ext>
            </a:extLst>
          </p:cNvPr>
          <p:cNvPicPr>
            <a:picLocks noChangeAspect="1"/>
          </p:cNvPicPr>
          <p:nvPr/>
        </p:nvPicPr>
        <p:blipFill>
          <a:blip r:embed="rId3"/>
          <a:stretch>
            <a:fillRect/>
          </a:stretch>
        </p:blipFill>
        <p:spPr>
          <a:xfrm>
            <a:off x="10922000" y="6438901"/>
            <a:ext cx="1270000" cy="419100"/>
          </a:xfrm>
          <a:prstGeom prst="rect">
            <a:avLst/>
          </a:prstGeom>
        </p:spPr>
      </p:pic>
      <p:sp>
        <p:nvSpPr>
          <p:cNvPr id="5" name="TextBox 4">
            <a:extLst>
              <a:ext uri="{FF2B5EF4-FFF2-40B4-BE49-F238E27FC236}">
                <a16:creationId xmlns:a16="http://schemas.microsoft.com/office/drawing/2014/main" id="{B49D4213-BD54-4AB7-BAB4-CF30E1A5EBC8}"/>
              </a:ext>
            </a:extLst>
          </p:cNvPr>
          <p:cNvSpPr txBox="1"/>
          <p:nvPr/>
        </p:nvSpPr>
        <p:spPr>
          <a:xfrm>
            <a:off x="6096000" y="4199858"/>
            <a:ext cx="6098240" cy="2677656"/>
          </a:xfrm>
          <a:prstGeom prst="rect">
            <a:avLst/>
          </a:prstGeom>
          <a:noFill/>
        </p:spPr>
        <p:txBody>
          <a:bodyPr wrap="square">
            <a:spAutoFit/>
          </a:bodyPr>
          <a:lstStyle/>
          <a:p>
            <a:r>
              <a:rPr lang="en-US" sz="2800" b="1" i="0" dirty="0">
                <a:solidFill>
                  <a:srgbClr val="FF0000"/>
                </a:solidFill>
                <a:effectLst/>
              </a:rPr>
              <a:t>vanishing gradient problem</a:t>
            </a:r>
          </a:p>
          <a:p>
            <a:r>
              <a:rPr lang="en-US" sz="2800" dirty="0">
                <a:solidFill>
                  <a:srgbClr val="FF0000"/>
                </a:solidFill>
              </a:rPr>
              <a:t>Exploding is the opposite of Vanishing and is when the gradient continues to get larger which causes a large weight update and results in the Gradient Descent to diverge</a:t>
            </a:r>
          </a:p>
        </p:txBody>
      </p:sp>
    </p:spTree>
    <p:extLst>
      <p:ext uri="{BB962C8B-B14F-4D97-AF65-F5344CB8AC3E}">
        <p14:creationId xmlns:p14="http://schemas.microsoft.com/office/powerpoint/2010/main" val="37113214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73265" y="1803401"/>
            <a:ext cx="4103536" cy="986459"/>
          </a:xfrm>
          <a:prstGeom prst="rect">
            <a:avLst/>
          </a:prstGeom>
        </p:spPr>
      </p:pic>
      <p:sp>
        <p:nvSpPr>
          <p:cNvPr id="3" name="TextBox 2"/>
          <p:cNvSpPr txBox="1"/>
          <p:nvPr/>
        </p:nvSpPr>
        <p:spPr>
          <a:xfrm>
            <a:off x="609600" y="177800"/>
            <a:ext cx="9550400" cy="1241237"/>
          </a:xfrm>
          <a:prstGeom prst="rect">
            <a:avLst/>
          </a:prstGeom>
          <a:noFill/>
        </p:spPr>
        <p:txBody>
          <a:bodyPr wrap="square" rtlCol="0">
            <a:spAutoFit/>
          </a:bodyPr>
          <a:lstStyle/>
          <a:p>
            <a:r>
              <a:rPr lang="en-US" sz="3733" dirty="0"/>
              <a:t>Gradient descent can converge to a local minimum, even with the learning rate </a:t>
            </a:r>
            <a:r>
              <a:rPr lang="el-GR" sz="3733" dirty="0"/>
              <a:t>α</a:t>
            </a:r>
            <a:r>
              <a:rPr lang="en-US" sz="3733" dirty="0"/>
              <a:t> fixed.</a:t>
            </a:r>
          </a:p>
        </p:txBody>
      </p:sp>
      <p:cxnSp>
        <p:nvCxnSpPr>
          <p:cNvPr id="5" name="Straight Connector 4"/>
          <p:cNvCxnSpPr/>
          <p:nvPr/>
        </p:nvCxnSpPr>
        <p:spPr>
          <a:xfrm flipV="1">
            <a:off x="6716776" y="1890469"/>
            <a:ext cx="0" cy="3955988"/>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6482005" y="5541655"/>
            <a:ext cx="4878352"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8980479" y="5691024"/>
            <a:ext cx="246279" cy="277977"/>
          </a:xfrm>
          <a:prstGeom prst="rect">
            <a:avLst/>
          </a:prstGeom>
        </p:spPr>
      </p:pic>
      <p:pic>
        <p:nvPicPr>
          <p:cNvPr id="8" name="Picture 7"/>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5892800" y="3327401"/>
            <a:ext cx="707136" cy="326745"/>
          </a:xfrm>
          <a:prstGeom prst="rect">
            <a:avLst/>
          </a:prstGeom>
        </p:spPr>
      </p:pic>
      <p:pic>
        <p:nvPicPr>
          <p:cNvPr id="11" name="Picture 10">
            <a:extLst>
              <a:ext uri="{FF2B5EF4-FFF2-40B4-BE49-F238E27FC236}">
                <a16:creationId xmlns:a16="http://schemas.microsoft.com/office/drawing/2014/main" id="{C761177E-8330-4C88-BAC6-E0A0F3DFF085}"/>
              </a:ext>
            </a:extLst>
          </p:cNvPr>
          <p:cNvPicPr>
            <a:picLocks noChangeAspect="1"/>
          </p:cNvPicPr>
          <p:nvPr/>
        </p:nvPicPr>
        <p:blipFill>
          <a:blip r:embed="rId8"/>
          <a:stretch>
            <a:fillRect/>
          </a:stretch>
        </p:blipFill>
        <p:spPr>
          <a:xfrm>
            <a:off x="10922000" y="6438901"/>
            <a:ext cx="1270000" cy="419100"/>
          </a:xfrm>
          <a:prstGeom prst="rect">
            <a:avLst/>
          </a:prstGeom>
        </p:spPr>
      </p:pic>
    </p:spTree>
    <p:extLst>
      <p:ext uri="{BB962C8B-B14F-4D97-AF65-F5344CB8AC3E}">
        <p14:creationId xmlns:p14="http://schemas.microsoft.com/office/powerpoint/2010/main" val="36134333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709378"/>
            <a:ext cx="9798680" cy="5044047"/>
          </a:xfrm>
          <a:prstGeom prst="rect">
            <a:avLst/>
          </a:prstGeom>
        </p:spPr>
      </p:pic>
      <p:sp>
        <p:nvSpPr>
          <p:cNvPr id="3" name="TextBox 2"/>
          <p:cNvSpPr txBox="1"/>
          <p:nvPr/>
        </p:nvSpPr>
        <p:spPr>
          <a:xfrm>
            <a:off x="1320800" y="279401"/>
            <a:ext cx="4165600" cy="461665"/>
          </a:xfrm>
          <a:prstGeom prst="rect">
            <a:avLst/>
          </a:prstGeom>
          <a:noFill/>
        </p:spPr>
        <p:txBody>
          <a:bodyPr wrap="square" rtlCol="0">
            <a:spAutoFit/>
          </a:bodyPr>
          <a:lstStyle/>
          <a:p>
            <a:r>
              <a:rPr lang="en-US" sz="2400" b="1" dirty="0"/>
              <a:t>Partial Derivative:</a:t>
            </a:r>
          </a:p>
        </p:txBody>
      </p:sp>
    </p:spTree>
    <p:extLst>
      <p:ext uri="{BB962C8B-B14F-4D97-AF65-F5344CB8AC3E}">
        <p14:creationId xmlns:p14="http://schemas.microsoft.com/office/powerpoint/2010/main" val="28657085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7600" y="889001"/>
            <a:ext cx="9506539" cy="4864367"/>
          </a:xfrm>
          <a:prstGeom prst="rect">
            <a:avLst/>
          </a:prstGeom>
        </p:spPr>
      </p:pic>
    </p:spTree>
    <p:extLst>
      <p:ext uri="{BB962C8B-B14F-4D97-AF65-F5344CB8AC3E}">
        <p14:creationId xmlns:p14="http://schemas.microsoft.com/office/powerpoint/2010/main" val="3289155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2"/>
          <a:stretch>
            <a:fillRect/>
          </a:stretch>
        </p:blipFill>
        <p:spPr>
          <a:xfrm>
            <a:off x="10922000" y="6438901"/>
            <a:ext cx="1270000" cy="419100"/>
          </a:xfrm>
          <a:prstGeom prst="rect">
            <a:avLst/>
          </a:prstGeom>
        </p:spPr>
      </p:pic>
      <p:sp>
        <p:nvSpPr>
          <p:cNvPr id="3" name="TextBox 2">
            <a:extLst>
              <a:ext uri="{FF2B5EF4-FFF2-40B4-BE49-F238E27FC236}">
                <a16:creationId xmlns:a16="http://schemas.microsoft.com/office/drawing/2014/main" id="{0D9C3823-BC9A-92C0-DC3A-B85DB85846BF}"/>
              </a:ext>
            </a:extLst>
          </p:cNvPr>
          <p:cNvSpPr txBox="1"/>
          <p:nvPr/>
        </p:nvSpPr>
        <p:spPr>
          <a:xfrm>
            <a:off x="1124857" y="0"/>
            <a:ext cx="9714777" cy="584775"/>
          </a:xfrm>
          <a:prstGeom prst="rect">
            <a:avLst/>
          </a:prstGeom>
          <a:noFill/>
        </p:spPr>
        <p:txBody>
          <a:bodyPr wrap="square" rtlCol="0">
            <a:spAutoFit/>
          </a:bodyPr>
          <a:lstStyle/>
          <a:p>
            <a:r>
              <a:rPr lang="en-US" sz="3200" b="1" dirty="0" err="1">
                <a:solidFill>
                  <a:srgbClr val="FF0000"/>
                </a:solidFill>
              </a:rPr>
              <a:t>sklearn.linear_model.LinearRegression</a:t>
            </a:r>
            <a:endParaRPr lang="en-US" sz="3200" b="1" dirty="0">
              <a:solidFill>
                <a:srgbClr val="FF0000"/>
              </a:solidFill>
            </a:endParaRPr>
          </a:p>
        </p:txBody>
      </p:sp>
      <p:sp>
        <p:nvSpPr>
          <p:cNvPr id="7" name="TextBox 6">
            <a:extLst>
              <a:ext uri="{FF2B5EF4-FFF2-40B4-BE49-F238E27FC236}">
                <a16:creationId xmlns:a16="http://schemas.microsoft.com/office/drawing/2014/main" id="{B88D480A-410B-B22D-ACFE-DDCD25166683}"/>
              </a:ext>
            </a:extLst>
          </p:cNvPr>
          <p:cNvSpPr txBox="1"/>
          <p:nvPr/>
        </p:nvSpPr>
        <p:spPr>
          <a:xfrm>
            <a:off x="0" y="742986"/>
            <a:ext cx="12192000" cy="6001643"/>
          </a:xfrm>
          <a:prstGeom prst="rect">
            <a:avLst/>
          </a:prstGeom>
          <a:noFill/>
        </p:spPr>
        <p:txBody>
          <a:bodyPr wrap="square">
            <a:spAutoFit/>
          </a:bodyPr>
          <a:lstStyle/>
          <a:p>
            <a:r>
              <a:rPr lang="en-US" sz="2400" b="0" i="0" dirty="0">
                <a:solidFill>
                  <a:srgbClr val="212529"/>
                </a:solidFill>
                <a:effectLst/>
              </a:rPr>
              <a:t>Ordinary least squares Linear Regression.</a:t>
            </a:r>
          </a:p>
          <a:p>
            <a:endParaRPr lang="en-US" sz="2400" b="0" i="0" dirty="0">
              <a:solidFill>
                <a:srgbClr val="212529"/>
              </a:solidFill>
              <a:effectLst/>
            </a:endParaRPr>
          </a:p>
          <a:p>
            <a:r>
              <a:rPr lang="en-US" sz="2400" dirty="0"/>
              <a:t>class </a:t>
            </a:r>
            <a:r>
              <a:rPr lang="en-US" sz="2400" dirty="0" err="1"/>
              <a:t>sklearn.linear_model.LinearRegression</a:t>
            </a:r>
            <a:r>
              <a:rPr lang="en-US" sz="2400" dirty="0"/>
              <a:t>(*, </a:t>
            </a:r>
            <a:r>
              <a:rPr lang="en-US" sz="2400" dirty="0" err="1"/>
              <a:t>fit_intercept</a:t>
            </a:r>
            <a:r>
              <a:rPr lang="en-US" sz="2400" dirty="0"/>
              <a:t>=True, normalize='deprecated', </a:t>
            </a:r>
            <a:r>
              <a:rPr lang="en-US" sz="2400" dirty="0" err="1"/>
              <a:t>copy_X</a:t>
            </a:r>
            <a:r>
              <a:rPr lang="en-US" sz="2400" dirty="0"/>
              <a:t>=True, </a:t>
            </a:r>
            <a:r>
              <a:rPr lang="en-US" sz="2400" dirty="0" err="1"/>
              <a:t>n_jobs</a:t>
            </a:r>
            <a:r>
              <a:rPr lang="en-US" sz="2400" dirty="0"/>
              <a:t>=None, positive=False)</a:t>
            </a:r>
          </a:p>
          <a:p>
            <a:endParaRPr lang="en-US" sz="2400" dirty="0"/>
          </a:p>
          <a:p>
            <a:r>
              <a:rPr lang="en-US" sz="2400" dirty="0" err="1"/>
              <a:t>fit_interceptbool</a:t>
            </a:r>
            <a:r>
              <a:rPr lang="en-US" sz="2400" dirty="0"/>
              <a:t>, default=True</a:t>
            </a:r>
          </a:p>
          <a:p>
            <a:r>
              <a:rPr lang="en-US" sz="2400" dirty="0"/>
              <a:t>Whether to calculate the intercept for this model. If set to False, no intercept will be used in calculations (i.e., data is expected to be centered)</a:t>
            </a:r>
          </a:p>
          <a:p>
            <a:endParaRPr lang="en-US" sz="2400" dirty="0"/>
          </a:p>
          <a:p>
            <a:r>
              <a:rPr lang="en-US" sz="2400" dirty="0" err="1"/>
              <a:t>normalizebool</a:t>
            </a:r>
            <a:r>
              <a:rPr lang="en-US" sz="2400" dirty="0"/>
              <a:t>, default=False</a:t>
            </a:r>
          </a:p>
          <a:p>
            <a:r>
              <a:rPr lang="en-US" sz="2400" dirty="0"/>
              <a:t>This parameter is ignored when </a:t>
            </a:r>
            <a:r>
              <a:rPr lang="en-US" sz="2400" dirty="0" err="1"/>
              <a:t>fit_intercept</a:t>
            </a:r>
            <a:r>
              <a:rPr lang="en-US" sz="2400" dirty="0"/>
              <a:t> is set to False. If True, the regressors X will be normalized before regression by subtracting the mean and dividing by the l2-norm. If you wish to standardize, please use </a:t>
            </a:r>
            <a:r>
              <a:rPr lang="en-US" sz="2400" dirty="0" err="1"/>
              <a:t>StandardScaler</a:t>
            </a:r>
            <a:r>
              <a:rPr lang="en-US" sz="2400" dirty="0"/>
              <a:t> before calling fit on an estimator with normalize=False</a:t>
            </a:r>
          </a:p>
          <a:p>
            <a:endParaRPr lang="en-US" sz="2400" dirty="0"/>
          </a:p>
          <a:p>
            <a:r>
              <a:rPr lang="en-US" sz="2400" dirty="0" err="1"/>
              <a:t>copy_Xbool</a:t>
            </a:r>
            <a:r>
              <a:rPr lang="en-US" sz="2400" dirty="0"/>
              <a:t>, default=True</a:t>
            </a:r>
          </a:p>
          <a:p>
            <a:r>
              <a:rPr lang="en-US" sz="2400" dirty="0"/>
              <a:t>If True, X will be copied; else, it may be overwritten</a:t>
            </a:r>
          </a:p>
        </p:txBody>
      </p:sp>
    </p:spTree>
    <p:extLst>
      <p:ext uri="{BB962C8B-B14F-4D97-AF65-F5344CB8AC3E}">
        <p14:creationId xmlns:p14="http://schemas.microsoft.com/office/powerpoint/2010/main" val="40840361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3864"/>
          <a:stretch/>
        </p:blipFill>
        <p:spPr>
          <a:xfrm>
            <a:off x="20" y="1282"/>
            <a:ext cx="12191980" cy="6856718"/>
          </a:xfrm>
          <a:prstGeom prst="rect">
            <a:avLst/>
          </a:prstGeom>
        </p:spPr>
      </p:pic>
    </p:spTree>
    <p:extLst>
      <p:ext uri="{BB962C8B-B14F-4D97-AF65-F5344CB8AC3E}">
        <p14:creationId xmlns:p14="http://schemas.microsoft.com/office/powerpoint/2010/main" val="16806148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Table&#10;&#10;Description automatically generated with low confidence">
            <a:extLst>
              <a:ext uri="{FF2B5EF4-FFF2-40B4-BE49-F238E27FC236}">
                <a16:creationId xmlns:a16="http://schemas.microsoft.com/office/drawing/2014/main" id="{8A98A9EA-5AA5-18D3-2514-6734F67E1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098945"/>
          </a:xfrm>
          <a:prstGeom prst="rect">
            <a:avLst/>
          </a:prstGeom>
        </p:spPr>
      </p:pic>
      <p:sp>
        <p:nvSpPr>
          <p:cNvPr id="5" name="TextBox 4">
            <a:extLst>
              <a:ext uri="{FF2B5EF4-FFF2-40B4-BE49-F238E27FC236}">
                <a16:creationId xmlns:a16="http://schemas.microsoft.com/office/drawing/2014/main" id="{D98AA7E5-2A5E-4577-8FEE-189F721EA41F}"/>
              </a:ext>
            </a:extLst>
          </p:cNvPr>
          <p:cNvSpPr txBox="1"/>
          <p:nvPr/>
        </p:nvSpPr>
        <p:spPr>
          <a:xfrm>
            <a:off x="-2240" y="5055142"/>
            <a:ext cx="12194240" cy="1569660"/>
          </a:xfrm>
          <a:prstGeom prst="rect">
            <a:avLst/>
          </a:prstGeom>
          <a:noFill/>
        </p:spPr>
        <p:txBody>
          <a:bodyPr wrap="square">
            <a:spAutoFit/>
          </a:bodyPr>
          <a:lstStyle/>
          <a:p>
            <a:r>
              <a:rPr lang="en-US" sz="2400" b="0" i="0" dirty="0">
                <a:solidFill>
                  <a:srgbClr val="292929"/>
                </a:solidFill>
                <a:effectLst/>
              </a:rPr>
              <a:t>In </a:t>
            </a:r>
            <a:r>
              <a:rPr lang="en-US" sz="2400" b="0" i="0" dirty="0">
                <a:solidFill>
                  <a:srgbClr val="FF0000"/>
                </a:solidFill>
                <a:effectLst/>
              </a:rPr>
              <a:t>Stochastic Gradient Descent (SGD), </a:t>
            </a:r>
            <a:r>
              <a:rPr lang="en-US" sz="2400" b="0" i="0" dirty="0">
                <a:solidFill>
                  <a:srgbClr val="292929"/>
                </a:solidFill>
                <a:effectLst/>
              </a:rPr>
              <a:t>we consider just one example/sample at a time to take a single step, calculate the gradient and Use the gradient to update the weights</a:t>
            </a:r>
          </a:p>
          <a:p>
            <a:r>
              <a:rPr lang="en-US" sz="2400" dirty="0">
                <a:solidFill>
                  <a:srgbClr val="FF0000"/>
                </a:solidFill>
              </a:rPr>
              <a:t>Mini batch gradient descent</a:t>
            </a:r>
            <a:r>
              <a:rPr lang="en-US" sz="2400" dirty="0">
                <a:solidFill>
                  <a:srgbClr val="292929"/>
                </a:solidFill>
              </a:rPr>
              <a:t>: We use a batch of a fixed number of training examples which is less than the actual dataset and call it a mini-batch</a:t>
            </a:r>
            <a:endParaRPr lang="en-US" sz="2400" dirty="0"/>
          </a:p>
        </p:txBody>
      </p:sp>
    </p:spTree>
    <p:extLst>
      <p:ext uri="{BB962C8B-B14F-4D97-AF65-F5344CB8AC3E}">
        <p14:creationId xmlns:p14="http://schemas.microsoft.com/office/powerpoint/2010/main" val="38896059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2"/>
          <a:stretch>
            <a:fillRect/>
          </a:stretch>
        </p:blipFill>
        <p:spPr>
          <a:xfrm>
            <a:off x="10922000" y="6438901"/>
            <a:ext cx="1270000" cy="419100"/>
          </a:xfrm>
          <a:prstGeom prst="rect">
            <a:avLst/>
          </a:prstGeom>
        </p:spPr>
      </p:pic>
      <p:sp>
        <p:nvSpPr>
          <p:cNvPr id="3" name="TextBox 2">
            <a:extLst>
              <a:ext uri="{FF2B5EF4-FFF2-40B4-BE49-F238E27FC236}">
                <a16:creationId xmlns:a16="http://schemas.microsoft.com/office/drawing/2014/main" id="{0D9C3823-BC9A-92C0-DC3A-B85DB85846B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Different Optimizers</a:t>
            </a:r>
          </a:p>
        </p:txBody>
      </p:sp>
      <p:sp>
        <p:nvSpPr>
          <p:cNvPr id="16" name="TextBox 15">
            <a:extLst>
              <a:ext uri="{FF2B5EF4-FFF2-40B4-BE49-F238E27FC236}">
                <a16:creationId xmlns:a16="http://schemas.microsoft.com/office/drawing/2014/main" id="{6280CE77-CFAB-4169-8257-2C5352C6E2B8}"/>
              </a:ext>
            </a:extLst>
          </p:cNvPr>
          <p:cNvSpPr txBox="1"/>
          <p:nvPr/>
        </p:nvSpPr>
        <p:spPr>
          <a:xfrm>
            <a:off x="0" y="584775"/>
            <a:ext cx="12192000" cy="4524315"/>
          </a:xfrm>
          <a:prstGeom prst="rect">
            <a:avLst/>
          </a:prstGeom>
          <a:noFill/>
        </p:spPr>
        <p:txBody>
          <a:bodyPr wrap="square">
            <a:spAutoFit/>
          </a:bodyPr>
          <a:lstStyle/>
          <a:p>
            <a:r>
              <a:rPr lang="en-US" sz="2400" dirty="0">
                <a:solidFill>
                  <a:srgbClr val="FF0000"/>
                </a:solidFill>
              </a:rPr>
              <a:t>O</a:t>
            </a:r>
            <a:r>
              <a:rPr lang="en-US" sz="2400" b="0" i="0" dirty="0">
                <a:solidFill>
                  <a:srgbClr val="FF0000"/>
                </a:solidFill>
                <a:effectLst/>
              </a:rPr>
              <a:t>ptimizers</a:t>
            </a:r>
            <a:r>
              <a:rPr lang="en-US" sz="2400" b="0" i="0" dirty="0">
                <a:solidFill>
                  <a:srgbClr val="202124"/>
                </a:solidFill>
                <a:effectLst/>
              </a:rPr>
              <a:t> are </a:t>
            </a:r>
            <a:r>
              <a:rPr lang="en-US" sz="2400" b="0" i="0" dirty="0">
                <a:solidFill>
                  <a:srgbClr val="040C28"/>
                </a:solidFill>
                <a:effectLst/>
              </a:rPr>
              <a:t>used to adjust the parameters for a model</a:t>
            </a:r>
            <a:r>
              <a:rPr lang="en-US" sz="2400" b="0" i="0" dirty="0">
                <a:solidFill>
                  <a:srgbClr val="202124"/>
                </a:solidFill>
                <a:effectLst/>
              </a:rPr>
              <a:t>. The purpose of an optimizer is to adjust model weights to minimize a loss function. </a:t>
            </a:r>
          </a:p>
          <a:p>
            <a:endParaRPr lang="en-US" sz="2400" dirty="0">
              <a:solidFill>
                <a:srgbClr val="FF0000"/>
              </a:solidFill>
            </a:endParaRPr>
          </a:p>
          <a:p>
            <a:r>
              <a:rPr lang="en-US" sz="2400" dirty="0">
                <a:solidFill>
                  <a:srgbClr val="FF0000"/>
                </a:solidFill>
              </a:rPr>
              <a:t>Gradient Descent/Batch Gradient Descent, Stochastic Gradient Descent, Stochastic Gradient descent with momentum, Mini-Batch Gradient Descent, </a:t>
            </a:r>
            <a:r>
              <a:rPr lang="en-US" sz="2400" dirty="0" err="1">
                <a:solidFill>
                  <a:srgbClr val="FF0000"/>
                </a:solidFill>
              </a:rPr>
              <a:t>Adagrad</a:t>
            </a:r>
            <a:r>
              <a:rPr lang="en-US" sz="2400" dirty="0">
                <a:solidFill>
                  <a:srgbClr val="FF0000"/>
                </a:solidFill>
              </a:rPr>
              <a:t>, and Adam</a:t>
            </a:r>
          </a:p>
          <a:p>
            <a:endParaRPr lang="en-US" sz="2400" dirty="0">
              <a:solidFill>
                <a:srgbClr val="FF0000"/>
              </a:solidFill>
            </a:endParaRPr>
          </a:p>
          <a:p>
            <a:r>
              <a:rPr lang="en-US" sz="2400" dirty="0">
                <a:solidFill>
                  <a:srgbClr val="FF0000"/>
                </a:solidFill>
              </a:rPr>
              <a:t>Stochastic Gradient descent with momentum</a:t>
            </a:r>
            <a:r>
              <a:rPr lang="en-US" sz="2400" dirty="0"/>
              <a:t>: Adds a fraction of the previous update to the current update of parameters</a:t>
            </a:r>
          </a:p>
          <a:p>
            <a:endParaRPr lang="en-US" sz="2400" dirty="0"/>
          </a:p>
          <a:p>
            <a:r>
              <a:rPr lang="en-US" sz="2400" dirty="0" err="1">
                <a:solidFill>
                  <a:srgbClr val="FF0000"/>
                </a:solidFill>
              </a:rPr>
              <a:t>Adagrad</a:t>
            </a:r>
            <a:r>
              <a:rPr lang="en-US" sz="2400" dirty="0"/>
              <a:t>: </a:t>
            </a:r>
            <a:r>
              <a:rPr lang="en-US" sz="2400" dirty="0">
                <a:solidFill>
                  <a:srgbClr val="222222"/>
                </a:solidFill>
              </a:rPr>
              <a:t>U</a:t>
            </a:r>
            <a:r>
              <a:rPr lang="en-US" sz="2400" b="0" i="0" dirty="0">
                <a:solidFill>
                  <a:srgbClr val="222222"/>
                </a:solidFill>
                <a:effectLst/>
              </a:rPr>
              <a:t>ses different/adaptive learning rates for each iteration</a:t>
            </a:r>
          </a:p>
          <a:p>
            <a:endParaRPr lang="en-US" sz="2400" dirty="0"/>
          </a:p>
          <a:p>
            <a:endParaRPr lang="en-US" sz="2400" dirty="0"/>
          </a:p>
        </p:txBody>
      </p:sp>
    </p:spTree>
    <p:extLst>
      <p:ext uri="{BB962C8B-B14F-4D97-AF65-F5344CB8AC3E}">
        <p14:creationId xmlns:p14="http://schemas.microsoft.com/office/powerpoint/2010/main" val="30373800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rotWithShape="1">
          <a:blip r:embed="rId6" cstate="print">
            <a:extLst>
              <a:ext uri="{28A0092B-C50C-407E-A947-70E740481C1C}">
                <a14:useLocalDpi xmlns:a14="http://schemas.microsoft.com/office/drawing/2010/main" val="0"/>
              </a:ext>
            </a:extLst>
          </a:blip>
          <a:srcRect t="1" r="7894" b="3572"/>
          <a:stretch/>
        </p:blipFill>
        <p:spPr>
          <a:xfrm>
            <a:off x="4687291" y="1193801"/>
            <a:ext cx="3169085" cy="461665"/>
          </a:xfrm>
          <a:prstGeom prst="rect">
            <a:avLst/>
          </a:prstGeom>
        </p:spPr>
      </p:pic>
      <p:sp>
        <p:nvSpPr>
          <p:cNvPr id="10" name="TextBox 9"/>
          <p:cNvSpPr txBox="1"/>
          <p:nvPr/>
        </p:nvSpPr>
        <p:spPr>
          <a:xfrm>
            <a:off x="829678" y="1049180"/>
            <a:ext cx="2792752" cy="748988"/>
          </a:xfrm>
          <a:prstGeom prst="rect">
            <a:avLst/>
          </a:prstGeom>
          <a:noFill/>
        </p:spPr>
        <p:txBody>
          <a:bodyPr wrap="none" rtlCol="0">
            <a:spAutoFit/>
          </a:bodyPr>
          <a:lstStyle/>
          <a:p>
            <a:r>
              <a:rPr lang="en-US" sz="4267" dirty="0"/>
              <a:t>Hypothesis:</a:t>
            </a:r>
          </a:p>
        </p:txBody>
      </p:sp>
      <p:pic>
        <p:nvPicPr>
          <p:cNvPr id="20" name="Picture 1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638040" y="2503887"/>
            <a:ext cx="1007560" cy="428749"/>
          </a:xfrm>
          <a:prstGeom prst="rect">
            <a:avLst/>
          </a:prstGeom>
        </p:spPr>
      </p:pic>
      <p:sp>
        <p:nvSpPr>
          <p:cNvPr id="15" name="TextBox 14"/>
          <p:cNvSpPr txBox="1"/>
          <p:nvPr/>
        </p:nvSpPr>
        <p:spPr>
          <a:xfrm>
            <a:off x="829677" y="2293187"/>
            <a:ext cx="2858988" cy="748988"/>
          </a:xfrm>
          <a:prstGeom prst="rect">
            <a:avLst/>
          </a:prstGeom>
          <a:noFill/>
        </p:spPr>
        <p:txBody>
          <a:bodyPr wrap="none" rtlCol="0">
            <a:spAutoFit/>
          </a:bodyPr>
          <a:lstStyle/>
          <a:p>
            <a:r>
              <a:rPr lang="en-US" sz="4267" dirty="0"/>
              <a:t>Parameters:</a:t>
            </a:r>
          </a:p>
        </p:txBody>
      </p:sp>
      <p:pic>
        <p:nvPicPr>
          <p:cNvPr id="4" name="Picture 3"/>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638040" y="3429001"/>
            <a:ext cx="7147560" cy="1004465"/>
          </a:xfrm>
          <a:prstGeom prst="rect">
            <a:avLst/>
          </a:prstGeom>
        </p:spPr>
      </p:pic>
      <p:sp>
        <p:nvSpPr>
          <p:cNvPr id="17" name="TextBox 16"/>
          <p:cNvSpPr txBox="1"/>
          <p:nvPr/>
        </p:nvSpPr>
        <p:spPr>
          <a:xfrm>
            <a:off x="829677" y="3487580"/>
            <a:ext cx="3365280" cy="748988"/>
          </a:xfrm>
          <a:prstGeom prst="rect">
            <a:avLst/>
          </a:prstGeom>
          <a:noFill/>
        </p:spPr>
        <p:txBody>
          <a:bodyPr wrap="none" rtlCol="0">
            <a:spAutoFit/>
          </a:bodyPr>
          <a:lstStyle/>
          <a:p>
            <a:r>
              <a:rPr lang="en-US" sz="4267" dirty="0"/>
              <a:t>Cost Function:</a:t>
            </a:r>
          </a:p>
        </p:txBody>
      </p:sp>
      <p:pic>
        <p:nvPicPr>
          <p:cNvPr id="2" name="Picture 1"/>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4638041" y="4935221"/>
            <a:ext cx="3687572" cy="728980"/>
          </a:xfrm>
          <a:prstGeom prst="rect">
            <a:avLst/>
          </a:prstGeom>
        </p:spPr>
      </p:pic>
      <p:sp>
        <p:nvSpPr>
          <p:cNvPr id="19" name="TextBox 18"/>
          <p:cNvSpPr txBox="1"/>
          <p:nvPr/>
        </p:nvSpPr>
        <p:spPr>
          <a:xfrm>
            <a:off x="829677" y="4782900"/>
            <a:ext cx="1351652" cy="748988"/>
          </a:xfrm>
          <a:prstGeom prst="rect">
            <a:avLst/>
          </a:prstGeom>
          <a:noFill/>
        </p:spPr>
        <p:txBody>
          <a:bodyPr wrap="none" rtlCol="0">
            <a:spAutoFit/>
          </a:bodyPr>
          <a:lstStyle/>
          <a:p>
            <a:r>
              <a:rPr lang="en-US" sz="4267" dirty="0"/>
              <a:t>Goal:</a:t>
            </a:r>
          </a:p>
        </p:txBody>
      </p:sp>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10"/>
          <a:stretch>
            <a:fillRect/>
          </a:stretch>
        </p:blipFill>
        <p:spPr>
          <a:xfrm>
            <a:off x="10922000" y="6438901"/>
            <a:ext cx="1270000" cy="419100"/>
          </a:xfrm>
          <a:prstGeom prst="rect">
            <a:avLst/>
          </a:prstGeom>
        </p:spPr>
      </p:pic>
      <p:sp>
        <p:nvSpPr>
          <p:cNvPr id="3" name="TextBox 2">
            <a:extLst>
              <a:ext uri="{FF2B5EF4-FFF2-40B4-BE49-F238E27FC236}">
                <a16:creationId xmlns:a16="http://schemas.microsoft.com/office/drawing/2014/main" id="{0D9C3823-BC9A-92C0-DC3A-B85DB85846B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Linear Regression with Multiple Features: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90239E7-9BEF-EFFE-461C-0AF4FCB2A16B}"/>
                  </a:ext>
                </a:extLst>
              </p:cNvPr>
              <p:cNvSpPr txBox="1"/>
              <p:nvPr/>
            </p:nvSpPr>
            <p:spPr>
              <a:xfrm>
                <a:off x="7665948" y="1165939"/>
                <a:ext cx="4395426" cy="16828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b="0" i="1" dirty="0" smtClean="0">
                              <a:latin typeface="Cambria Math" panose="02040503050406030204" pitchFamily="18" charset="0"/>
                            </a:rPr>
                            <m:t>𝑋</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i="1" dirty="0">
                              <a:latin typeface="Cambria Math" panose="02040503050406030204" pitchFamily="18" charset="0"/>
                            </a:rPr>
                          </m:ctrlPr>
                        </m:sSubPr>
                        <m:e>
                          <m:r>
                            <a:rPr lang="en-US" sz="2800" i="1" dirty="0" smtClean="0">
                              <a:latin typeface="Cambria Math" panose="02040503050406030204" pitchFamily="18" charset="0"/>
                              <a:ea typeface="Cambria Math" panose="02040503050406030204" pitchFamily="18" charset="0"/>
                            </a:rPr>
                            <m:t>𝜃</m:t>
                          </m:r>
                        </m:e>
                        <m:sub>
                          <m:r>
                            <a:rPr lang="en-US" sz="2800" b="0" i="1" dirty="0" smtClean="0">
                              <a:latin typeface="Cambria Math" panose="02040503050406030204" pitchFamily="18" charset="0"/>
                            </a:rPr>
                            <m:t>2</m:t>
                          </m:r>
                        </m:sub>
                      </m:sSub>
                      <m:sSub>
                        <m:sSubPr>
                          <m:ctrlPr>
                            <a:rPr lang="en-US" sz="2800" i="1" dirty="0">
                              <a:latin typeface="Cambria Math" panose="02040503050406030204" pitchFamily="18" charset="0"/>
                            </a:rPr>
                          </m:ctrlPr>
                        </m:sSubPr>
                        <m:e>
                          <m:r>
                            <a:rPr lang="en-US" sz="2800" i="1" dirty="0">
                              <a:latin typeface="Cambria Math" panose="02040503050406030204" pitchFamily="18" charset="0"/>
                            </a:rPr>
                            <m:t>𝑋</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r>
                        <a:rPr lang="en-US" sz="2800" i="1" dirty="0">
                          <a:latin typeface="Cambria Math" panose="02040503050406030204" pitchFamily="18" charset="0"/>
                        </a:rPr>
                        <m:t>+</m:t>
                      </m:r>
                      <m:sSub>
                        <m:sSubPr>
                          <m:ctrlPr>
                            <a:rPr lang="en-US" sz="2800" i="1" dirty="0">
                              <a:latin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𝜃</m:t>
                          </m:r>
                        </m:e>
                        <m:sub>
                          <m:r>
                            <a:rPr lang="en-US" sz="2800" b="0" i="1" dirty="0" smtClean="0">
                              <a:latin typeface="Cambria Math" panose="02040503050406030204" pitchFamily="18" charset="0"/>
                              <a:ea typeface="Cambria Math" panose="02040503050406030204" pitchFamily="18" charset="0"/>
                            </a:rPr>
                            <m:t>3</m:t>
                          </m:r>
                        </m:sub>
                      </m:sSub>
                      <m:sSub>
                        <m:sSubPr>
                          <m:ctrlPr>
                            <a:rPr lang="en-US" sz="2800" i="1" dirty="0">
                              <a:latin typeface="Cambria Math" panose="02040503050406030204" pitchFamily="18" charset="0"/>
                            </a:rPr>
                          </m:ctrlPr>
                        </m:sSubPr>
                        <m:e>
                          <m:r>
                            <a:rPr lang="en-US" sz="2800" i="1" dirty="0">
                              <a:latin typeface="Cambria Math" panose="02040503050406030204" pitchFamily="18" charset="0"/>
                            </a:rPr>
                            <m:t>𝑋</m:t>
                          </m:r>
                        </m:e>
                        <m:sub>
                          <m:r>
                            <a:rPr lang="en-US" sz="2800" b="0" i="1" dirty="0" smtClean="0">
                              <a:latin typeface="Cambria Math" panose="02040503050406030204" pitchFamily="18" charset="0"/>
                            </a:rPr>
                            <m:t>3</m:t>
                          </m:r>
                        </m:sub>
                      </m:sSub>
                      <m:r>
                        <a:rPr lang="en-US" sz="2800" i="1" dirty="0">
                          <a:latin typeface="Cambria Math" panose="02040503050406030204" pitchFamily="18" charset="0"/>
                        </a:rPr>
                        <m:t>+</m:t>
                      </m:r>
                      <m:sSub>
                        <m:sSubPr>
                          <m:ctrlPr>
                            <a:rPr lang="en-US" sz="2800" i="1" dirty="0">
                              <a:latin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𝜃</m:t>
                          </m:r>
                        </m:e>
                        <m:sub>
                          <m:r>
                            <a:rPr lang="en-US" sz="2800" b="0" i="1" dirty="0" smtClean="0">
                              <a:latin typeface="Cambria Math" panose="02040503050406030204" pitchFamily="18" charset="0"/>
                              <a:ea typeface="Cambria Math" panose="02040503050406030204" pitchFamily="18" charset="0"/>
                            </a:rPr>
                            <m:t>4</m:t>
                          </m:r>
                        </m:sub>
                      </m:sSub>
                      <m:sSub>
                        <m:sSubPr>
                          <m:ctrlPr>
                            <a:rPr lang="en-US" sz="2800" i="1" dirty="0">
                              <a:latin typeface="Cambria Math" panose="02040503050406030204" pitchFamily="18" charset="0"/>
                            </a:rPr>
                          </m:ctrlPr>
                        </m:sSubPr>
                        <m:e>
                          <m:r>
                            <a:rPr lang="en-US" sz="2800" i="1" dirty="0">
                              <a:latin typeface="Cambria Math" panose="02040503050406030204" pitchFamily="18" charset="0"/>
                            </a:rPr>
                            <m:t>𝑋</m:t>
                          </m:r>
                        </m:e>
                        <m:sub>
                          <m:r>
                            <a:rPr lang="en-US" sz="2800" b="0" i="1" dirty="0" smtClean="0">
                              <a:latin typeface="Cambria Math" panose="02040503050406030204" pitchFamily="18" charset="0"/>
                            </a:rPr>
                            <m:t>4</m:t>
                          </m:r>
                        </m:sub>
                      </m:sSub>
                      <m:r>
                        <a:rPr lang="en-US" sz="2800" b="0" i="1" dirty="0" smtClean="0">
                          <a:latin typeface="Cambria Math" panose="02040503050406030204" pitchFamily="18" charset="0"/>
                        </a:rPr>
                        <m:t>+⋯</m:t>
                      </m:r>
                      <m:r>
                        <a:rPr lang="en-US" sz="2800" i="1" dirty="0">
                          <a:latin typeface="Cambria Math" panose="02040503050406030204" pitchFamily="18" charset="0"/>
                        </a:rPr>
                        <m:t>+</m:t>
                      </m:r>
                      <m:sSub>
                        <m:sSubPr>
                          <m:ctrlPr>
                            <a:rPr lang="en-US" sz="2800" i="1" dirty="0">
                              <a:latin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𝜃</m:t>
                          </m:r>
                        </m:e>
                        <m:sub>
                          <m:r>
                            <a:rPr lang="en-US" sz="2800" b="0" i="1" dirty="0" smtClean="0">
                              <a:latin typeface="Cambria Math" panose="02040503050406030204" pitchFamily="18" charset="0"/>
                              <a:ea typeface="Cambria Math" panose="02040503050406030204" pitchFamily="18" charset="0"/>
                            </a:rPr>
                            <m:t>𝑛</m:t>
                          </m:r>
                        </m:sub>
                      </m:sSub>
                      <m:sSub>
                        <m:sSubPr>
                          <m:ctrlPr>
                            <a:rPr lang="en-US" sz="2800" i="1" dirty="0">
                              <a:latin typeface="Cambria Math" panose="02040503050406030204" pitchFamily="18" charset="0"/>
                            </a:rPr>
                          </m:ctrlPr>
                        </m:sSubPr>
                        <m:e>
                          <m:r>
                            <a:rPr lang="en-US" sz="2800" i="1" dirty="0">
                              <a:latin typeface="Cambria Math" panose="02040503050406030204" pitchFamily="18" charset="0"/>
                            </a:rPr>
                            <m:t>𝑋</m:t>
                          </m:r>
                        </m:e>
                        <m:sub>
                          <m:r>
                            <a:rPr lang="en-US" sz="2800" b="0" i="1" dirty="0" smtClean="0">
                              <a:latin typeface="Cambria Math" panose="02040503050406030204" pitchFamily="18" charset="0"/>
                            </a:rPr>
                            <m:t>𝑛</m:t>
                          </m:r>
                        </m:sub>
                      </m:sSub>
                    </m:oMath>
                  </m:oMathPara>
                </a14:m>
                <a:endParaRPr lang="en-US" sz="2800" dirty="0"/>
              </a:p>
              <a:p>
                <a:endParaRPr lang="en-US" sz="2400" dirty="0"/>
              </a:p>
              <a:p>
                <a:endParaRPr lang="en-US" sz="2400" dirty="0"/>
              </a:p>
            </p:txBody>
          </p:sp>
        </mc:Choice>
        <mc:Fallback xmlns="">
          <p:sp>
            <p:nvSpPr>
              <p:cNvPr id="6" name="TextBox 5">
                <a:extLst>
                  <a:ext uri="{FF2B5EF4-FFF2-40B4-BE49-F238E27FC236}">
                    <a16:creationId xmlns:a16="http://schemas.microsoft.com/office/drawing/2014/main" id="{890239E7-9BEF-EFFE-461C-0AF4FCB2A16B}"/>
                  </a:ext>
                </a:extLst>
              </p:cNvPr>
              <p:cNvSpPr txBox="1">
                <a:spLocks noRot="1" noChangeAspect="1" noMove="1" noResize="1" noEditPoints="1" noAdjustHandles="1" noChangeArrowheads="1" noChangeShapeType="1" noTextEdit="1"/>
              </p:cNvSpPr>
              <p:nvPr/>
            </p:nvSpPr>
            <p:spPr>
              <a:xfrm>
                <a:off x="7665948" y="1165939"/>
                <a:ext cx="4395426" cy="168283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E1A8AA-B5A1-CB12-BADD-229D95A309C7}"/>
                  </a:ext>
                </a:extLst>
              </p:cNvPr>
              <p:cNvSpPr txBox="1"/>
              <p:nvPr/>
            </p:nvSpPr>
            <p:spPr>
              <a:xfrm>
                <a:off x="4010090" y="643067"/>
                <a:ext cx="6097554"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dirty="0" smtClean="0">
                          <a:latin typeface="Cambria Math" panose="02040503050406030204" pitchFamily="18" charset="0"/>
                        </a:rPr>
                        <m:t>=</m:t>
                      </m:r>
                      <m:sSup>
                        <m:sSupPr>
                          <m:ctrlPr>
                            <a:rPr lang="en-US" sz="3200" b="0" i="1" dirty="0" smtClean="0">
                              <a:latin typeface="Cambria Math" panose="02040503050406030204" pitchFamily="18" charset="0"/>
                            </a:rPr>
                          </m:ctrlPr>
                        </m:sSupPr>
                        <m:e>
                          <m:r>
                            <a:rPr lang="en-US" sz="3200" i="1" dirty="0">
                              <a:latin typeface="Cambria Math" panose="02040503050406030204" pitchFamily="18" charset="0"/>
                              <a:ea typeface="Cambria Math" panose="02040503050406030204" pitchFamily="18" charset="0"/>
                            </a:rPr>
                            <m:t>𝜃</m:t>
                          </m:r>
                        </m:e>
                        <m:sup>
                          <m:r>
                            <a:rPr lang="en-US" sz="3200" b="0" i="1" dirty="0" smtClean="0">
                              <a:latin typeface="Cambria Math" panose="02040503050406030204" pitchFamily="18" charset="0"/>
                            </a:rPr>
                            <m:t>𝑇</m:t>
                          </m:r>
                        </m:sup>
                      </m:sSup>
                      <m:r>
                        <a:rPr lang="en-US" sz="3200" i="1" dirty="0" smtClean="0">
                          <a:latin typeface="Cambria Math" panose="02040503050406030204" pitchFamily="18" charset="0"/>
                        </a:rPr>
                        <m:t>𝑋</m:t>
                      </m:r>
                    </m:oMath>
                  </m:oMathPara>
                </a14:m>
                <a:endParaRPr lang="en-US" sz="3200" dirty="0"/>
              </a:p>
            </p:txBody>
          </p:sp>
        </mc:Choice>
        <mc:Fallback xmlns="">
          <p:sp>
            <p:nvSpPr>
              <p:cNvPr id="9" name="TextBox 8">
                <a:extLst>
                  <a:ext uri="{FF2B5EF4-FFF2-40B4-BE49-F238E27FC236}">
                    <a16:creationId xmlns:a16="http://schemas.microsoft.com/office/drawing/2014/main" id="{01E1A8AA-B5A1-CB12-BADD-229D95A309C7}"/>
                  </a:ext>
                </a:extLst>
              </p:cNvPr>
              <p:cNvSpPr txBox="1">
                <a:spLocks noRot="1" noChangeAspect="1" noMove="1" noResize="1" noEditPoints="1" noAdjustHandles="1" noChangeArrowheads="1" noChangeShapeType="1" noTextEdit="1"/>
              </p:cNvSpPr>
              <p:nvPr/>
            </p:nvSpPr>
            <p:spPr>
              <a:xfrm>
                <a:off x="4010090" y="643067"/>
                <a:ext cx="6097554" cy="58477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153C79E-DA5F-B0E4-8922-64C1901425FB}"/>
                  </a:ext>
                </a:extLst>
              </p:cNvPr>
              <p:cNvSpPr txBox="1"/>
              <p:nvPr/>
            </p:nvSpPr>
            <p:spPr>
              <a:xfrm>
                <a:off x="3766107" y="2375293"/>
                <a:ext cx="6097554"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dirty="0" smtClean="0">
                          <a:latin typeface="Cambria Math" panose="02040503050406030204" pitchFamily="18" charset="0"/>
                        </a:rPr>
                        <m:t>,</m:t>
                      </m:r>
                      <m:sSub>
                        <m:sSubPr>
                          <m:ctrlPr>
                            <a:rPr lang="en-US" sz="3200" i="1" dirty="0" smtClean="0">
                              <a:latin typeface="Cambria Math" panose="02040503050406030204" pitchFamily="18" charset="0"/>
                            </a:rPr>
                          </m:ctrlPr>
                        </m:sSubPr>
                        <m:e>
                          <m:r>
                            <a:rPr lang="en-US" sz="3200" i="1" dirty="0" smtClean="0">
                              <a:latin typeface="Cambria Math" panose="02040503050406030204" pitchFamily="18" charset="0"/>
                              <a:ea typeface="Cambria Math" panose="02040503050406030204" pitchFamily="18" charset="0"/>
                            </a:rPr>
                            <m:t>𝜃</m:t>
                          </m:r>
                        </m:e>
                        <m:sub>
                          <m:r>
                            <a:rPr lang="en-US" sz="3200" b="0" i="1" dirty="0" smtClean="0">
                              <a:latin typeface="Cambria Math" panose="02040503050406030204" pitchFamily="18" charset="0"/>
                            </a:rPr>
                            <m:t>2</m:t>
                          </m:r>
                        </m:sub>
                      </m:sSub>
                      <m:r>
                        <a:rPr lang="en-US" sz="3200" b="0" i="1" dirty="0" smtClean="0">
                          <a:latin typeface="Cambria Math" panose="02040503050406030204" pitchFamily="18" charset="0"/>
                        </a:rPr>
                        <m:t>,</m:t>
                      </m:r>
                      <m:sSub>
                        <m:sSubPr>
                          <m:ctrlPr>
                            <a:rPr lang="en-US" sz="3200" i="1" dirty="0">
                              <a:latin typeface="Cambria Math" panose="02040503050406030204" pitchFamily="18" charset="0"/>
                            </a:rPr>
                          </m:ctrlPr>
                        </m:sSubPr>
                        <m:e>
                          <m:r>
                            <a:rPr lang="en-US" sz="3200" i="1" dirty="0">
                              <a:latin typeface="Cambria Math" panose="02040503050406030204" pitchFamily="18" charset="0"/>
                              <a:ea typeface="Cambria Math" panose="02040503050406030204" pitchFamily="18" charset="0"/>
                            </a:rPr>
                            <m:t>𝜃</m:t>
                          </m:r>
                        </m:e>
                        <m:sub>
                          <m:r>
                            <a:rPr lang="en-US" sz="3200" b="0" i="1" dirty="0" smtClean="0">
                              <a:latin typeface="Cambria Math" panose="02040503050406030204" pitchFamily="18" charset="0"/>
                              <a:ea typeface="Cambria Math" panose="02040503050406030204" pitchFamily="18" charset="0"/>
                            </a:rPr>
                            <m:t>3</m:t>
                          </m:r>
                        </m:sub>
                      </m:sSub>
                      <m:r>
                        <a:rPr lang="en-US" sz="3200" b="0" i="1" dirty="0" smtClean="0">
                          <a:latin typeface="Cambria Math" panose="02040503050406030204" pitchFamily="18" charset="0"/>
                        </a:rPr>
                        <m:t>,⋯,</m:t>
                      </m:r>
                      <m:sSub>
                        <m:sSubPr>
                          <m:ctrlPr>
                            <a:rPr lang="en-US" sz="3200" i="1" dirty="0">
                              <a:latin typeface="Cambria Math" panose="02040503050406030204" pitchFamily="18" charset="0"/>
                            </a:rPr>
                          </m:ctrlPr>
                        </m:sSubPr>
                        <m:e>
                          <m:r>
                            <a:rPr lang="en-US" sz="3200" i="1" dirty="0">
                              <a:latin typeface="Cambria Math" panose="02040503050406030204" pitchFamily="18" charset="0"/>
                              <a:ea typeface="Cambria Math" panose="02040503050406030204" pitchFamily="18" charset="0"/>
                            </a:rPr>
                            <m:t>𝜃</m:t>
                          </m:r>
                        </m:e>
                        <m:sub>
                          <m:r>
                            <a:rPr lang="en-US" sz="3200" b="0" i="1" dirty="0" smtClean="0">
                              <a:latin typeface="Cambria Math" panose="02040503050406030204" pitchFamily="18" charset="0"/>
                              <a:ea typeface="Cambria Math" panose="02040503050406030204" pitchFamily="18" charset="0"/>
                            </a:rPr>
                            <m:t>𝑛</m:t>
                          </m:r>
                        </m:sub>
                      </m:sSub>
                    </m:oMath>
                  </m:oMathPara>
                </a14:m>
                <a:endParaRPr lang="en-US" sz="3200" dirty="0"/>
              </a:p>
            </p:txBody>
          </p:sp>
        </mc:Choice>
        <mc:Fallback xmlns="">
          <p:sp>
            <p:nvSpPr>
              <p:cNvPr id="13" name="TextBox 12">
                <a:extLst>
                  <a:ext uri="{FF2B5EF4-FFF2-40B4-BE49-F238E27FC236}">
                    <a16:creationId xmlns:a16="http://schemas.microsoft.com/office/drawing/2014/main" id="{1153C79E-DA5F-B0E4-8922-64C1901425FB}"/>
                  </a:ext>
                </a:extLst>
              </p:cNvPr>
              <p:cNvSpPr txBox="1">
                <a:spLocks noRot="1" noChangeAspect="1" noMove="1" noResize="1" noEditPoints="1" noAdjustHandles="1" noChangeArrowheads="1" noChangeShapeType="1" noTextEdit="1"/>
              </p:cNvSpPr>
              <p:nvPr/>
            </p:nvSpPr>
            <p:spPr>
              <a:xfrm>
                <a:off x="3766107" y="2375293"/>
                <a:ext cx="6097554" cy="584775"/>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72055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2"/>
          <a:stretch>
            <a:fillRect/>
          </a:stretch>
        </p:blipFill>
        <p:spPr>
          <a:xfrm>
            <a:off x="10922000" y="6438901"/>
            <a:ext cx="1270000" cy="419100"/>
          </a:xfrm>
          <a:prstGeom prst="rect">
            <a:avLst/>
          </a:prstGeom>
        </p:spPr>
      </p:pic>
      <p:sp>
        <p:nvSpPr>
          <p:cNvPr id="3" name="TextBox 2">
            <a:extLst>
              <a:ext uri="{FF2B5EF4-FFF2-40B4-BE49-F238E27FC236}">
                <a16:creationId xmlns:a16="http://schemas.microsoft.com/office/drawing/2014/main" id="{0D9C3823-BC9A-92C0-DC3A-B85DB85846B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Polynomial Regression</a:t>
            </a:r>
          </a:p>
        </p:txBody>
      </p:sp>
      <p:sp>
        <p:nvSpPr>
          <p:cNvPr id="7" name="TextBox 6">
            <a:extLst>
              <a:ext uri="{FF2B5EF4-FFF2-40B4-BE49-F238E27FC236}">
                <a16:creationId xmlns:a16="http://schemas.microsoft.com/office/drawing/2014/main" id="{B88D480A-410B-B22D-ACFE-DDCD25166683}"/>
              </a:ext>
            </a:extLst>
          </p:cNvPr>
          <p:cNvSpPr txBox="1"/>
          <p:nvPr/>
        </p:nvSpPr>
        <p:spPr>
          <a:xfrm>
            <a:off x="0" y="742986"/>
            <a:ext cx="12192000" cy="3046988"/>
          </a:xfrm>
          <a:prstGeom prst="rect">
            <a:avLst/>
          </a:prstGeom>
          <a:noFill/>
        </p:spPr>
        <p:txBody>
          <a:bodyPr wrap="square">
            <a:spAutoFit/>
          </a:bodyPr>
          <a:lstStyle/>
          <a:p>
            <a:r>
              <a:rPr lang="en-US" sz="2400" b="0" i="0" dirty="0" err="1">
                <a:solidFill>
                  <a:srgbClr val="212529"/>
                </a:solidFill>
                <a:effectLst/>
              </a:rPr>
              <a:t>sklearn.preprocessing.PolynomialFeatures</a:t>
            </a:r>
            <a:endParaRPr lang="en-US" sz="2400" b="0" i="0" dirty="0">
              <a:solidFill>
                <a:srgbClr val="212529"/>
              </a:solidFill>
              <a:effectLst/>
            </a:endParaRPr>
          </a:p>
          <a:p>
            <a:endParaRPr lang="en-US" sz="2400" dirty="0">
              <a:solidFill>
                <a:srgbClr val="212529"/>
              </a:solidFill>
            </a:endParaRPr>
          </a:p>
          <a:p>
            <a:r>
              <a:rPr lang="en-US" sz="2400" dirty="0"/>
              <a:t>class </a:t>
            </a:r>
            <a:r>
              <a:rPr lang="en-US" sz="2400" dirty="0" err="1"/>
              <a:t>sklearn.preprocessing.PolynomialFeatures</a:t>
            </a:r>
            <a:r>
              <a:rPr lang="en-US" sz="2400" dirty="0"/>
              <a:t>(degree=2, *, </a:t>
            </a:r>
            <a:r>
              <a:rPr lang="en-US" sz="2400" dirty="0" err="1"/>
              <a:t>interaction_only</a:t>
            </a:r>
            <a:r>
              <a:rPr lang="en-US" sz="2400" dirty="0"/>
              <a:t>=False, </a:t>
            </a:r>
            <a:r>
              <a:rPr lang="en-US" sz="2400" dirty="0" err="1"/>
              <a:t>include_bias</a:t>
            </a:r>
            <a:r>
              <a:rPr lang="en-US" sz="2400" dirty="0"/>
              <a:t>=True, order=‘C’)</a:t>
            </a:r>
          </a:p>
          <a:p>
            <a:r>
              <a:rPr lang="en-US" sz="2400" b="0" i="0" dirty="0">
                <a:solidFill>
                  <a:srgbClr val="222832"/>
                </a:solidFill>
                <a:effectLst/>
                <a:latin typeface="-apple-system"/>
              </a:rPr>
              <a:t>interaction </a:t>
            </a:r>
            <a:r>
              <a:rPr lang="en-US" sz="2400" b="0" i="0">
                <a:solidFill>
                  <a:srgbClr val="222832"/>
                </a:solidFill>
                <a:effectLst/>
                <a:latin typeface="-apple-system"/>
              </a:rPr>
              <a:t>features: </a:t>
            </a:r>
            <a:r>
              <a:rPr lang="en-US" sz="2400"/>
              <a:t>x</a:t>
            </a:r>
            <a:r>
              <a:rPr lang="en-US" sz="2400" dirty="0"/>
              <a:t>[0] * x[1]</a:t>
            </a:r>
          </a:p>
          <a:p>
            <a:endParaRPr lang="en-US" sz="2400" dirty="0"/>
          </a:p>
          <a:p>
            <a:endParaRPr lang="en-US" sz="2400" dirty="0"/>
          </a:p>
          <a:p>
            <a:endParaRPr lang="en-US" sz="2400" dirty="0"/>
          </a:p>
        </p:txBody>
      </p:sp>
      <p:pic>
        <p:nvPicPr>
          <p:cNvPr id="4" name="Picture 3" descr="Diagram&#10;&#10;Description automatically generated">
            <a:extLst>
              <a:ext uri="{FF2B5EF4-FFF2-40B4-BE49-F238E27FC236}">
                <a16:creationId xmlns:a16="http://schemas.microsoft.com/office/drawing/2014/main" id="{1C07EB13-F828-3009-ACDC-124B3D6BFE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703" y="3881833"/>
            <a:ext cx="9793931" cy="1930840"/>
          </a:xfrm>
          <a:prstGeom prst="rect">
            <a:avLst/>
          </a:prstGeom>
        </p:spPr>
      </p:pic>
    </p:spTree>
    <p:extLst>
      <p:ext uri="{BB962C8B-B14F-4D97-AF65-F5344CB8AC3E}">
        <p14:creationId xmlns:p14="http://schemas.microsoft.com/office/powerpoint/2010/main" val="34122557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p:blipFill>
        <p:spPr>
          <a:xfrm>
            <a:off x="812800" y="1726735"/>
            <a:ext cx="9798680" cy="3009332"/>
          </a:xfrm>
          <a:prstGeom prst="rect">
            <a:avLst/>
          </a:prstGeom>
        </p:spPr>
      </p:pic>
      <p:sp>
        <p:nvSpPr>
          <p:cNvPr id="3" name="TextBox 2"/>
          <p:cNvSpPr txBox="1"/>
          <p:nvPr/>
        </p:nvSpPr>
        <p:spPr>
          <a:xfrm>
            <a:off x="1320800" y="279401"/>
            <a:ext cx="4165600" cy="461665"/>
          </a:xfrm>
          <a:prstGeom prst="rect">
            <a:avLst/>
          </a:prstGeom>
          <a:noFill/>
        </p:spPr>
        <p:txBody>
          <a:bodyPr wrap="square" rtlCol="0">
            <a:spAutoFit/>
          </a:bodyPr>
          <a:lstStyle/>
          <a:p>
            <a:r>
              <a:rPr lang="en-US" sz="2400" b="1"/>
              <a:t>Overfit and Underfit problem:</a:t>
            </a:r>
            <a:endParaRPr lang="en-US" sz="2400" b="1" dirty="0"/>
          </a:p>
        </p:txBody>
      </p:sp>
    </p:spTree>
    <p:extLst>
      <p:ext uri="{BB962C8B-B14F-4D97-AF65-F5344CB8AC3E}">
        <p14:creationId xmlns:p14="http://schemas.microsoft.com/office/powerpoint/2010/main" val="35921242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35631" y="3457852"/>
            <a:ext cx="4692391" cy="1004465"/>
          </a:xfrm>
          <a:prstGeom prst="rect">
            <a:avLst/>
          </a:prstGeom>
        </p:spPr>
      </p:pic>
      <p:sp>
        <p:nvSpPr>
          <p:cNvPr id="17" name="TextBox 16"/>
          <p:cNvSpPr txBox="1"/>
          <p:nvPr/>
        </p:nvSpPr>
        <p:spPr>
          <a:xfrm>
            <a:off x="829677" y="3487580"/>
            <a:ext cx="3365280" cy="748988"/>
          </a:xfrm>
          <a:prstGeom prst="rect">
            <a:avLst/>
          </a:prstGeom>
          <a:noFill/>
        </p:spPr>
        <p:txBody>
          <a:bodyPr wrap="none" rtlCol="0">
            <a:spAutoFit/>
          </a:bodyPr>
          <a:lstStyle/>
          <a:p>
            <a:r>
              <a:rPr lang="en-US" sz="4267" dirty="0"/>
              <a:t>Cost Function:</a:t>
            </a:r>
          </a:p>
        </p:txBody>
      </p:sp>
      <p:pic>
        <p:nvPicPr>
          <p:cNvPr id="2" name="Picture 1"/>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638041" y="4935221"/>
            <a:ext cx="3687572" cy="728980"/>
          </a:xfrm>
          <a:prstGeom prst="rect">
            <a:avLst/>
          </a:prstGeom>
        </p:spPr>
      </p:pic>
      <p:sp>
        <p:nvSpPr>
          <p:cNvPr id="19" name="TextBox 18"/>
          <p:cNvSpPr txBox="1"/>
          <p:nvPr/>
        </p:nvSpPr>
        <p:spPr>
          <a:xfrm>
            <a:off x="829677" y="4782900"/>
            <a:ext cx="1351652" cy="748988"/>
          </a:xfrm>
          <a:prstGeom prst="rect">
            <a:avLst/>
          </a:prstGeom>
          <a:noFill/>
        </p:spPr>
        <p:txBody>
          <a:bodyPr wrap="none" rtlCol="0">
            <a:spAutoFit/>
          </a:bodyPr>
          <a:lstStyle/>
          <a:p>
            <a:r>
              <a:rPr lang="en-US" sz="4267" dirty="0"/>
              <a:t>Goal:</a:t>
            </a:r>
          </a:p>
        </p:txBody>
      </p:sp>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6"/>
          <a:stretch>
            <a:fillRect/>
          </a:stretch>
        </p:blipFill>
        <p:spPr>
          <a:xfrm>
            <a:off x="10922000" y="6438901"/>
            <a:ext cx="1270000" cy="4191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57D77B5-4B0A-FBFF-8999-F8F9BA81C005}"/>
                  </a:ext>
                </a:extLst>
              </p:cNvPr>
              <p:cNvSpPr txBox="1"/>
              <p:nvPr/>
            </p:nvSpPr>
            <p:spPr>
              <a:xfrm>
                <a:off x="7817021" y="3292495"/>
                <a:ext cx="3467713" cy="20072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m:t>
                      </m:r>
                      <m:r>
                        <m:rPr>
                          <m:sty m:val="p"/>
                        </m:rPr>
                        <a:rPr lang="el-GR" sz="2800" b="0" i="1" dirty="0" smtClean="0">
                          <a:solidFill>
                            <a:srgbClr val="FF0000"/>
                          </a:solidFill>
                          <a:latin typeface="Cambria Math" panose="02040503050406030204" pitchFamily="18" charset="0"/>
                        </a:rPr>
                        <m:t>λ</m:t>
                      </m:r>
                      <m:nary>
                        <m:naryPr>
                          <m:chr m:val="∑"/>
                          <m:ctrlPr>
                            <a:rPr lang="el-GR" sz="2800" b="0" i="1" dirty="0" smtClean="0">
                              <a:solidFill>
                                <a:srgbClr val="FF0000"/>
                              </a:solidFill>
                              <a:latin typeface="Cambria Math" panose="02040503050406030204" pitchFamily="18" charset="0"/>
                            </a:rPr>
                          </m:ctrlPr>
                        </m:naryPr>
                        <m:sub>
                          <m:r>
                            <m:rPr>
                              <m:brk m:alnAt="23"/>
                            </m:rPr>
                            <a:rPr lang="en-US" sz="2800" b="0" i="1" dirty="0" smtClean="0">
                              <a:solidFill>
                                <a:srgbClr val="FF0000"/>
                              </a:solidFill>
                              <a:latin typeface="Cambria Math" panose="02040503050406030204" pitchFamily="18" charset="0"/>
                            </a:rPr>
                            <m:t>𝑖</m:t>
                          </m:r>
                          <m:r>
                            <a:rPr lang="en-US" sz="2800" b="0" i="1" dirty="0" smtClean="0">
                              <a:solidFill>
                                <a:srgbClr val="FF0000"/>
                              </a:solidFill>
                              <a:latin typeface="Cambria Math" panose="02040503050406030204" pitchFamily="18" charset="0"/>
                            </a:rPr>
                            <m:t>=1</m:t>
                          </m:r>
                        </m:sub>
                        <m:sup>
                          <m:r>
                            <a:rPr lang="en-US" sz="2800" b="0" i="1" dirty="0" smtClean="0">
                              <a:solidFill>
                                <a:srgbClr val="FF0000"/>
                              </a:solidFill>
                              <a:latin typeface="Cambria Math" panose="02040503050406030204" pitchFamily="18" charset="0"/>
                            </a:rPr>
                            <m:t>𝑛</m:t>
                          </m:r>
                        </m:sup>
                        <m:e>
                          <m:sSubSup>
                            <m:sSubSupPr>
                              <m:ctrlPr>
                                <a:rPr lang="el-GR" sz="2800" b="0" i="1" dirty="0" smtClean="0">
                                  <a:solidFill>
                                    <a:srgbClr val="FF0000"/>
                                  </a:solidFill>
                                  <a:latin typeface="Cambria Math" panose="02040503050406030204" pitchFamily="18" charset="0"/>
                                </a:rPr>
                              </m:ctrlPr>
                            </m:sSubSupPr>
                            <m:e>
                              <m:r>
                                <a:rPr lang="el-GR" sz="2800" b="0" i="1" dirty="0" smtClean="0">
                                  <a:solidFill>
                                    <a:srgbClr val="FF0000"/>
                                  </a:solidFill>
                                  <a:latin typeface="Cambria Math" panose="02040503050406030204" pitchFamily="18" charset="0"/>
                                  <a:ea typeface="Cambria Math" panose="02040503050406030204" pitchFamily="18" charset="0"/>
                                </a:rPr>
                                <m:t>𝜃</m:t>
                              </m:r>
                            </m:e>
                            <m:sub>
                              <m:r>
                                <a:rPr lang="en-US" sz="2800" b="0" i="1" dirty="0" smtClean="0">
                                  <a:solidFill>
                                    <a:srgbClr val="FF0000"/>
                                  </a:solidFill>
                                  <a:latin typeface="Cambria Math" panose="02040503050406030204" pitchFamily="18" charset="0"/>
                                </a:rPr>
                                <m:t>𝑖</m:t>
                              </m:r>
                            </m:sub>
                            <m:sup>
                              <m:r>
                                <a:rPr lang="en-US" sz="2800" b="0" i="1" dirty="0" smtClean="0">
                                  <a:solidFill>
                                    <a:srgbClr val="FF0000"/>
                                  </a:solidFill>
                                  <a:latin typeface="Cambria Math" panose="02040503050406030204" pitchFamily="18" charset="0"/>
                                </a:rPr>
                                <m:t>2</m:t>
                              </m:r>
                            </m:sup>
                          </m:sSubSup>
                        </m:e>
                      </m:nary>
                    </m:oMath>
                  </m:oMathPara>
                </a14:m>
                <a:endParaRPr lang="en-US" sz="2800" dirty="0"/>
              </a:p>
              <a:p>
                <a:endParaRPr lang="en-US" sz="2400" dirty="0"/>
              </a:p>
              <a:p>
                <a:endParaRPr lang="en-US" sz="2400" dirty="0"/>
              </a:p>
            </p:txBody>
          </p:sp>
        </mc:Choice>
        <mc:Fallback xmlns="">
          <p:sp>
            <p:nvSpPr>
              <p:cNvPr id="3" name="TextBox 2">
                <a:extLst>
                  <a:ext uri="{FF2B5EF4-FFF2-40B4-BE49-F238E27FC236}">
                    <a16:creationId xmlns:a16="http://schemas.microsoft.com/office/drawing/2014/main" id="{557D77B5-4B0A-FBFF-8999-F8F9BA81C005}"/>
                  </a:ext>
                </a:extLst>
              </p:cNvPr>
              <p:cNvSpPr txBox="1">
                <a:spLocks noRot="1" noChangeAspect="1" noMove="1" noResize="1" noEditPoints="1" noAdjustHandles="1" noChangeArrowheads="1" noChangeShapeType="1" noTextEdit="1"/>
              </p:cNvSpPr>
              <p:nvPr/>
            </p:nvSpPr>
            <p:spPr>
              <a:xfrm>
                <a:off x="7817021" y="3292495"/>
                <a:ext cx="3467713" cy="200721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8C8895-B867-4A20-340A-B85808A213E1}"/>
                  </a:ext>
                </a:extLst>
              </p:cNvPr>
              <p:cNvSpPr txBox="1"/>
              <p:nvPr/>
            </p:nvSpPr>
            <p:spPr>
              <a:xfrm>
                <a:off x="0" y="732134"/>
                <a:ext cx="12192000" cy="2677656"/>
              </a:xfrm>
              <a:prstGeom prst="rect">
                <a:avLst/>
              </a:prstGeom>
              <a:noFill/>
            </p:spPr>
            <p:txBody>
              <a:bodyPr wrap="square">
                <a:spAutoFit/>
              </a:bodyPr>
              <a:lstStyle/>
              <a:p>
                <a:r>
                  <a:rPr lang="en-US" sz="2400" b="0" dirty="0">
                    <a:solidFill>
                      <a:srgbClr val="FF0000"/>
                    </a:solidFill>
                    <a:ea typeface="Cambria Math" panose="02040503050406030204" pitchFamily="18" charset="0"/>
                  </a:rPr>
                  <a:t>Regularization refers to techniques that are used to calibrate machine learning models in order to minimize the loss function and prevent overfitting</a:t>
                </a:r>
              </a:p>
              <a:p>
                <a:r>
                  <a:rPr lang="en-US" sz="2400" dirty="0">
                    <a:solidFill>
                      <a:srgbClr val="FF0000"/>
                    </a:solidFill>
                    <a:ea typeface="Cambria Math" panose="02040503050406030204" pitchFamily="18" charset="0"/>
                  </a:rPr>
                  <a:t>A</a:t>
                </a:r>
                <a:r>
                  <a:rPr lang="en-US" sz="2400" b="0" dirty="0">
                    <a:solidFill>
                      <a:srgbClr val="FF0000"/>
                    </a:solidFill>
                    <a:ea typeface="Cambria Math" panose="02040503050406030204" pitchFamily="18" charset="0"/>
                  </a:rPr>
                  <a:t>dding the penalty equivalent to the sum of the squares of the magnitude of coefficients</a:t>
                </a:r>
              </a:p>
              <a:p>
                <a:r>
                  <a:rPr lang="en-US" sz="2400" b="0" dirty="0">
                    <a:solidFill>
                      <a:srgbClr val="FF0000"/>
                    </a:solidFill>
                    <a:ea typeface="Cambria Math" panose="02040503050406030204" pitchFamily="18" charset="0"/>
                  </a:rPr>
                  <a:t>If </a:t>
                </a:r>
                <a14:m>
                  <m:oMath xmlns:m="http://schemas.openxmlformats.org/officeDocument/2006/math">
                    <m:r>
                      <a:rPr lang="el-GR" sz="2400" b="0" i="1" dirty="0" smtClean="0">
                        <a:solidFill>
                          <a:srgbClr val="FF0000"/>
                        </a:solidFill>
                        <a:latin typeface="Cambria Math" panose="02040503050406030204" pitchFamily="18" charset="0"/>
                        <a:ea typeface="Cambria Math" panose="02040503050406030204" pitchFamily="18" charset="0"/>
                      </a:rPr>
                      <m:t>𝜃</m:t>
                    </m:r>
                  </m:oMath>
                </a14:m>
                <a:r>
                  <a:rPr lang="en-US" sz="2400" dirty="0"/>
                  <a:t> increases, Cost Function, J increases</a:t>
                </a:r>
              </a:p>
              <a:p>
                <a14:m>
                  <m:oMath xmlns:m="http://schemas.openxmlformats.org/officeDocument/2006/math">
                    <m:r>
                      <m:rPr>
                        <m:sty m:val="p"/>
                      </m:rPr>
                      <a:rPr lang="el-GR" sz="2400" b="0" i="1" dirty="0" smtClean="0">
                        <a:solidFill>
                          <a:srgbClr val="FF0000"/>
                        </a:solidFill>
                        <a:latin typeface="Cambria Math" panose="02040503050406030204" pitchFamily="18" charset="0"/>
                      </a:rPr>
                      <m:t>λ</m:t>
                    </m:r>
                    <m:r>
                      <a:rPr lang="en-US" sz="2400" b="0" i="1" dirty="0" smtClean="0">
                        <a:solidFill>
                          <a:srgbClr val="FF0000"/>
                        </a:solidFill>
                        <a:latin typeface="Cambria Math" panose="02040503050406030204" pitchFamily="18" charset="0"/>
                      </a:rPr>
                      <m:t>= </m:t>
                    </m:r>
                  </m:oMath>
                </a14:m>
                <a:r>
                  <a:rPr lang="en-US" sz="2400" dirty="0"/>
                  <a:t>Hyperparameter Known as </a:t>
                </a:r>
                <a:r>
                  <a:rPr lang="en-US" sz="2400" dirty="0">
                    <a:solidFill>
                      <a:srgbClr val="FF0000"/>
                    </a:solidFill>
                  </a:rPr>
                  <a:t>regularization constant </a:t>
                </a:r>
                <a:r>
                  <a:rPr lang="en-US" sz="2400" dirty="0"/>
                  <a:t>and it is greater than zero</a:t>
                </a:r>
              </a:p>
              <a:p>
                <a:r>
                  <a:rPr lang="en-US" sz="2400" dirty="0"/>
                  <a:t>Regularization = Loss Function + Penalty</a:t>
                </a:r>
              </a:p>
              <a:p>
                <a:endParaRPr lang="en-US" sz="2400" dirty="0"/>
              </a:p>
            </p:txBody>
          </p:sp>
        </mc:Choice>
        <mc:Fallback xmlns="">
          <p:sp>
            <p:nvSpPr>
              <p:cNvPr id="6" name="TextBox 5">
                <a:extLst>
                  <a:ext uri="{FF2B5EF4-FFF2-40B4-BE49-F238E27FC236}">
                    <a16:creationId xmlns:a16="http://schemas.microsoft.com/office/drawing/2014/main" id="{088C8895-B867-4A20-340A-B85808A213E1}"/>
                  </a:ext>
                </a:extLst>
              </p:cNvPr>
              <p:cNvSpPr txBox="1">
                <a:spLocks noRot="1" noChangeAspect="1" noMove="1" noResize="1" noEditPoints="1" noAdjustHandles="1" noChangeArrowheads="1" noChangeShapeType="1" noTextEdit="1"/>
              </p:cNvSpPr>
              <p:nvPr/>
            </p:nvSpPr>
            <p:spPr>
              <a:xfrm>
                <a:off x="0" y="732134"/>
                <a:ext cx="12192000" cy="2677656"/>
              </a:xfrm>
              <a:prstGeom prst="rect">
                <a:avLst/>
              </a:prstGeom>
              <a:blipFill>
                <a:blip r:embed="rId8"/>
                <a:stretch>
                  <a:fillRect l="-750" t="-182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DAEB0AF-4F3A-C667-C491-EA1E7764C53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Ridge (L2) Regularization</a:t>
            </a:r>
          </a:p>
        </p:txBody>
      </p:sp>
      <p:sp>
        <p:nvSpPr>
          <p:cNvPr id="5" name="Freeform: Shape 4">
            <a:extLst>
              <a:ext uri="{FF2B5EF4-FFF2-40B4-BE49-F238E27FC236}">
                <a16:creationId xmlns:a16="http://schemas.microsoft.com/office/drawing/2014/main" id="{4691B54B-2F41-1A23-1717-740ECC1ADE5F}"/>
              </a:ext>
            </a:extLst>
          </p:cNvPr>
          <p:cNvSpPr/>
          <p:nvPr/>
        </p:nvSpPr>
        <p:spPr>
          <a:xfrm>
            <a:off x="4599709" y="2927927"/>
            <a:ext cx="4664364" cy="544946"/>
          </a:xfrm>
          <a:custGeom>
            <a:avLst/>
            <a:gdLst>
              <a:gd name="connsiteX0" fmla="*/ 0 w 4664364"/>
              <a:gd name="connsiteY0" fmla="*/ 0 h 544946"/>
              <a:gd name="connsiteX1" fmla="*/ 4664364 w 4664364"/>
              <a:gd name="connsiteY1" fmla="*/ 544946 h 544946"/>
            </a:gdLst>
            <a:ahLst/>
            <a:cxnLst>
              <a:cxn ang="0">
                <a:pos x="connsiteX0" y="connsiteY0"/>
              </a:cxn>
              <a:cxn ang="0">
                <a:pos x="connsiteX1" y="connsiteY1"/>
              </a:cxn>
            </a:cxnLst>
            <a:rect l="l" t="t" r="r" b="b"/>
            <a:pathLst>
              <a:path w="4664364" h="544946">
                <a:moveTo>
                  <a:pt x="0" y="0"/>
                </a:moveTo>
                <a:lnTo>
                  <a:pt x="4664364" y="544946"/>
                </a:lnTo>
              </a:path>
            </a:pathLst>
          </a:cu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7995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35631" y="3457852"/>
            <a:ext cx="4692391" cy="1004465"/>
          </a:xfrm>
          <a:prstGeom prst="rect">
            <a:avLst/>
          </a:prstGeom>
        </p:spPr>
      </p:pic>
      <p:sp>
        <p:nvSpPr>
          <p:cNvPr id="17" name="TextBox 16"/>
          <p:cNvSpPr txBox="1"/>
          <p:nvPr/>
        </p:nvSpPr>
        <p:spPr>
          <a:xfrm>
            <a:off x="829677" y="3487580"/>
            <a:ext cx="3365280" cy="748988"/>
          </a:xfrm>
          <a:prstGeom prst="rect">
            <a:avLst/>
          </a:prstGeom>
          <a:noFill/>
        </p:spPr>
        <p:txBody>
          <a:bodyPr wrap="none" rtlCol="0">
            <a:spAutoFit/>
          </a:bodyPr>
          <a:lstStyle/>
          <a:p>
            <a:r>
              <a:rPr lang="en-US" sz="4267" dirty="0"/>
              <a:t>Cost Function:</a:t>
            </a:r>
          </a:p>
        </p:txBody>
      </p:sp>
      <p:pic>
        <p:nvPicPr>
          <p:cNvPr id="2" name="Picture 1"/>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638041" y="4935221"/>
            <a:ext cx="3687572" cy="728980"/>
          </a:xfrm>
          <a:prstGeom prst="rect">
            <a:avLst/>
          </a:prstGeom>
        </p:spPr>
      </p:pic>
      <p:sp>
        <p:nvSpPr>
          <p:cNvPr id="19" name="TextBox 18"/>
          <p:cNvSpPr txBox="1"/>
          <p:nvPr/>
        </p:nvSpPr>
        <p:spPr>
          <a:xfrm>
            <a:off x="829677" y="4782900"/>
            <a:ext cx="1351652" cy="748988"/>
          </a:xfrm>
          <a:prstGeom prst="rect">
            <a:avLst/>
          </a:prstGeom>
          <a:noFill/>
        </p:spPr>
        <p:txBody>
          <a:bodyPr wrap="none" rtlCol="0">
            <a:spAutoFit/>
          </a:bodyPr>
          <a:lstStyle/>
          <a:p>
            <a:r>
              <a:rPr lang="en-US" sz="4267" dirty="0"/>
              <a:t>Goal:</a:t>
            </a:r>
          </a:p>
        </p:txBody>
      </p:sp>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6"/>
          <a:stretch>
            <a:fillRect/>
          </a:stretch>
        </p:blipFill>
        <p:spPr>
          <a:xfrm>
            <a:off x="10922000" y="6438901"/>
            <a:ext cx="1270000" cy="4191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57D77B5-4B0A-FBFF-8999-F8F9BA81C005}"/>
                  </a:ext>
                </a:extLst>
              </p:cNvPr>
              <p:cNvSpPr txBox="1"/>
              <p:nvPr/>
            </p:nvSpPr>
            <p:spPr>
              <a:xfrm>
                <a:off x="7817021" y="3292495"/>
                <a:ext cx="3467713" cy="20072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m:t>
                      </m:r>
                      <m:r>
                        <m:rPr>
                          <m:sty m:val="p"/>
                        </m:rPr>
                        <a:rPr lang="el-GR" sz="2800" b="0" i="1" dirty="0" smtClean="0">
                          <a:solidFill>
                            <a:srgbClr val="FF0000"/>
                          </a:solidFill>
                          <a:latin typeface="Cambria Math" panose="02040503050406030204" pitchFamily="18" charset="0"/>
                        </a:rPr>
                        <m:t>λ</m:t>
                      </m:r>
                      <m:nary>
                        <m:naryPr>
                          <m:chr m:val="∑"/>
                          <m:ctrlPr>
                            <a:rPr lang="el-GR" sz="2800" b="0" i="1" dirty="0" smtClean="0">
                              <a:solidFill>
                                <a:srgbClr val="FF0000"/>
                              </a:solidFill>
                              <a:latin typeface="Cambria Math" panose="02040503050406030204" pitchFamily="18" charset="0"/>
                            </a:rPr>
                          </m:ctrlPr>
                        </m:naryPr>
                        <m:sub>
                          <m:r>
                            <m:rPr>
                              <m:brk m:alnAt="23"/>
                            </m:rPr>
                            <a:rPr lang="en-US" sz="2800" b="0" i="1" dirty="0" smtClean="0">
                              <a:solidFill>
                                <a:srgbClr val="FF0000"/>
                              </a:solidFill>
                              <a:latin typeface="Cambria Math" panose="02040503050406030204" pitchFamily="18" charset="0"/>
                            </a:rPr>
                            <m:t>𝑖</m:t>
                          </m:r>
                          <m:r>
                            <a:rPr lang="en-US" sz="2800" b="0" i="1" dirty="0" smtClean="0">
                              <a:solidFill>
                                <a:srgbClr val="FF0000"/>
                              </a:solidFill>
                              <a:latin typeface="Cambria Math" panose="02040503050406030204" pitchFamily="18" charset="0"/>
                            </a:rPr>
                            <m:t>=1</m:t>
                          </m:r>
                        </m:sub>
                        <m:sup>
                          <m:r>
                            <a:rPr lang="en-US" sz="2800" b="0" i="1" dirty="0" smtClean="0">
                              <a:solidFill>
                                <a:srgbClr val="FF0000"/>
                              </a:solidFill>
                              <a:latin typeface="Cambria Math" panose="02040503050406030204" pitchFamily="18" charset="0"/>
                            </a:rPr>
                            <m:t>𝑛</m:t>
                          </m:r>
                        </m:sup>
                        <m:e>
                          <m:d>
                            <m:dPr>
                              <m:begChr m:val="|"/>
                              <m:endChr m:val="|"/>
                              <m:ctrlPr>
                                <a:rPr lang="en-US" sz="2800" b="0" i="1" dirty="0" smtClean="0">
                                  <a:solidFill>
                                    <a:srgbClr val="FF0000"/>
                                  </a:solidFill>
                                  <a:latin typeface="Cambria Math" panose="02040503050406030204" pitchFamily="18" charset="0"/>
                                </a:rPr>
                              </m:ctrlPr>
                            </m:dPr>
                            <m:e>
                              <m:sSub>
                                <m:sSubPr>
                                  <m:ctrlPr>
                                    <a:rPr lang="en-US" sz="2800" b="0" i="1" dirty="0" smtClean="0">
                                      <a:solidFill>
                                        <a:srgbClr val="FF0000"/>
                                      </a:solidFill>
                                      <a:latin typeface="Cambria Math" panose="02040503050406030204" pitchFamily="18" charset="0"/>
                                    </a:rPr>
                                  </m:ctrlPr>
                                </m:sSubPr>
                                <m:e>
                                  <m:r>
                                    <a:rPr lang="el-GR" sz="2800" i="1" dirty="0">
                                      <a:solidFill>
                                        <a:srgbClr val="FF0000"/>
                                      </a:solidFill>
                                      <a:latin typeface="Cambria Math" panose="02040503050406030204" pitchFamily="18" charset="0"/>
                                      <a:ea typeface="Cambria Math" panose="02040503050406030204" pitchFamily="18" charset="0"/>
                                    </a:rPr>
                                    <m:t>𝜃</m:t>
                                  </m:r>
                                </m:e>
                                <m:sub>
                                  <m:r>
                                    <a:rPr lang="en-US" sz="2800" b="0" i="1" dirty="0" smtClean="0">
                                      <a:solidFill>
                                        <a:srgbClr val="FF0000"/>
                                      </a:solidFill>
                                      <a:latin typeface="Cambria Math" panose="02040503050406030204" pitchFamily="18" charset="0"/>
                                    </a:rPr>
                                    <m:t>𝑖</m:t>
                                  </m:r>
                                </m:sub>
                              </m:sSub>
                            </m:e>
                          </m:d>
                        </m:e>
                      </m:nary>
                    </m:oMath>
                  </m:oMathPara>
                </a14:m>
                <a:endParaRPr lang="en-US" sz="2800" dirty="0"/>
              </a:p>
              <a:p>
                <a:endParaRPr lang="en-US" sz="2400" dirty="0"/>
              </a:p>
              <a:p>
                <a:endParaRPr lang="en-US" sz="2400" dirty="0"/>
              </a:p>
            </p:txBody>
          </p:sp>
        </mc:Choice>
        <mc:Fallback xmlns="">
          <p:sp>
            <p:nvSpPr>
              <p:cNvPr id="3" name="TextBox 2">
                <a:extLst>
                  <a:ext uri="{FF2B5EF4-FFF2-40B4-BE49-F238E27FC236}">
                    <a16:creationId xmlns:a16="http://schemas.microsoft.com/office/drawing/2014/main" id="{557D77B5-4B0A-FBFF-8999-F8F9BA81C005}"/>
                  </a:ext>
                </a:extLst>
              </p:cNvPr>
              <p:cNvSpPr txBox="1">
                <a:spLocks noRot="1" noChangeAspect="1" noMove="1" noResize="1" noEditPoints="1" noAdjustHandles="1" noChangeArrowheads="1" noChangeShapeType="1" noTextEdit="1"/>
              </p:cNvSpPr>
              <p:nvPr/>
            </p:nvSpPr>
            <p:spPr>
              <a:xfrm>
                <a:off x="7817021" y="3292495"/>
                <a:ext cx="3467713" cy="200721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8C8895-B867-4A20-340A-B85808A213E1}"/>
                  </a:ext>
                </a:extLst>
              </p:cNvPr>
              <p:cNvSpPr txBox="1"/>
              <p:nvPr/>
            </p:nvSpPr>
            <p:spPr>
              <a:xfrm>
                <a:off x="0" y="732134"/>
                <a:ext cx="12192000" cy="830997"/>
              </a:xfrm>
              <a:prstGeom prst="rect">
                <a:avLst/>
              </a:prstGeom>
              <a:noFill/>
            </p:spPr>
            <p:txBody>
              <a:bodyPr wrap="square">
                <a:spAutoFit/>
              </a:bodyPr>
              <a:lstStyle/>
              <a:p>
                <a:r>
                  <a:rPr lang="en-US" sz="2400" b="0" dirty="0">
                    <a:solidFill>
                      <a:srgbClr val="FF0000"/>
                    </a:solidFill>
                    <a:ea typeface="Cambria Math" panose="02040503050406030204" pitchFamily="18" charset="0"/>
                  </a:rPr>
                  <a:t>If </a:t>
                </a:r>
                <a14:m>
                  <m:oMath xmlns:m="http://schemas.openxmlformats.org/officeDocument/2006/math">
                    <m:r>
                      <a:rPr lang="el-GR" sz="2400" b="0" i="1" dirty="0" smtClean="0">
                        <a:solidFill>
                          <a:srgbClr val="FF0000"/>
                        </a:solidFill>
                        <a:latin typeface="Cambria Math" panose="02040503050406030204" pitchFamily="18" charset="0"/>
                        <a:ea typeface="Cambria Math" panose="02040503050406030204" pitchFamily="18" charset="0"/>
                      </a:rPr>
                      <m:t>𝜃</m:t>
                    </m:r>
                  </m:oMath>
                </a14:m>
                <a:r>
                  <a:rPr lang="en-US" sz="2400" dirty="0"/>
                  <a:t> increases, Cost Function, J increases</a:t>
                </a:r>
              </a:p>
              <a:p>
                <a:r>
                  <a:rPr lang="en-US" sz="2400" dirty="0"/>
                  <a:t>penalty equivalent to the sum of the absolute values of coefficients</a:t>
                </a:r>
              </a:p>
            </p:txBody>
          </p:sp>
        </mc:Choice>
        <mc:Fallback xmlns="">
          <p:sp>
            <p:nvSpPr>
              <p:cNvPr id="6" name="TextBox 5">
                <a:extLst>
                  <a:ext uri="{FF2B5EF4-FFF2-40B4-BE49-F238E27FC236}">
                    <a16:creationId xmlns:a16="http://schemas.microsoft.com/office/drawing/2014/main" id="{088C8895-B867-4A20-340A-B85808A213E1}"/>
                  </a:ext>
                </a:extLst>
              </p:cNvPr>
              <p:cNvSpPr txBox="1">
                <a:spLocks noRot="1" noChangeAspect="1" noMove="1" noResize="1" noEditPoints="1" noAdjustHandles="1" noChangeArrowheads="1" noChangeShapeType="1" noTextEdit="1"/>
              </p:cNvSpPr>
              <p:nvPr/>
            </p:nvSpPr>
            <p:spPr>
              <a:xfrm>
                <a:off x="0" y="732134"/>
                <a:ext cx="12192000" cy="830997"/>
              </a:xfrm>
              <a:prstGeom prst="rect">
                <a:avLst/>
              </a:prstGeom>
              <a:blipFill>
                <a:blip r:embed="rId8"/>
                <a:stretch>
                  <a:fillRect l="-750" t="-5882" b="-1617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DAEB0AF-4F3A-C667-C491-EA1E7764C53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Lasso L1 Regularization</a:t>
            </a:r>
          </a:p>
        </p:txBody>
      </p:sp>
    </p:spTree>
    <p:extLst>
      <p:ext uri="{BB962C8B-B14F-4D97-AF65-F5344CB8AC3E}">
        <p14:creationId xmlns:p14="http://schemas.microsoft.com/office/powerpoint/2010/main" val="6016591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2"/>
          <a:stretch>
            <a:fillRect/>
          </a:stretch>
        </p:blipFill>
        <p:spPr>
          <a:xfrm>
            <a:off x="10922000" y="6438901"/>
            <a:ext cx="1270000" cy="419100"/>
          </a:xfrm>
          <a:prstGeom prst="rect">
            <a:avLst/>
          </a:prstGeom>
        </p:spPr>
      </p:pic>
      <p:sp>
        <p:nvSpPr>
          <p:cNvPr id="6" name="TextBox 5">
            <a:extLst>
              <a:ext uri="{FF2B5EF4-FFF2-40B4-BE49-F238E27FC236}">
                <a16:creationId xmlns:a16="http://schemas.microsoft.com/office/drawing/2014/main" id="{088C8895-B867-4A20-340A-B85808A213E1}"/>
              </a:ext>
            </a:extLst>
          </p:cNvPr>
          <p:cNvSpPr txBox="1"/>
          <p:nvPr/>
        </p:nvSpPr>
        <p:spPr>
          <a:xfrm>
            <a:off x="0" y="732134"/>
            <a:ext cx="12192000" cy="1200329"/>
          </a:xfrm>
          <a:prstGeom prst="rect">
            <a:avLst/>
          </a:prstGeom>
          <a:noFill/>
        </p:spPr>
        <p:txBody>
          <a:bodyPr wrap="square">
            <a:spAutoFit/>
          </a:bodyPr>
          <a:lstStyle/>
          <a:p>
            <a:r>
              <a:rPr lang="en-US" sz="2400" dirty="0">
                <a:solidFill>
                  <a:srgbClr val="FF0000"/>
                </a:solidFill>
                <a:ea typeface="Cambria Math" panose="02040503050406030204" pitchFamily="18" charset="0"/>
              </a:rPr>
              <a:t>Elastic net linear regression uses the penalties from both the lasso and ridge techniques to regularize regression models. </a:t>
            </a:r>
          </a:p>
          <a:p>
            <a:endParaRPr lang="en-US" sz="2400" dirty="0"/>
          </a:p>
        </p:txBody>
      </p:sp>
      <p:sp>
        <p:nvSpPr>
          <p:cNvPr id="7" name="TextBox 6">
            <a:extLst>
              <a:ext uri="{FF2B5EF4-FFF2-40B4-BE49-F238E27FC236}">
                <a16:creationId xmlns:a16="http://schemas.microsoft.com/office/drawing/2014/main" id="{EDAEB0AF-4F3A-C667-C491-EA1E7764C53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Elastic Net Regularization</a:t>
            </a:r>
          </a:p>
        </p:txBody>
      </p:sp>
      <p:pic>
        <p:nvPicPr>
          <p:cNvPr id="8" name="Picture 7">
            <a:extLst>
              <a:ext uri="{FF2B5EF4-FFF2-40B4-BE49-F238E27FC236}">
                <a16:creationId xmlns:a16="http://schemas.microsoft.com/office/drawing/2014/main" id="{2798E985-1AB5-4049-B541-4CB9693B76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5293" y="1809150"/>
            <a:ext cx="6712943" cy="1200328"/>
          </a:xfrm>
          <a:prstGeom prst="rect">
            <a:avLst/>
          </a:prstGeom>
        </p:spPr>
      </p:pic>
      <p:pic>
        <p:nvPicPr>
          <p:cNvPr id="10" name="Picture 9">
            <a:extLst>
              <a:ext uri="{FF2B5EF4-FFF2-40B4-BE49-F238E27FC236}">
                <a16:creationId xmlns:a16="http://schemas.microsoft.com/office/drawing/2014/main" id="{0E0E10B9-CD6E-4869-B80B-3610244092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9522" y="3167400"/>
            <a:ext cx="5772956" cy="1705213"/>
          </a:xfrm>
          <a:prstGeom prst="rect">
            <a:avLst/>
          </a:prstGeom>
        </p:spPr>
      </p:pic>
      <p:sp>
        <p:nvSpPr>
          <p:cNvPr id="15" name="TextBox 14">
            <a:extLst>
              <a:ext uri="{FF2B5EF4-FFF2-40B4-BE49-F238E27FC236}">
                <a16:creationId xmlns:a16="http://schemas.microsoft.com/office/drawing/2014/main" id="{36C0C21C-5B6B-44E8-A729-587FEB521C3F}"/>
              </a:ext>
            </a:extLst>
          </p:cNvPr>
          <p:cNvSpPr txBox="1"/>
          <p:nvPr/>
        </p:nvSpPr>
        <p:spPr>
          <a:xfrm>
            <a:off x="0" y="4972275"/>
            <a:ext cx="12192000" cy="1708160"/>
          </a:xfrm>
          <a:prstGeom prst="rect">
            <a:avLst/>
          </a:prstGeom>
          <a:noFill/>
        </p:spPr>
        <p:txBody>
          <a:bodyPr wrap="square">
            <a:spAutoFit/>
          </a:bodyPr>
          <a:lstStyle/>
          <a:p>
            <a:r>
              <a:rPr lang="en-US" sz="2100" b="0" i="0" dirty="0">
                <a:solidFill>
                  <a:srgbClr val="000000"/>
                </a:solidFill>
                <a:effectLst/>
              </a:rPr>
              <a:t>Elastic net regression acts as both lasso and ridge, and we can control its behavior with a hyperparameter known as L1 ratio, </a:t>
            </a:r>
            <a:r>
              <a:rPr lang="en-US" sz="2100" b="0" i="0" dirty="0">
                <a:solidFill>
                  <a:srgbClr val="FF0000"/>
                </a:solidFill>
                <a:effectLst/>
              </a:rPr>
              <a:t>mathematically denoted as ‘r’</a:t>
            </a:r>
            <a:r>
              <a:rPr lang="en-US" sz="2100" b="0" i="0" dirty="0">
                <a:solidFill>
                  <a:srgbClr val="000000"/>
                </a:solidFill>
                <a:effectLst/>
              </a:rPr>
              <a:t>. A value of r is set between 0 and 1. If</a:t>
            </a:r>
            <a:r>
              <a:rPr lang="en-US" sz="2100" b="0" i="1" dirty="0">
                <a:solidFill>
                  <a:srgbClr val="000000"/>
                </a:solidFill>
                <a:effectLst/>
              </a:rPr>
              <a:t> r=0.5</a:t>
            </a:r>
            <a:r>
              <a:rPr lang="en-US" sz="2100" b="0" i="0" dirty="0">
                <a:solidFill>
                  <a:srgbClr val="000000"/>
                </a:solidFill>
                <a:effectLst/>
              </a:rPr>
              <a:t>,  elastic net behaves like Lasso and Ridge equivalently. Decreasing the value of </a:t>
            </a:r>
            <a:r>
              <a:rPr lang="en-US" sz="2100" b="0" i="1" dirty="0">
                <a:solidFill>
                  <a:srgbClr val="000000"/>
                </a:solidFill>
                <a:effectLst/>
              </a:rPr>
              <a:t>r</a:t>
            </a:r>
            <a:r>
              <a:rPr lang="en-US" sz="2100" b="0" i="0" dirty="0">
                <a:solidFill>
                  <a:srgbClr val="000000"/>
                </a:solidFill>
                <a:effectLst/>
              </a:rPr>
              <a:t> from 0.5 to 0, Elastic net behaves roughly as Ridge, but at 0, it completely behaves as Ridge regression. If the value of </a:t>
            </a:r>
            <a:r>
              <a:rPr lang="en-US" sz="2100" b="0" i="1" dirty="0">
                <a:solidFill>
                  <a:srgbClr val="000000"/>
                </a:solidFill>
                <a:effectLst/>
              </a:rPr>
              <a:t>r</a:t>
            </a:r>
            <a:r>
              <a:rPr lang="en-US" sz="2100" b="0" i="0" dirty="0">
                <a:solidFill>
                  <a:srgbClr val="000000"/>
                </a:solidFill>
                <a:effectLst/>
              </a:rPr>
              <a:t> changes from 0.5 to 1, Elastic net behaves like Lasso, but at 1, it will completely behave as Lasso regression</a:t>
            </a:r>
            <a:endParaRPr lang="en-US" sz="2100" dirty="0"/>
          </a:p>
        </p:txBody>
      </p:sp>
    </p:spTree>
    <p:extLst>
      <p:ext uri="{BB962C8B-B14F-4D97-AF65-F5344CB8AC3E}">
        <p14:creationId xmlns:p14="http://schemas.microsoft.com/office/powerpoint/2010/main" val="22513862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2"/>
          <a:stretch>
            <a:fillRect/>
          </a:stretch>
        </p:blipFill>
        <p:spPr>
          <a:xfrm>
            <a:off x="10922000" y="6438901"/>
            <a:ext cx="1270000" cy="419100"/>
          </a:xfrm>
          <a:prstGeom prst="rect">
            <a:avLst/>
          </a:prstGeom>
        </p:spPr>
      </p:pic>
      <p:sp>
        <p:nvSpPr>
          <p:cNvPr id="3" name="TextBox 2">
            <a:extLst>
              <a:ext uri="{FF2B5EF4-FFF2-40B4-BE49-F238E27FC236}">
                <a16:creationId xmlns:a16="http://schemas.microsoft.com/office/drawing/2014/main" id="{0D9C3823-BC9A-92C0-DC3A-B85DB85846BF}"/>
              </a:ext>
            </a:extLst>
          </p:cNvPr>
          <p:cNvSpPr txBox="1"/>
          <p:nvPr/>
        </p:nvSpPr>
        <p:spPr>
          <a:xfrm>
            <a:off x="1124857" y="0"/>
            <a:ext cx="9714777" cy="584775"/>
          </a:xfrm>
          <a:prstGeom prst="rect">
            <a:avLst/>
          </a:prstGeom>
          <a:noFill/>
        </p:spPr>
        <p:txBody>
          <a:bodyPr wrap="square" rtlCol="0">
            <a:spAutoFit/>
          </a:bodyPr>
          <a:lstStyle/>
          <a:p>
            <a:r>
              <a:rPr lang="en-US" sz="3200" b="1" dirty="0" err="1">
                <a:solidFill>
                  <a:srgbClr val="FF0000"/>
                </a:solidFill>
              </a:rPr>
              <a:t>sklearn.linear_model.SGDRegressor</a:t>
            </a:r>
            <a:endParaRPr lang="en-US" sz="3200" b="1" dirty="0">
              <a:solidFill>
                <a:srgbClr val="FF0000"/>
              </a:solidFill>
            </a:endParaRPr>
          </a:p>
        </p:txBody>
      </p:sp>
      <p:sp>
        <p:nvSpPr>
          <p:cNvPr id="7" name="TextBox 6">
            <a:extLst>
              <a:ext uri="{FF2B5EF4-FFF2-40B4-BE49-F238E27FC236}">
                <a16:creationId xmlns:a16="http://schemas.microsoft.com/office/drawing/2014/main" id="{B88D480A-410B-B22D-ACFE-DDCD25166683}"/>
              </a:ext>
            </a:extLst>
          </p:cNvPr>
          <p:cNvSpPr txBox="1"/>
          <p:nvPr/>
        </p:nvSpPr>
        <p:spPr>
          <a:xfrm>
            <a:off x="0" y="742986"/>
            <a:ext cx="12192000" cy="5632311"/>
          </a:xfrm>
          <a:prstGeom prst="rect">
            <a:avLst/>
          </a:prstGeom>
          <a:noFill/>
        </p:spPr>
        <p:txBody>
          <a:bodyPr wrap="square">
            <a:spAutoFit/>
          </a:bodyPr>
          <a:lstStyle/>
          <a:p>
            <a:r>
              <a:rPr lang="en-US" sz="2400" b="0" i="0" dirty="0">
                <a:solidFill>
                  <a:srgbClr val="212529"/>
                </a:solidFill>
                <a:effectLst/>
              </a:rPr>
              <a:t>Linear model fitted by minimizing a regularized empirical loss with SGD</a:t>
            </a:r>
          </a:p>
          <a:p>
            <a:endParaRPr lang="en-US" sz="2400" dirty="0">
              <a:solidFill>
                <a:srgbClr val="212529"/>
              </a:solidFill>
            </a:endParaRPr>
          </a:p>
          <a:p>
            <a:r>
              <a:rPr lang="en-US" sz="2400" dirty="0"/>
              <a:t>class </a:t>
            </a:r>
            <a:r>
              <a:rPr lang="en-US" sz="2400" dirty="0" err="1"/>
              <a:t>sklearn.linear_model.SGDRegressor</a:t>
            </a:r>
            <a:r>
              <a:rPr lang="en-US" sz="2400" dirty="0"/>
              <a:t>(loss='</a:t>
            </a:r>
            <a:r>
              <a:rPr lang="en-US" sz="2400" dirty="0" err="1"/>
              <a:t>squared_error</a:t>
            </a:r>
            <a:r>
              <a:rPr lang="en-US" sz="2400" dirty="0"/>
              <a:t>', *, penalty='l2', alpha=0.0001, l1_ratio=0.15, </a:t>
            </a:r>
            <a:r>
              <a:rPr lang="en-US" sz="2400" dirty="0" err="1"/>
              <a:t>fit_intercept</a:t>
            </a:r>
            <a:r>
              <a:rPr lang="en-US" sz="2400" dirty="0"/>
              <a:t>=True, </a:t>
            </a:r>
            <a:r>
              <a:rPr lang="en-US" sz="2400" dirty="0" err="1"/>
              <a:t>max_iter</a:t>
            </a:r>
            <a:r>
              <a:rPr lang="en-US" sz="2400" dirty="0"/>
              <a:t>=1000, </a:t>
            </a:r>
            <a:r>
              <a:rPr lang="en-US" sz="2400" dirty="0" err="1"/>
              <a:t>tol</a:t>
            </a:r>
            <a:r>
              <a:rPr lang="en-US" sz="2400" dirty="0"/>
              <a:t>=0.001, shuffle=True, verbose=0, epsilon=0.1, </a:t>
            </a:r>
            <a:r>
              <a:rPr lang="en-US" sz="2400" dirty="0" err="1"/>
              <a:t>random_state</a:t>
            </a:r>
            <a:r>
              <a:rPr lang="en-US" sz="2400" dirty="0"/>
              <a:t>=None, </a:t>
            </a:r>
            <a:r>
              <a:rPr lang="en-US" sz="2400" dirty="0" err="1">
                <a:solidFill>
                  <a:srgbClr val="FF0000"/>
                </a:solidFill>
              </a:rPr>
              <a:t>learning_rate</a:t>
            </a:r>
            <a:r>
              <a:rPr lang="en-US" sz="2400" dirty="0">
                <a:solidFill>
                  <a:srgbClr val="FF0000"/>
                </a:solidFill>
              </a:rPr>
              <a:t>='</a:t>
            </a:r>
            <a:r>
              <a:rPr lang="en-US" sz="2400" dirty="0" err="1">
                <a:solidFill>
                  <a:srgbClr val="FF0000"/>
                </a:solidFill>
              </a:rPr>
              <a:t>invscaling</a:t>
            </a:r>
            <a:r>
              <a:rPr lang="en-US" sz="2400" dirty="0">
                <a:solidFill>
                  <a:srgbClr val="FF0000"/>
                </a:solidFill>
              </a:rPr>
              <a:t>', </a:t>
            </a:r>
            <a:r>
              <a:rPr lang="en-US" sz="2400" dirty="0"/>
              <a:t>eta0=0.01, </a:t>
            </a:r>
            <a:r>
              <a:rPr lang="en-US" sz="2400" dirty="0" err="1"/>
              <a:t>power_t</a:t>
            </a:r>
            <a:r>
              <a:rPr lang="en-US" sz="2400" dirty="0"/>
              <a:t>=0.25, </a:t>
            </a:r>
            <a:r>
              <a:rPr lang="en-US" sz="2400" dirty="0" err="1"/>
              <a:t>early_stopping</a:t>
            </a:r>
            <a:r>
              <a:rPr lang="en-US" sz="2400" dirty="0"/>
              <a:t>=False, </a:t>
            </a:r>
            <a:r>
              <a:rPr lang="en-US" sz="2400" dirty="0" err="1"/>
              <a:t>validation_fraction</a:t>
            </a:r>
            <a:r>
              <a:rPr lang="en-US" sz="2400" dirty="0"/>
              <a:t>=0.1, </a:t>
            </a:r>
            <a:r>
              <a:rPr lang="en-US" sz="2400" dirty="0" err="1"/>
              <a:t>n_iter_no_change</a:t>
            </a:r>
            <a:r>
              <a:rPr lang="en-US" sz="2400" dirty="0"/>
              <a:t>=5, </a:t>
            </a:r>
            <a:r>
              <a:rPr lang="en-US" sz="2400" dirty="0" err="1"/>
              <a:t>warm_start</a:t>
            </a:r>
            <a:r>
              <a:rPr lang="en-US" sz="2400" dirty="0"/>
              <a:t>=False, average=False)</a:t>
            </a:r>
          </a:p>
          <a:p>
            <a:r>
              <a:rPr lang="en-US" sz="2400" dirty="0" err="1">
                <a:solidFill>
                  <a:srgbClr val="FF0000"/>
                </a:solidFill>
              </a:rPr>
              <a:t>max_iterant</a:t>
            </a:r>
            <a:r>
              <a:rPr lang="en-US" sz="2400" dirty="0"/>
              <a:t>: The maximum number of passes over the training data (</a:t>
            </a:r>
            <a:r>
              <a:rPr lang="en-US" sz="2400" dirty="0">
                <a:solidFill>
                  <a:srgbClr val="FF0000"/>
                </a:solidFill>
              </a:rPr>
              <a:t>epochs</a:t>
            </a:r>
            <a:r>
              <a:rPr lang="en-US" sz="2400" dirty="0"/>
              <a:t>)</a:t>
            </a:r>
          </a:p>
          <a:p>
            <a:r>
              <a:rPr lang="en-US" sz="2400" dirty="0" err="1">
                <a:solidFill>
                  <a:srgbClr val="FF0000"/>
                </a:solidFill>
              </a:rPr>
              <a:t>early_stopping</a:t>
            </a:r>
            <a:r>
              <a:rPr lang="en-US" sz="2400" dirty="0"/>
              <a:t>: Whether to use early stopping to terminate training when validation score is not improving</a:t>
            </a:r>
          </a:p>
          <a:p>
            <a:r>
              <a:rPr lang="en-US" sz="2400" dirty="0">
                <a:solidFill>
                  <a:srgbClr val="FF0000"/>
                </a:solidFill>
              </a:rPr>
              <a:t>Huber loss </a:t>
            </a:r>
            <a:r>
              <a:rPr lang="en-US" sz="2400" dirty="0"/>
              <a:t>is a loss function that is less sensitive to outliers in data than the squared error loss</a:t>
            </a:r>
          </a:p>
          <a:p>
            <a:r>
              <a:rPr lang="en-US" sz="2400" dirty="0">
                <a:solidFill>
                  <a:srgbClr val="FF0000"/>
                </a:solidFill>
              </a:rPr>
              <a:t>Alpha</a:t>
            </a:r>
            <a:r>
              <a:rPr lang="en-US" sz="2400" dirty="0"/>
              <a:t>: regularization term</a:t>
            </a:r>
          </a:p>
          <a:p>
            <a:r>
              <a:rPr lang="en-US" sz="2400" dirty="0"/>
              <a:t>l1_ratio: Elastic Net constant</a:t>
            </a:r>
          </a:p>
          <a:p>
            <a:r>
              <a:rPr lang="en-US" sz="2400" dirty="0" err="1"/>
              <a:t>early_stoppingbool</a:t>
            </a:r>
            <a:r>
              <a:rPr lang="en-US" sz="2400" dirty="0"/>
              <a:t>, default=False</a:t>
            </a:r>
          </a:p>
          <a:p>
            <a:r>
              <a:rPr lang="en-US" sz="2400" dirty="0"/>
              <a:t>Whether to use early stopping to terminate training when validation score is not improving</a:t>
            </a:r>
          </a:p>
        </p:txBody>
      </p:sp>
    </p:spTree>
    <p:extLst>
      <p:ext uri="{BB962C8B-B14F-4D97-AF65-F5344CB8AC3E}">
        <p14:creationId xmlns:p14="http://schemas.microsoft.com/office/powerpoint/2010/main" val="3454768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custDataLst>
              <p:tags r:id="rId1"/>
            </p:custDataLst>
          </p:nvPr>
        </p:nvPicPr>
        <p:blipFill>
          <a:blip r:embed="rId3">
            <a:extLst>
              <a:ext uri="{28A0092B-C50C-407E-A947-70E740481C1C}">
                <a14:useLocalDpi xmlns:a14="http://schemas.microsoft.com/office/drawing/2010/main" val="0"/>
              </a:ext>
            </a:extLst>
          </a:blip>
          <a:srcRect/>
          <a:stretch/>
        </p:blipFill>
        <p:spPr>
          <a:xfrm>
            <a:off x="141915" y="1563131"/>
            <a:ext cx="3230714" cy="2243552"/>
          </a:xfrm>
          <a:prstGeom prst="rect">
            <a:avLst/>
          </a:prstGeom>
        </p:spPr>
      </p:pic>
      <p:pic>
        <p:nvPicPr>
          <p:cNvPr id="11" name="Picture 10">
            <a:extLst>
              <a:ext uri="{FF2B5EF4-FFF2-40B4-BE49-F238E27FC236}">
                <a16:creationId xmlns:a16="http://schemas.microsoft.com/office/drawing/2014/main" id="{2B1FBE92-B771-478E-BC9E-9EBF9852AE2F}"/>
              </a:ext>
            </a:extLst>
          </p:cNvPr>
          <p:cNvPicPr>
            <a:picLocks noChangeAspect="1"/>
          </p:cNvPicPr>
          <p:nvPr/>
        </p:nvPicPr>
        <p:blipFill>
          <a:blip r:embed="rId4"/>
          <a:stretch>
            <a:fillRect/>
          </a:stretch>
        </p:blipFill>
        <p:spPr>
          <a:xfrm>
            <a:off x="10922000" y="6438901"/>
            <a:ext cx="1270000" cy="419100"/>
          </a:xfrm>
          <a:prstGeom prst="rect">
            <a:avLst/>
          </a:prstGeom>
        </p:spPr>
      </p:pic>
      <p:sp>
        <p:nvSpPr>
          <p:cNvPr id="6" name="TextBox 5">
            <a:extLst>
              <a:ext uri="{FF2B5EF4-FFF2-40B4-BE49-F238E27FC236}">
                <a16:creationId xmlns:a16="http://schemas.microsoft.com/office/drawing/2014/main" id="{088C8895-B867-4A20-340A-B85808A213E1}"/>
              </a:ext>
            </a:extLst>
          </p:cNvPr>
          <p:cNvSpPr txBox="1"/>
          <p:nvPr/>
        </p:nvSpPr>
        <p:spPr>
          <a:xfrm>
            <a:off x="0" y="732134"/>
            <a:ext cx="12192000" cy="6370975"/>
          </a:xfrm>
          <a:prstGeom prst="rect">
            <a:avLst/>
          </a:prstGeom>
          <a:noFill/>
        </p:spPr>
        <p:txBody>
          <a:bodyPr wrap="square">
            <a:spAutoFit/>
          </a:bodyPr>
          <a:lstStyle/>
          <a:p>
            <a:r>
              <a:rPr lang="en-US" sz="2400" dirty="0">
                <a:ea typeface="Cambria Math" panose="02040503050406030204" pitchFamily="18" charset="0"/>
              </a:rPr>
              <a:t>1. Mean Absolute Error(MAE)</a:t>
            </a:r>
          </a:p>
          <a:p>
            <a:r>
              <a:rPr lang="en-US" sz="2400" dirty="0">
                <a:ea typeface="Cambria Math" panose="02040503050406030204" pitchFamily="18" charset="0"/>
              </a:rPr>
              <a:t>MAE calculates the absolute difference between actual and predicted values</a:t>
            </a:r>
          </a:p>
          <a:p>
            <a:endParaRPr lang="en-US" sz="2400" dirty="0">
              <a:ea typeface="Cambria Math" panose="02040503050406030204" pitchFamily="18" charset="0"/>
            </a:endParaRPr>
          </a:p>
          <a:p>
            <a:endParaRPr lang="en-US" sz="2400" dirty="0">
              <a:ea typeface="Cambria Math" panose="02040503050406030204" pitchFamily="18" charset="0"/>
            </a:endParaRPr>
          </a:p>
          <a:p>
            <a:endParaRPr lang="en-US" sz="2400" dirty="0">
              <a:ea typeface="Cambria Math" panose="02040503050406030204" pitchFamily="18" charset="0"/>
            </a:endParaRPr>
          </a:p>
          <a:p>
            <a:endParaRPr lang="en-US" sz="2400" dirty="0">
              <a:ea typeface="Cambria Math" panose="02040503050406030204" pitchFamily="18" charset="0"/>
            </a:endParaRPr>
          </a:p>
          <a:p>
            <a:endParaRPr lang="en-US" sz="2400" dirty="0">
              <a:ea typeface="Cambria Math" panose="02040503050406030204" pitchFamily="18" charset="0"/>
            </a:endParaRPr>
          </a:p>
          <a:p>
            <a:endParaRPr lang="en-US" sz="2400" dirty="0">
              <a:ea typeface="Cambria Math" panose="02040503050406030204" pitchFamily="18" charset="0"/>
            </a:endParaRPr>
          </a:p>
          <a:p>
            <a:endParaRPr lang="en-US" sz="2400" dirty="0">
              <a:ea typeface="Cambria Math" panose="02040503050406030204" pitchFamily="18" charset="0"/>
            </a:endParaRPr>
          </a:p>
          <a:p>
            <a:r>
              <a:rPr lang="en-US" sz="2400" dirty="0">
                <a:solidFill>
                  <a:schemeClr val="accent1"/>
                </a:solidFill>
              </a:rPr>
              <a:t>from </a:t>
            </a:r>
            <a:r>
              <a:rPr lang="en-US" sz="2400" dirty="0" err="1">
                <a:solidFill>
                  <a:schemeClr val="accent1"/>
                </a:solidFill>
              </a:rPr>
              <a:t>sklearn.metrics</a:t>
            </a:r>
            <a:r>
              <a:rPr lang="en-US" sz="2400" dirty="0">
                <a:solidFill>
                  <a:schemeClr val="accent1"/>
                </a:solidFill>
              </a:rPr>
              <a:t> import </a:t>
            </a:r>
            <a:r>
              <a:rPr lang="en-US" sz="2400" dirty="0" err="1">
                <a:solidFill>
                  <a:schemeClr val="accent1"/>
                </a:solidFill>
              </a:rPr>
              <a:t>mean_absolute_error</a:t>
            </a:r>
            <a:endParaRPr lang="en-US" sz="2400" dirty="0">
              <a:solidFill>
                <a:schemeClr val="accent1"/>
              </a:solidFill>
            </a:endParaRPr>
          </a:p>
          <a:p>
            <a:r>
              <a:rPr lang="en-US" sz="2400" dirty="0">
                <a:solidFill>
                  <a:schemeClr val="accent1"/>
                </a:solidFill>
              </a:rPr>
              <a:t>print("MAE",</a:t>
            </a:r>
            <a:r>
              <a:rPr lang="en-US" sz="2400" dirty="0" err="1">
                <a:solidFill>
                  <a:schemeClr val="accent1"/>
                </a:solidFill>
              </a:rPr>
              <a:t>mean_absolute_error</a:t>
            </a:r>
            <a:r>
              <a:rPr lang="en-US" sz="2400" dirty="0">
                <a:solidFill>
                  <a:schemeClr val="accent1"/>
                </a:solidFill>
              </a:rPr>
              <a:t>(</a:t>
            </a:r>
            <a:r>
              <a:rPr lang="en-US" sz="2400" dirty="0" err="1">
                <a:solidFill>
                  <a:schemeClr val="accent1"/>
                </a:solidFill>
              </a:rPr>
              <a:t>y_test,y_pred</a:t>
            </a:r>
            <a:r>
              <a:rPr lang="en-US" sz="2400" dirty="0">
                <a:solidFill>
                  <a:schemeClr val="accent1"/>
                </a:solidFill>
              </a:rPr>
              <a:t>))</a:t>
            </a:r>
          </a:p>
          <a:p>
            <a:endParaRPr lang="en-US" sz="2400" dirty="0"/>
          </a:p>
          <a:p>
            <a:r>
              <a:rPr lang="en-US" sz="2400" dirty="0"/>
              <a:t>2. Mean Squared Error(MSE)</a:t>
            </a:r>
          </a:p>
          <a:p>
            <a:r>
              <a:rPr lang="en-US" sz="2400" dirty="0"/>
              <a:t>MSE is the squared difference between actual and predicted value</a:t>
            </a:r>
          </a:p>
          <a:p>
            <a:r>
              <a:rPr lang="en-US" sz="2400" dirty="0">
                <a:solidFill>
                  <a:schemeClr val="accent1"/>
                </a:solidFill>
              </a:rPr>
              <a:t>from </a:t>
            </a:r>
            <a:r>
              <a:rPr lang="en-US" sz="2400" dirty="0" err="1">
                <a:solidFill>
                  <a:schemeClr val="accent1"/>
                </a:solidFill>
              </a:rPr>
              <a:t>sklearn.metrics</a:t>
            </a:r>
            <a:r>
              <a:rPr lang="en-US" sz="2400" dirty="0">
                <a:solidFill>
                  <a:schemeClr val="accent1"/>
                </a:solidFill>
              </a:rPr>
              <a:t> import </a:t>
            </a:r>
            <a:r>
              <a:rPr lang="en-US" sz="2400" dirty="0" err="1">
                <a:solidFill>
                  <a:schemeClr val="accent1"/>
                </a:solidFill>
              </a:rPr>
              <a:t>mean_squared_error</a:t>
            </a:r>
            <a:endParaRPr lang="en-US" sz="2400" dirty="0">
              <a:solidFill>
                <a:schemeClr val="accent1"/>
              </a:solidFill>
            </a:endParaRPr>
          </a:p>
          <a:p>
            <a:r>
              <a:rPr lang="en-US" sz="2400" dirty="0">
                <a:solidFill>
                  <a:schemeClr val="accent1"/>
                </a:solidFill>
              </a:rPr>
              <a:t>print("MSE",</a:t>
            </a:r>
            <a:r>
              <a:rPr lang="en-US" sz="2400" dirty="0" err="1">
                <a:solidFill>
                  <a:schemeClr val="accent1"/>
                </a:solidFill>
              </a:rPr>
              <a:t>mean_squared_error</a:t>
            </a:r>
            <a:r>
              <a:rPr lang="en-US" sz="2400" dirty="0">
                <a:solidFill>
                  <a:schemeClr val="accent1"/>
                </a:solidFill>
              </a:rPr>
              <a:t>(</a:t>
            </a:r>
            <a:r>
              <a:rPr lang="en-US" sz="2400" dirty="0" err="1">
                <a:solidFill>
                  <a:schemeClr val="accent1"/>
                </a:solidFill>
              </a:rPr>
              <a:t>y_test,y_pred</a:t>
            </a:r>
            <a:r>
              <a:rPr lang="en-US" sz="2400" dirty="0">
                <a:solidFill>
                  <a:schemeClr val="accent1"/>
                </a:solidFill>
              </a:rPr>
              <a:t>))</a:t>
            </a:r>
          </a:p>
          <a:p>
            <a:endParaRPr lang="en-US" sz="2400" dirty="0"/>
          </a:p>
        </p:txBody>
      </p:sp>
      <p:sp>
        <p:nvSpPr>
          <p:cNvPr id="7" name="TextBox 6">
            <a:extLst>
              <a:ext uri="{FF2B5EF4-FFF2-40B4-BE49-F238E27FC236}">
                <a16:creationId xmlns:a16="http://schemas.microsoft.com/office/drawing/2014/main" id="{EDAEB0AF-4F3A-C667-C491-EA1E7764C53F}"/>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Evaluation Metrics for Regression Model</a:t>
            </a:r>
          </a:p>
        </p:txBody>
      </p:sp>
      <p:pic>
        <p:nvPicPr>
          <p:cNvPr id="8" name="Picture 7">
            <a:extLst>
              <a:ext uri="{FF2B5EF4-FFF2-40B4-BE49-F238E27FC236}">
                <a16:creationId xmlns:a16="http://schemas.microsoft.com/office/drawing/2014/main" id="{E63CE625-E466-4593-853E-D6ED11EDA1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60316" y="3806683"/>
            <a:ext cx="4210050" cy="1685925"/>
          </a:xfrm>
          <a:prstGeom prst="rect">
            <a:avLst/>
          </a:prstGeom>
        </p:spPr>
      </p:pic>
    </p:spTree>
    <p:extLst>
      <p:ext uri="{BB962C8B-B14F-4D97-AF65-F5344CB8AC3E}">
        <p14:creationId xmlns:p14="http://schemas.microsoft.com/office/powerpoint/2010/main" val="2658017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17339-00F7-408D-8BA8-9F667BCC1BDA}"/>
              </a:ext>
            </a:extLst>
          </p:cNvPr>
          <p:cNvSpPr txBox="1"/>
          <p:nvPr/>
        </p:nvSpPr>
        <p:spPr>
          <a:xfrm>
            <a:off x="11207" y="842700"/>
            <a:ext cx="12194240" cy="1938992"/>
          </a:xfrm>
          <a:prstGeom prst="rect">
            <a:avLst/>
          </a:prstGeom>
          <a:noFill/>
        </p:spPr>
        <p:txBody>
          <a:bodyPr wrap="square">
            <a:spAutoFit/>
          </a:bodyPr>
          <a:lstStyle/>
          <a:p>
            <a:r>
              <a:rPr lang="en-US" sz="2400" dirty="0"/>
              <a:t>3. Root Mean Squared Error(RMSE)</a:t>
            </a:r>
          </a:p>
          <a:p>
            <a:r>
              <a:rPr lang="en-US" sz="2400" dirty="0"/>
              <a:t>RMSE square root of mean squared error</a:t>
            </a:r>
          </a:p>
          <a:p>
            <a:endParaRPr lang="en-US" sz="2400" dirty="0"/>
          </a:p>
          <a:p>
            <a:r>
              <a:rPr lang="en-US" sz="2400" dirty="0">
                <a:solidFill>
                  <a:schemeClr val="accent1"/>
                </a:solidFill>
              </a:rPr>
              <a:t>print("RMSE",</a:t>
            </a:r>
            <a:r>
              <a:rPr lang="en-US" sz="2400" dirty="0" err="1">
                <a:solidFill>
                  <a:schemeClr val="accent1"/>
                </a:solidFill>
              </a:rPr>
              <a:t>np.sqrt</a:t>
            </a:r>
            <a:r>
              <a:rPr lang="en-US" sz="2400" dirty="0">
                <a:solidFill>
                  <a:schemeClr val="accent1"/>
                </a:solidFill>
              </a:rPr>
              <a:t>(</a:t>
            </a:r>
            <a:r>
              <a:rPr lang="en-US" sz="2400" dirty="0" err="1">
                <a:solidFill>
                  <a:schemeClr val="accent1"/>
                </a:solidFill>
              </a:rPr>
              <a:t>mean_squared_error</a:t>
            </a:r>
            <a:r>
              <a:rPr lang="en-US" sz="2400" dirty="0">
                <a:solidFill>
                  <a:schemeClr val="accent1"/>
                </a:solidFill>
              </a:rPr>
              <a:t>(</a:t>
            </a:r>
            <a:r>
              <a:rPr lang="en-US" sz="2400" dirty="0" err="1">
                <a:solidFill>
                  <a:schemeClr val="accent1"/>
                </a:solidFill>
              </a:rPr>
              <a:t>y_test,y_pred</a:t>
            </a:r>
            <a:r>
              <a:rPr lang="en-US" sz="2400" dirty="0">
                <a:solidFill>
                  <a:schemeClr val="accent1"/>
                </a:solidFill>
              </a:rPr>
              <a:t>)))</a:t>
            </a:r>
          </a:p>
          <a:p>
            <a:endParaRPr lang="en-US" sz="2400" dirty="0"/>
          </a:p>
        </p:txBody>
      </p:sp>
      <p:sp>
        <p:nvSpPr>
          <p:cNvPr id="5" name="TextBox 4">
            <a:extLst>
              <a:ext uri="{FF2B5EF4-FFF2-40B4-BE49-F238E27FC236}">
                <a16:creationId xmlns:a16="http://schemas.microsoft.com/office/drawing/2014/main" id="{92B30907-BFCA-4BCE-AD12-2DEA95A886D3}"/>
              </a:ext>
            </a:extLst>
          </p:cNvPr>
          <p:cNvSpPr txBox="1"/>
          <p:nvPr/>
        </p:nvSpPr>
        <p:spPr>
          <a:xfrm>
            <a:off x="1124857" y="0"/>
            <a:ext cx="9714777" cy="584775"/>
          </a:xfrm>
          <a:prstGeom prst="rect">
            <a:avLst/>
          </a:prstGeom>
          <a:noFill/>
        </p:spPr>
        <p:txBody>
          <a:bodyPr wrap="square" rtlCol="0">
            <a:spAutoFit/>
          </a:bodyPr>
          <a:lstStyle/>
          <a:p>
            <a:r>
              <a:rPr lang="en-US" sz="3200" b="1" dirty="0">
                <a:solidFill>
                  <a:srgbClr val="FF0000"/>
                </a:solidFill>
              </a:rPr>
              <a:t>Evaluation Metrics for Regression Model</a:t>
            </a:r>
          </a:p>
        </p:txBody>
      </p:sp>
      <p:pic>
        <p:nvPicPr>
          <p:cNvPr id="7" name="Picture 6">
            <a:extLst>
              <a:ext uri="{FF2B5EF4-FFF2-40B4-BE49-F238E27FC236}">
                <a16:creationId xmlns:a16="http://schemas.microsoft.com/office/drawing/2014/main" id="{3AB3BBC9-80C0-4E71-837F-3AFBDF775C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2222" y="584775"/>
            <a:ext cx="3428571" cy="2380952"/>
          </a:xfrm>
          <a:prstGeom prst="rect">
            <a:avLst/>
          </a:prstGeom>
        </p:spPr>
      </p:pic>
    </p:spTree>
    <p:extLst>
      <p:ext uri="{BB962C8B-B14F-4D97-AF65-F5344CB8AC3E}">
        <p14:creationId xmlns:p14="http://schemas.microsoft.com/office/powerpoint/2010/main" val="1403008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i&#10;$&#10;% \delta_i^{(l)} = \left(\sum_j W_{ji}^{(l)} \delta_j^{(l+1)}\right) f'(z_i^{(l)})&#10;&#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i&#10;$&#10;% \delta_i^{(l)} = \left(\sum_j W_{ji}^{(l)} \delta_j^{(l+1)}\right) f'(z_i^{(l)})&#10;&#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1.5$&#10;&#10;$\theta_1 = 0$&#10;&#10;% \delta_i^{(l)} = \left(\sum_j W_{ji}^{(l)} \delta_j^{(l+1)}\right) f'(z_i^{(l)})&#10;&#10;&#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0$&#10;&#10;$\theta_1 = 0.5$&#10;&#10;% \delta_i^{(l)} = \left(\sum_j W_{ji}^{(l)} \delta_j^{(l+1)}\right) f'(z_i^{(l)})&#10;&#10;&#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1$&#10;&#10;$\theta_1 = 0.5$&#10;&#10;% \delta_i^{(l)} = \left(\sum_j W_{ji}^{(l)} \delta_j^{(l+1)}\right) f'(z_i^{(l)})&#10;&#10;&#10;&#10;\end{document}"/>
  <p:tag name="IGUANATEXSIZE" val="3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y&#10;$&#10;% \delta_i^{(l)} = \left(\sum_j W_{ji}^{(l)} \delta_j^{(l+1)}\right) f'(z_i^{(l)})&#10;&#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y)&#10;$&#10;% \delta_i^{(l)} = \left(\sum_j W_{ji}^{(l)} \delta_j^{(l+1)}\right) f'(z_i^{(l)})&#10;&#10;&#10;&#10;\end{document}"/>
  <p:tag name="IGUANATEXSIZE" val="3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theta_1$&#10;&#10;% \delta_i^{(l)} = \left(\sum_j W_{ji}^{(l)} \delta_j^{(l+1)}\right) f'(z_i^{(l)})&#10;&#10;&#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24"/>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1 x&#10;$&#10;% \delta_i^{(l)} = \left(\sum_j W_{ji}^{(l)} \delta_j^{(l+1)}\right) f'(z_i^{(l)})&#10;&#10;&#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3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 = \frac{1}{2m} \sum\limits^{m}_{i=1} \left( h_\theta(x^{(i)}) - y^{(i)} \right)^2&#10;$&#10;% \delta_i^{(l)} = \left(\sum_j W_{ji}^{(l)} \delta_j^{(l+1)}\right) f'(z_i^{(l)})&#10;&#10;&#10;&#10;\end{document}"/>
  <p:tag name="IGUANATEXSIZE" val="24"/>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10;\underset{\theta_1}{\mathrm{minimize}} \; J(\theta_1)&#10;$&#10;% \delta_i^{(l)} = \left(\sum_j W_{ji}^{(l)} \delta_j^{(l+1)}\right) f'(z_i^{(l)})&#10;&#10;&#10;&#10;\end{document}"/>
  <p:tag name="IGUANATEXSIZE" val="3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24"/>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 = 1&#10;$&#10;% \delta_i^{(l)} = \left(\sum_j W_{ji}^{(l)} \delta_j^{(l+1)}\right) f'(z_i^{(l)})&#10;&#10;&#10;&#10;\end{document}"/>
  <p:tag name="IGUANATEXSIZE" val="24"/>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3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1 x&#10;$&#10;% \delta_i^{(l)} = \left(\sum_j W_{ji}^{(l)} \delta_j^{(l+1)}\right) f'(z_i^{(l)})&#10;&#10;&#10;&#10;\end{document}"/>
  <p:tag name="IGUANATEXSIZE" val="30"/>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 = 0.5&#10;$&#10;% \delta_i^{(l)} = \left(\sum_j W_{ji}^{(l)} \delta_j^{(l+1)}\right) f'(z_i^{(l)})&#10;&#10;&#10;&#10;\end{document}"/>
  <p:tag name="IGUANATEXSIZE" val="24"/>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24"/>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30"/>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50  + 0.06x&#10;$&#10;% \delta_i^{(l)} = \left(\sum_j W_{ji}^{(l)} \delta_j^{(l+1)}\right) f'(z_i^{(l)})&#10;&#10;&#10;&#10;\end{document}"/>
  <p:tag name="IGUANATEXSIZE" val="30"/>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10;$&#10;% \delta_i^{(l)} = \left(\sum_j W_{ji}^{(l)} \delta_j^{(l+1)}\right) f'(z_i^{(l)})&#10;&#10;&#10;&#10;\end{document}"/>
  <p:tag name="IGUANATEXSIZE" val="30"/>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 \; J(\theta_0,\theta_1)&#10;$&#10;% \delta_i^{(l)} = \left(\sum_j W_{ji}^{(l)} \delta_j^{(l+1)}\right) f'(z_i^{(l)})&#10;&#10;&#10;&#10;\end{document}"/>
  <p:tag name="IGUANATEXSIZE" val="30"/>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7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10;$&#10;% \delta_i^{(l)} = \left(\sum_j W_{ji}^{(l)} \delta_j^{(l+1)}\right) f'(z_i^{(l)})&#10;&#10;&#10;&#10;\end{document}"/>
  <p:tag name="IGUANATEXSIZE" val="30"/>
</p:tagLst>
</file>

<file path=ppt/tags/tag7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7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displaystyle&#10;\quad\theta_j := \theta_j - \alpha \frac{\partial}{\partial \theta_j} J(\theta_0,\theta_1)&#10;$&#10;&#10;\}&#10;% \delta_i^{(l)} = \left(\sum_j W_{ji}^{(l)} \delta_j^{(l+1)}\right) f'(z_i^{(l)})&#10;&#10;&#10;&#10;\end{document}"/>
  <p:tag name="IGUANATEXSIZE" val="24"/>
</p:tagLst>
</file>

<file path=ppt/tags/tag7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for $j=0$ and $j=1$)&#10;% \delta_i^{(l)} = \left(\sum_j W_{ji}^{(l)} \delta_j^{(l+1)}\right) f'(z_i^{(l)})&#10;&#10;&#10;&#10;\end{document}"/>
  <p:tag name="IGUANATEXSIZE" val="24"/>
</p:tagLst>
</file>

<file path=ppt/tags/tag7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blue}\mathrm{temp}0} := \theta_0 - \alpha \frac{\partial}{\partial \theta_0} J(\theta_0,\theta_1)$ &#10;&#10;${\color{blue}\mathrm{temp}1} := \theta_1 - \alpha \frac{\partial}{\partial \theta_1} J(\theta_0,\theta_1)$ &#10;&#10;$\theta_0 := {\color{blue}\mathrm{temp}0}$&#10;&#10;$\theta_1 := {\color{blue}\mathrm{temp}1}$ &#10;&#10;% \delta_i^{(l)} = \left(\sum_j W_{ji}^{(l)} \delta_j^{(l+1)}\right) f'(z_i^{(l)})&#10;&#10;&#10;&#10;\end{document}"/>
  <p:tag name="IGUANATEXSIZE" val="24"/>
</p:tagLst>
</file>

<file path=ppt/tags/tag7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blue}\mathrm{temp}0} := \theta_0 - \alpha \frac{\partial}{\partial \theta_0} J(\theta_0,\theta_1)$ &#10;&#10;$\theta_0 := {\color{blue}\mathrm{temp}0}$&#10;&#10;${\color{blue}\mathrm{temp}1} := \theta_1 - \alpha \frac{\partial}{\partial \theta_1} J(\theta_0,\theta_1)$ &#10;&#10;$\theta_1 := {\color{blue}\mathrm{temp}1}$ &#10;&#10;% \delta_i^{(l)} = \left(\sum_j W_{ji}^{(l)} \delta_j^{(l+1)}\right) f'(z_i^{(l)})&#10;&#10;&#10;&#10;\end{document}"/>
  <p:tag name="IGUANATEXSIZE" val="24"/>
</p:tagLst>
</file>

<file path=ppt/tags/tag7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displaystyle&#10;\quad\theta_j := \theta_j - \alpha \frac{\partial}{\partial \theta_j} J(\theta_0,\theta_1)&#10;$ &#10;&#10;\}&#10;% \delta_i^{(l)} = \left(\sum_j W_{ji}^{(l)} \delta_j^{(l+1)}\right) f'(z_i^{(l)})&#10;&#10;&#10;&#10;\end{document}"/>
  <p:tag name="IGUANATEXSIZE" val="30"/>
</p:tagLst>
</file>

<file path=ppt/tags/tag7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simultaneously update&#10;&#10;\quad $j=0$ and $j=1$)&#10;% \delta_i^{(l)} = \left(\sum_j W_{ji}^{(l)} \delta_j^{(l+1)}\right) f'(z_i^{(l)})&#10;&#10;&#10;&#10;\end{document}"/>
  <p:tag name="IGUANATEXSIZE" val="30"/>
</p:tagLst>
</file>

<file path=ppt/tags/tag8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displaystyle&#10;\quad\theta_j := \theta_j - \alpha \frac{\partial}{\partial \theta_j} J(\theta_0,\theta_1)&#10;$ &#10;&#10;\}&#10;% \delta_i^{(l)} = \left(\sum_j W_{ji}^{(l)} \delta_j^{(l+1)}\right) f'(z_i^{(l)})&#10;&#10;&#10;&#10;\end{document}"/>
  <p:tag name="IGUANATEXSIZE" val="30"/>
</p:tagLst>
</file>

<file path=ppt/tags/tag8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8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8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partial}{\partial \theta_1} J(\theta_1)&#10;$ &#10;&#10;% \delta_i^{(l)} = \left(\sum_j W_{ji}^{(l)} \delta_j^{(l+1)}\right) f'(z_i^{(l)})&#10;&#10;&#10;&#10;\end{document}"/>
  <p:tag name="IGUANATEXSIZE" val="30"/>
</p:tagLst>
</file>

<file path=ppt/tags/tag8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8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partial}{\partial \theta_1} J(\theta_1)&#10;$ &#10;&#10;% \delta_i^{(l)} = \left(\sum_j W_{ji}^{(l)} \delta_j^{(l+1)}\right) f'(z_i^{(l)})&#10;&#10;&#10;&#10;\end{document}"/>
  <p:tag name="IGUANATEXSIZE" val="30"/>
</p:tagLst>
</file>

<file path=ppt/tags/tag8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partial}{\partial \theta_1} J(\theta_1)&#10;$ &#10;&#10;% \delta_i^{(l)} = \left(\sum_j W_{ji}^{(l)} \delta_j^{(l+1)}\right) f'(z_i^{(l)})&#10;&#10;&#10;&#10;\end{document}"/>
  <p:tag name="IGUANATEXSIZE" val="30"/>
</p:tagLst>
</file>

<file path=ppt/tags/tag8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8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color{red}\theta_1&#10;$&#10;% \delta_i^{(l)} = \left(\sum_j W_{ji}^{(l)} \delta_j^{(l+1)}\right) f'(z_i^{(l)})&#10;&#10;&#10;&#10;\end{document}"/>
  <p:tag name="IGUANATEXSIZE" val="24"/>
</p:tagLst>
</file>

<file path=ppt/tags/tag8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color{red}\theta_1&#10;$&#10;% \delta_i^{(l)} = \left(\sum_j W_{ji}^{(l)} \delta_j^{(l+1)}\right) f'(z_i^{(l)})&#10;&#10;&#10;&#10;\end{document}"/>
  <p:tag name="IGUANATEXSIZE" val="24"/>
</p:tagLst>
</file>

<file path=ppt/tags/tag9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d}{d \theta_1} J(\theta_1)&#10;$ &#10;&#10;% \delta_i^{(l)} = \left(\sum_j W_{ji}^{(l)} \delta_j^{(l+1)}\right) f'(z_i^{(l)})&#10;&#10;&#10;&#10;\end{document}"/>
  <p:tag name="IGUANATEXSIZE" val="30"/>
</p:tagLst>
</file>

<file path=ppt/tags/tag9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d}{d \theta_1} J(\theta_1)&#10;$ &#10;&#10;% \delta_i^{(l)} = \left(\sum_j W_{ji}^{(l)} \delta_j^{(l+1)}\right) f'(z_i^{(l)})&#10;&#10;&#10;&#10;\end{document}"/>
  <p:tag name="IGUANATEXSIZE" val="30"/>
</p:tagLst>
</file>

<file path=ppt/tags/tag9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9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 &#10;&#10;% \delta_i^{(l)} = \left(\sum_j W_{ji}^{(l)} \delta_j^{(l+1)}\right) f'(z_i^{(l)})&#10;&#10;&#10;&#10;\end{document}"/>
  <p:tag name="IGUANATEXSIZE" val="24"/>
</p:tagLst>
</file>

<file path=ppt/tags/tag9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9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9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ags/tag9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9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ags/tag9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10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ags/tag10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10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1229</TotalTime>
  <Words>3001</Words>
  <Application>Microsoft Office PowerPoint</Application>
  <PresentationFormat>Widescreen</PresentationFormat>
  <Paragraphs>331</Paragraphs>
  <Slides>75</Slides>
  <Notes>6</Notes>
  <HiddenSlides>4</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75</vt:i4>
      </vt:variant>
    </vt:vector>
  </HeadingPairs>
  <TitlesOfParts>
    <vt:vector size="88" baseType="lpstr">
      <vt:lpstr>-apple-system</vt:lpstr>
      <vt:lpstr>Arial</vt:lpstr>
      <vt:lpstr>Arial</vt:lpstr>
      <vt:lpstr>Calibri</vt:lpstr>
      <vt:lpstr>Calibri Light</vt:lpstr>
      <vt:lpstr>Cambria Math</vt:lpstr>
      <vt:lpstr>Georgia</vt:lpstr>
      <vt:lpstr>Google Sans</vt:lpstr>
      <vt:lpstr>Poppins</vt:lpstr>
      <vt:lpstr>Symbol</vt:lpstr>
      <vt:lpstr>Times New Roman</vt:lpstr>
      <vt:lpstr>Wingdings</vt:lpstr>
      <vt:lpstr>Office Theme</vt:lpstr>
      <vt:lpstr>Linear Regression</vt:lpstr>
      <vt:lpstr>Model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Regression</dc:title>
  <dc:creator>ASUS</dc:creator>
  <cp:lastModifiedBy>Towsif Khan, Sami</cp:lastModifiedBy>
  <cp:revision>8</cp:revision>
  <dcterms:created xsi:type="dcterms:W3CDTF">2021-12-25T16:05:27Z</dcterms:created>
  <dcterms:modified xsi:type="dcterms:W3CDTF">2025-03-10T16:00:42Z</dcterms:modified>
</cp:coreProperties>
</file>