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55"/>
  </p:notesMasterIdLst>
  <p:sldIdLst>
    <p:sldId id="256" r:id="rId2"/>
    <p:sldId id="257" r:id="rId3"/>
    <p:sldId id="259" r:id="rId4"/>
    <p:sldId id="260" r:id="rId5"/>
    <p:sldId id="261" r:id="rId6"/>
    <p:sldId id="262" r:id="rId7"/>
    <p:sldId id="268" r:id="rId8"/>
    <p:sldId id="312" r:id="rId9"/>
    <p:sldId id="311" r:id="rId10"/>
    <p:sldId id="313" r:id="rId11"/>
    <p:sldId id="314" r:id="rId12"/>
    <p:sldId id="315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</p:sldIdLst>
  <p:sldSz cx="9144000" cy="6858000" type="screen4x3"/>
  <p:notesSz cx="7010400" cy="9296400"/>
  <p:embeddedFontLst>
    <p:embeddedFont>
      <p:font typeface="Cambria Math" panose="02040503050406030204" pitchFamily="18" charset="0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hLVEtUSXiODqOspnvEUYxc+sar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20847C-95E1-4598-83E0-8D7551D1F002}">
  <a:tblStyle styleId="{B720847C-95E1-4598-83E0-8D7551D1F0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570" y="72"/>
      </p:cViewPr>
      <p:guideLst>
        <p:guide orient="horz" pos="2160"/>
        <p:guide pos="27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customschemas.google.com/relationships/presentationmetadata" Target="metadata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9823E14A-A5BE-4E61-B0BF-65A132893CDA}"/>
    <pc:docChg chg="undo custSel delSld modSld">
      <pc:chgData name="Riasat Khan" userId="826ac62dfbb52e43" providerId="LiveId" clId="{9823E14A-A5BE-4E61-B0BF-65A132893CDA}" dt="2025-02-08T12:44:08.990" v="1185" actId="692"/>
      <pc:docMkLst>
        <pc:docMk/>
      </pc:docMkLst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256"/>
        </pc:sldMkLst>
      </pc:sldChg>
      <pc:sldChg chg="modSp mod">
        <pc:chgData name="Riasat Khan" userId="826ac62dfbb52e43" providerId="LiveId" clId="{9823E14A-A5BE-4E61-B0BF-65A132893CDA}" dt="2025-02-04T00:36:45.335" v="1060" actId="20577"/>
        <pc:sldMkLst>
          <pc:docMk/>
          <pc:sldMk cId="0" sldId="257"/>
        </pc:sldMkLst>
        <pc:spChg chg="mod">
          <ac:chgData name="Riasat Khan" userId="826ac62dfbb52e43" providerId="LiveId" clId="{9823E14A-A5BE-4E61-B0BF-65A132893CDA}" dt="2025-02-04T00:36:45.335" v="1060" actId="20577"/>
          <ac:spMkLst>
            <pc:docMk/>
            <pc:sldMk cId="0" sldId="257"/>
            <ac:spMk id="125" creationId="{00000000-0000-0000-0000-000000000000}"/>
          </ac:spMkLst>
        </pc:spChg>
      </pc:sldChg>
      <pc:sldChg chg="modSp del">
        <pc:chgData name="Riasat Khan" userId="826ac62dfbb52e43" providerId="LiveId" clId="{9823E14A-A5BE-4E61-B0BF-65A132893CDA}" dt="2022-10-24T16:23:49.734" v="881" actId="2696"/>
        <pc:sldMkLst>
          <pc:docMk/>
          <pc:sldMk cId="0" sldId="258"/>
        </pc:sldMkLst>
      </pc:sldChg>
      <pc:sldChg chg="addSp modSp mod">
        <pc:chgData name="Riasat Khan" userId="826ac62dfbb52e43" providerId="LiveId" clId="{9823E14A-A5BE-4E61-B0BF-65A132893CDA}" dt="2025-02-08T12:36:27.806" v="1150" actId="20577"/>
        <pc:sldMkLst>
          <pc:docMk/>
          <pc:sldMk cId="0" sldId="259"/>
        </pc:sldMkLst>
        <pc:spChg chg="mod">
          <ac:chgData name="Riasat Khan" userId="826ac62dfbb52e43" providerId="LiveId" clId="{9823E14A-A5BE-4E61-B0BF-65A132893CDA}" dt="2025-02-08T12:36:27.806" v="1150" actId="20577"/>
          <ac:spMkLst>
            <pc:docMk/>
            <pc:sldMk cId="0" sldId="259"/>
            <ac:spMk id="3" creationId="{06E14159-4E53-24FF-1B38-5111C8A0674D}"/>
          </ac:spMkLst>
        </pc:spChg>
      </pc:sldChg>
      <pc:sldChg chg="addSp modSp mod">
        <pc:chgData name="Riasat Khan" userId="826ac62dfbb52e43" providerId="LiveId" clId="{9823E14A-A5BE-4E61-B0BF-65A132893CDA}" dt="2025-02-04T00:38:30.247" v="1112" actId="692"/>
        <pc:sldMkLst>
          <pc:docMk/>
          <pc:sldMk cId="0" sldId="260"/>
        </pc:sldMkLst>
        <pc:spChg chg="mod">
          <ac:chgData name="Riasat Khan" userId="826ac62dfbb52e43" providerId="LiveId" clId="{9823E14A-A5BE-4E61-B0BF-65A132893CDA}" dt="2025-02-04T00:37:47.306" v="1106" actId="207"/>
          <ac:spMkLst>
            <pc:docMk/>
            <pc:sldMk cId="0" sldId="260"/>
            <ac:spMk id="146" creationId="{00000000-0000-0000-0000-000000000000}"/>
          </ac:spMkLst>
        </pc:spChg>
        <pc:cxnChg chg="add mod">
          <ac:chgData name="Riasat Khan" userId="826ac62dfbb52e43" providerId="LiveId" clId="{9823E14A-A5BE-4E61-B0BF-65A132893CDA}" dt="2025-02-04T00:38:30.247" v="1112" actId="692"/>
          <ac:cxnSpMkLst>
            <pc:docMk/>
            <pc:sldMk cId="0" sldId="260"/>
            <ac:cxnSpMk id="3" creationId="{30414AC8-3C71-6CA4-64B2-AF02F83554CB}"/>
          </ac:cxnSpMkLst>
        </pc:cxnChg>
      </pc:sldChg>
      <pc:sldChg chg="addSp delSp modSp mod">
        <pc:chgData name="Riasat Khan" userId="826ac62dfbb52e43" providerId="LiveId" clId="{9823E14A-A5BE-4E61-B0BF-65A132893CDA}" dt="2024-02-24T10:59:12.141" v="992" actId="207"/>
        <pc:sldMkLst>
          <pc:docMk/>
          <pc:sldMk cId="0" sldId="261"/>
        </pc:sldMkLst>
      </pc:sldChg>
      <pc:sldChg chg="modSp mod">
        <pc:chgData name="Riasat Khan" userId="826ac62dfbb52e43" providerId="LiveId" clId="{9823E14A-A5BE-4E61-B0BF-65A132893CDA}" dt="2022-10-15T07:52:28.777" v="148" actId="1076"/>
        <pc:sldMkLst>
          <pc:docMk/>
          <pc:sldMk cId="0" sldId="262"/>
        </pc:sldMkLst>
      </pc:sldChg>
      <pc:sldChg chg="modSp del">
        <pc:chgData name="Riasat Khan" userId="826ac62dfbb52e43" providerId="LiveId" clId="{9823E14A-A5BE-4E61-B0BF-65A132893CDA}" dt="2022-10-15T07:52:38.896" v="149" actId="47"/>
        <pc:sldMkLst>
          <pc:docMk/>
          <pc:sldMk cId="0" sldId="263"/>
        </pc:sldMkLst>
      </pc:sldChg>
      <pc:sldChg chg="modSp del">
        <pc:chgData name="Riasat Khan" userId="826ac62dfbb52e43" providerId="LiveId" clId="{9823E14A-A5BE-4E61-B0BF-65A132893CDA}" dt="2022-10-15T07:52:38.896" v="149" actId="47"/>
        <pc:sldMkLst>
          <pc:docMk/>
          <pc:sldMk cId="0" sldId="264"/>
        </pc:sldMkLst>
      </pc:sldChg>
      <pc:sldChg chg="modSp del">
        <pc:chgData name="Riasat Khan" userId="826ac62dfbb52e43" providerId="LiveId" clId="{9823E14A-A5BE-4E61-B0BF-65A132893CDA}" dt="2022-10-15T07:52:38.896" v="149" actId="47"/>
        <pc:sldMkLst>
          <pc:docMk/>
          <pc:sldMk cId="0" sldId="265"/>
        </pc:sldMkLst>
      </pc:sldChg>
      <pc:sldChg chg="modSp del">
        <pc:chgData name="Riasat Khan" userId="826ac62dfbb52e43" providerId="LiveId" clId="{9823E14A-A5BE-4E61-B0BF-65A132893CDA}" dt="2022-10-15T07:52:38.896" v="149" actId="47"/>
        <pc:sldMkLst>
          <pc:docMk/>
          <pc:sldMk cId="0" sldId="266"/>
        </pc:sldMkLst>
      </pc:sldChg>
      <pc:sldChg chg="modSp del">
        <pc:chgData name="Riasat Khan" userId="826ac62dfbb52e43" providerId="LiveId" clId="{9823E14A-A5BE-4E61-B0BF-65A132893CDA}" dt="2022-10-15T07:52:38.896" v="149" actId="47"/>
        <pc:sldMkLst>
          <pc:docMk/>
          <pc:sldMk cId="0" sldId="267"/>
        </pc:sldMkLst>
      </pc:sldChg>
      <pc:sldChg chg="modSp mod">
        <pc:chgData name="Riasat Khan" userId="826ac62dfbb52e43" providerId="LiveId" clId="{9823E14A-A5BE-4E61-B0BF-65A132893CDA}" dt="2022-10-15T07:53:22.750" v="178" actId="14100"/>
        <pc:sldMkLst>
          <pc:docMk/>
          <pc:sldMk cId="0" sldId="268"/>
        </pc:sldMkLst>
      </pc:sldChg>
      <pc:sldChg chg="modSp mod">
        <pc:chgData name="Riasat Khan" userId="826ac62dfbb52e43" providerId="LiveId" clId="{9823E14A-A5BE-4E61-B0BF-65A132893CDA}" dt="2022-10-15T07:53:34.756" v="179" actId="14100"/>
        <pc:sldMkLst>
          <pc:docMk/>
          <pc:sldMk cId="0" sldId="269"/>
        </pc:sldMkLst>
      </pc:sldChg>
      <pc:sldChg chg="modSp mod">
        <pc:chgData name="Riasat Khan" userId="826ac62dfbb52e43" providerId="LiveId" clId="{9823E14A-A5BE-4E61-B0BF-65A132893CDA}" dt="2022-10-24T16:30:14.094" v="902"/>
        <pc:sldMkLst>
          <pc:docMk/>
          <pc:sldMk cId="0" sldId="270"/>
        </pc:sldMkLst>
      </pc:sldChg>
      <pc:sldChg chg="modSp mod modShow">
        <pc:chgData name="Riasat Khan" userId="826ac62dfbb52e43" providerId="LiveId" clId="{9823E14A-A5BE-4E61-B0BF-65A132893CDA}" dt="2025-02-08T12:41:26.700" v="1179" actId="729"/>
        <pc:sldMkLst>
          <pc:docMk/>
          <pc:sldMk cId="0" sldId="271"/>
        </pc:sldMkLst>
      </pc:sldChg>
      <pc:sldChg chg="modSp mod modShow">
        <pc:chgData name="Riasat Khan" userId="826ac62dfbb52e43" providerId="LiveId" clId="{9823E14A-A5BE-4E61-B0BF-65A132893CDA}" dt="2025-02-08T12:41:26.700" v="1179" actId="729"/>
        <pc:sldMkLst>
          <pc:docMk/>
          <pc:sldMk cId="0" sldId="272"/>
        </pc:sldMkLst>
      </pc:sldChg>
      <pc:sldChg chg="modSp mod modShow">
        <pc:chgData name="Riasat Khan" userId="826ac62dfbb52e43" providerId="LiveId" clId="{9823E14A-A5BE-4E61-B0BF-65A132893CDA}" dt="2025-02-08T12:41:26.700" v="1179" actId="729"/>
        <pc:sldMkLst>
          <pc:docMk/>
          <pc:sldMk cId="0" sldId="273"/>
        </pc:sldMkLst>
      </pc:sldChg>
      <pc:sldChg chg="modSp mod modShow">
        <pc:chgData name="Riasat Khan" userId="826ac62dfbb52e43" providerId="LiveId" clId="{9823E14A-A5BE-4E61-B0BF-65A132893CDA}" dt="2025-02-08T12:41:26.700" v="1179" actId="729"/>
        <pc:sldMkLst>
          <pc:docMk/>
          <pc:sldMk cId="0" sldId="274"/>
        </pc:sldMkLst>
      </pc:sldChg>
      <pc:sldChg chg="modSp mod modShow">
        <pc:chgData name="Riasat Khan" userId="826ac62dfbb52e43" providerId="LiveId" clId="{9823E14A-A5BE-4E61-B0BF-65A132893CDA}" dt="2025-02-08T12:41:26.700" v="1179" actId="729"/>
        <pc:sldMkLst>
          <pc:docMk/>
          <pc:sldMk cId="0" sldId="275"/>
        </pc:sldMkLst>
      </pc:sldChg>
      <pc:sldChg chg="modSp mod">
        <pc:chgData name="Riasat Khan" userId="826ac62dfbb52e43" providerId="LiveId" clId="{9823E14A-A5BE-4E61-B0BF-65A132893CDA}" dt="2022-10-15T08:06:13.046" v="325" actId="313"/>
        <pc:sldMkLst>
          <pc:docMk/>
          <pc:sldMk cId="0" sldId="276"/>
        </pc:sldMkLst>
      </pc:sldChg>
      <pc:sldChg chg="modSp mod">
        <pc:chgData name="Riasat Khan" userId="826ac62dfbb52e43" providerId="LiveId" clId="{9823E14A-A5BE-4E61-B0BF-65A132893CDA}" dt="2022-10-24T16:37:16.778" v="917" actId="207"/>
        <pc:sldMkLst>
          <pc:docMk/>
          <pc:sldMk cId="0" sldId="277"/>
        </pc:sldMkLst>
      </pc:sldChg>
      <pc:sldChg chg="modSp mod">
        <pc:chgData name="Riasat Khan" userId="826ac62dfbb52e43" providerId="LiveId" clId="{9823E14A-A5BE-4E61-B0BF-65A132893CDA}" dt="2025-02-08T12:40:31.985" v="1178" actId="14100"/>
        <pc:sldMkLst>
          <pc:docMk/>
          <pc:sldMk cId="0" sldId="278"/>
        </pc:sldMkLst>
        <pc:spChg chg="mod">
          <ac:chgData name="Riasat Khan" userId="826ac62dfbb52e43" providerId="LiveId" clId="{9823E14A-A5BE-4E61-B0BF-65A132893CDA}" dt="2025-02-08T12:40:31.985" v="1178" actId="14100"/>
          <ac:spMkLst>
            <pc:docMk/>
            <pc:sldMk cId="0" sldId="278"/>
            <ac:spMk id="549" creationId="{00000000-0000-0000-0000-000000000000}"/>
          </ac:spMkLst>
        </pc:spChg>
      </pc:sldChg>
      <pc:sldChg chg="modSp mod">
        <pc:chgData name="Riasat Khan" userId="826ac62dfbb52e43" providerId="LiveId" clId="{9823E14A-A5BE-4E61-B0BF-65A132893CDA}" dt="2022-10-15T08:10:15.831" v="379" actId="207"/>
        <pc:sldMkLst>
          <pc:docMk/>
          <pc:sldMk cId="0" sldId="279"/>
        </pc:sldMkLst>
      </pc:sldChg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280"/>
        </pc:sldMkLst>
      </pc:sldChg>
      <pc:sldChg chg="modSp mod modShow">
        <pc:chgData name="Riasat Khan" userId="826ac62dfbb52e43" providerId="LiveId" clId="{9823E14A-A5BE-4E61-B0BF-65A132893CDA}" dt="2022-10-24T16:41:13.062" v="918" actId="729"/>
        <pc:sldMkLst>
          <pc:docMk/>
          <pc:sldMk cId="0" sldId="281"/>
        </pc:sldMkLst>
      </pc:sldChg>
      <pc:sldChg chg="modSp mod">
        <pc:chgData name="Riasat Khan" userId="826ac62dfbb52e43" providerId="LiveId" clId="{9823E14A-A5BE-4E61-B0BF-65A132893CDA}" dt="2022-10-24T16:42:12.162" v="923" actId="20577"/>
        <pc:sldMkLst>
          <pc:docMk/>
          <pc:sldMk cId="0" sldId="282"/>
        </pc:sldMkLst>
      </pc:sldChg>
      <pc:sldChg chg="modSp mod">
        <pc:chgData name="Riasat Khan" userId="826ac62dfbb52e43" providerId="LiveId" clId="{9823E14A-A5BE-4E61-B0BF-65A132893CDA}" dt="2022-10-24T16:44:38.396" v="938" actId="20577"/>
        <pc:sldMkLst>
          <pc:docMk/>
          <pc:sldMk cId="0" sldId="283"/>
        </pc:sldMkLst>
      </pc:sldChg>
      <pc:sldChg chg="modSp mod">
        <pc:chgData name="Riasat Khan" userId="826ac62dfbb52e43" providerId="LiveId" clId="{9823E14A-A5BE-4E61-B0BF-65A132893CDA}" dt="2022-10-16T12:13:32.992" v="479" actId="1076"/>
        <pc:sldMkLst>
          <pc:docMk/>
          <pc:sldMk cId="0" sldId="284"/>
        </pc:sldMkLst>
      </pc:sldChg>
      <pc:sldChg chg="modSp mod">
        <pc:chgData name="Riasat Khan" userId="826ac62dfbb52e43" providerId="LiveId" clId="{9823E14A-A5BE-4E61-B0BF-65A132893CDA}" dt="2022-10-16T12:14:42.189" v="486" actId="14100"/>
        <pc:sldMkLst>
          <pc:docMk/>
          <pc:sldMk cId="0" sldId="285"/>
        </pc:sldMkLst>
      </pc:sldChg>
      <pc:sldChg chg="modSp mod">
        <pc:chgData name="Riasat Khan" userId="826ac62dfbb52e43" providerId="LiveId" clId="{9823E14A-A5BE-4E61-B0BF-65A132893CDA}" dt="2022-10-16T12:16:57.466" v="488" actId="14100"/>
        <pc:sldMkLst>
          <pc:docMk/>
          <pc:sldMk cId="0" sldId="286"/>
        </pc:sldMkLst>
      </pc:sldChg>
      <pc:sldChg chg="modSp mod">
        <pc:chgData name="Riasat Khan" userId="826ac62dfbb52e43" providerId="LiveId" clId="{9823E14A-A5BE-4E61-B0BF-65A132893CDA}" dt="2022-10-24T16:48:48.547" v="939" actId="732"/>
        <pc:sldMkLst>
          <pc:docMk/>
          <pc:sldMk cId="0" sldId="287"/>
        </pc:sldMkLst>
      </pc:sldChg>
      <pc:sldChg chg="addSp delSp modSp mod">
        <pc:chgData name="Riasat Khan" userId="826ac62dfbb52e43" providerId="LiveId" clId="{9823E14A-A5BE-4E61-B0BF-65A132893CDA}" dt="2022-10-24T16:54:01.340" v="981" actId="20577"/>
        <pc:sldMkLst>
          <pc:docMk/>
          <pc:sldMk cId="0" sldId="288"/>
        </pc:sldMkLst>
      </pc:sldChg>
      <pc:sldChg chg="modSp mod">
        <pc:chgData name="Riasat Khan" userId="826ac62dfbb52e43" providerId="LiveId" clId="{9823E14A-A5BE-4E61-B0BF-65A132893CDA}" dt="2022-10-18T04:52:36.717" v="611" actId="1076"/>
        <pc:sldMkLst>
          <pc:docMk/>
          <pc:sldMk cId="0" sldId="289"/>
        </pc:sldMkLst>
      </pc:sldChg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290"/>
        </pc:sldMkLst>
      </pc:sldChg>
      <pc:sldChg chg="addSp modSp mod">
        <pc:chgData name="Riasat Khan" userId="826ac62dfbb52e43" providerId="LiveId" clId="{9823E14A-A5BE-4E61-B0BF-65A132893CDA}" dt="2022-10-18T05:00:07.897" v="682" actId="207"/>
        <pc:sldMkLst>
          <pc:docMk/>
          <pc:sldMk cId="0" sldId="291"/>
        </pc:sldMkLst>
      </pc:sldChg>
      <pc:sldChg chg="addSp modSp mod">
        <pc:chgData name="Riasat Khan" userId="826ac62dfbb52e43" providerId="LiveId" clId="{9823E14A-A5BE-4E61-B0BF-65A132893CDA}" dt="2025-02-08T12:44:08.990" v="1185" actId="692"/>
        <pc:sldMkLst>
          <pc:docMk/>
          <pc:sldMk cId="0" sldId="292"/>
        </pc:sldMkLst>
        <pc:cxnChg chg="add mod">
          <ac:chgData name="Riasat Khan" userId="826ac62dfbb52e43" providerId="LiveId" clId="{9823E14A-A5BE-4E61-B0BF-65A132893CDA}" dt="2025-02-08T12:44:08.990" v="1185" actId="692"/>
          <ac:cxnSpMkLst>
            <pc:docMk/>
            <pc:sldMk cId="0" sldId="292"/>
            <ac:cxnSpMk id="3" creationId="{F2E94E3D-4C55-823E-693A-14E8A1CF708D}"/>
          </ac:cxnSpMkLst>
        </pc:cxnChg>
      </pc:sldChg>
      <pc:sldChg chg="modSp mod modShow">
        <pc:chgData name="Riasat Khan" userId="826ac62dfbb52e43" providerId="LiveId" clId="{9823E14A-A5BE-4E61-B0BF-65A132893CDA}" dt="2022-10-26T00:06:35.926" v="982" actId="729"/>
        <pc:sldMkLst>
          <pc:docMk/>
          <pc:sldMk cId="0" sldId="293"/>
        </pc:sldMkLst>
      </pc:sldChg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294"/>
        </pc:sldMkLst>
      </pc:sldChg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295"/>
        </pc:sldMkLst>
      </pc:sldChg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296"/>
        </pc:sldMkLst>
      </pc:sldChg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297"/>
        </pc:sldMkLst>
      </pc:sldChg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298"/>
        </pc:sldMkLst>
      </pc:sldChg>
      <pc:sldChg chg="modSp mod">
        <pc:chgData name="Riasat Khan" userId="826ac62dfbb52e43" providerId="LiveId" clId="{9823E14A-A5BE-4E61-B0BF-65A132893CDA}" dt="2022-10-18T08:41:08.597" v="686" actId="14100"/>
        <pc:sldMkLst>
          <pc:docMk/>
          <pc:sldMk cId="0" sldId="299"/>
        </pc:sldMkLst>
      </pc:sldChg>
      <pc:sldChg chg="modSp mod">
        <pc:chgData name="Riasat Khan" userId="826ac62dfbb52e43" providerId="LiveId" clId="{9823E14A-A5BE-4E61-B0BF-65A132893CDA}" dt="2022-10-18T08:42:24.372" v="690" actId="20577"/>
        <pc:sldMkLst>
          <pc:docMk/>
          <pc:sldMk cId="0" sldId="300"/>
        </pc:sldMkLst>
      </pc:sldChg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301"/>
        </pc:sldMkLst>
      </pc:sldChg>
      <pc:sldChg chg="modSp del mod">
        <pc:chgData name="Riasat Khan" userId="826ac62dfbb52e43" providerId="LiveId" clId="{9823E14A-A5BE-4E61-B0BF-65A132893CDA}" dt="2024-09-14T06:09:48.503" v="999" actId="47"/>
        <pc:sldMkLst>
          <pc:docMk/>
          <pc:sldMk cId="0" sldId="302"/>
        </pc:sldMkLst>
      </pc:sldChg>
      <pc:sldChg chg="addSp modSp mod">
        <pc:chgData name="Riasat Khan" userId="826ac62dfbb52e43" providerId="LiveId" clId="{9823E14A-A5BE-4E61-B0BF-65A132893CDA}" dt="2022-10-26T00:12:11.974" v="987" actId="1076"/>
        <pc:sldMkLst>
          <pc:docMk/>
          <pc:sldMk cId="0" sldId="303"/>
        </pc:sldMkLst>
      </pc:sldChg>
      <pc:sldChg chg="modSp">
        <pc:chgData name="Riasat Khan" userId="826ac62dfbb52e43" providerId="LiveId" clId="{9823E14A-A5BE-4E61-B0BF-65A132893CDA}" dt="2022-10-15T07:42:44.160" v="50"/>
        <pc:sldMkLst>
          <pc:docMk/>
          <pc:sldMk cId="0" sldId="304"/>
        </pc:sldMkLst>
      </pc:sldChg>
      <pc:sldChg chg="modSp mod modShow">
        <pc:chgData name="Riasat Khan" userId="826ac62dfbb52e43" providerId="LiveId" clId="{9823E14A-A5BE-4E61-B0BF-65A132893CDA}" dt="2022-10-26T00:13:11.360" v="988" actId="729"/>
        <pc:sldMkLst>
          <pc:docMk/>
          <pc:sldMk cId="0" sldId="305"/>
        </pc:sldMkLst>
      </pc:sldChg>
      <pc:sldChg chg="modSp mod modShow">
        <pc:chgData name="Riasat Khan" userId="826ac62dfbb52e43" providerId="LiveId" clId="{9823E14A-A5BE-4E61-B0BF-65A132893CDA}" dt="2022-10-26T00:13:11.360" v="988" actId="729"/>
        <pc:sldMkLst>
          <pc:docMk/>
          <pc:sldMk cId="0" sldId="306"/>
        </pc:sldMkLst>
      </pc:sldChg>
      <pc:sldChg chg="modSp mod">
        <pc:chgData name="Riasat Khan" userId="826ac62dfbb52e43" providerId="LiveId" clId="{9823E14A-A5BE-4E61-B0BF-65A132893CDA}" dt="2022-10-18T08:58:57.168" v="837" actId="207"/>
        <pc:sldMkLst>
          <pc:docMk/>
          <pc:sldMk cId="0" sldId="307"/>
        </pc:sldMkLst>
      </pc:sldChg>
      <pc:sldChg chg="modSp mod modShow">
        <pc:chgData name="Riasat Khan" userId="826ac62dfbb52e43" providerId="LiveId" clId="{9823E14A-A5BE-4E61-B0BF-65A132893CDA}" dt="2022-10-26T00:17:22.027" v="989" actId="729"/>
        <pc:sldMkLst>
          <pc:docMk/>
          <pc:sldMk cId="0" sldId="308"/>
        </pc:sldMkLst>
      </pc:sldChg>
      <pc:sldChg chg="modSp mod modShow">
        <pc:chgData name="Riasat Khan" userId="826ac62dfbb52e43" providerId="LiveId" clId="{9823E14A-A5BE-4E61-B0BF-65A132893CDA}" dt="2022-10-26T00:17:22.027" v="989" actId="729"/>
        <pc:sldMkLst>
          <pc:docMk/>
          <pc:sldMk cId="0" sldId="309"/>
        </pc:sldMkLst>
      </pc:sldChg>
      <pc:sldChg chg="modSp mod">
        <pc:chgData name="Riasat Khan" userId="826ac62dfbb52e43" providerId="LiveId" clId="{9823E14A-A5BE-4E61-B0BF-65A132893CDA}" dt="2022-10-18T09:00:17.766" v="843" actId="14100"/>
        <pc:sldMkLst>
          <pc:docMk/>
          <pc:sldMk cId="0" sldId="310"/>
        </pc:sldMkLst>
      </pc:sldChg>
      <pc:sldChg chg="modSp mod">
        <pc:chgData name="Riasat Khan" userId="826ac62dfbb52e43" providerId="LiveId" clId="{9823E14A-A5BE-4E61-B0BF-65A132893CDA}" dt="2025-02-04T00:42:55.807" v="1140" actId="20577"/>
        <pc:sldMkLst>
          <pc:docMk/>
          <pc:sldMk cId="2684659356" sldId="311"/>
        </pc:sldMkLst>
        <pc:spChg chg="mod">
          <ac:chgData name="Riasat Khan" userId="826ac62dfbb52e43" providerId="LiveId" clId="{9823E14A-A5BE-4E61-B0BF-65A132893CDA}" dt="2025-02-04T00:42:55.807" v="1140" actId="20577"/>
          <ac:spMkLst>
            <pc:docMk/>
            <pc:sldMk cId="2684659356" sldId="311"/>
            <ac:spMk id="33" creationId="{D59A857D-4DF0-A5C7-ED92-070CE9FEEF04}"/>
          </ac:spMkLst>
        </pc:spChg>
      </pc:sldChg>
      <pc:sldChg chg="modSp mod">
        <pc:chgData name="Riasat Khan" userId="826ac62dfbb52e43" providerId="LiveId" clId="{9823E14A-A5BE-4E61-B0BF-65A132893CDA}" dt="2024-02-26T07:05:40.137" v="998" actId="20577"/>
        <pc:sldMkLst>
          <pc:docMk/>
          <pc:sldMk cId="1191392118" sldId="315"/>
        </pc:sldMkLst>
      </pc:sldChg>
      <pc:sldMasterChg chg="delSldLayout">
        <pc:chgData name="Riasat Khan" userId="826ac62dfbb52e43" providerId="LiveId" clId="{9823E14A-A5BE-4E61-B0BF-65A132893CDA}" dt="2022-10-24T16:23:49.734" v="881" actId="2696"/>
        <pc:sldMasterMkLst>
          <pc:docMk/>
          <pc:sldMasterMk cId="3182308904" sldId="2147483664"/>
        </pc:sldMasterMkLst>
        <pc:sldLayoutChg chg="del">
          <pc:chgData name="Riasat Khan" userId="826ac62dfbb52e43" providerId="LiveId" clId="{9823E14A-A5BE-4E61-B0BF-65A132893CDA}" dt="2022-10-24T16:23:49.734" v="881" actId="2696"/>
          <pc:sldLayoutMkLst>
            <pc:docMk/>
            <pc:sldMasterMk cId="3182308904" sldId="2147483664"/>
            <pc:sldLayoutMk cId="703894847" sldId="2147483676"/>
          </pc:sldLayoutMkLst>
        </pc:sldLayoutChg>
      </pc:sldMasterChg>
    </pc:docChg>
  </pc:docChgLst>
  <pc:docChgLst>
    <pc:chgData name="Riasat Khan" userId="826ac62dfbb52e43" providerId="LiveId" clId="{39A1F871-8030-4673-ADBA-E2AAC567DB2D}"/>
    <pc:docChg chg="undo custSel addSld modSld">
      <pc:chgData name="Riasat Khan" userId="826ac62dfbb52e43" providerId="LiveId" clId="{39A1F871-8030-4673-ADBA-E2AAC567DB2D}" dt="2023-02-20T08:49:57.626" v="308" actId="207"/>
      <pc:docMkLst>
        <pc:docMk/>
      </pc:docMkLst>
      <pc:sldChg chg="addSp delSp modSp mod">
        <pc:chgData name="Riasat Khan" userId="826ac62dfbb52e43" providerId="LiveId" clId="{39A1F871-8030-4673-ADBA-E2AAC567DB2D}" dt="2023-02-20T08:49:57.626" v="308" actId="207"/>
        <pc:sldMkLst>
          <pc:docMk/>
          <pc:sldMk cId="0" sldId="303"/>
        </pc:sldMkLst>
      </pc:sldChg>
      <pc:sldChg chg="addSp modSp mod">
        <pc:chgData name="Riasat Khan" userId="826ac62dfbb52e43" providerId="LiveId" clId="{39A1F871-8030-4673-ADBA-E2AAC567DB2D}" dt="2023-02-20T05:54:55.537" v="4" actId="1076"/>
        <pc:sldMkLst>
          <pc:docMk/>
          <pc:sldMk cId="2684659356" sldId="311"/>
        </pc:sldMkLst>
      </pc:sldChg>
      <pc:sldChg chg="add">
        <pc:chgData name="Riasat Khan" userId="826ac62dfbb52e43" providerId="LiveId" clId="{39A1F871-8030-4673-ADBA-E2AAC567DB2D}" dt="2023-02-20T05:54:02.959" v="0"/>
        <pc:sldMkLst>
          <pc:docMk/>
          <pc:sldMk cId="1948232815" sldId="312"/>
        </pc:sldMkLst>
      </pc:sldChg>
      <pc:sldChg chg="addSp modSp new mod">
        <pc:chgData name="Riasat Khan" userId="826ac62dfbb52e43" providerId="LiveId" clId="{39A1F871-8030-4673-ADBA-E2AAC567DB2D}" dt="2023-02-20T06:10:59.360" v="88" actId="207"/>
        <pc:sldMkLst>
          <pc:docMk/>
          <pc:sldMk cId="825383413" sldId="313"/>
        </pc:sldMkLst>
      </pc:sldChg>
      <pc:sldChg chg="addSp modSp add mod">
        <pc:chgData name="Riasat Khan" userId="826ac62dfbb52e43" providerId="LiveId" clId="{39A1F871-8030-4673-ADBA-E2AAC567DB2D}" dt="2023-02-20T06:25:07.498" v="283" actId="207"/>
        <pc:sldMkLst>
          <pc:docMk/>
          <pc:sldMk cId="1099866528" sldId="314"/>
        </pc:sldMkLst>
      </pc:sldChg>
      <pc:sldChg chg="addSp delSp modSp add mod">
        <pc:chgData name="Riasat Khan" userId="826ac62dfbb52e43" providerId="LiveId" clId="{39A1F871-8030-4673-ADBA-E2AAC567DB2D}" dt="2023-02-20T06:23:42.341" v="221" actId="14100"/>
        <pc:sldMkLst>
          <pc:docMk/>
          <pc:sldMk cId="1191392118" sldId="315"/>
        </pc:sldMkLst>
      </pc:sldChg>
    </pc:docChg>
  </pc:docChgLst>
  <pc:docChgLst>
    <pc:chgData name="Riasat Khan" userId="826ac62dfbb52e43" providerId="LiveId" clId="{7CBDE343-1583-43B4-9CF7-514C6F0AAA48}"/>
    <pc:docChg chg="undo custSel addSld modSld sldOrd">
      <pc:chgData name="Riasat Khan" userId="826ac62dfbb52e43" providerId="LiveId" clId="{7CBDE343-1583-43B4-9CF7-514C6F0AAA48}" dt="2022-10-29T06:40:57.682" v="372"/>
      <pc:docMkLst>
        <pc:docMk/>
      </pc:docMkLst>
      <pc:sldChg chg="addSp delSp modSp add mod ord">
        <pc:chgData name="Riasat Khan" userId="826ac62dfbb52e43" providerId="LiveId" clId="{7CBDE343-1583-43B4-9CF7-514C6F0AAA48}" dt="2022-10-29T06:40:57.682" v="372"/>
        <pc:sldMkLst>
          <pc:docMk/>
          <pc:sldMk cId="2684659356" sldId="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800" tIns="48400" rIns="96800" bIns="484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5863" y="700088"/>
            <a:ext cx="4643437" cy="3482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934112" y="4416098"/>
            <a:ext cx="5142177" cy="4180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7450" y="698500"/>
            <a:ext cx="4643438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934112" y="4414561"/>
            <a:ext cx="5142177" cy="418399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575" tIns="45775" rIns="91575" bIns="45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1214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2592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0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8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0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p38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0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1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8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0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1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704850"/>
            <a:ext cx="462915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38D6-EA14-BD4D-499A-7CF016999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F389C-750F-7D1B-202C-521F97EB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C859F-BA58-3DA3-087B-16A1C6E8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DEF18-1307-BBEF-0D58-F2A5ADEB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D7B17-3E09-DECB-9DB4-FAD83398F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4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458F-4128-06DD-602A-5B003337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EB1EB-3B18-1DFB-2B2C-CB06C9B53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A827-6F12-4605-55A1-A7A1727C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4CEC0-A404-A2E5-D46F-546B6B378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B2B23-B4F0-AA7B-C9EB-C86017F3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2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809C-CDE9-F418-17C1-0B9D6410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A45B4-15EA-0FCA-31B7-FA10FAC5B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07FF2-9573-02E7-74ED-821E1A91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E21F4-BDDE-E524-4469-90FCA290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899C2-FDB9-D5B2-240C-F4BD11AF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0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8F45-D4CC-2D4A-924D-61BBDB939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B21AB-C2A1-6864-C4D9-8F9F51942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EFFEA-E25B-4F33-8960-8D0DCB785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82EE1-1AE7-54F8-5E8C-4E41AE46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58455-A418-1F8C-63CB-606EDAA6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74338-3878-6D72-0156-2CA68FB69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2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456B-BA45-96C7-3C17-021C8FCF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70A50-8BB8-4CC9-824F-844CA880A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1230D-9FD7-22C4-31F3-CB56DA202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F41AF-E0F6-A715-9D96-C8A132B78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097D24-417A-C58B-84B6-34B9CD76F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C0394-9AFC-217B-0C22-355DF95DF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A3BBA-47DE-19B7-A47E-E989770D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E259DD-3906-568C-EECD-447A0886C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9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C0930-4618-AFB8-0D7E-4FB33EA90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43EF5-7409-BD29-A712-184E81B5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EA947-664B-1347-6A24-4A3D5892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C2DDF-99F6-DFC1-BAAC-ABB8A55B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D8F49-086A-3B13-ADEC-FCF77D17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FAB68-1247-0A91-500E-BB8BF983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4451B-40A0-E3E3-38D1-0DB8FAFB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52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B392-7142-BC08-8F40-752F7D3E2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F22D0-9C7F-B86D-D1E1-21F4A56D7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68C9-866A-4FF8-38D2-E49912094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3F719-B42F-827B-B2A5-D0A0B077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1898A-9B20-2503-964F-807A8F48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6202A-E8C9-B370-409F-B7D779EA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5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8C37-5E81-07DC-E157-1BBA36E4F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D846D6-4407-B03D-AF0A-D283951A7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D8F53-FEAE-2E4C-D314-BB4624FC2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A3D4C-6817-005B-639D-0B7225A6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2B6A9-9B8B-1471-2A8E-3EAD7AA9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C1867-63B7-C235-0015-2F9CDE51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903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A88D-3269-BFC6-AE57-D925AB8B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66D49-CF75-A993-E88D-8EC9C2FDC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C0690-58F6-D7A5-FBB1-53A347AA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BA90-E0B0-DD4F-2C92-D35E4F23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F5D6F-6772-765E-A4AF-6B67590A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4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25D3B-3641-F95D-B100-C528F2863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B7206-5315-411B-DC35-DC8F628C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20C70-C088-8561-5417-704180EB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8602C-A6A1-011B-F033-F6821A9E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27381-2F93-23F3-E2E4-E4F5A44C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58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itle, Text,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4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4"/>
          <p:cNvSpPr txBox="1">
            <a:spLocks noGrp="1"/>
          </p:cNvSpPr>
          <p:nvPr>
            <p:ph type="body" idx="1"/>
          </p:nvPr>
        </p:nvSpPr>
        <p:spPr>
          <a:xfrm>
            <a:off x="411163" y="1143000"/>
            <a:ext cx="408305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4"/>
          <p:cNvSpPr txBox="1">
            <a:spLocks noGrp="1"/>
          </p:cNvSpPr>
          <p:nvPr>
            <p:ph type="body" idx="2"/>
          </p:nvPr>
        </p:nvSpPr>
        <p:spPr>
          <a:xfrm>
            <a:off x="4646613" y="1143000"/>
            <a:ext cx="408305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994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itle, Text, and 2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6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6"/>
          <p:cNvSpPr txBox="1">
            <a:spLocks noGrp="1"/>
          </p:cNvSpPr>
          <p:nvPr>
            <p:ph type="body" idx="1"/>
          </p:nvPr>
        </p:nvSpPr>
        <p:spPr>
          <a:xfrm>
            <a:off x="411163" y="1143000"/>
            <a:ext cx="408305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6"/>
          <p:cNvSpPr txBox="1">
            <a:spLocks noGrp="1"/>
          </p:cNvSpPr>
          <p:nvPr>
            <p:ph type="body" idx="2"/>
          </p:nvPr>
        </p:nvSpPr>
        <p:spPr>
          <a:xfrm>
            <a:off x="4646613" y="1143000"/>
            <a:ext cx="408305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6"/>
          <p:cNvSpPr txBox="1">
            <a:spLocks noGrp="1"/>
          </p:cNvSpPr>
          <p:nvPr>
            <p:ph type="body" idx="3"/>
          </p:nvPr>
        </p:nvSpPr>
        <p:spPr>
          <a:xfrm>
            <a:off x="4646613" y="3810000"/>
            <a:ext cx="408305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6214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over Content" type="txOverObj">
  <p:cSld name="Title and Text over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7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7"/>
          <p:cNvSpPr txBox="1">
            <a:spLocks noGrp="1"/>
          </p:cNvSpPr>
          <p:nvPr>
            <p:ph type="body" idx="1"/>
          </p:nvPr>
        </p:nvSpPr>
        <p:spPr>
          <a:xfrm>
            <a:off x="411163" y="1143000"/>
            <a:ext cx="83185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67"/>
          <p:cNvSpPr txBox="1">
            <a:spLocks noGrp="1"/>
          </p:cNvSpPr>
          <p:nvPr>
            <p:ph type="body" idx="2"/>
          </p:nvPr>
        </p:nvSpPr>
        <p:spPr>
          <a:xfrm>
            <a:off x="411163" y="3810000"/>
            <a:ext cx="83185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6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621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404E32-02C8-7048-0488-3EFF901B4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1E5F6-D660-92DE-64C2-FA62B9C31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BB1D2-63AF-8958-C470-06DEE0D11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C9D88-7375-DEE6-018F-E85B0F0F8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3FC40-A033-7FB2-F4E6-72BAC7576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08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7" r:id="rId12"/>
    <p:sldLayoutId id="2147483678" r:id="rId13"/>
    <p:sldLayoutId id="2147483679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oleObject" Target="../embeddings/oleObject18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oleObject" Target="../embeddings/oleObject24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60.png"/><Relationship Id="rId3" Type="http://schemas.openxmlformats.org/officeDocument/2006/relationships/image" Target="../media/image310.png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7.png"/><Relationship Id="rId5" Type="http://schemas.openxmlformats.org/officeDocument/2006/relationships/image" Target="../media/image34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6.png"/><Relationship Id="rId14" Type="http://schemas.openxmlformats.org/officeDocument/2006/relationships/image" Target="../media/image38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6.png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5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9.png"/><Relationship Id="rId9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6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7.png"/><Relationship Id="rId10" Type="http://schemas.openxmlformats.org/officeDocument/2006/relationships/image" Target="../media/image61.png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oleObject" Target="../embeddings/oleObject44.bin"/><Relationship Id="rId4" Type="http://schemas.openxmlformats.org/officeDocument/2006/relationships/image" Target="../media/image39.png"/><Relationship Id="rId9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oleObject" Target="../embeddings/oleObject47.bin"/><Relationship Id="rId4" Type="http://schemas.openxmlformats.org/officeDocument/2006/relationships/image" Target="../media/image6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oleObject" Target="../embeddings/oleObject47.bin"/><Relationship Id="rId4" Type="http://schemas.openxmlformats.org/officeDocument/2006/relationships/image" Target="../media/image6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763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Classifier: Decision Tree</a:t>
            </a:r>
            <a:endParaRPr sz="2800"/>
          </a:p>
        </p:txBody>
      </p:sp>
      <p:sp>
        <p:nvSpPr>
          <p:cNvPr id="119" name="Google Shape;119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381000" y="1949450"/>
            <a:ext cx="815340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1"/>
          <p:cNvGrpSpPr/>
          <p:nvPr/>
        </p:nvGrpSpPr>
        <p:grpSpPr>
          <a:xfrm>
            <a:off x="304800" y="1447800"/>
            <a:ext cx="8534400" cy="152400"/>
            <a:chOff x="264" y="788"/>
            <a:chExt cx="5232" cy="124"/>
          </a:xfrm>
        </p:grpSpPr>
        <p:sp>
          <p:nvSpPr>
            <p:cNvPr id="117" name="Google Shape;117;p1"/>
            <p:cNvSpPr/>
            <p:nvPr/>
          </p:nvSpPr>
          <p:spPr>
            <a:xfrm>
              <a:off x="264" y="788"/>
              <a:ext cx="5232" cy="61"/>
            </a:xfrm>
            <a:prstGeom prst="rect">
              <a:avLst/>
            </a:prstGeom>
            <a:gradFill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264" y="881"/>
              <a:ext cx="5232" cy="31"/>
            </a:xfrm>
            <a:prstGeom prst="rect">
              <a:avLst/>
            </a:prstGeom>
            <a:gradFill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1534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Classification: Definition</a:t>
            </a:r>
            <a:endParaRPr dirty="0"/>
          </a:p>
        </p:txBody>
      </p:sp>
      <p:sp>
        <p:nvSpPr>
          <p:cNvPr id="125" name="Google Shape;125;p2"/>
          <p:cNvSpPr txBox="1">
            <a:spLocks noGrp="1"/>
          </p:cNvSpPr>
          <p:nvPr>
            <p:ph idx="1"/>
          </p:nvPr>
        </p:nvSpPr>
        <p:spPr>
          <a:xfrm>
            <a:off x="0" y="1690688"/>
            <a:ext cx="9143999" cy="463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dirty="0"/>
              <a:t>Given a collection of records (training set)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Each record is by characterized by a tuple (</a:t>
            </a:r>
            <a:r>
              <a:rPr lang="en-US" b="1" i="1" dirty="0" err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dirty="0" err="1"/>
              <a:t>,</a:t>
            </a:r>
            <a:r>
              <a:rPr lang="en-US" i="1" dirty="0" err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dirty="0"/>
              <a:t>), where </a:t>
            </a:r>
            <a:r>
              <a:rPr lang="en-US" b="1" i="1" dirty="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dirty="0"/>
              <a:t>is the attribute set and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US" dirty="0"/>
              <a:t>is the class label</a:t>
            </a:r>
            <a:endParaRPr dirty="0"/>
          </a:p>
          <a:p>
            <a:pPr marL="914400" lvl="2" indent="-106680" algn="l" rtl="0">
              <a:spcBef>
                <a:spcPts val="640"/>
              </a:spcBef>
              <a:spcAft>
                <a:spcPts val="0"/>
              </a:spcAft>
              <a:buSzPts val="1680"/>
              <a:buFont typeface="Noto Sans Symbols"/>
              <a:buChar char="◆"/>
            </a:pPr>
            <a:r>
              <a:rPr lang="en-US" dirty="0"/>
              <a:t> </a:t>
            </a:r>
            <a:r>
              <a:rPr lang="en-US" b="1" i="1" dirty="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dirty="0"/>
              <a:t>: attribute, predictor, independent variable, input</a:t>
            </a:r>
            <a:endParaRPr dirty="0"/>
          </a:p>
          <a:p>
            <a:pPr marL="914400" lvl="2" indent="-106680" algn="l" rtl="0">
              <a:spcBef>
                <a:spcPts val="640"/>
              </a:spcBef>
              <a:spcAft>
                <a:spcPts val="0"/>
              </a:spcAft>
              <a:buSzPts val="1680"/>
              <a:buFont typeface="Noto Sans Symbols"/>
              <a:buChar char="◆"/>
            </a:pPr>
            <a:r>
              <a:rPr lang="en-US" dirty="0"/>
              <a:t>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dirty="0"/>
              <a:t>: class, response, dependent variable, output</a:t>
            </a:r>
            <a:endParaRPr dirty="0"/>
          </a:p>
          <a:p>
            <a:pPr marL="2057400" lvl="4" indent="-1016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2100" lvl="0" indent="-292100" algn="l" rtl="0">
              <a:spcBef>
                <a:spcPts val="28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dirty="0"/>
              <a:t>Task: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Learn a model that maps each attribute set </a:t>
            </a:r>
            <a:r>
              <a:rPr lang="en-US" b="1" i="1" dirty="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dirty="0"/>
              <a:t>into one of the predefined class labels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</a:p>
          <a:p>
            <a:pPr marL="742950" lvl="1" indent="-285750">
              <a:spcBef>
                <a:spcPts val="680"/>
              </a:spcBef>
              <a:buSzPts val="2800"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Decision Tree</a:t>
            </a:r>
          </a:p>
          <a:p>
            <a:pPr marL="742950" lvl="1" indent="-285750">
              <a:spcBef>
                <a:spcPts val="680"/>
              </a:spcBef>
              <a:buSzPts val="2800"/>
            </a:pPr>
            <a:endParaRPr lang="en-US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Robust to noisy and missing data</a:t>
            </a:r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less effort for data preparation during pre-processing</a:t>
            </a:r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very intuitive and easy to explain to technical teams as well as stakeholders</a:t>
            </a:r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Ensemble models are constructed from Decision Tree</a:t>
            </a:r>
          </a:p>
        </p:txBody>
      </p:sp>
      <p:sp>
        <p:nvSpPr>
          <p:cNvPr id="126" name="Google Shape;126;p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General Approach for Building Classification Model</a:t>
            </a:r>
            <a:endParaRPr sz="2400" dirty="0"/>
          </a:p>
        </p:txBody>
      </p:sp>
      <p:sp>
        <p:nvSpPr>
          <p:cNvPr id="139" name="Google Shape;139;p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40" name="Google Shape;140;p4"/>
          <p:cNvPicPr preferRelativeResize="0"/>
          <p:nvPr/>
        </p:nvPicPr>
        <p:blipFill rotWithShape="1">
          <a:blip r:embed="rId3">
            <a:alphaModFix/>
          </a:blip>
          <a:srcRect b="6508"/>
          <a:stretch/>
        </p:blipFill>
        <p:spPr>
          <a:xfrm>
            <a:off x="0" y="1078045"/>
            <a:ext cx="5260790" cy="47019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E14159-4E53-24FF-1B38-5111C8A0674D}"/>
              </a:ext>
            </a:extLst>
          </p:cNvPr>
          <p:cNvSpPr txBox="1"/>
          <p:nvPr/>
        </p:nvSpPr>
        <p:spPr>
          <a:xfrm>
            <a:off x="4906651" y="1078045"/>
            <a:ext cx="42373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Induction: Learn from examples (training 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>
              <a:buClr>
                <a:srgbClr val="0C7B9C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Deduction/Inference: Predict from the trained model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(testing process)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ts val="1800"/>
              <a:buFont typeface="Arial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Classification Techniques</a:t>
            </a:r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idx="1"/>
          </p:nvPr>
        </p:nvSpPr>
        <p:spPr>
          <a:xfrm>
            <a:off x="0" y="1825625"/>
            <a:ext cx="91440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Base Classifiers</a:t>
            </a:r>
            <a:endParaRPr dirty="0"/>
          </a:p>
          <a:p>
            <a:pPr marL="800100" lvl="1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–"/>
            </a:pPr>
            <a:r>
              <a:rPr lang="en-US" sz="2400" dirty="0" err="1"/>
              <a:t>OneR</a:t>
            </a:r>
            <a:r>
              <a:rPr lang="en-US" sz="2400" dirty="0"/>
              <a:t> and </a:t>
            </a:r>
            <a:r>
              <a:rPr lang="en-US" sz="2400" dirty="0" err="1"/>
              <a:t>ZeroR</a:t>
            </a:r>
            <a:endParaRPr lang="en-US" sz="2400" dirty="0"/>
          </a:p>
          <a:p>
            <a:pPr marL="800100" lvl="1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–"/>
            </a:pPr>
            <a:r>
              <a:rPr lang="en-US" sz="2400" dirty="0">
                <a:solidFill>
                  <a:srgbClr val="FF0000"/>
                </a:solidFill>
              </a:rPr>
              <a:t>Decision Tree based Methods</a:t>
            </a:r>
            <a:endParaRPr dirty="0">
              <a:solidFill>
                <a:srgbClr val="FF0000"/>
              </a:solidFill>
            </a:endParaRPr>
          </a:p>
          <a:p>
            <a:pPr marL="800100" lvl="1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–"/>
            </a:pPr>
            <a:r>
              <a:rPr lang="en-US" sz="2400" dirty="0"/>
              <a:t>Rule-based Methods</a:t>
            </a:r>
            <a:endParaRPr dirty="0"/>
          </a:p>
          <a:p>
            <a:pPr marL="800100" lvl="1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–"/>
            </a:pPr>
            <a:r>
              <a:rPr lang="en-US" sz="2400" dirty="0"/>
              <a:t>Nearest-neighbor</a:t>
            </a:r>
            <a:endParaRPr dirty="0"/>
          </a:p>
          <a:p>
            <a:pPr marL="800100" lvl="1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–"/>
            </a:pPr>
            <a:r>
              <a:rPr lang="en-US" sz="2400" dirty="0"/>
              <a:t>Naïve Bayes and Bayesian Belief Networks</a:t>
            </a:r>
            <a:endParaRPr dirty="0"/>
          </a:p>
          <a:p>
            <a:pPr marL="800100" lvl="1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–"/>
            </a:pPr>
            <a:r>
              <a:rPr lang="en-US" sz="2400" dirty="0"/>
              <a:t>Support Vector Machines</a:t>
            </a:r>
            <a:endParaRPr dirty="0"/>
          </a:p>
          <a:p>
            <a:pPr marL="800100" lvl="1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–"/>
            </a:pPr>
            <a:r>
              <a:rPr lang="en-US" sz="2400" dirty="0"/>
              <a:t>Neural Networks, Deep Neural Nets</a:t>
            </a:r>
            <a:endParaRPr dirty="0"/>
          </a:p>
          <a:p>
            <a:pPr marL="800100" lvl="1" indent="-165100" algn="l" rtl="0">
              <a:lnSpc>
                <a:spcPct val="90000"/>
              </a:lnSpc>
              <a:spcBef>
                <a:spcPts val="68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292100" lvl="0" indent="-292100" algn="l" rtl="0">
              <a:lnSpc>
                <a:spcPct val="90000"/>
              </a:lnSpc>
              <a:spcBef>
                <a:spcPts val="68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Ensemble Classifiers</a:t>
            </a:r>
            <a:endParaRPr dirty="0"/>
          </a:p>
          <a:p>
            <a:pPr marL="800100" lvl="1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Char char="–"/>
            </a:pPr>
            <a:r>
              <a:rPr lang="en-US" sz="2400" dirty="0"/>
              <a:t>Boosting, Bagging, Random Forests</a:t>
            </a:r>
            <a:endParaRPr dirty="0"/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0414AC8-3C71-6CA4-64B2-AF02F83554CB}"/>
              </a:ext>
            </a:extLst>
          </p:cNvPr>
          <p:cNvCxnSpPr/>
          <p:nvPr/>
        </p:nvCxnSpPr>
        <p:spPr>
          <a:xfrm rot="16200000" flipH="1">
            <a:off x="3190673" y="4212076"/>
            <a:ext cx="2937753" cy="175098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522288" y="15330"/>
            <a:ext cx="7886700" cy="49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 of a Decision Tree</a:t>
            </a:r>
            <a:endParaRPr dirty="0"/>
          </a:p>
        </p:txBody>
      </p:sp>
      <p:sp>
        <p:nvSpPr>
          <p:cNvPr id="187" name="Google Shape;187;p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153" name="Google Shape;153;p6"/>
          <p:cNvGraphicFramePr/>
          <p:nvPr/>
        </p:nvGraphicFramePr>
        <p:xfrm>
          <a:off x="152400" y="1990725"/>
          <a:ext cx="3810000" cy="377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810000" imgH="3770313" progId="Word.Document.8">
                  <p:embed/>
                </p:oleObj>
              </mc:Choice>
              <mc:Fallback>
                <p:oleObj r:id="rId3" imgW="3810000" imgH="3770313" progId="Word.Document.8">
                  <p:embed/>
                  <p:pic>
                    <p:nvPicPr>
                      <p:cNvPr id="153" name="Google Shape;153;p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52400" y="1990725"/>
                        <a:ext cx="3810000" cy="377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" name="Google Shape;154;p6"/>
          <p:cNvSpPr txBox="1"/>
          <p:nvPr/>
        </p:nvSpPr>
        <p:spPr>
          <a:xfrm rot="-2416809">
            <a:off x="838200" y="13716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 rot="-2416809">
            <a:off x="1524000" y="13716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 rot="-2416809">
            <a:off x="2362200" y="1371600"/>
            <a:ext cx="12779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 rot="-2416809">
            <a:off x="3124200" y="1524000"/>
            <a:ext cx="6921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6"/>
          <p:cNvCxnSpPr/>
          <p:nvPr/>
        </p:nvCxnSpPr>
        <p:spPr>
          <a:xfrm>
            <a:off x="6965950" y="4505325"/>
            <a:ext cx="242888" cy="5270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59;p6"/>
          <p:cNvCxnSpPr/>
          <p:nvPr/>
        </p:nvCxnSpPr>
        <p:spPr>
          <a:xfrm flipH="1">
            <a:off x="5835650" y="4505325"/>
            <a:ext cx="323850" cy="5270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60;p6"/>
          <p:cNvCxnSpPr/>
          <p:nvPr/>
        </p:nvCxnSpPr>
        <p:spPr>
          <a:xfrm flipH="1">
            <a:off x="6481763" y="3711575"/>
            <a:ext cx="403225" cy="528638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" name="Google Shape;161;p6"/>
          <p:cNvCxnSpPr/>
          <p:nvPr/>
        </p:nvCxnSpPr>
        <p:spPr>
          <a:xfrm>
            <a:off x="7693025" y="3711575"/>
            <a:ext cx="484188" cy="528638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" name="Google Shape;162;p6"/>
          <p:cNvCxnSpPr/>
          <p:nvPr/>
        </p:nvCxnSpPr>
        <p:spPr>
          <a:xfrm>
            <a:off x="6643688" y="2984500"/>
            <a:ext cx="565150" cy="4635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" name="Google Shape;163;p6"/>
          <p:cNvCxnSpPr/>
          <p:nvPr/>
        </p:nvCxnSpPr>
        <p:spPr>
          <a:xfrm flipH="1">
            <a:off x="5270500" y="2984500"/>
            <a:ext cx="565150" cy="4635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" name="Google Shape;164;p6"/>
          <p:cNvSpPr txBox="1"/>
          <p:nvPr/>
        </p:nvSpPr>
        <p:spPr>
          <a:xfrm>
            <a:off x="5788025" y="2530475"/>
            <a:ext cx="936625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6804025" y="3448050"/>
            <a:ext cx="935038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6078538" y="4240213"/>
            <a:ext cx="968375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005638" y="5029200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6929438" y="5029200"/>
            <a:ext cx="685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513388" y="5046663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5610225" y="50323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948238" y="34623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5043488" y="3448050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843838" y="426720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7920038" y="4267200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5060950" y="298450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6926263" y="2984500"/>
            <a:ext cx="4429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7908925" y="3749675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US"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5692775" y="3778250"/>
            <a:ext cx="16605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5313363" y="4570413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088188" y="4570413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6427788" y="1766888"/>
            <a:ext cx="2241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</a:pPr>
            <a:r>
              <a:rPr lang="en-US" sz="1800" b="1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Splitting Attributes</a:t>
            </a:r>
            <a:endParaRPr/>
          </a:p>
        </p:txBody>
      </p:sp>
      <p:cxnSp>
        <p:nvCxnSpPr>
          <p:cNvPr id="182" name="Google Shape;182;p6"/>
          <p:cNvCxnSpPr/>
          <p:nvPr/>
        </p:nvCxnSpPr>
        <p:spPr>
          <a:xfrm flipH="1">
            <a:off x="6805613" y="2147888"/>
            <a:ext cx="536575" cy="534987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83" name="Google Shape;183;p6"/>
          <p:cNvSpPr/>
          <p:nvPr/>
        </p:nvSpPr>
        <p:spPr>
          <a:xfrm>
            <a:off x="3810000" y="3810000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6"/>
          <p:cNvCxnSpPr/>
          <p:nvPr/>
        </p:nvCxnSpPr>
        <p:spPr>
          <a:xfrm>
            <a:off x="7418388" y="2147888"/>
            <a:ext cx="76200" cy="1144587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85" name="Google Shape;185;p6"/>
          <p:cNvSpPr txBox="1"/>
          <p:nvPr/>
        </p:nvSpPr>
        <p:spPr>
          <a:xfrm>
            <a:off x="683419" y="5691336"/>
            <a:ext cx="25146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endParaRPr sz="20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C8691-3D99-CB53-5561-4800BC0CB38C}"/>
              </a:ext>
            </a:extLst>
          </p:cNvPr>
          <p:cNvSpPr txBox="1"/>
          <p:nvPr/>
        </p:nvSpPr>
        <p:spPr>
          <a:xfrm>
            <a:off x="3703063" y="336796"/>
            <a:ext cx="5440937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10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Home owner: </a:t>
            </a:r>
            <a:r>
              <a:rPr lang="en-US" dirty="0">
                <a:solidFill>
                  <a:srgbClr val="FF0000"/>
                </a:solidFill>
              </a:rPr>
              <a:t>Root/Parent node</a:t>
            </a:r>
            <a:r>
              <a:rPr lang="en-US" dirty="0"/>
              <a:t>: from where the decision tree starts</a:t>
            </a:r>
          </a:p>
          <a:p>
            <a:pPr marL="29210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Yes/No: </a:t>
            </a:r>
            <a:r>
              <a:rPr lang="en-US" dirty="0">
                <a:solidFill>
                  <a:srgbClr val="FF0000"/>
                </a:solidFill>
              </a:rPr>
              <a:t>Leaf node</a:t>
            </a:r>
            <a:r>
              <a:rPr lang="en-US" dirty="0"/>
              <a:t>: final output node</a:t>
            </a:r>
          </a:p>
          <a:p>
            <a:pPr marL="29210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Income/marital status: </a:t>
            </a:r>
            <a:r>
              <a:rPr lang="en-US" dirty="0">
                <a:solidFill>
                  <a:srgbClr val="FF0000"/>
                </a:solidFill>
              </a:rPr>
              <a:t>Branch node</a:t>
            </a:r>
            <a:r>
              <a:rPr lang="en-US" dirty="0"/>
              <a:t>: tree formed by splitting the tree</a:t>
            </a:r>
          </a:p>
          <a:p>
            <a:pPr marL="29210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Pruning: removing the unwanted branches from the 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D896E-C4BE-6B5F-4496-F043E6021ACA}"/>
              </a:ext>
            </a:extLst>
          </p:cNvPr>
          <p:cNvSpPr txBox="1"/>
          <p:nvPr/>
        </p:nvSpPr>
        <p:spPr>
          <a:xfrm>
            <a:off x="118910" y="5938748"/>
            <a:ext cx="6442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92929"/>
                </a:solidFill>
                <a:latin typeface="source-serif-pro"/>
              </a:rPr>
              <a:t>T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ransforms the data into a tree representation. Each internal node of the tree representation denotes an attribute, and each leaf node denotes a class label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0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Apply Model to Test Data</a:t>
            </a:r>
            <a:endParaRPr dirty="0"/>
          </a:p>
        </p:txBody>
      </p:sp>
      <p:sp>
        <p:nvSpPr>
          <p:cNvPr id="220" name="Google Shape;220;p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cxnSp>
        <p:nvCxnSpPr>
          <p:cNvPr id="193" name="Google Shape;193;p7"/>
          <p:cNvCxnSpPr/>
          <p:nvPr/>
        </p:nvCxnSpPr>
        <p:spPr>
          <a:xfrm>
            <a:off x="2898775" y="4551363"/>
            <a:ext cx="2667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7"/>
          <p:cNvCxnSpPr/>
          <p:nvPr/>
        </p:nvCxnSpPr>
        <p:spPr>
          <a:xfrm flipH="1">
            <a:off x="1658938" y="4551363"/>
            <a:ext cx="3556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7"/>
          <p:cNvCxnSpPr/>
          <p:nvPr/>
        </p:nvCxnSpPr>
        <p:spPr>
          <a:xfrm flipH="1">
            <a:off x="2366963" y="3576638"/>
            <a:ext cx="442912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7"/>
          <p:cNvCxnSpPr/>
          <p:nvPr/>
        </p:nvCxnSpPr>
        <p:spPr>
          <a:xfrm>
            <a:off x="3695700" y="3576638"/>
            <a:ext cx="531813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7"/>
          <p:cNvCxnSpPr/>
          <p:nvPr/>
        </p:nvCxnSpPr>
        <p:spPr>
          <a:xfrm>
            <a:off x="2544763" y="2686050"/>
            <a:ext cx="620712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7"/>
          <p:cNvCxnSpPr/>
          <p:nvPr/>
        </p:nvCxnSpPr>
        <p:spPr>
          <a:xfrm flipH="1">
            <a:off x="1039813" y="2686050"/>
            <a:ext cx="619125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9" name="Google Shape;199;p7"/>
          <p:cNvSpPr txBox="1"/>
          <p:nvPr/>
        </p:nvSpPr>
        <p:spPr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US"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" name="Google Shape;216;p7"/>
          <p:cNvGraphicFramePr/>
          <p:nvPr/>
        </p:nvGraphicFramePr>
        <p:xfrm>
          <a:off x="4957763" y="1604963"/>
          <a:ext cx="358616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586162" imgH="1096962" progId="Word.Document.8">
                  <p:embed/>
                </p:oleObj>
              </mc:Choice>
              <mc:Fallback>
                <p:oleObj r:id="rId3" imgW="3586162" imgH="1096962" progId="Word.Document.8">
                  <p:embed/>
                  <p:pic>
                    <p:nvPicPr>
                      <p:cNvPr id="216" name="Google Shape;216;p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957763" y="1604963"/>
                        <a:ext cx="358616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" name="Google Shape;217;p7"/>
          <p:cNvSpPr txBox="1"/>
          <p:nvPr/>
        </p:nvSpPr>
        <p:spPr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990600" y="1447800"/>
            <a:ext cx="3429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from the root of tree.</a:t>
            </a:r>
            <a:endParaRPr/>
          </a:p>
        </p:txBody>
      </p:sp>
      <p:cxnSp>
        <p:nvCxnSpPr>
          <p:cNvPr id="219" name="Google Shape;219;p7"/>
          <p:cNvCxnSpPr/>
          <p:nvPr/>
        </p:nvCxnSpPr>
        <p:spPr>
          <a:xfrm>
            <a:off x="2133600" y="1828800"/>
            <a:ext cx="0" cy="4572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"/>
          <p:cNvSpPr txBox="1">
            <a:spLocks noGrp="1"/>
          </p:cNvSpPr>
          <p:nvPr>
            <p:ph type="title"/>
          </p:nvPr>
        </p:nvSpPr>
        <p:spPr>
          <a:xfrm>
            <a:off x="0" y="14820"/>
            <a:ext cx="9144000" cy="1095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Another Example of Decision Tree: Same Training dataset</a:t>
            </a:r>
            <a:endParaRPr dirty="0"/>
          </a:p>
        </p:txBody>
      </p:sp>
      <p:sp>
        <p:nvSpPr>
          <p:cNvPr id="417" name="Google Shape;417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87" name="Google Shape;387;p13"/>
          <p:cNvSpPr txBox="1"/>
          <p:nvPr/>
        </p:nvSpPr>
        <p:spPr>
          <a:xfrm rot="-2416809">
            <a:off x="990600" y="14478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 rot="-2416809">
            <a:off x="1676400" y="14478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3"/>
          <p:cNvSpPr txBox="1"/>
          <p:nvPr/>
        </p:nvSpPr>
        <p:spPr>
          <a:xfrm rot="-2416809">
            <a:off x="2514600" y="1447800"/>
            <a:ext cx="12779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 rot="-2416809">
            <a:off x="3276600" y="1600200"/>
            <a:ext cx="6921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8005763" y="3497263"/>
            <a:ext cx="242887" cy="5270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2" name="Google Shape;392;p13"/>
          <p:cNvCxnSpPr/>
          <p:nvPr/>
        </p:nvCxnSpPr>
        <p:spPr>
          <a:xfrm flipH="1">
            <a:off x="6875463" y="3497263"/>
            <a:ext cx="323850" cy="5270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3" name="Google Shape;393;p13"/>
          <p:cNvCxnSpPr/>
          <p:nvPr/>
        </p:nvCxnSpPr>
        <p:spPr>
          <a:xfrm flipH="1">
            <a:off x="5881688" y="2733675"/>
            <a:ext cx="403225" cy="528638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4" name="Google Shape;394;p13"/>
          <p:cNvCxnSpPr/>
          <p:nvPr/>
        </p:nvCxnSpPr>
        <p:spPr>
          <a:xfrm>
            <a:off x="7092950" y="2733675"/>
            <a:ext cx="484188" cy="528638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5" name="Google Shape;395;p13"/>
          <p:cNvCxnSpPr/>
          <p:nvPr/>
        </p:nvCxnSpPr>
        <p:spPr>
          <a:xfrm>
            <a:off x="6043613" y="2006600"/>
            <a:ext cx="565150" cy="4635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" name="Google Shape;396;p13"/>
          <p:cNvCxnSpPr/>
          <p:nvPr/>
        </p:nvCxnSpPr>
        <p:spPr>
          <a:xfrm flipH="1">
            <a:off x="4670425" y="2006600"/>
            <a:ext cx="565150" cy="4635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7" name="Google Shape;397;p13"/>
          <p:cNvSpPr txBox="1"/>
          <p:nvPr/>
        </p:nvSpPr>
        <p:spPr>
          <a:xfrm>
            <a:off x="5187950" y="1743075"/>
            <a:ext cx="936625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6203950" y="2470150"/>
            <a:ext cx="935038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 txBox="1"/>
          <p:nvPr/>
        </p:nvSpPr>
        <p:spPr>
          <a:xfrm>
            <a:off x="7118350" y="3232150"/>
            <a:ext cx="968375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8045450" y="4021138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7969250" y="4021138"/>
            <a:ext cx="685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6553200" y="4038600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3"/>
          <p:cNvSpPr txBox="1"/>
          <p:nvPr/>
        </p:nvSpPr>
        <p:spPr>
          <a:xfrm>
            <a:off x="6650038" y="4024313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4348163" y="24844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4443413" y="2470150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p13"/>
          <p:cNvGrpSpPr/>
          <p:nvPr/>
        </p:nvGrpSpPr>
        <p:grpSpPr>
          <a:xfrm>
            <a:off x="5594350" y="3232150"/>
            <a:ext cx="685800" cy="381000"/>
            <a:chOff x="4927" y="2340"/>
            <a:chExt cx="432" cy="240"/>
          </a:xfrm>
        </p:grpSpPr>
        <p:sp>
          <p:nvSpPr>
            <p:cNvPr id="407" name="Google Shape;407;p13"/>
            <p:cNvSpPr/>
            <p:nvPr/>
          </p:nvSpPr>
          <p:spPr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3"/>
            <p:cNvSpPr txBox="1"/>
            <p:nvPr/>
          </p:nvSpPr>
          <p:spPr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ctr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p13"/>
          <p:cNvSpPr txBox="1"/>
          <p:nvPr/>
        </p:nvSpPr>
        <p:spPr>
          <a:xfrm>
            <a:off x="5518150" y="277495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7270750" y="2698750"/>
            <a:ext cx="442913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4146550" y="1936750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US"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12" name="Google Shape;412;p13"/>
          <p:cNvSpPr txBox="1"/>
          <p:nvPr/>
        </p:nvSpPr>
        <p:spPr>
          <a:xfrm>
            <a:off x="5746750" y="1708150"/>
            <a:ext cx="139858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>
            <a:off x="6353175" y="3562350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3"/>
          <p:cNvSpPr txBox="1"/>
          <p:nvPr/>
        </p:nvSpPr>
        <p:spPr>
          <a:xfrm>
            <a:off x="8128000" y="3562350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3"/>
          <p:cNvSpPr txBox="1"/>
          <p:nvPr/>
        </p:nvSpPr>
        <p:spPr>
          <a:xfrm>
            <a:off x="4343400" y="5029200"/>
            <a:ext cx="44196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There could be more than one tree that fits the same data!</a:t>
            </a:r>
            <a:endParaRPr/>
          </a:p>
        </p:txBody>
      </p:sp>
      <p:graphicFrame>
        <p:nvGraphicFramePr>
          <p:cNvPr id="416" name="Google Shape;416;p13"/>
          <p:cNvGraphicFramePr/>
          <p:nvPr/>
        </p:nvGraphicFramePr>
        <p:xfrm>
          <a:off x="152400" y="2071688"/>
          <a:ext cx="3886200" cy="383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886200" imgH="3832225" progId="Word.Document.8">
                  <p:embed/>
                </p:oleObj>
              </mc:Choice>
              <mc:Fallback>
                <p:oleObj r:id="rId3" imgW="3886200" imgH="3832225" progId="Word.Document.8">
                  <p:embed/>
                  <p:pic>
                    <p:nvPicPr>
                      <p:cNvPr id="416" name="Google Shape;416;p1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52400" y="2071688"/>
                        <a:ext cx="3886200" cy="383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"/>
          <p:cNvSpPr txBox="1">
            <a:spLocks noGrp="1"/>
          </p:cNvSpPr>
          <p:nvPr>
            <p:ph type="title"/>
          </p:nvPr>
        </p:nvSpPr>
        <p:spPr>
          <a:xfrm>
            <a:off x="496675" y="16951"/>
            <a:ext cx="7886700" cy="8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Measures of Node Impurity</a:t>
            </a:r>
            <a:endParaRPr dirty="0"/>
          </a:p>
        </p:txBody>
      </p:sp>
      <p:sp>
        <p:nvSpPr>
          <p:cNvPr id="605" name="Google Shape;605;p2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/>
              <a:t>Gini Index</a:t>
            </a:r>
            <a:endParaRPr/>
          </a:p>
          <a:p>
            <a:pPr marL="292100" lvl="0" indent="-15875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292100" lvl="0" indent="-15875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292100" lvl="0" indent="-29210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/>
              <a:t>Entropy</a:t>
            </a:r>
            <a:endParaRPr/>
          </a:p>
          <a:p>
            <a:pPr marL="292100" lvl="0" indent="-15875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292100" lvl="0" indent="-15875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292100" lvl="0" indent="-29210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/>
              <a:t>Misclassification error</a:t>
            </a:r>
            <a:endParaRPr/>
          </a:p>
        </p:txBody>
      </p:sp>
      <p:sp>
        <p:nvSpPr>
          <p:cNvPr id="606" name="Google Shape;606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07" name="Google Shape;607;p29"/>
          <p:cNvSpPr txBox="1"/>
          <p:nvPr/>
        </p:nvSpPr>
        <p:spPr>
          <a:xfrm>
            <a:off x="1613727" y="1799980"/>
            <a:ext cx="3781484" cy="10378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08" name="Google Shape;608;p29"/>
          <p:cNvSpPr txBox="1"/>
          <p:nvPr/>
        </p:nvSpPr>
        <p:spPr>
          <a:xfrm>
            <a:off x="1613727" y="3021726"/>
            <a:ext cx="4259243" cy="10378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609" name="Google Shape;609;p29"/>
          <p:cNvSpPr txBox="1"/>
          <p:nvPr/>
        </p:nvSpPr>
        <p:spPr>
          <a:xfrm>
            <a:off x="1613727" y="4953000"/>
            <a:ext cx="531530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490" r="-1489" b="-383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10" name="Google Shape;610;p29"/>
          <p:cNvSpPr txBox="1"/>
          <p:nvPr/>
        </p:nvSpPr>
        <p:spPr>
          <a:xfrm>
            <a:off x="5562600" y="1492518"/>
            <a:ext cx="3414268" cy="10156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963" t="-3613" b="-1084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8232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522288" y="15330"/>
            <a:ext cx="7886700" cy="49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 of a Decision Tree</a:t>
            </a:r>
            <a:endParaRPr dirty="0"/>
          </a:p>
        </p:txBody>
      </p:sp>
      <p:sp>
        <p:nvSpPr>
          <p:cNvPr id="187" name="Google Shape;187;p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aphicFrame>
        <p:nvGraphicFramePr>
          <p:cNvPr id="153" name="Google Shape;153;p6"/>
          <p:cNvGraphicFramePr/>
          <p:nvPr>
            <p:extLst>
              <p:ext uri="{D42A27DB-BD31-4B8C-83A1-F6EECF244321}">
                <p14:modId xmlns:p14="http://schemas.microsoft.com/office/powerpoint/2010/main" val="1161928553"/>
              </p:ext>
            </p:extLst>
          </p:nvPr>
        </p:nvGraphicFramePr>
        <p:xfrm>
          <a:off x="152400" y="1990725"/>
          <a:ext cx="3810000" cy="377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810000" imgH="3770313" progId="Word.Document.8">
                  <p:embed/>
                </p:oleObj>
              </mc:Choice>
              <mc:Fallback>
                <p:oleObj r:id="rId3" imgW="3810000" imgH="3770313" progId="Word.Document.8">
                  <p:embed/>
                  <p:pic>
                    <p:nvPicPr>
                      <p:cNvPr id="153" name="Google Shape;153;p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52400" y="1990725"/>
                        <a:ext cx="3810000" cy="377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" name="Google Shape;154;p6"/>
          <p:cNvSpPr txBox="1"/>
          <p:nvPr/>
        </p:nvSpPr>
        <p:spPr>
          <a:xfrm rot="-2416809">
            <a:off x="838200" y="13716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 rot="-2416809">
            <a:off x="1524000" y="13716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 rot="-2416809">
            <a:off x="2362200" y="1371600"/>
            <a:ext cx="12779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 rot="-2416809">
            <a:off x="3124200" y="1524000"/>
            <a:ext cx="6921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16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440;p16">
            <a:extLst>
              <a:ext uri="{FF2B5EF4-FFF2-40B4-BE49-F238E27FC236}">
                <a16:creationId xmlns:a16="http://schemas.microsoft.com/office/drawing/2014/main" id="{B3C5E5DB-DE4E-ED4A-52F7-11300167F0AD}"/>
              </a:ext>
            </a:extLst>
          </p:cNvPr>
          <p:cNvSpPr/>
          <p:nvPr/>
        </p:nvSpPr>
        <p:spPr>
          <a:xfrm>
            <a:off x="6364288" y="624061"/>
            <a:ext cx="1447800" cy="762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Google Shape;441;p16">
            <a:extLst>
              <a:ext uri="{FF2B5EF4-FFF2-40B4-BE49-F238E27FC236}">
                <a16:creationId xmlns:a16="http://schemas.microsoft.com/office/drawing/2014/main" id="{61FA1F9E-4C41-3D09-5B03-A360007B3A73}"/>
              </a:ext>
            </a:extLst>
          </p:cNvPr>
          <p:cNvCxnSpPr/>
          <p:nvPr/>
        </p:nvCxnSpPr>
        <p:spPr>
          <a:xfrm flipH="1">
            <a:off x="5907088" y="1386061"/>
            <a:ext cx="990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443;p16">
            <a:extLst>
              <a:ext uri="{FF2B5EF4-FFF2-40B4-BE49-F238E27FC236}">
                <a16:creationId xmlns:a16="http://schemas.microsoft.com/office/drawing/2014/main" id="{42C97192-2528-D235-B52A-16C889DCBC97}"/>
              </a:ext>
            </a:extLst>
          </p:cNvPr>
          <p:cNvCxnSpPr/>
          <p:nvPr/>
        </p:nvCxnSpPr>
        <p:spPr>
          <a:xfrm>
            <a:off x="7202488" y="1386061"/>
            <a:ext cx="990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446;p16">
            <a:extLst>
              <a:ext uri="{FF2B5EF4-FFF2-40B4-BE49-F238E27FC236}">
                <a16:creationId xmlns:a16="http://schemas.microsoft.com/office/drawing/2014/main" id="{89FF9F25-D805-E006-2325-FB85CBEF37DE}"/>
              </a:ext>
            </a:extLst>
          </p:cNvPr>
          <p:cNvSpPr txBox="1"/>
          <p:nvPr/>
        </p:nvSpPr>
        <p:spPr>
          <a:xfrm>
            <a:off x="6754763" y="776461"/>
            <a:ext cx="82497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0949C-C4F8-B8BA-EF41-15A83746D78D}"/>
              </a:ext>
            </a:extLst>
          </p:cNvPr>
          <p:cNvSpPr txBox="1"/>
          <p:nvPr/>
        </p:nvSpPr>
        <p:spPr>
          <a:xfrm>
            <a:off x="5907088" y="12662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F6DBC-6F0B-9A75-5D96-AE344B13AC94}"/>
              </a:ext>
            </a:extLst>
          </p:cNvPr>
          <p:cNvSpPr txBox="1"/>
          <p:nvPr/>
        </p:nvSpPr>
        <p:spPr>
          <a:xfrm>
            <a:off x="7851419" y="133201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8" name="Google Shape;440;p16">
            <a:extLst>
              <a:ext uri="{FF2B5EF4-FFF2-40B4-BE49-F238E27FC236}">
                <a16:creationId xmlns:a16="http://schemas.microsoft.com/office/drawing/2014/main" id="{475C2143-8131-1467-504D-C753812940EF}"/>
              </a:ext>
            </a:extLst>
          </p:cNvPr>
          <p:cNvSpPr/>
          <p:nvPr/>
        </p:nvSpPr>
        <p:spPr>
          <a:xfrm>
            <a:off x="6516688" y="3834303"/>
            <a:ext cx="1447800" cy="762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441;p16">
            <a:extLst>
              <a:ext uri="{FF2B5EF4-FFF2-40B4-BE49-F238E27FC236}">
                <a16:creationId xmlns:a16="http://schemas.microsoft.com/office/drawing/2014/main" id="{7789602B-8547-5D43-58ED-8D7055C825D9}"/>
              </a:ext>
            </a:extLst>
          </p:cNvPr>
          <p:cNvCxnSpPr/>
          <p:nvPr/>
        </p:nvCxnSpPr>
        <p:spPr>
          <a:xfrm flipH="1">
            <a:off x="6059488" y="4596303"/>
            <a:ext cx="990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442;p16">
            <a:extLst>
              <a:ext uri="{FF2B5EF4-FFF2-40B4-BE49-F238E27FC236}">
                <a16:creationId xmlns:a16="http://schemas.microsoft.com/office/drawing/2014/main" id="{76F07B7B-F928-522F-4CC1-2F76A69E5543}"/>
              </a:ext>
            </a:extLst>
          </p:cNvPr>
          <p:cNvCxnSpPr/>
          <p:nvPr/>
        </p:nvCxnSpPr>
        <p:spPr>
          <a:xfrm>
            <a:off x="7202488" y="4596303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443;p16">
            <a:extLst>
              <a:ext uri="{FF2B5EF4-FFF2-40B4-BE49-F238E27FC236}">
                <a16:creationId xmlns:a16="http://schemas.microsoft.com/office/drawing/2014/main" id="{0896082B-2D27-1B85-9625-2EA4767FD672}"/>
              </a:ext>
            </a:extLst>
          </p:cNvPr>
          <p:cNvCxnSpPr/>
          <p:nvPr/>
        </p:nvCxnSpPr>
        <p:spPr>
          <a:xfrm>
            <a:off x="7354888" y="4596303"/>
            <a:ext cx="990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446;p16">
            <a:extLst>
              <a:ext uri="{FF2B5EF4-FFF2-40B4-BE49-F238E27FC236}">
                <a16:creationId xmlns:a16="http://schemas.microsoft.com/office/drawing/2014/main" id="{DECB6A97-3813-6DCA-6727-93FF2AB77B12}"/>
              </a:ext>
            </a:extLst>
          </p:cNvPr>
          <p:cNvSpPr txBox="1"/>
          <p:nvPr/>
        </p:nvSpPr>
        <p:spPr>
          <a:xfrm>
            <a:off x="6907163" y="3986703"/>
            <a:ext cx="82497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MS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B0482E-CF95-B7B5-3C5A-615BC6E5B471}"/>
              </a:ext>
            </a:extLst>
          </p:cNvPr>
          <p:cNvSpPr txBox="1"/>
          <p:nvPr/>
        </p:nvSpPr>
        <p:spPr>
          <a:xfrm>
            <a:off x="6122988" y="444832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0C92C8-1742-F2BC-7E48-89E1B46AFA60}"/>
              </a:ext>
            </a:extLst>
          </p:cNvPr>
          <p:cNvSpPr txBox="1"/>
          <p:nvPr/>
        </p:nvSpPr>
        <p:spPr>
          <a:xfrm>
            <a:off x="7240588" y="467319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437E29-AB33-9F1B-891A-2BEBC20890F7}"/>
              </a:ext>
            </a:extLst>
          </p:cNvPr>
          <p:cNvSpPr txBox="1"/>
          <p:nvPr/>
        </p:nvSpPr>
        <p:spPr>
          <a:xfrm>
            <a:off x="7812088" y="45119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C76942-6826-5378-3BDA-FB636ED0728C}"/>
              </a:ext>
            </a:extLst>
          </p:cNvPr>
          <p:cNvSpPr txBox="1"/>
          <p:nvPr/>
        </p:nvSpPr>
        <p:spPr>
          <a:xfrm>
            <a:off x="5169311" y="1806059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Yes:0     No:3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7F1AB8-67DE-E681-0532-5708329B4B31}"/>
              </a:ext>
            </a:extLst>
          </p:cNvPr>
          <p:cNvSpPr txBox="1"/>
          <p:nvPr/>
        </p:nvSpPr>
        <p:spPr>
          <a:xfrm>
            <a:off x="7541637" y="1774132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Yes:3     No:4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3D08EB-9812-10D5-81BC-51BD634C4A75}"/>
              </a:ext>
            </a:extLst>
          </p:cNvPr>
          <p:cNvSpPr txBox="1"/>
          <p:nvPr/>
        </p:nvSpPr>
        <p:spPr>
          <a:xfrm>
            <a:off x="5719119" y="4977303"/>
            <a:ext cx="797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Yes:2     No:2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9FA041-5615-4793-7E29-5DDB1CF8D019}"/>
              </a:ext>
            </a:extLst>
          </p:cNvPr>
          <p:cNvSpPr txBox="1"/>
          <p:nvPr/>
        </p:nvSpPr>
        <p:spPr>
          <a:xfrm>
            <a:off x="6863707" y="5108517"/>
            <a:ext cx="797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Yes:0     No:4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E41004-58C6-1D3A-F3A1-093E4FF1BE31}"/>
              </a:ext>
            </a:extLst>
          </p:cNvPr>
          <p:cNvSpPr txBox="1"/>
          <p:nvPr/>
        </p:nvSpPr>
        <p:spPr>
          <a:xfrm>
            <a:off x="8010203" y="5053109"/>
            <a:ext cx="797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Yes:1     No:1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28EB4A-6C3B-4160-B8A2-9A2070015E66}"/>
              </a:ext>
            </a:extLst>
          </p:cNvPr>
          <p:cNvSpPr txBox="1"/>
          <p:nvPr/>
        </p:nvSpPr>
        <p:spPr>
          <a:xfrm>
            <a:off x="5309419" y="2228739"/>
            <a:ext cx="3809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 (Yes) = 0; GI (No) = 0.489</a:t>
            </a:r>
          </a:p>
          <a:p>
            <a:r>
              <a:rPr lang="en-US" dirty="0"/>
              <a:t>Weighted GI = 0*3/10 + 0.489*7/10= </a:t>
            </a:r>
            <a:r>
              <a:rPr lang="en-US" dirty="0">
                <a:solidFill>
                  <a:srgbClr val="FF0000"/>
                </a:solidFill>
              </a:rPr>
              <a:t>0.34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9A857D-4DF0-A5C7-ED92-070CE9FEEF04}"/>
              </a:ext>
            </a:extLst>
          </p:cNvPr>
          <p:cNvSpPr txBox="1"/>
          <p:nvPr/>
        </p:nvSpPr>
        <p:spPr>
          <a:xfrm>
            <a:off x="4903210" y="5775248"/>
            <a:ext cx="42407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 (S) = 0.5; GI (M) = 0; GI (D) = 0.5 </a:t>
            </a:r>
          </a:p>
          <a:p>
            <a:r>
              <a:rPr lang="en-US" dirty="0"/>
              <a:t>Weighted GI = 0.5*4/10 + 0*4/10+.5*2/10= </a:t>
            </a:r>
            <a:r>
              <a:rPr lang="en-US" dirty="0">
                <a:solidFill>
                  <a:srgbClr val="FF0000"/>
                </a:solidFill>
              </a:rPr>
              <a:t>0.3: MS is the root</a:t>
            </a:r>
            <a:r>
              <a:rPr lang="en-US">
                <a:solidFill>
                  <a:srgbClr val="FF0000"/>
                </a:solidFill>
              </a:rPr>
              <a:t>/parent node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Google Shape;607;p29">
            <a:extLst>
              <a:ext uri="{FF2B5EF4-FFF2-40B4-BE49-F238E27FC236}">
                <a16:creationId xmlns:a16="http://schemas.microsoft.com/office/drawing/2014/main" id="{4C660C1E-80DF-42E0-B15B-C6FEC925CE64}"/>
              </a:ext>
            </a:extLst>
          </p:cNvPr>
          <p:cNvSpPr txBox="1"/>
          <p:nvPr/>
        </p:nvSpPr>
        <p:spPr>
          <a:xfrm>
            <a:off x="118239" y="5621087"/>
            <a:ext cx="3781484" cy="10378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4659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60A0-FFA6-42C0-B2E3-82104963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dirty="0"/>
              <a:t>Decision Tree Hyperparameters </a:t>
            </a:r>
            <a:r>
              <a:rPr lang="en-US" dirty="0" err="1"/>
              <a:t>sklearn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EAE50-83E2-4D51-B63E-BDDCA37D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D6C43-139C-4518-901A-9C03B5D8ED30}"/>
              </a:ext>
            </a:extLst>
          </p:cNvPr>
          <p:cNvSpPr txBox="1"/>
          <p:nvPr/>
        </p:nvSpPr>
        <p:spPr>
          <a:xfrm>
            <a:off x="0" y="1084600"/>
            <a:ext cx="914400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sklearn.tree.DecisionTreeClassifier</a:t>
            </a:r>
            <a:endParaRPr lang="en-US" sz="2500" b="0" i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 </a:t>
            </a:r>
            <a:r>
              <a:rPr lang="en-US" sz="2500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sklearn.tree.</a:t>
            </a:r>
            <a:r>
              <a:rPr lang="en-US" sz="2500" b="1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DecisionTreeClassifier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criterion='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gini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splitter='best'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=None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min_weight_fraction_leaf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=0.0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max_features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=None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=None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max_leaf_nodes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=None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min_impurity_decrease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=0.0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=None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500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ccp_alpha</a:t>
            </a:r>
            <a:r>
              <a:rPr lang="en-US" sz="2500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=0.0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max_depthint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default=None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depth of the tree. If None, then nodes are expanded until all leaves are pure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min_samples_splitint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float, default=2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number of samples required to split an internal node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min_samples_leafint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float, default=1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number of samples required to be at a leaf node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max_featuresint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float or {“auto”, “sqrt”, “log2”}, default=None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features to consider when looking for the best split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38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60A0-FFA6-42C0-B2E3-82104963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1084600"/>
          </a:xfrm>
        </p:spPr>
        <p:txBody>
          <a:bodyPr/>
          <a:lstStyle/>
          <a:p>
            <a:r>
              <a:rPr lang="en-US" dirty="0"/>
              <a:t>Bias and Variance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EAE50-83E2-4D51-B63E-BDDCA37D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D6C43-139C-4518-901A-9C03B5D8ED30}"/>
              </a:ext>
            </a:extLst>
          </p:cNvPr>
          <p:cNvSpPr txBox="1"/>
          <p:nvPr/>
        </p:nvSpPr>
        <p:spPr>
          <a:xfrm>
            <a:off x="0" y="1084600"/>
            <a:ext cx="9144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Bias: Error rate of the training data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When the training error rate has a high value, we call it High Bias and when the error rate has a low value, we call it low Bias.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Variance: 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rate of the test data.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Usually, we want to make 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bias and low variance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generalized our model</a:t>
            </a:r>
          </a:p>
          <a:p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Generalized/appropriate-fitting model with low bias and low variance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5B4266-EC1E-448C-827E-B3863FE5C2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00"/>
          <a:stretch/>
        </p:blipFill>
        <p:spPr>
          <a:xfrm>
            <a:off x="-147639" y="4362450"/>
            <a:ext cx="3562350" cy="2495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3D3D1A-C339-4BFA-97C8-0AC71F79ED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13" b="29822"/>
          <a:stretch/>
        </p:blipFill>
        <p:spPr>
          <a:xfrm>
            <a:off x="3414711" y="4640262"/>
            <a:ext cx="5729287" cy="221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66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60A0-FFA6-42C0-B2E3-82104963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1084600"/>
          </a:xfrm>
        </p:spPr>
        <p:txBody>
          <a:bodyPr/>
          <a:lstStyle/>
          <a:p>
            <a:r>
              <a:rPr lang="en-US" dirty="0"/>
              <a:t>Overfit and Underfit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EAE50-83E2-4D51-B63E-BDDCA37D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D6C43-139C-4518-901A-9C03B5D8ED30}"/>
              </a:ext>
            </a:extLst>
          </p:cNvPr>
          <p:cNvSpPr txBox="1"/>
          <p:nvPr/>
        </p:nvSpPr>
        <p:spPr>
          <a:xfrm>
            <a:off x="0" y="1084600"/>
            <a:ext cx="91440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Underfit: Underfitting refers to a model that can neither performs well on the training data nor generalize to new test data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size of the training dataset used is not enough. The model is too simple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Overfit: 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 to a model that models the training data too well. Overfitting happens when a model learns the detail and noise in the training data to the extent that it negatively impacts the performance of the model on new test data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4063F-790F-43A2-B7A9-3378B5542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23" y="3857624"/>
            <a:ext cx="7886701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92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6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Decision Tree Classification Task</a:t>
            </a:r>
            <a:endParaRPr dirty="0"/>
          </a:p>
        </p:txBody>
      </p:sp>
      <p:sp>
        <p:nvSpPr>
          <p:cNvPr id="426" name="Google Shape;426;p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423" name="Google Shape;423;p14"/>
          <p:cNvGraphicFramePr/>
          <p:nvPr/>
        </p:nvGraphicFramePr>
        <p:xfrm>
          <a:off x="1093788" y="11430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951662" imgH="5181600" progId="Visio.Drawing.6">
                  <p:embed/>
                </p:oleObj>
              </mc:Choice>
              <mc:Fallback>
                <p:oleObj r:id="rId3" imgW="6951662" imgH="5181600" progId="Visio.Drawing.6">
                  <p:embed/>
                  <p:pic>
                    <p:nvPicPr>
                      <p:cNvPr id="423" name="Google Shape;423;p1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093788" y="11430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4" name="Google Shape;424;p14"/>
          <p:cNvCxnSpPr/>
          <p:nvPr/>
        </p:nvCxnSpPr>
        <p:spPr>
          <a:xfrm rot="10800000">
            <a:off x="6400800" y="2362200"/>
            <a:ext cx="685800" cy="0"/>
          </a:xfrm>
          <a:prstGeom prst="straightConnector1">
            <a:avLst/>
          </a:prstGeom>
          <a:noFill/>
          <a:ln w="635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5" name="Google Shape;425;p14"/>
          <p:cNvSpPr txBox="1"/>
          <p:nvPr/>
        </p:nvSpPr>
        <p:spPr>
          <a:xfrm>
            <a:off x="7086600" y="4283075"/>
            <a:ext cx="1219200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Tree Induction</a:t>
            </a:r>
            <a:endParaRPr/>
          </a:p>
        </p:txBody>
      </p:sp>
      <p:sp>
        <p:nvSpPr>
          <p:cNvPr id="432" name="Google Shape;432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Many Algorithms: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Char char="–"/>
            </a:pPr>
            <a:r>
              <a:rPr lang="en-US" dirty="0"/>
              <a:t>Hunt’s Algorithm (one of the earliest)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Char char="–"/>
            </a:pPr>
            <a:r>
              <a:rPr lang="en-US" dirty="0"/>
              <a:t>CART (Classification and Regression Trees)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Char char="–"/>
            </a:pPr>
            <a:r>
              <a:rPr lang="en-US" dirty="0"/>
              <a:t>ID3, C4.5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Char char="–"/>
            </a:pPr>
            <a:r>
              <a:rPr lang="en-US" dirty="0"/>
              <a:t>SLIQ,SPRINT</a:t>
            </a:r>
            <a:endParaRPr dirty="0"/>
          </a:p>
        </p:txBody>
      </p:sp>
      <p:sp>
        <p:nvSpPr>
          <p:cNvPr id="433" name="Google Shape;433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Structure of Hunt’s Algorithm</a:t>
            </a:r>
            <a:endParaRPr/>
          </a:p>
        </p:txBody>
      </p:sp>
      <p:sp>
        <p:nvSpPr>
          <p:cNvPr id="439" name="Google Shape;439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Let D</a:t>
            </a:r>
            <a:r>
              <a:rPr lang="en-US" sz="2000" baseline="-25000"/>
              <a:t>t</a:t>
            </a:r>
            <a:r>
              <a:rPr lang="en-US" sz="2000"/>
              <a:t> be the set of training records that reach a node t</a:t>
            </a:r>
            <a:endParaRPr/>
          </a:p>
          <a:p>
            <a:pPr marL="2057400" lvl="4" indent="-1270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2100" lvl="0" indent="-292100" algn="l" rtl="0">
              <a:spcBef>
                <a:spcPts val="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General Procedure:</a:t>
            </a:r>
            <a:endParaRPr/>
          </a:p>
          <a:p>
            <a:pPr marL="800100" lvl="1" indent="-342900" algn="l" rtl="0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If D</a:t>
            </a:r>
            <a:r>
              <a:rPr lang="en-US" sz="2000" baseline="-25000"/>
              <a:t>t</a:t>
            </a:r>
            <a:r>
              <a:rPr lang="en-US" sz="2000"/>
              <a:t> contains records that belong the same class y</a:t>
            </a:r>
            <a:r>
              <a:rPr lang="en-US" sz="2000" baseline="-25000"/>
              <a:t>t</a:t>
            </a:r>
            <a:r>
              <a:rPr lang="en-US" sz="2000"/>
              <a:t>, then t is a leaf node labeled as y</a:t>
            </a:r>
            <a:r>
              <a:rPr lang="en-US" sz="2000" baseline="-25000"/>
              <a:t>t</a:t>
            </a:r>
            <a:endParaRPr/>
          </a:p>
          <a:p>
            <a:pPr marL="800100" lvl="1" indent="-342900" algn="l" rtl="0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If D</a:t>
            </a:r>
            <a:r>
              <a:rPr lang="en-US" sz="2000" baseline="-25000"/>
              <a:t>t</a:t>
            </a:r>
            <a:r>
              <a:rPr lang="en-US" sz="2000"/>
              <a:t> contains records that belong to more than one class, use an attribute test to split the data into smaller subsets. Recursively apply the procedure to each subset.</a:t>
            </a:r>
            <a:endParaRPr/>
          </a:p>
        </p:txBody>
      </p:sp>
      <p:sp>
        <p:nvSpPr>
          <p:cNvPr id="448" name="Google Shape;448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6172200" y="4800600"/>
            <a:ext cx="1447800" cy="762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16"/>
          <p:cNvCxnSpPr/>
          <p:nvPr/>
        </p:nvCxnSpPr>
        <p:spPr>
          <a:xfrm flipH="1">
            <a:off x="5715000" y="5562600"/>
            <a:ext cx="990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" name="Google Shape;442;p16"/>
          <p:cNvCxnSpPr/>
          <p:nvPr/>
        </p:nvCxnSpPr>
        <p:spPr>
          <a:xfrm>
            <a:off x="6858000" y="5562600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" name="Google Shape;443;p16"/>
          <p:cNvCxnSpPr/>
          <p:nvPr/>
        </p:nvCxnSpPr>
        <p:spPr>
          <a:xfrm>
            <a:off x="7010400" y="5562600"/>
            <a:ext cx="990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4" name="Google Shape;444;p16"/>
          <p:cNvCxnSpPr/>
          <p:nvPr/>
        </p:nvCxnSpPr>
        <p:spPr>
          <a:xfrm flipH="1">
            <a:off x="6858000" y="4419600"/>
            <a:ext cx="228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5" name="Google Shape;445;p16"/>
          <p:cNvSpPr txBox="1"/>
          <p:nvPr/>
        </p:nvSpPr>
        <p:spPr>
          <a:xfrm>
            <a:off x="7086600" y="42672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446" name="Google Shape;446;p16"/>
          <p:cNvSpPr txBox="1"/>
          <p:nvPr/>
        </p:nvSpPr>
        <p:spPr>
          <a:xfrm>
            <a:off x="6705600" y="49530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/>
          </a:p>
        </p:txBody>
      </p:sp>
      <p:graphicFrame>
        <p:nvGraphicFramePr>
          <p:cNvPr id="447" name="Google Shape;447;p16"/>
          <p:cNvGraphicFramePr/>
          <p:nvPr/>
        </p:nvGraphicFramePr>
        <p:xfrm>
          <a:off x="5410200" y="1143000"/>
          <a:ext cx="3200400" cy="315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200400" imgH="3154363" progId="Word.Document.8">
                  <p:embed/>
                </p:oleObj>
              </mc:Choice>
              <mc:Fallback>
                <p:oleObj r:id="rId3" imgW="3200400" imgH="3154363" progId="Word.Document.8">
                  <p:embed/>
                  <p:pic>
                    <p:nvPicPr>
                      <p:cNvPr id="447" name="Google Shape;447;p1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410200" y="1143000"/>
                        <a:ext cx="3200400" cy="315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Hunt’s Algorithm</a:t>
            </a:r>
            <a:endParaRPr/>
          </a:p>
        </p:txBody>
      </p:sp>
      <p:sp>
        <p:nvSpPr>
          <p:cNvPr id="470" name="Google Shape;470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454" name="Google Shape;454;p17"/>
          <p:cNvGraphicFramePr/>
          <p:nvPr/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24600" imgH="5073650" progId="Visio.Drawing.6">
                  <p:embed/>
                </p:oleObj>
              </mc:Choice>
              <mc:Fallback>
                <p:oleObj r:id="rId3" imgW="6324600" imgH="5073650" progId="Visio.Drawing.6">
                  <p:embed/>
                  <p:pic>
                    <p:nvPicPr>
                      <p:cNvPr id="454" name="Google Shape;454;p1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5" name="Google Shape;455;p17"/>
          <p:cNvSpPr txBox="1"/>
          <p:nvPr/>
        </p:nvSpPr>
        <p:spPr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(4,3)</a:t>
            </a:r>
            <a:endParaRPr/>
          </a:p>
        </p:txBody>
      </p:sp>
      <p:sp>
        <p:nvSpPr>
          <p:cNvPr id="457" name="Google Shape;457;p17"/>
          <p:cNvSpPr txBox="1"/>
          <p:nvPr/>
        </p:nvSpPr>
        <p:spPr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58" name="Google Shape;458;p17"/>
          <p:cNvSpPr txBox="1"/>
          <p:nvPr/>
        </p:nvSpPr>
        <p:spPr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(1,3)</a:t>
            </a:r>
            <a:endParaRPr/>
          </a:p>
        </p:txBody>
      </p:sp>
      <p:sp>
        <p:nvSpPr>
          <p:cNvPr id="459" name="Google Shape;459;p17"/>
          <p:cNvSpPr txBox="1"/>
          <p:nvPr/>
        </p:nvSpPr>
        <p:spPr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60" name="Google Shape;460;p17"/>
          <p:cNvSpPr txBox="1"/>
          <p:nvPr/>
        </p:nvSpPr>
        <p:spPr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61" name="Google Shape;461;p17"/>
          <p:cNvSpPr txBox="1"/>
          <p:nvPr/>
        </p:nvSpPr>
        <p:spPr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(1,0)</a:t>
            </a:r>
            <a:endParaRPr/>
          </a:p>
        </p:txBody>
      </p:sp>
      <p:sp>
        <p:nvSpPr>
          <p:cNvPr id="462" name="Google Shape;462;p17"/>
          <p:cNvSpPr txBox="1"/>
          <p:nvPr/>
        </p:nvSpPr>
        <p:spPr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(0,3)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(7,3)</a:t>
            </a:r>
            <a:endParaRPr/>
          </a:p>
        </p:txBody>
      </p:sp>
      <p:graphicFrame>
        <p:nvGraphicFramePr>
          <p:cNvPr id="465" name="Google Shape;465;p17"/>
          <p:cNvGraphicFramePr/>
          <p:nvPr/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79738" imgH="3276600" progId="Word.Document.8">
                  <p:embed/>
                </p:oleObj>
              </mc:Choice>
              <mc:Fallback>
                <p:oleObj r:id="rId5" imgW="2979738" imgH="3276600" progId="Word.Document.8">
                  <p:embed/>
                  <p:pic>
                    <p:nvPicPr>
                      <p:cNvPr id="465" name="Google Shape;465;p1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" name="Google Shape;466;p17"/>
          <p:cNvSpPr/>
          <p:nvPr/>
        </p:nvSpPr>
        <p:spPr>
          <a:xfrm>
            <a:off x="3200400" y="4330700"/>
            <a:ext cx="3276600" cy="191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3048000" y="2919413"/>
            <a:ext cx="2816225" cy="17287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57150" y="3476625"/>
            <a:ext cx="2816225" cy="27717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3198813" y="1104900"/>
            <a:ext cx="2816225" cy="27717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Hunt’s Algorithm</a:t>
            </a:r>
            <a:endParaRPr/>
          </a:p>
        </p:txBody>
      </p:sp>
      <p:sp>
        <p:nvSpPr>
          <p:cNvPr id="491" name="Google Shape;491;p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aphicFrame>
        <p:nvGraphicFramePr>
          <p:cNvPr id="476" name="Google Shape;476;p18"/>
          <p:cNvGraphicFramePr/>
          <p:nvPr/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24600" imgH="5073650" progId="Visio.Drawing.6">
                  <p:embed/>
                </p:oleObj>
              </mc:Choice>
              <mc:Fallback>
                <p:oleObj r:id="rId3" imgW="6324600" imgH="5073650" progId="Visio.Drawing.6">
                  <p:embed/>
                  <p:pic>
                    <p:nvPicPr>
                      <p:cNvPr id="476" name="Google Shape;476;p1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" name="Google Shape;477;p18"/>
          <p:cNvSpPr txBox="1"/>
          <p:nvPr/>
        </p:nvSpPr>
        <p:spPr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78" name="Google Shape;478;p18"/>
          <p:cNvSpPr txBox="1"/>
          <p:nvPr/>
        </p:nvSpPr>
        <p:spPr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(4,3)</a:t>
            </a:r>
            <a:endParaRPr/>
          </a:p>
        </p:txBody>
      </p:sp>
      <p:sp>
        <p:nvSpPr>
          <p:cNvPr id="479" name="Google Shape;479;p18"/>
          <p:cNvSpPr txBox="1"/>
          <p:nvPr/>
        </p:nvSpPr>
        <p:spPr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80" name="Google Shape;480;p18"/>
          <p:cNvSpPr txBox="1"/>
          <p:nvPr/>
        </p:nvSpPr>
        <p:spPr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(1,3)</a:t>
            </a:r>
            <a:endParaRPr/>
          </a:p>
        </p:txBody>
      </p:sp>
      <p:sp>
        <p:nvSpPr>
          <p:cNvPr id="481" name="Google Shape;481;p18"/>
          <p:cNvSpPr txBox="1"/>
          <p:nvPr/>
        </p:nvSpPr>
        <p:spPr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82" name="Google Shape;482;p18"/>
          <p:cNvSpPr txBox="1"/>
          <p:nvPr/>
        </p:nvSpPr>
        <p:spPr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83" name="Google Shape;483;p18"/>
          <p:cNvSpPr txBox="1"/>
          <p:nvPr/>
        </p:nvSpPr>
        <p:spPr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(1,0)</a:t>
            </a:r>
            <a:endParaRPr/>
          </a:p>
        </p:txBody>
      </p:sp>
      <p:sp>
        <p:nvSpPr>
          <p:cNvPr id="484" name="Google Shape;484;p18"/>
          <p:cNvSpPr txBox="1"/>
          <p:nvPr/>
        </p:nvSpPr>
        <p:spPr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(0,3)</a:t>
            </a:r>
            <a:endParaRPr/>
          </a:p>
        </p:txBody>
      </p:sp>
      <p:sp>
        <p:nvSpPr>
          <p:cNvPr id="485" name="Google Shape;485;p18"/>
          <p:cNvSpPr txBox="1"/>
          <p:nvPr/>
        </p:nvSpPr>
        <p:spPr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86" name="Google Shape;486;p18"/>
          <p:cNvSpPr txBox="1"/>
          <p:nvPr/>
        </p:nvSpPr>
        <p:spPr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(7,3)</a:t>
            </a:r>
            <a:endParaRPr/>
          </a:p>
        </p:txBody>
      </p:sp>
      <p:graphicFrame>
        <p:nvGraphicFramePr>
          <p:cNvPr id="487" name="Google Shape;487;p18"/>
          <p:cNvGraphicFramePr/>
          <p:nvPr/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79738" imgH="3276600" progId="Word.Document.8">
                  <p:embed/>
                </p:oleObj>
              </mc:Choice>
              <mc:Fallback>
                <p:oleObj r:id="rId5" imgW="2979738" imgH="3276600" progId="Word.Document.8">
                  <p:embed/>
                  <p:pic>
                    <p:nvPicPr>
                      <p:cNvPr id="487" name="Google Shape;487;p1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" name="Google Shape;488;p18"/>
          <p:cNvSpPr/>
          <p:nvPr/>
        </p:nvSpPr>
        <p:spPr>
          <a:xfrm>
            <a:off x="3200400" y="4330700"/>
            <a:ext cx="3276600" cy="191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3048000" y="2919413"/>
            <a:ext cx="2816225" cy="17287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57150" y="3476625"/>
            <a:ext cx="2816225" cy="27717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Hunt’s Algorithm</a:t>
            </a:r>
            <a:endParaRPr/>
          </a:p>
        </p:txBody>
      </p:sp>
      <p:sp>
        <p:nvSpPr>
          <p:cNvPr id="511" name="Google Shape;511;p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497" name="Google Shape;497;p19"/>
          <p:cNvGraphicFramePr/>
          <p:nvPr/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24600" imgH="5073650" progId="Visio.Drawing.6">
                  <p:embed/>
                </p:oleObj>
              </mc:Choice>
              <mc:Fallback>
                <p:oleObj r:id="rId3" imgW="6324600" imgH="5073650" progId="Visio.Drawing.6">
                  <p:embed/>
                  <p:pic>
                    <p:nvPicPr>
                      <p:cNvPr id="497" name="Google Shape;497;p19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" name="Google Shape;498;p19"/>
          <p:cNvSpPr txBox="1"/>
          <p:nvPr/>
        </p:nvSpPr>
        <p:spPr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99" name="Google Shape;499;p19"/>
          <p:cNvSpPr txBox="1"/>
          <p:nvPr/>
        </p:nvSpPr>
        <p:spPr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(4,3)</a:t>
            </a:r>
            <a:endParaRPr/>
          </a:p>
        </p:txBody>
      </p:sp>
      <p:sp>
        <p:nvSpPr>
          <p:cNvPr id="500" name="Google Shape;500;p19"/>
          <p:cNvSpPr txBox="1"/>
          <p:nvPr/>
        </p:nvSpPr>
        <p:spPr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01" name="Google Shape;501;p19"/>
          <p:cNvSpPr txBox="1"/>
          <p:nvPr/>
        </p:nvSpPr>
        <p:spPr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(1,3)</a:t>
            </a:r>
            <a:endParaRPr/>
          </a:p>
        </p:txBody>
      </p:sp>
      <p:sp>
        <p:nvSpPr>
          <p:cNvPr id="502" name="Google Shape;502;p19"/>
          <p:cNvSpPr txBox="1"/>
          <p:nvPr/>
        </p:nvSpPr>
        <p:spPr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03" name="Google Shape;503;p19"/>
          <p:cNvSpPr txBox="1"/>
          <p:nvPr/>
        </p:nvSpPr>
        <p:spPr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04" name="Google Shape;504;p19"/>
          <p:cNvSpPr txBox="1"/>
          <p:nvPr/>
        </p:nvSpPr>
        <p:spPr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(1,0)</a:t>
            </a:r>
            <a:endParaRPr/>
          </a:p>
        </p:txBody>
      </p:sp>
      <p:sp>
        <p:nvSpPr>
          <p:cNvPr id="505" name="Google Shape;505;p19"/>
          <p:cNvSpPr txBox="1"/>
          <p:nvPr/>
        </p:nvSpPr>
        <p:spPr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(0,3)</a:t>
            </a:r>
            <a:endParaRPr/>
          </a:p>
        </p:txBody>
      </p:sp>
      <p:sp>
        <p:nvSpPr>
          <p:cNvPr id="506" name="Google Shape;506;p19"/>
          <p:cNvSpPr txBox="1"/>
          <p:nvPr/>
        </p:nvSpPr>
        <p:spPr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07" name="Google Shape;507;p19"/>
          <p:cNvSpPr txBox="1"/>
          <p:nvPr/>
        </p:nvSpPr>
        <p:spPr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(7,3)</a:t>
            </a:r>
            <a:endParaRPr/>
          </a:p>
        </p:txBody>
      </p:sp>
      <p:graphicFrame>
        <p:nvGraphicFramePr>
          <p:cNvPr id="508" name="Google Shape;508;p19"/>
          <p:cNvGraphicFramePr/>
          <p:nvPr/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79738" imgH="3276600" progId="Word.Document.8">
                  <p:embed/>
                </p:oleObj>
              </mc:Choice>
              <mc:Fallback>
                <p:oleObj r:id="rId5" imgW="2979738" imgH="3276600" progId="Word.Document.8">
                  <p:embed/>
                  <p:pic>
                    <p:nvPicPr>
                      <p:cNvPr id="508" name="Google Shape;508;p1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9" name="Google Shape;509;p19"/>
          <p:cNvSpPr/>
          <p:nvPr/>
        </p:nvSpPr>
        <p:spPr>
          <a:xfrm>
            <a:off x="3200400" y="4330700"/>
            <a:ext cx="3276600" cy="191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3048000" y="2919413"/>
            <a:ext cx="2816225" cy="17287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Hunt’s Algorithm</a:t>
            </a:r>
            <a:endParaRPr/>
          </a:p>
        </p:txBody>
      </p:sp>
      <p:sp>
        <p:nvSpPr>
          <p:cNvPr id="529" name="Google Shape;529;p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517" name="Google Shape;517;p20"/>
          <p:cNvGraphicFramePr/>
          <p:nvPr/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24600" imgH="5073650" progId="Visio.Drawing.6">
                  <p:embed/>
                </p:oleObj>
              </mc:Choice>
              <mc:Fallback>
                <p:oleObj r:id="rId3" imgW="6324600" imgH="5073650" progId="Visio.Drawing.6">
                  <p:embed/>
                  <p:pic>
                    <p:nvPicPr>
                      <p:cNvPr id="517" name="Google Shape;517;p20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8" name="Google Shape;518;p20"/>
          <p:cNvSpPr txBox="1"/>
          <p:nvPr/>
        </p:nvSpPr>
        <p:spPr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19" name="Google Shape;519;p20"/>
          <p:cNvSpPr txBox="1"/>
          <p:nvPr/>
        </p:nvSpPr>
        <p:spPr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(4,3)</a:t>
            </a:r>
            <a:endParaRPr/>
          </a:p>
        </p:txBody>
      </p:sp>
      <p:sp>
        <p:nvSpPr>
          <p:cNvPr id="520" name="Google Shape;520;p20"/>
          <p:cNvSpPr txBox="1"/>
          <p:nvPr/>
        </p:nvSpPr>
        <p:spPr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21" name="Google Shape;521;p20"/>
          <p:cNvSpPr txBox="1"/>
          <p:nvPr/>
        </p:nvSpPr>
        <p:spPr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(1,3)</a:t>
            </a:r>
            <a:endParaRPr/>
          </a:p>
        </p:txBody>
      </p:sp>
      <p:sp>
        <p:nvSpPr>
          <p:cNvPr id="522" name="Google Shape;522;p20"/>
          <p:cNvSpPr txBox="1"/>
          <p:nvPr/>
        </p:nvSpPr>
        <p:spPr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23" name="Google Shape;523;p20"/>
          <p:cNvSpPr txBox="1"/>
          <p:nvPr/>
        </p:nvSpPr>
        <p:spPr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24" name="Google Shape;524;p20"/>
          <p:cNvSpPr txBox="1"/>
          <p:nvPr/>
        </p:nvSpPr>
        <p:spPr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(1,0)</a:t>
            </a:r>
            <a:endParaRPr/>
          </a:p>
        </p:txBody>
      </p:sp>
      <p:sp>
        <p:nvSpPr>
          <p:cNvPr id="525" name="Google Shape;525;p20"/>
          <p:cNvSpPr txBox="1"/>
          <p:nvPr/>
        </p:nvSpPr>
        <p:spPr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(0,3)</a:t>
            </a:r>
            <a:endParaRPr/>
          </a:p>
        </p:txBody>
      </p:sp>
      <p:sp>
        <p:nvSpPr>
          <p:cNvPr id="526" name="Google Shape;526;p20"/>
          <p:cNvSpPr txBox="1"/>
          <p:nvPr/>
        </p:nvSpPr>
        <p:spPr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27" name="Google Shape;527;p20"/>
          <p:cNvSpPr txBox="1"/>
          <p:nvPr/>
        </p:nvSpPr>
        <p:spPr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(7,3)</a:t>
            </a:r>
            <a:endParaRPr/>
          </a:p>
        </p:txBody>
      </p:sp>
      <p:graphicFrame>
        <p:nvGraphicFramePr>
          <p:cNvPr id="528" name="Google Shape;528;p20"/>
          <p:cNvGraphicFramePr/>
          <p:nvPr>
            <p:extLst>
              <p:ext uri="{D42A27DB-BD31-4B8C-83A1-F6EECF244321}">
                <p14:modId xmlns:p14="http://schemas.microsoft.com/office/powerpoint/2010/main" val="1413395863"/>
              </p:ext>
            </p:extLst>
          </p:nvPr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5413333" imgH="6079383" progId="Word.Document.8">
                  <p:embed/>
                </p:oleObj>
              </mc:Choice>
              <mc:Fallback>
                <p:oleObj name="Document" r:id="rId5" imgW="5413333" imgH="6079383" progId="Word.Document.8">
                  <p:embed/>
                  <p:pic>
                    <p:nvPicPr>
                      <p:cNvPr id="528" name="Google Shape;528;p2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1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610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Issues of Decision Tree Induction</a:t>
            </a:r>
            <a:endParaRPr/>
          </a:p>
        </p:txBody>
      </p:sp>
      <p:sp>
        <p:nvSpPr>
          <p:cNvPr id="535" name="Google Shape;535;p21"/>
          <p:cNvSpPr txBox="1">
            <a:spLocks noGrp="1"/>
          </p:cNvSpPr>
          <p:nvPr>
            <p:ph idx="1"/>
          </p:nvPr>
        </p:nvSpPr>
        <p:spPr>
          <a:xfrm>
            <a:off x="0" y="895546"/>
            <a:ext cx="9144000" cy="5962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dirty="0"/>
              <a:t>1. How should training records be split?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Method for expressing test condition </a:t>
            </a:r>
            <a:endParaRPr dirty="0"/>
          </a:p>
          <a:p>
            <a:pPr marL="914400" lvl="2" indent="-106680" algn="l" rtl="0">
              <a:spcBef>
                <a:spcPts val="640"/>
              </a:spcBef>
              <a:spcAft>
                <a:spcPts val="0"/>
              </a:spcAft>
              <a:buSzPts val="1680"/>
              <a:buFont typeface="Noto Sans Symbols"/>
              <a:buChar char="◆"/>
            </a:pPr>
            <a:r>
              <a:rPr lang="en-US" dirty="0"/>
              <a:t> depending on attribute types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Measure for evaluating the goodness of a test condition</a:t>
            </a:r>
            <a:endParaRPr dirty="0"/>
          </a:p>
          <a:p>
            <a:pPr marL="800100" lvl="1" indent="-1651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680"/>
              </a:spcBef>
              <a:spcAft>
                <a:spcPts val="0"/>
              </a:spcAft>
              <a:buSzPts val="2100"/>
              <a:buNone/>
            </a:pPr>
            <a:r>
              <a:rPr lang="en-US" dirty="0"/>
              <a:t>2. How should the splitting procedure stop?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Stop splitting if all the records belong to the same class or have identical attribute values or homogeneity achieved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Early termination </a:t>
            </a:r>
            <a:endParaRPr dirty="0"/>
          </a:p>
        </p:txBody>
      </p:sp>
      <p:sp>
        <p:nvSpPr>
          <p:cNvPr id="536" name="Google Shape;536;p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Methods for Expressing Test Conditions</a:t>
            </a:r>
            <a:endParaRPr/>
          </a:p>
        </p:txBody>
      </p:sp>
      <p:sp>
        <p:nvSpPr>
          <p:cNvPr id="542" name="Google Shape;542;p2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dirty="0"/>
              <a:t>Splitting depends on </a:t>
            </a:r>
            <a:r>
              <a:rPr lang="en-US" dirty="0">
                <a:solidFill>
                  <a:srgbClr val="FF0000"/>
                </a:solidFill>
              </a:rPr>
              <a:t>attribute types</a:t>
            </a:r>
            <a:endParaRPr dirty="0">
              <a:solidFill>
                <a:srgbClr val="FF0000"/>
              </a:solidFill>
            </a:endParaRPr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Binary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Nominal: no orders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Ordinal: have orders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Continuous/numeric</a:t>
            </a:r>
            <a:endParaRPr dirty="0"/>
          </a:p>
          <a:p>
            <a:pPr marL="800100" lvl="1" indent="-1651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None/>
            </a:pPr>
            <a:endParaRPr dirty="0"/>
          </a:p>
        </p:txBody>
      </p:sp>
      <p:sp>
        <p:nvSpPr>
          <p:cNvPr id="543" name="Google Shape;543;p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Condition for Nominal Attributes</a:t>
            </a:r>
            <a:endParaRPr/>
          </a:p>
        </p:txBody>
      </p:sp>
      <p:sp>
        <p:nvSpPr>
          <p:cNvPr id="549" name="Google Shape;549;p23"/>
          <p:cNvSpPr txBox="1">
            <a:spLocks noGrp="1"/>
          </p:cNvSpPr>
          <p:nvPr>
            <p:ph type="body" idx="1"/>
          </p:nvPr>
        </p:nvSpPr>
        <p:spPr>
          <a:xfrm>
            <a:off x="1" y="1143000"/>
            <a:ext cx="5715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 dirty="0">
                <a:solidFill>
                  <a:srgbClr val="FF0000"/>
                </a:solidFill>
              </a:rPr>
              <a:t>Multi-way split:</a:t>
            </a:r>
            <a:r>
              <a:rPr lang="en-US" sz="2400" dirty="0"/>
              <a:t> </a:t>
            </a:r>
            <a:endParaRPr dirty="0"/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 dirty="0"/>
              <a:t>Use as many partitions as distinct values. </a:t>
            </a:r>
            <a:endParaRPr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SzPts val="1800"/>
              <a:buFont typeface="Arial"/>
              <a:buNone/>
            </a:pPr>
            <a:endParaRPr sz="2400"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SzPts val="1800"/>
              <a:buFont typeface="Arial"/>
              <a:buNone/>
            </a:pPr>
            <a:endParaRPr sz="2400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 dirty="0">
                <a:solidFill>
                  <a:srgbClr val="FF0000"/>
                </a:solidFill>
              </a:rPr>
              <a:t>Binary split:</a:t>
            </a:r>
            <a:r>
              <a:rPr lang="en-US" sz="2400" dirty="0"/>
              <a:t>  </a:t>
            </a:r>
            <a:endParaRPr dirty="0"/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 dirty="0"/>
              <a:t>Divides values into two subsets</a:t>
            </a:r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–"/>
            </a:pPr>
            <a:endParaRPr lang="en-US" sz="2400" dirty="0"/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 dirty="0"/>
              <a:t>Depends on Impurity Index</a:t>
            </a:r>
            <a:endParaRPr dirty="0"/>
          </a:p>
        </p:txBody>
      </p:sp>
      <p:sp>
        <p:nvSpPr>
          <p:cNvPr id="553" name="Google Shape;553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graphicFrame>
        <p:nvGraphicFramePr>
          <p:cNvPr id="550" name="Google Shape;550;p23"/>
          <p:cNvGraphicFramePr/>
          <p:nvPr/>
        </p:nvGraphicFramePr>
        <p:xfrm>
          <a:off x="5334000" y="1371600"/>
          <a:ext cx="3352800" cy="182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52800" imgH="1827213" progId="Visio.Drawing.6">
                  <p:embed/>
                </p:oleObj>
              </mc:Choice>
              <mc:Fallback>
                <p:oleObj r:id="rId3" imgW="3352800" imgH="1827213" progId="Visio.Drawing.6">
                  <p:embed/>
                  <p:pic>
                    <p:nvPicPr>
                      <p:cNvPr id="550" name="Google Shape;550;p2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334000" y="1371600"/>
                        <a:ext cx="3352800" cy="182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1" name="Google Shape;551;p23"/>
          <p:cNvGraphicFramePr/>
          <p:nvPr/>
        </p:nvGraphicFramePr>
        <p:xfrm>
          <a:off x="3810000" y="4495800"/>
          <a:ext cx="347186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71863" imgH="1808163" progId="Visio.Drawing.6">
                  <p:embed/>
                </p:oleObj>
              </mc:Choice>
              <mc:Fallback>
                <p:oleObj r:id="rId5" imgW="3471863" imgH="1808163" progId="Visio.Drawing.6">
                  <p:embed/>
                  <p:pic>
                    <p:nvPicPr>
                      <p:cNvPr id="551" name="Google Shape;551;p2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0" y="4495800"/>
                        <a:ext cx="347186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" name="Google Shape;552;p23"/>
          <p:cNvGraphicFramePr/>
          <p:nvPr/>
        </p:nvGraphicFramePr>
        <p:xfrm>
          <a:off x="7086600" y="4495800"/>
          <a:ext cx="202247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22475" imgH="1806575" progId="Visio.Drawing.6">
                  <p:embed/>
                </p:oleObj>
              </mc:Choice>
              <mc:Fallback>
                <p:oleObj r:id="rId7" imgW="2022475" imgH="1806575" progId="Visio.Drawing.6">
                  <p:embed/>
                  <p:pic>
                    <p:nvPicPr>
                      <p:cNvPr id="552" name="Google Shape;552;p23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7086600" y="4495800"/>
                        <a:ext cx="202247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Condition for Ordinal Attributes</a:t>
            </a:r>
            <a:endParaRPr/>
          </a:p>
        </p:txBody>
      </p:sp>
      <p:sp>
        <p:nvSpPr>
          <p:cNvPr id="559" name="Google Shape;559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 dirty="0">
                <a:solidFill>
                  <a:srgbClr val="FF0000"/>
                </a:solidFill>
              </a:rPr>
              <a:t>Multi-way split:</a:t>
            </a:r>
            <a:r>
              <a:rPr lang="en-US" sz="2400" dirty="0"/>
              <a:t> </a:t>
            </a:r>
            <a:endParaRPr dirty="0"/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 dirty="0"/>
              <a:t>Use as many partitions as distinct values</a:t>
            </a:r>
            <a:endParaRPr dirty="0"/>
          </a:p>
          <a:p>
            <a:pPr marL="742950" lvl="1" indent="-133350" algn="l" rtl="0"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 dirty="0">
                <a:solidFill>
                  <a:srgbClr val="FF0000"/>
                </a:solidFill>
              </a:rPr>
              <a:t>Binary split:</a:t>
            </a:r>
            <a:r>
              <a:rPr lang="en-US" sz="2400" dirty="0"/>
              <a:t>  </a:t>
            </a:r>
            <a:endParaRPr dirty="0"/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 dirty="0"/>
              <a:t>Divides values into two subsets</a:t>
            </a:r>
            <a:endParaRPr dirty="0"/>
          </a:p>
          <a:p>
            <a:pPr marL="742950" lvl="1" indent="-285750" algn="l" rtl="0"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 dirty="0">
                <a:solidFill>
                  <a:srgbClr val="FF0000"/>
                </a:solidFill>
              </a:rPr>
              <a:t>Preserve order property among attribute values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564" name="Google Shape;564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aphicFrame>
        <p:nvGraphicFramePr>
          <p:cNvPr id="560" name="Google Shape;560;p24"/>
          <p:cNvGraphicFramePr/>
          <p:nvPr/>
        </p:nvGraphicFramePr>
        <p:xfrm>
          <a:off x="5334000" y="1143000"/>
          <a:ext cx="2951163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51163" imgH="1582738" progId="Visio.Drawing.6">
                  <p:embed/>
                </p:oleObj>
              </mc:Choice>
              <mc:Fallback>
                <p:oleObj r:id="rId3" imgW="2951163" imgH="1582738" progId="Visio.Drawing.6">
                  <p:embed/>
                  <p:pic>
                    <p:nvPicPr>
                      <p:cNvPr id="560" name="Google Shape;560;p2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334000" y="1143000"/>
                        <a:ext cx="2951163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" name="Google Shape;561;p24"/>
          <p:cNvGraphicFramePr/>
          <p:nvPr/>
        </p:nvGraphicFramePr>
        <p:xfrm>
          <a:off x="5029200" y="2819400"/>
          <a:ext cx="33528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352800" imgH="1744663" progId="Visio.Drawing.6">
                  <p:embed/>
                </p:oleObj>
              </mc:Choice>
              <mc:Fallback>
                <p:oleObj r:id="rId5" imgW="3352800" imgH="1744663" progId="Visio.Drawing.6">
                  <p:embed/>
                  <p:pic>
                    <p:nvPicPr>
                      <p:cNvPr id="561" name="Google Shape;561;p2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5029200" y="2819400"/>
                        <a:ext cx="3352800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" name="Google Shape;562;p24"/>
          <p:cNvGraphicFramePr/>
          <p:nvPr/>
        </p:nvGraphicFramePr>
        <p:xfrm>
          <a:off x="4953000" y="4648200"/>
          <a:ext cx="146050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60500" imgH="1768475" progId="Visio.Drawing.6">
                  <p:embed/>
                </p:oleObj>
              </mc:Choice>
              <mc:Fallback>
                <p:oleObj r:id="rId7" imgW="1460500" imgH="1768475" progId="Visio.Drawing.6">
                  <p:embed/>
                  <p:pic>
                    <p:nvPicPr>
                      <p:cNvPr id="562" name="Google Shape;562;p24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4953000" y="4648200"/>
                        <a:ext cx="146050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" name="Google Shape;563;p24"/>
          <p:cNvSpPr/>
          <p:nvPr/>
        </p:nvSpPr>
        <p:spPr>
          <a:xfrm>
            <a:off x="7086600" y="5105400"/>
            <a:ext cx="1524000" cy="9466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6000" y="18950"/>
                </a:moveTo>
                <a:lnTo>
                  <a:pt x="-35878" y="18950"/>
                </a:lnTo>
                <a:lnTo>
                  <a:pt x="-66750" y="122894"/>
                </a:lnTo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grouping violates order property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Wrong Splitting</a:t>
            </a:r>
            <a:endParaRPr dirty="0">
              <a:solidFill>
                <a:srgbClr val="FF0000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5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Condition for Continuous Attributes</a:t>
            </a:r>
            <a:endParaRPr/>
          </a:p>
        </p:txBody>
      </p:sp>
      <p:sp>
        <p:nvSpPr>
          <p:cNvPr id="571" name="Google Shape;571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graphicFrame>
        <p:nvGraphicFramePr>
          <p:cNvPr id="570" name="Google Shape;570;p25"/>
          <p:cNvGraphicFramePr/>
          <p:nvPr/>
        </p:nvGraphicFramePr>
        <p:xfrm>
          <a:off x="738188" y="1746250"/>
          <a:ext cx="7608887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608887" imgH="3282950" progId="Visio.Drawing.6">
                  <p:embed/>
                </p:oleObj>
              </mc:Choice>
              <mc:Fallback>
                <p:oleObj r:id="rId3" imgW="7608887" imgH="3282950" progId="Visio.Drawing.6">
                  <p:embed/>
                  <p:pic>
                    <p:nvPicPr>
                      <p:cNvPr id="570" name="Google Shape;570;p25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738188" y="1746250"/>
                        <a:ext cx="7608887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6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Splitting Based on Continuous Attributes</a:t>
            </a:r>
            <a:endParaRPr/>
          </a:p>
        </p:txBody>
      </p:sp>
      <p:sp>
        <p:nvSpPr>
          <p:cNvPr id="577" name="Google Shape;577;p2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Different ways of handling</a:t>
            </a:r>
            <a:endParaRPr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Char char="–"/>
            </a:pPr>
            <a:r>
              <a:rPr lang="en-US">
                <a:solidFill>
                  <a:srgbClr val="CC3300"/>
                </a:solidFill>
              </a:rPr>
              <a:t>Discretization</a:t>
            </a:r>
            <a:r>
              <a:rPr lang="en-US"/>
              <a:t> to form an ordinal categorical attribute</a:t>
            </a:r>
            <a:endParaRPr/>
          </a:p>
          <a:p>
            <a:pPr marL="914400" lvl="2" indent="0" algn="l" rtl="0">
              <a:spcBef>
                <a:spcPts val="64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/>
              <a:t> Ranges can be found by equal interval bucketing, equal frequency bucketing (percentiles), or clustering.</a:t>
            </a:r>
            <a:endParaRPr/>
          </a:p>
          <a:p>
            <a:pPr marL="914400" lvl="2" indent="-106680" algn="l" rtl="0">
              <a:spcBef>
                <a:spcPts val="640"/>
              </a:spcBef>
              <a:spcAft>
                <a:spcPts val="0"/>
              </a:spcAft>
              <a:buSzPts val="1680"/>
              <a:buChar char="◆"/>
            </a:pPr>
            <a:r>
              <a:rPr lang="en-US"/>
              <a:t> Static – discretize once at the beginning</a:t>
            </a:r>
            <a:endParaRPr/>
          </a:p>
          <a:p>
            <a:pPr marL="914400" lvl="2" indent="-106680" algn="l" rtl="0">
              <a:spcBef>
                <a:spcPts val="640"/>
              </a:spcBef>
              <a:spcAft>
                <a:spcPts val="0"/>
              </a:spcAft>
              <a:buSzPts val="1680"/>
              <a:buChar char="◆"/>
            </a:pPr>
            <a:r>
              <a:rPr lang="en-US"/>
              <a:t> Dynamic – repeat at each node</a:t>
            </a:r>
            <a:endParaRPr/>
          </a:p>
          <a:p>
            <a:pPr marL="2057400" lvl="4" indent="-1016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>
              <a:solidFill>
                <a:srgbClr val="CC3300"/>
              </a:solidFill>
            </a:endParaRPr>
          </a:p>
          <a:p>
            <a:pPr marL="800100" lvl="1" indent="-342900" algn="l" rtl="0">
              <a:spcBef>
                <a:spcPts val="280"/>
              </a:spcBef>
              <a:spcAft>
                <a:spcPts val="0"/>
              </a:spcAft>
              <a:buSzPts val="2800"/>
              <a:buChar char="–"/>
            </a:pPr>
            <a:r>
              <a:rPr lang="en-US">
                <a:solidFill>
                  <a:srgbClr val="CC3300"/>
                </a:solidFill>
              </a:rPr>
              <a:t>Binary Decision</a:t>
            </a:r>
            <a:r>
              <a:rPr lang="en-US"/>
              <a:t>: (A &lt; v) or (A ≥ v)</a:t>
            </a:r>
            <a:endParaRPr/>
          </a:p>
          <a:p>
            <a:pPr marL="914400" lvl="2" indent="-106680" algn="l" rtl="0">
              <a:spcBef>
                <a:spcPts val="640"/>
              </a:spcBef>
              <a:spcAft>
                <a:spcPts val="0"/>
              </a:spcAft>
              <a:buSzPts val="1680"/>
              <a:buChar char="◆"/>
            </a:pPr>
            <a:r>
              <a:rPr lang="en-US"/>
              <a:t> consider all possible splits and finds the best cut</a:t>
            </a:r>
            <a:endParaRPr/>
          </a:p>
          <a:p>
            <a:pPr marL="914400" lvl="2" indent="-106680" algn="l" rtl="0">
              <a:spcBef>
                <a:spcPts val="640"/>
              </a:spcBef>
              <a:spcAft>
                <a:spcPts val="0"/>
              </a:spcAft>
              <a:buSzPts val="1680"/>
              <a:buChar char="◆"/>
            </a:pPr>
            <a:r>
              <a:rPr lang="en-US"/>
              <a:t> can be more compute intensive</a:t>
            </a:r>
            <a:endParaRPr/>
          </a:p>
        </p:txBody>
      </p:sp>
      <p:sp>
        <p:nvSpPr>
          <p:cNvPr id="578" name="Google Shape;578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7"/>
          <p:cNvSpPr txBox="1">
            <a:spLocks noGrp="1"/>
          </p:cNvSpPr>
          <p:nvPr>
            <p:ph type="title"/>
          </p:nvPr>
        </p:nvSpPr>
        <p:spPr>
          <a:xfrm>
            <a:off x="516119" y="0"/>
            <a:ext cx="7886700" cy="641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determine the Best Split</a:t>
            </a:r>
            <a:endParaRPr dirty="0"/>
          </a:p>
        </p:txBody>
      </p:sp>
      <p:pic>
        <p:nvPicPr>
          <p:cNvPr id="583" name="Google Shape;583;p27"/>
          <p:cNvPicPr preferRelativeResize="0">
            <a:picLocks noGrp="1"/>
          </p:cNvPicPr>
          <p:nvPr>
            <p:ph sz="half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334000" y="1009650"/>
            <a:ext cx="3170238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585" name="Google Shape;585;p27"/>
          <p:cNvGraphicFramePr/>
          <p:nvPr/>
        </p:nvGraphicFramePr>
        <p:xfrm>
          <a:off x="1020763" y="4129088"/>
          <a:ext cx="7589837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589837" imgH="1770062" progId="Visio.Drawing.6">
                  <p:embed/>
                </p:oleObj>
              </mc:Choice>
              <mc:Fallback>
                <p:oleObj r:id="rId4" imgW="7589837" imgH="1770062" progId="Visio.Drawing.6">
                  <p:embed/>
                  <p:pic>
                    <p:nvPicPr>
                      <p:cNvPr id="585" name="Google Shape;585;p27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020763" y="4129088"/>
                        <a:ext cx="7589837" cy="177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6" name="Google Shape;586;p27"/>
          <p:cNvSpPr txBox="1"/>
          <p:nvPr/>
        </p:nvSpPr>
        <p:spPr>
          <a:xfrm>
            <a:off x="0" y="799249"/>
            <a:ext cx="51054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Splitting: 10 records of class 0,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10 records of class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b="1" dirty="0">
              <a:solidFill>
                <a:schemeClr val="dk1"/>
              </a:solidFill>
              <a:latin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Purpose of splitting: Make homogeneous/pure groups</a:t>
            </a:r>
            <a:endParaRPr dirty="0"/>
          </a:p>
        </p:txBody>
      </p:sp>
      <p:sp>
        <p:nvSpPr>
          <p:cNvPr id="587" name="Google Shape;587;p27"/>
          <p:cNvSpPr txBox="1"/>
          <p:nvPr/>
        </p:nvSpPr>
        <p:spPr>
          <a:xfrm>
            <a:off x="1981200" y="5957888"/>
            <a:ext cx="51054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test condition is the best?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determine the Best Split</a:t>
            </a:r>
            <a:endParaRPr/>
          </a:p>
        </p:txBody>
      </p:sp>
      <p:sp>
        <p:nvSpPr>
          <p:cNvPr id="594" name="Google Shape;594;p28"/>
          <p:cNvSpPr txBox="1">
            <a:spLocks noGrp="1"/>
          </p:cNvSpPr>
          <p:nvPr>
            <p:ph idx="1"/>
          </p:nvPr>
        </p:nvSpPr>
        <p:spPr>
          <a:xfrm>
            <a:off x="0" y="1825624"/>
            <a:ext cx="9144000" cy="503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dirty="0"/>
              <a:t>Greedy approach: approach for solving a problem by selecting the best option available at the moment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dirty="0"/>
              <a:t>Nodes with </a:t>
            </a:r>
            <a:r>
              <a:rPr lang="en-US" dirty="0">
                <a:solidFill>
                  <a:srgbClr val="FF0000"/>
                </a:solidFill>
              </a:rPr>
              <a:t>purer</a:t>
            </a:r>
            <a:r>
              <a:rPr lang="en-US" dirty="0"/>
              <a:t> class distribution are preferred</a:t>
            </a:r>
            <a:endParaRPr dirty="0"/>
          </a:p>
          <a:p>
            <a:pPr marL="2057400" lvl="4" indent="-1016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2100" lvl="0" indent="-292100" algn="l" rtl="0">
              <a:spcBef>
                <a:spcPts val="28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dirty="0"/>
              <a:t>Need a measure/metric of node impurity</a:t>
            </a:r>
            <a:endParaRPr dirty="0"/>
          </a:p>
          <a:p>
            <a:pPr marL="800100" lvl="1" indent="-342900" algn="l" rtl="0">
              <a:spcBef>
                <a:spcPts val="680"/>
              </a:spcBef>
              <a:spcAft>
                <a:spcPts val="0"/>
              </a:spcAft>
              <a:buSzPts val="2800"/>
              <a:buFont typeface="Arial"/>
              <a:buNone/>
            </a:pPr>
            <a:endParaRPr dirty="0"/>
          </a:p>
        </p:txBody>
      </p:sp>
      <p:sp>
        <p:nvSpPr>
          <p:cNvPr id="599" name="Google Shape;599;p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595" name="Google Shape;595;p28"/>
          <p:cNvGraphicFramePr/>
          <p:nvPr/>
        </p:nvGraphicFramePr>
        <p:xfrm>
          <a:off x="2209800" y="4038600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12813" imgH="815975" progId="Visio.Drawing.6">
                  <p:embed/>
                </p:oleObj>
              </mc:Choice>
              <mc:Fallback>
                <p:oleObj r:id="rId3" imgW="912813" imgH="815975" progId="Visio.Drawing.6">
                  <p:embed/>
                  <p:pic>
                    <p:nvPicPr>
                      <p:cNvPr id="595" name="Google Shape;595;p2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209800" y="4038600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6" name="Google Shape;596;p28"/>
          <p:cNvGraphicFramePr/>
          <p:nvPr/>
        </p:nvGraphicFramePr>
        <p:xfrm>
          <a:off x="5715000" y="4038600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12813" imgH="815975" progId="Visio.Drawing.6">
                  <p:embed/>
                </p:oleObj>
              </mc:Choice>
              <mc:Fallback>
                <p:oleObj r:id="rId5" imgW="912813" imgH="815975" progId="Visio.Drawing.6">
                  <p:embed/>
                  <p:pic>
                    <p:nvPicPr>
                      <p:cNvPr id="596" name="Google Shape;596;p2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5715000" y="4038600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7" name="Google Shape;597;p28"/>
          <p:cNvSpPr txBox="1"/>
          <p:nvPr/>
        </p:nvSpPr>
        <p:spPr>
          <a:xfrm>
            <a:off x="904973" y="5029200"/>
            <a:ext cx="328602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degree of impurity</a:t>
            </a:r>
          </a:p>
          <a:p>
            <a:pPr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degree of 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homogene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ity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598" name="Google Shape;598;p28"/>
          <p:cNvSpPr txBox="1"/>
          <p:nvPr/>
        </p:nvSpPr>
        <p:spPr>
          <a:xfrm>
            <a:off x="5181599" y="5029200"/>
            <a:ext cx="350991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degree of impurity</a:t>
            </a:r>
          </a:p>
          <a:p>
            <a:pPr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degree of 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homogene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ity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"/>
          <p:cNvSpPr txBox="1">
            <a:spLocks noGrp="1"/>
          </p:cNvSpPr>
          <p:nvPr>
            <p:ph type="title"/>
          </p:nvPr>
        </p:nvSpPr>
        <p:spPr>
          <a:xfrm>
            <a:off x="496675" y="16951"/>
            <a:ext cx="7886700" cy="8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Measures of Node Impurity</a:t>
            </a:r>
            <a:endParaRPr dirty="0"/>
          </a:p>
        </p:txBody>
      </p:sp>
      <p:sp>
        <p:nvSpPr>
          <p:cNvPr id="605" name="Google Shape;605;p2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/>
              <a:t>Gini Index</a:t>
            </a:r>
            <a:endParaRPr/>
          </a:p>
          <a:p>
            <a:pPr marL="292100" lvl="0" indent="-15875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292100" lvl="0" indent="-15875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292100" lvl="0" indent="-29210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/>
              <a:t>Entropy</a:t>
            </a:r>
            <a:endParaRPr/>
          </a:p>
          <a:p>
            <a:pPr marL="292100" lvl="0" indent="-15875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292100" lvl="0" indent="-15875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None/>
            </a:pPr>
            <a:endParaRPr/>
          </a:p>
          <a:p>
            <a:pPr marL="292100" lvl="0" indent="-29210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/>
              <a:t>Misclassification error</a:t>
            </a:r>
            <a:endParaRPr/>
          </a:p>
        </p:txBody>
      </p:sp>
      <p:sp>
        <p:nvSpPr>
          <p:cNvPr id="606" name="Google Shape;606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607" name="Google Shape;607;p29"/>
          <p:cNvSpPr txBox="1"/>
          <p:nvPr/>
        </p:nvSpPr>
        <p:spPr>
          <a:xfrm>
            <a:off x="1613727" y="1799980"/>
            <a:ext cx="3781484" cy="10378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08" name="Google Shape;608;p29"/>
          <p:cNvSpPr txBox="1"/>
          <p:nvPr/>
        </p:nvSpPr>
        <p:spPr>
          <a:xfrm>
            <a:off x="1613727" y="3021726"/>
            <a:ext cx="4259243" cy="10378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609" name="Google Shape;609;p29"/>
          <p:cNvSpPr txBox="1"/>
          <p:nvPr/>
        </p:nvSpPr>
        <p:spPr>
          <a:xfrm>
            <a:off x="1613727" y="4953000"/>
            <a:ext cx="531530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490" r="-1489" b="-383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10" name="Google Shape;610;p29"/>
          <p:cNvSpPr txBox="1"/>
          <p:nvPr/>
        </p:nvSpPr>
        <p:spPr>
          <a:xfrm>
            <a:off x="5562600" y="1492518"/>
            <a:ext cx="3414268" cy="10156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963" t="-3613" b="-1084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0"/>
          <p:cNvSpPr txBox="1">
            <a:spLocks noGrp="1"/>
          </p:cNvSpPr>
          <p:nvPr>
            <p:ph type="title"/>
          </p:nvPr>
        </p:nvSpPr>
        <p:spPr>
          <a:xfrm>
            <a:off x="261005" y="1"/>
            <a:ext cx="7886700" cy="754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Finding the Best Split</a:t>
            </a:r>
            <a:endParaRPr dirty="0"/>
          </a:p>
        </p:txBody>
      </p:sp>
      <p:sp>
        <p:nvSpPr>
          <p:cNvPr id="616" name="Google Shape;616;p30"/>
          <p:cNvSpPr txBox="1">
            <a:spLocks noGrp="1"/>
          </p:cNvSpPr>
          <p:nvPr>
            <p:ph idx="1"/>
          </p:nvPr>
        </p:nvSpPr>
        <p:spPr>
          <a:xfrm>
            <a:off x="0" y="1018095"/>
            <a:ext cx="9144000" cy="5839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rm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lang="en-US" dirty="0"/>
              <a:t>Compute impurity measure (P) before splitting</a:t>
            </a:r>
            <a:endParaRPr dirty="0"/>
          </a:p>
          <a:p>
            <a:pPr marL="533400" lvl="0" indent="-53340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lang="en-US" dirty="0"/>
              <a:t>Compute impurity measure (M) after splitting</a:t>
            </a:r>
            <a:endParaRPr dirty="0"/>
          </a:p>
          <a:p>
            <a:pPr marL="914400" lvl="2" indent="-106680" algn="l" rtl="0">
              <a:spcBef>
                <a:spcPts val="640"/>
              </a:spcBef>
              <a:spcAft>
                <a:spcPts val="0"/>
              </a:spcAft>
              <a:buSzPts val="1680"/>
              <a:buFont typeface="Arial"/>
              <a:buChar char="●"/>
            </a:pPr>
            <a:r>
              <a:rPr lang="en-US" dirty="0"/>
              <a:t> Compute impurity measure of each child node</a:t>
            </a:r>
            <a:endParaRPr dirty="0"/>
          </a:p>
          <a:p>
            <a:pPr marL="914400" lvl="2" indent="-106680" algn="l" rtl="0">
              <a:spcBef>
                <a:spcPts val="640"/>
              </a:spcBef>
              <a:spcAft>
                <a:spcPts val="0"/>
              </a:spcAft>
              <a:buSzPts val="1680"/>
              <a:buFont typeface="Arial"/>
              <a:buChar char="●"/>
            </a:pPr>
            <a:r>
              <a:rPr lang="en-US" dirty="0"/>
              <a:t> M is the weighted impurity of child nodes</a:t>
            </a:r>
            <a:endParaRPr dirty="0"/>
          </a:p>
          <a:p>
            <a:pPr marL="533400" lvl="0" indent="-533400" algn="l" rtl="0">
              <a:spcBef>
                <a:spcPts val="68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lang="en-US" dirty="0"/>
              <a:t>Choose the attribute test condition that produces the highest gain</a:t>
            </a:r>
            <a:br>
              <a:rPr lang="en-US" dirty="0"/>
            </a:br>
            <a:r>
              <a:rPr lang="en-US" dirty="0"/>
              <a:t> </a:t>
            </a:r>
            <a:endParaRPr dirty="0"/>
          </a:p>
          <a:p>
            <a:pPr marL="622300" lvl="2" indent="0" algn="l" rtl="0">
              <a:spcBef>
                <a:spcPts val="640"/>
              </a:spcBef>
              <a:spcAft>
                <a:spcPts val="0"/>
              </a:spcAft>
              <a:buSzPts val="1680"/>
              <a:buNone/>
            </a:pPr>
            <a:r>
              <a:rPr lang="en-US" b="1" dirty="0"/>
              <a:t>		Gain = P - M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or equivalently, lowest impurity measure after splitting (M) </a:t>
            </a:r>
            <a:endParaRPr dirty="0"/>
          </a:p>
        </p:txBody>
      </p:sp>
      <p:sp>
        <p:nvSpPr>
          <p:cNvPr id="617" name="Google Shape;617;p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1"/>
          <p:cNvSpPr txBox="1">
            <a:spLocks noGrp="1"/>
          </p:cNvSpPr>
          <p:nvPr>
            <p:ph type="title"/>
          </p:nvPr>
        </p:nvSpPr>
        <p:spPr>
          <a:xfrm>
            <a:off x="381000" y="-11110"/>
            <a:ext cx="7886700" cy="76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Finding the Best Split</a:t>
            </a:r>
            <a:endParaRPr dirty="0"/>
          </a:p>
        </p:txBody>
      </p:sp>
      <p:sp>
        <p:nvSpPr>
          <p:cNvPr id="661" name="Google Shape;661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623" name="Google Shape;623;p31"/>
          <p:cNvSpPr/>
          <p:nvPr/>
        </p:nvSpPr>
        <p:spPr>
          <a:xfrm>
            <a:off x="6477000" y="1828800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B?</a:t>
            </a:r>
            <a:endParaRPr sz="24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4" name="Google Shape;624;p31"/>
          <p:cNvCxnSpPr/>
          <p:nvPr/>
        </p:nvCxnSpPr>
        <p:spPr>
          <a:xfrm flipH="1">
            <a:off x="5902325" y="2286000"/>
            <a:ext cx="11080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5" name="Google Shape;625;p31"/>
          <p:cNvCxnSpPr/>
          <p:nvPr/>
        </p:nvCxnSpPr>
        <p:spPr>
          <a:xfrm>
            <a:off x="7010400" y="2286000"/>
            <a:ext cx="11842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6" name="Google Shape;626;p31"/>
          <p:cNvSpPr txBox="1"/>
          <p:nvPr/>
        </p:nvSpPr>
        <p:spPr>
          <a:xfrm>
            <a:off x="5629275" y="2401888"/>
            <a:ext cx="539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627" name="Google Shape;627;p31"/>
          <p:cNvSpPr txBox="1"/>
          <p:nvPr/>
        </p:nvSpPr>
        <p:spPr>
          <a:xfrm>
            <a:off x="8118475" y="2401888"/>
            <a:ext cx="463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628" name="Google Shape;628;p31"/>
          <p:cNvSpPr/>
          <p:nvPr/>
        </p:nvSpPr>
        <p:spPr>
          <a:xfrm>
            <a:off x="5486400" y="30114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N3</a:t>
            </a:r>
            <a:endParaRPr/>
          </a:p>
        </p:txBody>
      </p:sp>
      <p:sp>
        <p:nvSpPr>
          <p:cNvPr id="629" name="Google Shape;629;p31"/>
          <p:cNvSpPr/>
          <p:nvPr/>
        </p:nvSpPr>
        <p:spPr>
          <a:xfrm>
            <a:off x="7673975" y="30114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N4</a:t>
            </a:r>
            <a:endParaRPr/>
          </a:p>
        </p:txBody>
      </p:sp>
      <p:sp>
        <p:nvSpPr>
          <p:cNvPr id="630" name="Google Shape;630;p31"/>
          <p:cNvSpPr/>
          <p:nvPr/>
        </p:nvSpPr>
        <p:spPr>
          <a:xfrm>
            <a:off x="1447800" y="1752600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A?</a:t>
            </a:r>
            <a:endParaRPr sz="24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1" name="Google Shape;631;p31"/>
          <p:cNvCxnSpPr/>
          <p:nvPr/>
        </p:nvCxnSpPr>
        <p:spPr>
          <a:xfrm flipH="1">
            <a:off x="873125" y="2209800"/>
            <a:ext cx="11080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2" name="Google Shape;632;p31"/>
          <p:cNvCxnSpPr/>
          <p:nvPr/>
        </p:nvCxnSpPr>
        <p:spPr>
          <a:xfrm>
            <a:off x="1981200" y="2209800"/>
            <a:ext cx="11842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3" name="Google Shape;633;p31"/>
          <p:cNvSpPr txBox="1"/>
          <p:nvPr/>
        </p:nvSpPr>
        <p:spPr>
          <a:xfrm>
            <a:off x="600075" y="2325688"/>
            <a:ext cx="539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634" name="Google Shape;634;p31"/>
          <p:cNvSpPr txBox="1"/>
          <p:nvPr/>
        </p:nvSpPr>
        <p:spPr>
          <a:xfrm>
            <a:off x="3089275" y="2325688"/>
            <a:ext cx="463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635" name="Google Shape;635;p31"/>
          <p:cNvSpPr/>
          <p:nvPr/>
        </p:nvSpPr>
        <p:spPr>
          <a:xfrm>
            <a:off x="457200" y="29352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N1</a:t>
            </a:r>
            <a:endParaRPr/>
          </a:p>
        </p:txBody>
      </p:sp>
      <p:sp>
        <p:nvSpPr>
          <p:cNvPr id="636" name="Google Shape;636;p31"/>
          <p:cNvSpPr/>
          <p:nvPr/>
        </p:nvSpPr>
        <p:spPr>
          <a:xfrm>
            <a:off x="2644775" y="29352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N2</a:t>
            </a:r>
            <a:endParaRPr/>
          </a:p>
        </p:txBody>
      </p:sp>
      <p:sp>
        <p:nvSpPr>
          <p:cNvPr id="637" name="Google Shape;637;p31"/>
          <p:cNvSpPr txBox="1"/>
          <p:nvPr/>
        </p:nvSpPr>
        <p:spPr>
          <a:xfrm>
            <a:off x="1905000" y="1066800"/>
            <a:ext cx="19812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Splitting:</a:t>
            </a:r>
            <a:endParaRPr/>
          </a:p>
        </p:txBody>
      </p:sp>
      <p:graphicFrame>
        <p:nvGraphicFramePr>
          <p:cNvPr id="638" name="Google Shape;638;p31"/>
          <p:cNvGraphicFramePr/>
          <p:nvPr/>
        </p:nvGraphicFramePr>
        <p:xfrm>
          <a:off x="80963" y="3581400"/>
          <a:ext cx="16652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65287" imgH="698500" progId="Word.Document.8">
                  <p:embed/>
                </p:oleObj>
              </mc:Choice>
              <mc:Fallback>
                <p:oleObj r:id="rId3" imgW="1665287" imgH="698500" progId="Word.Document.8">
                  <p:embed/>
                  <p:pic>
                    <p:nvPicPr>
                      <p:cNvPr id="638" name="Google Shape;638;p3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80963" y="3581400"/>
                        <a:ext cx="16652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9" name="Google Shape;639;p31"/>
          <p:cNvGraphicFramePr/>
          <p:nvPr/>
        </p:nvGraphicFramePr>
        <p:xfrm>
          <a:off x="2366963" y="3586163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36712" imgH="681037" progId="Word.Document.8">
                  <p:embed/>
                </p:oleObj>
              </mc:Choice>
              <mc:Fallback>
                <p:oleObj r:id="rId5" imgW="1636712" imgH="681037" progId="Word.Document.8">
                  <p:embed/>
                  <p:pic>
                    <p:nvPicPr>
                      <p:cNvPr id="639" name="Google Shape;639;p3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2366963" y="3586163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0" name="Google Shape;640;p31"/>
          <p:cNvGraphicFramePr/>
          <p:nvPr/>
        </p:nvGraphicFramePr>
        <p:xfrm>
          <a:off x="5110163" y="3586163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36712" imgH="681037" progId="Word.Document.8">
                  <p:embed/>
                </p:oleObj>
              </mc:Choice>
              <mc:Fallback>
                <p:oleObj r:id="rId7" imgW="1636712" imgH="681037" progId="Word.Document.8">
                  <p:embed/>
                  <p:pic>
                    <p:nvPicPr>
                      <p:cNvPr id="640" name="Google Shape;640;p3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5110163" y="3586163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" name="Google Shape;641;p31"/>
          <p:cNvGraphicFramePr/>
          <p:nvPr/>
        </p:nvGraphicFramePr>
        <p:xfrm>
          <a:off x="7396163" y="3586163"/>
          <a:ext cx="159543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595437" imgH="660400" progId="Word.Document.8">
                  <p:embed/>
                </p:oleObj>
              </mc:Choice>
              <mc:Fallback>
                <p:oleObj r:id="rId9" imgW="1595437" imgH="660400" progId="Word.Document.8">
                  <p:embed/>
                  <p:pic>
                    <p:nvPicPr>
                      <p:cNvPr id="641" name="Google Shape;641;p31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7396163" y="3586163"/>
                        <a:ext cx="159543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" name="Google Shape;642;p31"/>
          <p:cNvGraphicFramePr/>
          <p:nvPr/>
        </p:nvGraphicFramePr>
        <p:xfrm>
          <a:off x="3962400" y="1066800"/>
          <a:ext cx="15954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95438" imgH="660400" progId="Word.Document.8">
                  <p:embed/>
                </p:oleObj>
              </mc:Choice>
              <mc:Fallback>
                <p:oleObj r:id="rId11" imgW="1595438" imgH="660400" progId="Word.Document.8">
                  <p:embed/>
                  <p:pic>
                    <p:nvPicPr>
                      <p:cNvPr id="642" name="Google Shape;642;p31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/>
                      <a:stretch/>
                    </p:blipFill>
                    <p:spPr>
                      <a:xfrm>
                        <a:off x="3962400" y="1066800"/>
                        <a:ext cx="15954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3" name="Google Shape;643;p31"/>
          <p:cNvGrpSpPr/>
          <p:nvPr/>
        </p:nvGrpSpPr>
        <p:grpSpPr>
          <a:xfrm>
            <a:off x="5715000" y="1066800"/>
            <a:ext cx="1295400" cy="396875"/>
            <a:chOff x="3600" y="768"/>
            <a:chExt cx="816" cy="250"/>
          </a:xfrm>
        </p:grpSpPr>
        <p:cxnSp>
          <p:nvCxnSpPr>
            <p:cNvPr id="644" name="Google Shape;644;p31"/>
            <p:cNvCxnSpPr/>
            <p:nvPr/>
          </p:nvCxnSpPr>
          <p:spPr>
            <a:xfrm>
              <a:off x="3600" y="912"/>
              <a:ext cx="336" cy="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45" name="Google Shape;645;p31"/>
            <p:cNvSpPr txBox="1"/>
            <p:nvPr/>
          </p:nvSpPr>
          <p:spPr>
            <a:xfrm>
              <a:off x="3984" y="768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dirty="0"/>
            </a:p>
          </p:txBody>
        </p:sp>
      </p:grpSp>
      <p:grpSp>
        <p:nvGrpSpPr>
          <p:cNvPr id="646" name="Google Shape;646;p31"/>
          <p:cNvGrpSpPr/>
          <p:nvPr/>
        </p:nvGrpSpPr>
        <p:grpSpPr>
          <a:xfrm>
            <a:off x="609600" y="4343400"/>
            <a:ext cx="8001000" cy="854075"/>
            <a:chOff x="384" y="2832"/>
            <a:chExt cx="5040" cy="538"/>
          </a:xfrm>
        </p:grpSpPr>
        <p:sp>
          <p:nvSpPr>
            <p:cNvPr id="647" name="Google Shape;647;p31"/>
            <p:cNvSpPr txBox="1"/>
            <p:nvPr/>
          </p:nvSpPr>
          <p:spPr>
            <a:xfrm>
              <a:off x="384" y="3120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M11</a:t>
              </a:r>
              <a:endParaRPr/>
            </a:p>
          </p:txBody>
        </p:sp>
        <p:sp>
          <p:nvSpPr>
            <p:cNvPr id="648" name="Google Shape;648;p31"/>
            <p:cNvSpPr txBox="1"/>
            <p:nvPr/>
          </p:nvSpPr>
          <p:spPr>
            <a:xfrm>
              <a:off x="1824" y="3110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M12</a:t>
              </a:r>
              <a:endParaRPr/>
            </a:p>
          </p:txBody>
        </p:sp>
        <p:sp>
          <p:nvSpPr>
            <p:cNvPr id="649" name="Google Shape;649;p31"/>
            <p:cNvSpPr txBox="1"/>
            <p:nvPr/>
          </p:nvSpPr>
          <p:spPr>
            <a:xfrm>
              <a:off x="3600" y="3110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M21</a:t>
              </a:r>
              <a:endParaRPr/>
            </a:p>
          </p:txBody>
        </p:sp>
        <p:sp>
          <p:nvSpPr>
            <p:cNvPr id="650" name="Google Shape;650;p31"/>
            <p:cNvSpPr txBox="1"/>
            <p:nvPr/>
          </p:nvSpPr>
          <p:spPr>
            <a:xfrm>
              <a:off x="4992" y="3110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M22</a:t>
              </a:r>
              <a:endParaRPr/>
            </a:p>
          </p:txBody>
        </p:sp>
        <p:cxnSp>
          <p:nvCxnSpPr>
            <p:cNvPr id="651" name="Google Shape;651;p31"/>
            <p:cNvCxnSpPr/>
            <p:nvPr/>
          </p:nvCxnSpPr>
          <p:spPr>
            <a:xfrm>
              <a:off x="528" y="2832"/>
              <a:ext cx="0" cy="288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2" name="Google Shape;652;p31"/>
            <p:cNvCxnSpPr/>
            <p:nvPr/>
          </p:nvCxnSpPr>
          <p:spPr>
            <a:xfrm>
              <a:off x="2016" y="2832"/>
              <a:ext cx="0" cy="288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3" name="Google Shape;653;p31"/>
            <p:cNvCxnSpPr/>
            <p:nvPr/>
          </p:nvCxnSpPr>
          <p:spPr>
            <a:xfrm>
              <a:off x="3744" y="2832"/>
              <a:ext cx="0" cy="288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4" name="Google Shape;654;p31"/>
            <p:cNvCxnSpPr/>
            <p:nvPr/>
          </p:nvCxnSpPr>
          <p:spPr>
            <a:xfrm>
              <a:off x="5184" y="2832"/>
              <a:ext cx="0" cy="288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655" name="Google Shape;655;p31"/>
          <p:cNvGrpSpPr/>
          <p:nvPr/>
        </p:nvGrpSpPr>
        <p:grpSpPr>
          <a:xfrm>
            <a:off x="762000" y="5257800"/>
            <a:ext cx="7620000" cy="777875"/>
            <a:chOff x="480" y="3408"/>
            <a:chExt cx="4800" cy="490"/>
          </a:xfrm>
        </p:grpSpPr>
        <p:sp>
          <p:nvSpPr>
            <p:cNvPr id="656" name="Google Shape;656;p31"/>
            <p:cNvSpPr/>
            <p:nvPr/>
          </p:nvSpPr>
          <p:spPr>
            <a:xfrm rot="-5400000">
              <a:off x="1152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 cap="flat" cmpd="sng">
              <a:solidFill>
                <a:srgbClr val="1C5A6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1"/>
            <p:cNvSpPr/>
            <p:nvPr/>
          </p:nvSpPr>
          <p:spPr>
            <a:xfrm rot="-5400000">
              <a:off x="4416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 cap="flat" cmpd="sng">
              <a:solidFill>
                <a:srgbClr val="1C5A6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1"/>
            <p:cNvSpPr txBox="1"/>
            <p:nvPr/>
          </p:nvSpPr>
          <p:spPr>
            <a:xfrm>
              <a:off x="1056" y="3638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M1</a:t>
              </a:r>
              <a:endParaRPr/>
            </a:p>
          </p:txBody>
        </p:sp>
        <p:sp>
          <p:nvSpPr>
            <p:cNvPr id="659" name="Google Shape;659;p31"/>
            <p:cNvSpPr txBox="1"/>
            <p:nvPr/>
          </p:nvSpPr>
          <p:spPr>
            <a:xfrm>
              <a:off x="4320" y="3648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M2</a:t>
              </a:r>
              <a:endParaRPr/>
            </a:p>
          </p:txBody>
        </p:sp>
      </p:grpSp>
      <p:sp>
        <p:nvSpPr>
          <p:cNvPr id="660" name="Google Shape;660;p31"/>
          <p:cNvSpPr txBox="1"/>
          <p:nvPr/>
        </p:nvSpPr>
        <p:spPr>
          <a:xfrm>
            <a:off x="2819400" y="5927725"/>
            <a:ext cx="4038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 = P – M1    vs      P – M2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2"/>
          <p:cNvSpPr txBox="1">
            <a:spLocks noGrp="1"/>
          </p:cNvSpPr>
          <p:nvPr>
            <p:ph type="title"/>
          </p:nvPr>
        </p:nvSpPr>
        <p:spPr>
          <a:xfrm>
            <a:off x="477821" y="1"/>
            <a:ext cx="7886700" cy="697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Measure of Impurity: GINI</a:t>
            </a:r>
            <a:endParaRPr dirty="0"/>
          </a:p>
        </p:txBody>
      </p:sp>
      <p:sp>
        <p:nvSpPr>
          <p:cNvPr id="667" name="Google Shape;667;p32"/>
          <p:cNvSpPr txBox="1">
            <a:spLocks noGrp="1"/>
          </p:cNvSpPr>
          <p:nvPr>
            <p:ph idx="1"/>
          </p:nvPr>
        </p:nvSpPr>
        <p:spPr>
          <a:xfrm>
            <a:off x="0" y="2818614"/>
            <a:ext cx="9143999" cy="31485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38" t="-2042" r="-1244" b="-21692"/>
            </a:stretch>
          </a:blipFill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 </a:t>
            </a:r>
            <a:endParaRPr dirty="0"/>
          </a:p>
        </p:txBody>
      </p:sp>
      <p:sp>
        <p:nvSpPr>
          <p:cNvPr id="668" name="Google Shape;668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669" name="Google Shape;669;p32"/>
          <p:cNvSpPr txBox="1"/>
          <p:nvPr/>
        </p:nvSpPr>
        <p:spPr>
          <a:xfrm>
            <a:off x="1330923" y="768286"/>
            <a:ext cx="3848810" cy="10378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3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Measure of Impurity: GINI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" name="Google Shape;675;p3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411163" y="1690688"/>
                <a:ext cx="8318500" cy="51673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noAutofit/>
              </a:bodyPr>
              <a:lstStyle/>
              <a:p>
                <a:pPr marL="292100" lvl="0" indent="-2921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●"/>
                </a:pPr>
                <a:r>
                  <a:rPr lang="en-US" sz="2400" dirty="0"/>
                  <a:t>Gini Index for a given node t :</a:t>
                </a:r>
                <a:endParaRPr lang="en-US" dirty="0"/>
              </a:p>
              <a:p>
                <a:pPr marL="914400" lvl="2" indent="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400"/>
                  <a:buFont typeface="Noto Sans Symbols"/>
                  <a:buNone/>
                </a:pPr>
                <a:br>
                  <a:rPr lang="en-US" sz="2000" dirty="0"/>
                </a:br>
                <a:endParaRPr lang="en-US" sz="800" dirty="0"/>
              </a:p>
              <a:p>
                <a:pPr marL="800100" lvl="1" indent="-342900" algn="l" rtl="0">
                  <a:lnSpc>
                    <a:spcPct val="90000"/>
                  </a:lnSpc>
                  <a:spcBef>
                    <a:spcPts val="640"/>
                  </a:spcBef>
                  <a:spcAft>
                    <a:spcPts val="0"/>
                  </a:spcAft>
                  <a:buSzPts val="2400"/>
                  <a:buChar char="–"/>
                </a:pPr>
                <a:r>
                  <a:rPr lang="en-US" sz="2400" dirty="0"/>
                  <a:t>For 2-class problem (p, 1 – p):</a:t>
                </a:r>
                <a:endParaRPr lang="en-US" dirty="0"/>
              </a:p>
              <a:p>
                <a:pPr marL="914400" lvl="2" indent="-8890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400"/>
                  <a:buChar char="◆"/>
                </a:pPr>
                <a:r>
                  <a:rPr lang="en-US" sz="2000" dirty="0"/>
                  <a:t> GINI = 1 – p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 – (1 – p)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 = 2p (1-p)</a:t>
                </a:r>
              </a:p>
              <a:p>
                <a:pPr marL="914400" lvl="2" indent="-8890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400"/>
                  <a:buChar char="◆"/>
                </a:pPr>
                <a:r>
                  <a:rPr lang="en-US" sz="2000" dirty="0"/>
                  <a:t>Impurity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𝐺𝑖𝑛𝑖</m:t>
                    </m:r>
                  </m:oMath>
                </a14:m>
                <a:endParaRPr lang="en-US" sz="2000" baseline="30000" dirty="0"/>
              </a:p>
            </p:txBody>
          </p:sp>
        </mc:Choice>
        <mc:Fallback xmlns="">
          <p:sp>
            <p:nvSpPr>
              <p:cNvPr id="675" name="Google Shape;675;p3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163" y="1690688"/>
                <a:ext cx="8318500" cy="5167311"/>
              </a:xfrm>
              <a:prstGeom prst="rect">
                <a:avLst/>
              </a:prstGeom>
              <a:blipFill>
                <a:blip r:embed="rId3"/>
                <a:stretch>
                  <a:fillRect l="-440" t="-16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0" name="Google Shape;680;p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graphicFrame>
        <p:nvGraphicFramePr>
          <p:cNvPr id="676" name="Google Shape;676;p33"/>
          <p:cNvGraphicFramePr/>
          <p:nvPr>
            <p:extLst>
              <p:ext uri="{D42A27DB-BD31-4B8C-83A1-F6EECF244321}">
                <p14:modId xmlns:p14="http://schemas.microsoft.com/office/powerpoint/2010/main" val="4178030747"/>
              </p:ext>
            </p:extLst>
          </p:nvPr>
        </p:nvGraphicFramePr>
        <p:xfrm>
          <a:off x="51063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125152" imgH="1972744" progId="Word.Document.8">
                  <p:embed/>
                </p:oleObj>
              </mc:Choice>
              <mc:Fallback>
                <p:oleObj name="Document" r:id="rId4" imgW="3125152" imgH="1972744" progId="Word.Document.8">
                  <p:embed/>
                  <p:pic>
                    <p:nvPicPr>
                      <p:cNvPr id="676" name="Google Shape;676;p3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51063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" name="Google Shape;677;p33"/>
          <p:cNvGraphicFramePr/>
          <p:nvPr/>
        </p:nvGraphicFramePr>
        <p:xfrm>
          <a:off x="45720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71600" imgH="808038" progId="Word.Document.8">
                  <p:embed/>
                </p:oleObj>
              </mc:Choice>
              <mc:Fallback>
                <p:oleObj r:id="rId6" imgW="1371600" imgH="808038" progId="Word.Document.8">
                  <p:embed/>
                  <p:pic>
                    <p:nvPicPr>
                      <p:cNvPr id="677" name="Google Shape;677;p33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45720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" name="Google Shape;678;p33"/>
          <p:cNvGraphicFramePr/>
          <p:nvPr>
            <p:extLst>
              <p:ext uri="{D42A27DB-BD31-4B8C-83A1-F6EECF244321}">
                <p14:modId xmlns:p14="http://schemas.microsoft.com/office/powerpoint/2010/main" val="240975098"/>
              </p:ext>
            </p:extLst>
          </p:nvPr>
        </p:nvGraphicFramePr>
        <p:xfrm>
          <a:off x="7829550" y="4501279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71600" imgH="808038" progId="Word.Document.8">
                  <p:embed/>
                </p:oleObj>
              </mc:Choice>
              <mc:Fallback>
                <p:oleObj r:id="rId8" imgW="1371600" imgH="808038" progId="Word.Document.8">
                  <p:embed/>
                  <p:pic>
                    <p:nvPicPr>
                      <p:cNvPr id="678" name="Google Shape;678;p3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/>
                      <a:stretch/>
                    </p:blipFill>
                    <p:spPr>
                      <a:xfrm>
                        <a:off x="7829550" y="4501279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" name="Google Shape;679;p33"/>
          <p:cNvGraphicFramePr/>
          <p:nvPr/>
        </p:nvGraphicFramePr>
        <p:xfrm>
          <a:off x="29718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371600" imgH="808038" progId="Word.Document.8">
                  <p:embed/>
                </p:oleObj>
              </mc:Choice>
              <mc:Fallback>
                <p:oleObj r:id="rId10" imgW="1371600" imgH="808038" progId="Word.Document.8">
                  <p:embed/>
                  <p:pic>
                    <p:nvPicPr>
                      <p:cNvPr id="679" name="Google Shape;679;p33"/>
                      <p:cNvPicPr preferRelativeResize="0"/>
                      <p:nvPr/>
                    </p:nvPicPr>
                    <p:blipFill rotWithShape="1">
                      <a:blip r:embed="rId11">
                        <a:alphaModFix/>
                      </a:blip>
                      <a:srcRect/>
                      <a:stretch/>
                    </p:blipFill>
                    <p:spPr>
                      <a:xfrm>
                        <a:off x="29718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1" name="Google Shape;681;p33"/>
          <p:cNvSpPr txBox="1"/>
          <p:nvPr/>
        </p:nvSpPr>
        <p:spPr>
          <a:xfrm>
            <a:off x="4533545" y="1357738"/>
            <a:ext cx="3848810" cy="1037848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6E0764-E7A1-DA2F-D1D8-57303D5AA2E6}"/>
                  </a:ext>
                </a:extLst>
              </p:cNvPr>
              <p:cNvSpPr txBox="1"/>
              <p:nvPr/>
            </p:nvSpPr>
            <p:spPr>
              <a:xfrm>
                <a:off x="14138" y="5500262"/>
                <a:ext cx="2314283" cy="1039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Most </a:t>
                </a:r>
                <a:r>
                  <a:rPr lang="en-US" dirty="0"/>
                  <a:t>P</a:t>
                </a:r>
                <a:r>
                  <a:rPr lang="en-US" sz="1800" dirty="0"/>
                  <a:t>ure</a:t>
                </a:r>
              </a:p>
              <a:p>
                <a:r>
                  <a:rPr lang="en-US" sz="1800" dirty="0"/>
                  <a:t>Gini = 1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=0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6E0764-E7A1-DA2F-D1D8-57303D5AA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8" y="5500262"/>
                <a:ext cx="2314283" cy="1039772"/>
              </a:xfrm>
              <a:prstGeom prst="rect">
                <a:avLst/>
              </a:prstGeom>
              <a:blipFill>
                <a:blip r:embed="rId13"/>
                <a:stretch>
                  <a:fillRect l="-2105" t="-2924" b="-8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5093BC-4B42-7976-4CBA-BCAB4A020D5E}"/>
                  </a:ext>
                </a:extLst>
              </p:cNvPr>
              <p:cNvSpPr txBox="1"/>
              <p:nvPr/>
            </p:nvSpPr>
            <p:spPr>
              <a:xfrm>
                <a:off x="6849159" y="5457055"/>
                <a:ext cx="2314283" cy="1039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Most Impure</a:t>
                </a:r>
              </a:p>
              <a:p>
                <a:r>
                  <a:rPr lang="en-US" sz="1800" dirty="0"/>
                  <a:t>Gini = 1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=0.50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5093BC-4B42-7976-4CBA-BCAB4A02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159" y="5457055"/>
                <a:ext cx="2314283" cy="1039772"/>
              </a:xfrm>
              <a:prstGeom prst="rect">
                <a:avLst/>
              </a:prstGeom>
              <a:blipFill>
                <a:blip r:embed="rId14"/>
                <a:stretch>
                  <a:fillRect l="-2375" t="-2924" b="-8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4"/>
          <p:cNvSpPr txBox="1">
            <a:spLocks noGrp="1"/>
          </p:cNvSpPr>
          <p:nvPr>
            <p:ph type="title"/>
          </p:nvPr>
        </p:nvSpPr>
        <p:spPr>
          <a:xfrm>
            <a:off x="404174" y="2"/>
            <a:ext cx="7886700" cy="66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Computing Gini Index of a Single Node</a:t>
            </a:r>
            <a:endParaRPr dirty="0"/>
          </a:p>
        </p:txBody>
      </p:sp>
      <p:sp>
        <p:nvSpPr>
          <p:cNvPr id="693" name="Google Shape;693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graphicFrame>
        <p:nvGraphicFramePr>
          <p:cNvPr id="687" name="Google Shape;687;p34"/>
          <p:cNvGraphicFramePr/>
          <p:nvPr/>
        </p:nvGraphicFramePr>
        <p:xfrm>
          <a:off x="4572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62200" imgH="936625" progId="Word.Document.8">
                  <p:embed/>
                </p:oleObj>
              </mc:Choice>
              <mc:Fallback>
                <p:oleObj r:id="rId3" imgW="2362200" imgH="936625" progId="Word.Document.8">
                  <p:embed/>
                  <p:pic>
                    <p:nvPicPr>
                      <p:cNvPr id="687" name="Google Shape;687;p3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572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" name="Google Shape;688;p34"/>
          <p:cNvGraphicFramePr/>
          <p:nvPr/>
        </p:nvGraphicFramePr>
        <p:xfrm>
          <a:off x="5334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86000" imgH="938213" progId="Word.Document.8">
                  <p:embed/>
                </p:oleObj>
              </mc:Choice>
              <mc:Fallback>
                <p:oleObj r:id="rId5" imgW="2286000" imgH="938213" progId="Word.Document.8">
                  <p:embed/>
                  <p:pic>
                    <p:nvPicPr>
                      <p:cNvPr id="688" name="Google Shape;688;p3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5334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9" name="Google Shape;689;p34"/>
          <p:cNvGraphicFramePr/>
          <p:nvPr/>
        </p:nvGraphicFramePr>
        <p:xfrm>
          <a:off x="5334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86000" imgH="906462" progId="Word.Document.8">
                  <p:embed/>
                </p:oleObj>
              </mc:Choice>
              <mc:Fallback>
                <p:oleObj r:id="rId7" imgW="2286000" imgH="906462" progId="Word.Document.8">
                  <p:embed/>
                  <p:pic>
                    <p:nvPicPr>
                      <p:cNvPr id="689" name="Google Shape;689;p34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5334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0" name="Google Shape;690;p34"/>
          <p:cNvSpPr txBox="1"/>
          <p:nvPr/>
        </p:nvSpPr>
        <p:spPr>
          <a:xfrm>
            <a:off x="3048000" y="2339975"/>
            <a:ext cx="5181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0/6 = 0     P(C2) = 6/6 = 1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= 1 – P(C1)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P(C2)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– 0 – 1 = 0 </a:t>
            </a:r>
            <a:endParaRPr/>
          </a:p>
        </p:txBody>
      </p:sp>
      <p:sp>
        <p:nvSpPr>
          <p:cNvPr id="691" name="Google Shape;691;p34"/>
          <p:cNvSpPr txBox="1"/>
          <p:nvPr/>
        </p:nvSpPr>
        <p:spPr>
          <a:xfrm>
            <a:off x="3124200" y="3817938"/>
            <a:ext cx="5181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1/6          P(C2) = 5/6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= 1 – (1/6)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(5/6)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0.278</a:t>
            </a:r>
            <a:endParaRPr/>
          </a:p>
        </p:txBody>
      </p:sp>
      <p:sp>
        <p:nvSpPr>
          <p:cNvPr id="692" name="Google Shape;692;p34"/>
          <p:cNvSpPr txBox="1"/>
          <p:nvPr/>
        </p:nvSpPr>
        <p:spPr>
          <a:xfrm>
            <a:off x="3124200" y="5105400"/>
            <a:ext cx="5181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2/6          P(C2) = 4/6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= 1 – (2/6)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(4/6)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0.444</a:t>
            </a:r>
            <a:endParaRPr/>
          </a:p>
        </p:txBody>
      </p:sp>
      <p:sp>
        <p:nvSpPr>
          <p:cNvPr id="694" name="Google Shape;694;p34"/>
          <p:cNvSpPr txBox="1"/>
          <p:nvPr/>
        </p:nvSpPr>
        <p:spPr>
          <a:xfrm>
            <a:off x="2209800" y="1031458"/>
            <a:ext cx="3848810" cy="103784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5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Computing Gini Index for a Collection of Nodes</a:t>
            </a:r>
            <a:endParaRPr/>
          </a:p>
        </p:txBody>
      </p:sp>
      <p:sp>
        <p:nvSpPr>
          <p:cNvPr id="700" name="Google Shape;700;p35"/>
          <p:cNvSpPr txBox="1">
            <a:spLocks noGrp="1"/>
          </p:cNvSpPr>
          <p:nvPr>
            <p:ph type="body" idx="1"/>
          </p:nvPr>
        </p:nvSpPr>
        <p:spPr>
          <a:xfrm>
            <a:off x="381000" y="1143000"/>
            <a:ext cx="8382000" cy="51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07" t="-939"/>
            </a:stretch>
          </a:blipFill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701" name="Google Shape;701;p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702" name="Google Shape;702;p35"/>
          <p:cNvSpPr txBox="1"/>
          <p:nvPr/>
        </p:nvSpPr>
        <p:spPr>
          <a:xfrm>
            <a:off x="1981200" y="1752600"/>
            <a:ext cx="3535007" cy="10459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6"/>
          <p:cNvSpPr txBox="1">
            <a:spLocks noGrp="1"/>
          </p:cNvSpPr>
          <p:nvPr>
            <p:ph type="title"/>
          </p:nvPr>
        </p:nvSpPr>
        <p:spPr>
          <a:xfrm>
            <a:off x="139700" y="1179"/>
            <a:ext cx="8610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Binary Attributes: Computing GINI Index</a:t>
            </a:r>
            <a:endParaRPr dirty="0"/>
          </a:p>
        </p:txBody>
      </p:sp>
      <p:sp>
        <p:nvSpPr>
          <p:cNvPr id="721" name="Google Shape;721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708" name="Google Shape;708;p36"/>
          <p:cNvSpPr/>
          <p:nvPr/>
        </p:nvSpPr>
        <p:spPr>
          <a:xfrm>
            <a:off x="0" y="667544"/>
            <a:ext cx="9144000" cy="200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2100" marR="0" lvl="0" indent="-292100" algn="l" rtl="0"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ts val="1800"/>
              <a:buFont typeface="Arial"/>
              <a:buChar char="●"/>
            </a:pPr>
            <a:r>
              <a:rPr lang="en-US" sz="24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Splits into two partitions (child nodes)</a:t>
            </a:r>
            <a:endParaRPr dirty="0"/>
          </a:p>
          <a:p>
            <a:pPr marL="292100" marR="0" lvl="0" indent="-292100" algn="l" rtl="0">
              <a:spcBef>
                <a:spcPts val="640"/>
              </a:spcBef>
              <a:spcAft>
                <a:spcPts val="0"/>
              </a:spcAft>
              <a:buClr>
                <a:srgbClr val="0C7B9C"/>
              </a:buClr>
              <a:buSzPts val="1800"/>
              <a:buFont typeface="Arial"/>
              <a:buChar char="●"/>
            </a:pPr>
            <a:r>
              <a:rPr lang="en-US" sz="24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 of Weighing partitions: </a:t>
            </a:r>
            <a:endParaRPr dirty="0"/>
          </a:p>
          <a:p>
            <a:pPr marL="800100" marR="0" lvl="1" indent="-342900" algn="l" rtl="0">
              <a:spcBef>
                <a:spcPts val="640"/>
              </a:spcBef>
              <a:spcAft>
                <a:spcPts val="0"/>
              </a:spcAft>
              <a:buClr>
                <a:srgbClr val="0C7B9C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and purer partitions are sought</a:t>
            </a:r>
            <a:endParaRPr dirty="0"/>
          </a:p>
        </p:txBody>
      </p:sp>
      <p:sp>
        <p:nvSpPr>
          <p:cNvPr id="709" name="Google Shape;709;p36"/>
          <p:cNvSpPr/>
          <p:nvPr/>
        </p:nvSpPr>
        <p:spPr>
          <a:xfrm>
            <a:off x="3657600" y="2862263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B?</a:t>
            </a:r>
            <a:endParaRPr sz="24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0" name="Google Shape;710;p36"/>
          <p:cNvCxnSpPr/>
          <p:nvPr/>
        </p:nvCxnSpPr>
        <p:spPr>
          <a:xfrm flipH="1">
            <a:off x="3082925" y="3319463"/>
            <a:ext cx="1108075" cy="7254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1" name="Google Shape;711;p36"/>
          <p:cNvCxnSpPr/>
          <p:nvPr/>
        </p:nvCxnSpPr>
        <p:spPr>
          <a:xfrm>
            <a:off x="4191000" y="3319463"/>
            <a:ext cx="1184275" cy="7254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2" name="Google Shape;712;p36"/>
          <p:cNvSpPr txBox="1"/>
          <p:nvPr/>
        </p:nvSpPr>
        <p:spPr>
          <a:xfrm>
            <a:off x="2809875" y="3435350"/>
            <a:ext cx="539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713" name="Google Shape;713;p36"/>
          <p:cNvSpPr txBox="1"/>
          <p:nvPr/>
        </p:nvSpPr>
        <p:spPr>
          <a:xfrm>
            <a:off x="5299075" y="3435350"/>
            <a:ext cx="4635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714" name="Google Shape;714;p36"/>
          <p:cNvSpPr/>
          <p:nvPr/>
        </p:nvSpPr>
        <p:spPr>
          <a:xfrm>
            <a:off x="2667000" y="4044950"/>
            <a:ext cx="936625" cy="3413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N1</a:t>
            </a:r>
            <a:endParaRPr/>
          </a:p>
        </p:txBody>
      </p:sp>
      <p:sp>
        <p:nvSpPr>
          <p:cNvPr id="715" name="Google Shape;715;p36"/>
          <p:cNvSpPr/>
          <p:nvPr/>
        </p:nvSpPr>
        <p:spPr>
          <a:xfrm>
            <a:off x="4854575" y="4044950"/>
            <a:ext cx="936625" cy="3413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N2</a:t>
            </a:r>
            <a:endParaRPr/>
          </a:p>
        </p:txBody>
      </p:sp>
      <p:graphicFrame>
        <p:nvGraphicFramePr>
          <p:cNvPr id="716" name="Google Shape;716;p36"/>
          <p:cNvGraphicFramePr/>
          <p:nvPr>
            <p:extLst>
              <p:ext uri="{D42A27DB-BD31-4B8C-83A1-F6EECF244321}">
                <p14:modId xmlns:p14="http://schemas.microsoft.com/office/powerpoint/2010/main" val="4129997865"/>
              </p:ext>
            </p:extLst>
          </p:nvPr>
        </p:nvGraphicFramePr>
        <p:xfrm>
          <a:off x="6553200" y="2590800"/>
          <a:ext cx="1981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953872" imgH="3057898" progId="Word.Document.8">
                  <p:embed/>
                </p:oleObj>
              </mc:Choice>
              <mc:Fallback>
                <p:oleObj name="Document" r:id="rId3" imgW="2953872" imgH="3057898" progId="Word.Document.8">
                  <p:embed/>
                  <p:pic>
                    <p:nvPicPr>
                      <p:cNvPr id="716" name="Google Shape;716;p3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6553200" y="2590800"/>
                        <a:ext cx="19812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" name="Google Shape;717;p36"/>
          <p:cNvGraphicFramePr/>
          <p:nvPr/>
        </p:nvGraphicFramePr>
        <p:xfrm>
          <a:off x="3276600" y="46482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05000" imgH="1471613" progId="Word.Document.8">
                  <p:embed/>
                </p:oleObj>
              </mc:Choice>
              <mc:Fallback>
                <p:oleObj r:id="rId5" imgW="1905000" imgH="1471613" progId="Word.Document.8">
                  <p:embed/>
                  <p:pic>
                    <p:nvPicPr>
                      <p:cNvPr id="717" name="Google Shape;717;p3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3276600" y="46482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" name="Google Shape;718;p36"/>
          <p:cNvSpPr txBox="1"/>
          <p:nvPr/>
        </p:nvSpPr>
        <p:spPr>
          <a:xfrm>
            <a:off x="381000" y="4191000"/>
            <a:ext cx="2438400" cy="207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Gini(N1)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(5/6)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(1/6)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0.278 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Gini(N2)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(2/6)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(4/6)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0.444</a:t>
            </a:r>
            <a:endParaRPr/>
          </a:p>
        </p:txBody>
      </p:sp>
      <p:sp>
        <p:nvSpPr>
          <p:cNvPr id="719" name="Google Shape;719;p36"/>
          <p:cNvSpPr txBox="1"/>
          <p:nvPr/>
        </p:nvSpPr>
        <p:spPr>
          <a:xfrm>
            <a:off x="5791200" y="4695825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Weighted Gini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N1 and N2</a:t>
            </a:r>
            <a:b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6/12 * 0.278 + </a:t>
            </a:r>
            <a:b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6/12 * 0.444</a:t>
            </a:r>
            <a:b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0.361</a:t>
            </a:r>
            <a:endParaRPr dirty="0"/>
          </a:p>
        </p:txBody>
      </p:sp>
      <p:sp>
        <p:nvSpPr>
          <p:cNvPr id="720" name="Google Shape;720;p36"/>
          <p:cNvSpPr txBox="1"/>
          <p:nvPr/>
        </p:nvSpPr>
        <p:spPr>
          <a:xfrm>
            <a:off x="5551488" y="5867400"/>
            <a:ext cx="3211512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Gain = 0.486 – 0.361 = 0.125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FB7D1-163E-352A-CA3F-27C33537F46A}"/>
              </a:ext>
            </a:extLst>
          </p:cNvPr>
          <p:cNvSpPr txBox="1"/>
          <p:nvPr/>
        </p:nvSpPr>
        <p:spPr>
          <a:xfrm>
            <a:off x="6999403" y="2024038"/>
            <a:ext cx="1750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Before Splitting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15CD4-ACB6-DBD2-C5D4-ADE0971A7AD8}"/>
              </a:ext>
            </a:extLst>
          </p:cNvPr>
          <p:cNvSpPr txBox="1"/>
          <p:nvPr/>
        </p:nvSpPr>
        <p:spPr>
          <a:xfrm>
            <a:off x="3419591" y="6013483"/>
            <a:ext cx="1750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After Splitting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7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458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Categorical Attributes: Computing Gini Index</a:t>
            </a:r>
            <a:endParaRPr/>
          </a:p>
        </p:txBody>
      </p:sp>
      <p:sp>
        <p:nvSpPr>
          <p:cNvPr id="727" name="Google Shape;727;p3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/>
              <a:t>For each distinct value, gather counts for each class in the dataset</a:t>
            </a:r>
            <a:endParaRPr/>
          </a:p>
          <a:p>
            <a:pPr marL="292100" lvl="0" indent="-292100" algn="l" rtl="0">
              <a:spcBef>
                <a:spcPts val="64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/>
              <a:t>Use the count matrix to make decisions</a:t>
            </a:r>
            <a:endParaRPr/>
          </a:p>
        </p:txBody>
      </p:sp>
      <p:sp>
        <p:nvSpPr>
          <p:cNvPr id="735" name="Google Shape;735;p3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graphicFrame>
        <p:nvGraphicFramePr>
          <p:cNvPr id="728" name="Google Shape;728;p37"/>
          <p:cNvGraphicFramePr/>
          <p:nvPr/>
        </p:nvGraphicFramePr>
        <p:xfrm>
          <a:off x="3890963" y="3810000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70162" imgH="1757363" progId="Word.Document.8">
                  <p:embed/>
                </p:oleObj>
              </mc:Choice>
              <mc:Fallback>
                <p:oleObj r:id="rId3" imgW="2570162" imgH="1757363" progId="Word.Document.8">
                  <p:embed/>
                  <p:pic>
                    <p:nvPicPr>
                      <p:cNvPr id="728" name="Google Shape;728;p3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890963" y="3810000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" name="Google Shape;729;p37"/>
          <p:cNvGraphicFramePr/>
          <p:nvPr/>
        </p:nvGraphicFramePr>
        <p:xfrm>
          <a:off x="6421438" y="3805238"/>
          <a:ext cx="2570162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70162" imgH="1757362" progId="Word.Document.8">
                  <p:embed/>
                </p:oleObj>
              </mc:Choice>
              <mc:Fallback>
                <p:oleObj r:id="rId5" imgW="2570162" imgH="1757362" progId="Word.Document.8">
                  <p:embed/>
                  <p:pic>
                    <p:nvPicPr>
                      <p:cNvPr id="729" name="Google Shape;729;p3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6421438" y="3805238"/>
                        <a:ext cx="2570162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" name="Google Shape;730;p37"/>
          <p:cNvGraphicFramePr/>
          <p:nvPr/>
        </p:nvGraphicFramePr>
        <p:xfrm>
          <a:off x="304800" y="3810000"/>
          <a:ext cx="30480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048000" imgH="1570038" progId="Word.Document.8">
                  <p:embed/>
                </p:oleObj>
              </mc:Choice>
              <mc:Fallback>
                <p:oleObj r:id="rId7" imgW="3048000" imgH="1570038" progId="Word.Document.8">
                  <p:embed/>
                  <p:pic>
                    <p:nvPicPr>
                      <p:cNvPr id="730" name="Google Shape;730;p37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304800" y="3810000"/>
                        <a:ext cx="3048000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1" name="Google Shape;731;p37"/>
          <p:cNvCxnSpPr/>
          <p:nvPr/>
        </p:nvCxnSpPr>
        <p:spPr>
          <a:xfrm flipH="1">
            <a:off x="3581400" y="2971800"/>
            <a:ext cx="1588" cy="2438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32" name="Google Shape;732;p37"/>
          <p:cNvSpPr txBox="1"/>
          <p:nvPr/>
        </p:nvSpPr>
        <p:spPr>
          <a:xfrm>
            <a:off x="915988" y="2868613"/>
            <a:ext cx="1752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Multi-way split</a:t>
            </a:r>
            <a:endParaRPr/>
          </a:p>
        </p:txBody>
      </p:sp>
      <p:sp>
        <p:nvSpPr>
          <p:cNvPr id="733" name="Google Shape;733;p37"/>
          <p:cNvSpPr txBox="1"/>
          <p:nvPr/>
        </p:nvSpPr>
        <p:spPr>
          <a:xfrm>
            <a:off x="4719638" y="2868613"/>
            <a:ext cx="3138487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Two-way split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(find best partition of values)</a:t>
            </a:r>
            <a:endParaRPr/>
          </a:p>
        </p:txBody>
      </p:sp>
      <p:sp>
        <p:nvSpPr>
          <p:cNvPr id="734" name="Google Shape;734;p37"/>
          <p:cNvSpPr txBox="1"/>
          <p:nvPr/>
        </p:nvSpPr>
        <p:spPr>
          <a:xfrm>
            <a:off x="2514600" y="5726113"/>
            <a:ext cx="3173413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Which of these is the best?</a:t>
            </a:r>
            <a:endParaRPr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E94E3D-4C55-823E-693A-14E8A1CF708D}"/>
              </a:ext>
            </a:extLst>
          </p:cNvPr>
          <p:cNvCxnSpPr>
            <a:endCxn id="734" idx="1"/>
          </p:cNvCxnSpPr>
          <p:nvPr/>
        </p:nvCxnSpPr>
        <p:spPr>
          <a:xfrm>
            <a:off x="1974715" y="5380038"/>
            <a:ext cx="539885" cy="531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Continuous Attributes: Computing Gini Index</a:t>
            </a:r>
            <a:endParaRPr/>
          </a:p>
        </p:txBody>
      </p:sp>
      <p:sp>
        <p:nvSpPr>
          <p:cNvPr id="741" name="Google Shape;741;p38"/>
          <p:cNvSpPr txBox="1">
            <a:spLocks noGrp="1"/>
          </p:cNvSpPr>
          <p:nvPr>
            <p:ph type="body" idx="1"/>
          </p:nvPr>
        </p:nvSpPr>
        <p:spPr>
          <a:xfrm>
            <a:off x="411163" y="1143000"/>
            <a:ext cx="4999037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Use Binary Decisions based on one value</a:t>
            </a:r>
            <a:endParaRPr/>
          </a:p>
          <a:p>
            <a:pPr marL="292100" lvl="0" indent="-292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Several Choices for the splitting value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Number of possible splitting values </a:t>
            </a:r>
            <a:br>
              <a:rPr lang="en-US" sz="2000"/>
            </a:br>
            <a:r>
              <a:rPr lang="en-US" sz="2000"/>
              <a:t>= Number of distinct values</a:t>
            </a:r>
            <a:endParaRPr/>
          </a:p>
          <a:p>
            <a:pPr marL="292100" lvl="0" indent="-292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Each splitting value has a count matrix associated with it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Class counts in each of the partitions, A ≤ v and A &gt; v</a:t>
            </a:r>
            <a:endParaRPr/>
          </a:p>
          <a:p>
            <a:pPr marL="292100" lvl="0" indent="-292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Simple method to choose best v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For each v, scan the database to gather count matrix and compute its Gini index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Computationally Inefficient! Repetition of work.</a:t>
            </a:r>
            <a:endParaRPr/>
          </a:p>
        </p:txBody>
      </p:sp>
      <p:sp>
        <p:nvSpPr>
          <p:cNvPr id="755" name="Google Shape;755;p3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graphicFrame>
        <p:nvGraphicFramePr>
          <p:cNvPr id="742" name="Google Shape;742;p38"/>
          <p:cNvGraphicFramePr/>
          <p:nvPr/>
        </p:nvGraphicFramePr>
        <p:xfrm>
          <a:off x="5608638" y="1152525"/>
          <a:ext cx="3311525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11525" imgH="3371850" progId="Word.Document.8">
                  <p:embed/>
                </p:oleObj>
              </mc:Choice>
              <mc:Fallback>
                <p:oleObj r:id="rId3" imgW="3311525" imgH="3371850" progId="Word.Document.8">
                  <p:embed/>
                  <p:pic>
                    <p:nvPicPr>
                      <p:cNvPr id="742" name="Google Shape;742;p3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 r="4274"/>
                      <a:stretch/>
                    </p:blipFill>
                    <p:spPr>
                      <a:xfrm>
                        <a:off x="5608638" y="1152525"/>
                        <a:ext cx="3311525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" name="Google Shape;743;p38"/>
          <p:cNvGraphicFramePr/>
          <p:nvPr/>
        </p:nvGraphicFramePr>
        <p:xfrm>
          <a:off x="5181600" y="5097463"/>
          <a:ext cx="2743200" cy="1114425"/>
        </p:xfrm>
        <a:graphic>
          <a:graphicData uri="http://schemas.openxmlformats.org/drawingml/2006/table">
            <a:tbl>
              <a:tblPr>
                <a:noFill/>
                <a:tableStyleId>{B720847C-95E1-4598-83E0-8D7551D1F002}</a:tableStyleId>
              </a:tblPr>
              <a:tblGrid>
                <a:gridCol w="15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80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80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Defaulted Yes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Defaulted No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4" name="Google Shape;744;p38"/>
          <p:cNvSpPr/>
          <p:nvPr/>
        </p:nvSpPr>
        <p:spPr>
          <a:xfrm>
            <a:off x="6629400" y="5868988"/>
            <a:ext cx="762000" cy="303212"/>
          </a:xfrm>
          <a:prstGeom prst="ellipse">
            <a:avLst/>
          </a:prstGeom>
          <a:solidFill>
            <a:srgbClr val="FFFF00">
              <a:alpha val="4078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8"/>
          <p:cNvSpPr txBox="1"/>
          <p:nvPr/>
        </p:nvSpPr>
        <p:spPr>
          <a:xfrm>
            <a:off x="6553200" y="4495800"/>
            <a:ext cx="17526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Annual Income ?</a:t>
            </a:r>
            <a:endParaRPr/>
          </a:p>
        </p:txBody>
      </p:sp>
      <p:cxnSp>
        <p:nvCxnSpPr>
          <p:cNvPr id="746" name="Google Shape;746;p38"/>
          <p:cNvCxnSpPr/>
          <p:nvPr/>
        </p:nvCxnSpPr>
        <p:spPr>
          <a:xfrm flipH="1">
            <a:off x="7086600" y="4800600"/>
            <a:ext cx="304800" cy="3016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7" name="Google Shape;747;p38"/>
          <p:cNvCxnSpPr/>
          <p:nvPr/>
        </p:nvCxnSpPr>
        <p:spPr>
          <a:xfrm>
            <a:off x="7391400" y="4800600"/>
            <a:ext cx="304800" cy="3016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8" name="Google Shape;748;p38"/>
          <p:cNvSpPr/>
          <p:nvPr/>
        </p:nvSpPr>
        <p:spPr>
          <a:xfrm>
            <a:off x="7399338" y="2214563"/>
            <a:ext cx="1104900" cy="203200"/>
          </a:xfrm>
          <a:prstGeom prst="rect">
            <a:avLst/>
          </a:prstGeom>
          <a:solidFill>
            <a:srgbClr val="FFFF00">
              <a:alpha val="45490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8"/>
          <p:cNvSpPr/>
          <p:nvPr/>
        </p:nvSpPr>
        <p:spPr>
          <a:xfrm>
            <a:off x="7402513" y="3048000"/>
            <a:ext cx="1104900" cy="203200"/>
          </a:xfrm>
          <a:prstGeom prst="rect">
            <a:avLst/>
          </a:prstGeom>
          <a:solidFill>
            <a:srgbClr val="FFFF00">
              <a:alpha val="45490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8"/>
          <p:cNvSpPr/>
          <p:nvPr/>
        </p:nvSpPr>
        <p:spPr>
          <a:xfrm>
            <a:off x="7429500" y="3894138"/>
            <a:ext cx="1104900" cy="203200"/>
          </a:xfrm>
          <a:prstGeom prst="rect">
            <a:avLst/>
          </a:prstGeom>
          <a:solidFill>
            <a:srgbClr val="FFFF00">
              <a:alpha val="45490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8"/>
          <p:cNvSpPr/>
          <p:nvPr/>
        </p:nvSpPr>
        <p:spPr>
          <a:xfrm>
            <a:off x="7239000" y="5502275"/>
            <a:ext cx="762000" cy="303213"/>
          </a:xfrm>
          <a:prstGeom prst="ellipse">
            <a:avLst/>
          </a:prstGeom>
          <a:solidFill>
            <a:srgbClr val="3FFFFE">
              <a:alpha val="4078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8"/>
          <p:cNvSpPr/>
          <p:nvPr/>
        </p:nvSpPr>
        <p:spPr>
          <a:xfrm>
            <a:off x="7448550" y="4170363"/>
            <a:ext cx="1104900" cy="203200"/>
          </a:xfrm>
          <a:prstGeom prst="rect">
            <a:avLst/>
          </a:prstGeom>
          <a:solidFill>
            <a:srgbClr val="3FFFFE">
              <a:alpha val="45882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8"/>
          <p:cNvSpPr/>
          <p:nvPr/>
        </p:nvSpPr>
        <p:spPr>
          <a:xfrm>
            <a:off x="7427913" y="3602038"/>
            <a:ext cx="1104900" cy="203200"/>
          </a:xfrm>
          <a:prstGeom prst="rect">
            <a:avLst/>
          </a:prstGeom>
          <a:solidFill>
            <a:srgbClr val="3FFFFE">
              <a:alpha val="45882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8"/>
          <p:cNvSpPr/>
          <p:nvPr/>
        </p:nvSpPr>
        <p:spPr>
          <a:xfrm>
            <a:off x="7405688" y="2770188"/>
            <a:ext cx="1104900" cy="203200"/>
          </a:xfrm>
          <a:prstGeom prst="rect">
            <a:avLst/>
          </a:prstGeom>
          <a:solidFill>
            <a:srgbClr val="3FFFFE">
              <a:alpha val="45882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0" name="Google Shape;760;p39"/>
          <p:cNvGraphicFramePr/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760" name="Google Shape;760;p39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" name="Google Shape;761;p39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762" name="Google Shape;762;p39"/>
          <p:cNvSpPr txBox="1">
            <a:spLocks noGrp="1"/>
          </p:cNvSpPr>
          <p:nvPr>
            <p:ph idx="1"/>
          </p:nvPr>
        </p:nvSpPr>
        <p:spPr>
          <a:xfrm>
            <a:off x="381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sp>
        <p:nvSpPr>
          <p:cNvPr id="768" name="Google Shape;768;p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cxnSp>
        <p:nvCxnSpPr>
          <p:cNvPr id="763" name="Google Shape;763;p39"/>
          <p:cNvCxnSpPr/>
          <p:nvPr/>
        </p:nvCxnSpPr>
        <p:spPr>
          <a:xfrm>
            <a:off x="1676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4" name="Google Shape;764;p39"/>
          <p:cNvCxnSpPr/>
          <p:nvPr/>
        </p:nvCxnSpPr>
        <p:spPr>
          <a:xfrm>
            <a:off x="1676400" y="-270074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5" name="Google Shape;765;p39"/>
          <p:cNvSpPr txBox="1"/>
          <p:nvPr/>
        </p:nvSpPr>
        <p:spPr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  <p:sp>
        <p:nvSpPr>
          <p:cNvPr id="766" name="Google Shape;766;p39"/>
          <p:cNvSpPr/>
          <p:nvPr/>
        </p:nvSpPr>
        <p:spPr>
          <a:xfrm>
            <a:off x="3810000" y="4800600"/>
            <a:ext cx="609600" cy="838200"/>
          </a:xfrm>
          <a:prstGeom prst="rect">
            <a:avLst/>
          </a:prstGeom>
          <a:solidFill>
            <a:srgbClr val="FFFF00">
              <a:alpha val="5176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9"/>
          <p:cNvSpPr/>
          <p:nvPr/>
        </p:nvSpPr>
        <p:spPr>
          <a:xfrm>
            <a:off x="76200" y="4330700"/>
            <a:ext cx="8763000" cy="1841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3" name="Google Shape;773;p40"/>
          <p:cNvGraphicFramePr/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773" name="Google Shape;773;p40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" name="Google Shape;774;p40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775" name="Google Shape;775;p40"/>
          <p:cNvSpPr txBox="1">
            <a:spLocks noGrp="1"/>
          </p:cNvSpPr>
          <p:nvPr>
            <p:ph idx="1"/>
          </p:nvPr>
        </p:nvSpPr>
        <p:spPr>
          <a:xfrm>
            <a:off x="381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sp>
        <p:nvSpPr>
          <p:cNvPr id="782" name="Google Shape;782;p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cxnSp>
        <p:nvCxnSpPr>
          <p:cNvPr id="776" name="Google Shape;776;p40"/>
          <p:cNvCxnSpPr/>
          <p:nvPr/>
        </p:nvCxnSpPr>
        <p:spPr>
          <a:xfrm>
            <a:off x="1676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77" name="Google Shape;777;p40"/>
          <p:cNvGrpSpPr/>
          <p:nvPr/>
        </p:nvGrpSpPr>
        <p:grpSpPr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778" name="Google Shape;778;p40"/>
            <p:cNvSpPr txBox="1"/>
            <p:nvPr/>
          </p:nvSpPr>
          <p:spPr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Split Positions</a:t>
              </a:r>
              <a:endParaRPr/>
            </a:p>
          </p:txBody>
        </p:sp>
        <p:cxnSp>
          <p:nvCxnSpPr>
            <p:cNvPr id="779" name="Google Shape;779;p40"/>
            <p:cNvCxnSpPr/>
            <p:nvPr/>
          </p:nvCxnSpPr>
          <p:spPr>
            <a:xfrm>
              <a:off x="1152" y="2976"/>
              <a:ext cx="19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780" name="Google Shape;780;p40"/>
          <p:cNvSpPr txBox="1"/>
          <p:nvPr/>
        </p:nvSpPr>
        <p:spPr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  <p:sp>
        <p:nvSpPr>
          <p:cNvPr id="781" name="Google Shape;781;p40"/>
          <p:cNvSpPr/>
          <p:nvPr/>
        </p:nvSpPr>
        <p:spPr>
          <a:xfrm>
            <a:off x="88900" y="4821238"/>
            <a:ext cx="8763000" cy="13874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7" name="Google Shape;787;p41"/>
          <p:cNvGraphicFramePr/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787" name="Google Shape;787;p4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" name="Google Shape;788;p41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789" name="Google Shape;789;p41"/>
          <p:cNvSpPr txBox="1">
            <a:spLocks noGrp="1"/>
          </p:cNvSpPr>
          <p:nvPr>
            <p:ph idx="1"/>
          </p:nvPr>
        </p:nvSpPr>
        <p:spPr>
          <a:xfrm>
            <a:off x="381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sp>
        <p:nvSpPr>
          <p:cNvPr id="799" name="Google Shape;799;p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cxnSp>
        <p:nvCxnSpPr>
          <p:cNvPr id="790" name="Google Shape;790;p41"/>
          <p:cNvCxnSpPr/>
          <p:nvPr/>
        </p:nvCxnSpPr>
        <p:spPr>
          <a:xfrm>
            <a:off x="1676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91" name="Google Shape;791;p41"/>
          <p:cNvGrpSpPr/>
          <p:nvPr/>
        </p:nvGrpSpPr>
        <p:grpSpPr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792" name="Google Shape;792;p41"/>
            <p:cNvSpPr txBox="1"/>
            <p:nvPr/>
          </p:nvSpPr>
          <p:spPr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Split Positions</a:t>
              </a:r>
              <a:endParaRPr/>
            </a:p>
          </p:txBody>
        </p:sp>
        <p:cxnSp>
          <p:nvCxnSpPr>
            <p:cNvPr id="793" name="Google Shape;793;p41"/>
            <p:cNvCxnSpPr/>
            <p:nvPr/>
          </p:nvCxnSpPr>
          <p:spPr>
            <a:xfrm>
              <a:off x="1152" y="2976"/>
              <a:ext cx="19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794" name="Google Shape;794;p41"/>
          <p:cNvSpPr txBox="1"/>
          <p:nvPr/>
        </p:nvSpPr>
        <p:spPr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  <p:sp>
        <p:nvSpPr>
          <p:cNvPr id="795" name="Google Shape;795;p41"/>
          <p:cNvSpPr/>
          <p:nvPr/>
        </p:nvSpPr>
        <p:spPr>
          <a:xfrm>
            <a:off x="3810000" y="4800600"/>
            <a:ext cx="609600" cy="838200"/>
          </a:xfrm>
          <a:prstGeom prst="rect">
            <a:avLst/>
          </a:prstGeom>
          <a:solidFill>
            <a:srgbClr val="FFFF00">
              <a:alpha val="5176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1"/>
          <p:cNvSpPr/>
          <p:nvPr/>
        </p:nvSpPr>
        <p:spPr>
          <a:xfrm>
            <a:off x="2057400" y="4821238"/>
            <a:ext cx="1752600" cy="13509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1"/>
          <p:cNvSpPr/>
          <p:nvPr/>
        </p:nvSpPr>
        <p:spPr>
          <a:xfrm>
            <a:off x="4419600" y="4856163"/>
            <a:ext cx="4267200" cy="13493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41"/>
          <p:cNvCxnSpPr/>
          <p:nvPr/>
        </p:nvCxnSpPr>
        <p:spPr>
          <a:xfrm>
            <a:off x="4038600" y="3016250"/>
            <a:ext cx="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4" name="Google Shape;804;p42"/>
          <p:cNvGraphicFramePr/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804" name="Google Shape;804;p42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" name="Google Shape;805;p42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806" name="Google Shape;806;p42"/>
          <p:cNvSpPr txBox="1">
            <a:spLocks noGrp="1"/>
          </p:cNvSpPr>
          <p:nvPr>
            <p:ph idx="1"/>
          </p:nvPr>
        </p:nvSpPr>
        <p:spPr>
          <a:xfrm>
            <a:off x="381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sp>
        <p:nvSpPr>
          <p:cNvPr id="817" name="Google Shape;817;p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cxnSp>
        <p:nvCxnSpPr>
          <p:cNvPr id="807" name="Google Shape;807;p42"/>
          <p:cNvCxnSpPr/>
          <p:nvPr/>
        </p:nvCxnSpPr>
        <p:spPr>
          <a:xfrm>
            <a:off x="1676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08" name="Google Shape;808;p42"/>
          <p:cNvGrpSpPr/>
          <p:nvPr/>
        </p:nvGrpSpPr>
        <p:grpSpPr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809" name="Google Shape;809;p42"/>
            <p:cNvSpPr txBox="1"/>
            <p:nvPr/>
          </p:nvSpPr>
          <p:spPr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Split Positions</a:t>
              </a:r>
              <a:endParaRPr/>
            </a:p>
          </p:txBody>
        </p:sp>
        <p:cxnSp>
          <p:nvCxnSpPr>
            <p:cNvPr id="810" name="Google Shape;810;p42"/>
            <p:cNvCxnSpPr/>
            <p:nvPr/>
          </p:nvCxnSpPr>
          <p:spPr>
            <a:xfrm>
              <a:off x="1152" y="2976"/>
              <a:ext cx="19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11" name="Google Shape;811;p42"/>
          <p:cNvSpPr txBox="1"/>
          <p:nvPr/>
        </p:nvSpPr>
        <p:spPr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  <p:sp>
        <p:nvSpPr>
          <p:cNvPr id="812" name="Google Shape;812;p42"/>
          <p:cNvSpPr/>
          <p:nvPr/>
        </p:nvSpPr>
        <p:spPr>
          <a:xfrm>
            <a:off x="4368800" y="4800600"/>
            <a:ext cx="609600" cy="838200"/>
          </a:xfrm>
          <a:prstGeom prst="rect">
            <a:avLst/>
          </a:prstGeom>
          <a:solidFill>
            <a:srgbClr val="FFFF00">
              <a:alpha val="5176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2"/>
          <p:cNvSpPr/>
          <p:nvPr/>
        </p:nvSpPr>
        <p:spPr>
          <a:xfrm>
            <a:off x="2057400" y="4821238"/>
            <a:ext cx="1739900" cy="13509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2"/>
          <p:cNvSpPr/>
          <p:nvPr/>
        </p:nvSpPr>
        <p:spPr>
          <a:xfrm>
            <a:off x="4992688" y="4899025"/>
            <a:ext cx="3694112" cy="13493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2"/>
          <p:cNvSpPr/>
          <p:nvPr/>
        </p:nvSpPr>
        <p:spPr>
          <a:xfrm>
            <a:off x="3911600" y="4038600"/>
            <a:ext cx="762000" cy="303213"/>
          </a:xfrm>
          <a:prstGeom prst="ellipse">
            <a:avLst/>
          </a:prstGeom>
          <a:solidFill>
            <a:srgbClr val="FFFF00">
              <a:alpha val="6078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6" name="Google Shape;816;p42"/>
          <p:cNvCxnSpPr/>
          <p:nvPr/>
        </p:nvCxnSpPr>
        <p:spPr>
          <a:xfrm>
            <a:off x="4648200" y="3016250"/>
            <a:ext cx="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2" name="Google Shape;822;p43"/>
          <p:cNvGraphicFramePr/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822" name="Google Shape;822;p4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" name="Google Shape;823;p43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824" name="Google Shape;824;p43"/>
          <p:cNvSpPr txBox="1">
            <a:spLocks noGrp="1"/>
          </p:cNvSpPr>
          <p:nvPr>
            <p:ph idx="1"/>
          </p:nvPr>
        </p:nvSpPr>
        <p:spPr>
          <a:xfrm>
            <a:off x="381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sp>
        <p:nvSpPr>
          <p:cNvPr id="830" name="Google Shape;830;p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cxnSp>
        <p:nvCxnSpPr>
          <p:cNvPr id="825" name="Google Shape;825;p43"/>
          <p:cNvCxnSpPr/>
          <p:nvPr/>
        </p:nvCxnSpPr>
        <p:spPr>
          <a:xfrm>
            <a:off x="1676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26" name="Google Shape;826;p43"/>
          <p:cNvGrpSpPr/>
          <p:nvPr/>
        </p:nvGrpSpPr>
        <p:grpSpPr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827" name="Google Shape;827;p43"/>
            <p:cNvSpPr txBox="1"/>
            <p:nvPr/>
          </p:nvSpPr>
          <p:spPr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Split Positions</a:t>
              </a:r>
              <a:endParaRPr/>
            </a:p>
          </p:txBody>
        </p:sp>
        <p:cxnSp>
          <p:nvCxnSpPr>
            <p:cNvPr id="828" name="Google Shape;828;p43"/>
            <p:cNvCxnSpPr/>
            <p:nvPr/>
          </p:nvCxnSpPr>
          <p:spPr>
            <a:xfrm>
              <a:off x="1152" y="2976"/>
              <a:ext cx="19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29" name="Google Shape;829;p43"/>
          <p:cNvSpPr txBox="1"/>
          <p:nvPr/>
        </p:nvSpPr>
        <p:spPr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4"/>
          <p:cNvSpPr txBox="1">
            <a:spLocks noGrp="1"/>
          </p:cNvSpPr>
          <p:nvPr>
            <p:ph type="title"/>
          </p:nvPr>
        </p:nvSpPr>
        <p:spPr>
          <a:xfrm>
            <a:off x="487248" y="0"/>
            <a:ext cx="7886700" cy="763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Measure of Impurity: Entropy</a:t>
            </a:r>
            <a:endParaRPr dirty="0"/>
          </a:p>
        </p:txBody>
      </p:sp>
      <p:sp>
        <p:nvSpPr>
          <p:cNvPr id="836" name="Google Shape;836;p44"/>
          <p:cNvSpPr txBox="1">
            <a:spLocks noGrp="1"/>
          </p:cNvSpPr>
          <p:nvPr>
            <p:ph idx="1"/>
          </p:nvPr>
        </p:nvSpPr>
        <p:spPr>
          <a:xfrm>
            <a:off x="152400" y="1187778"/>
            <a:ext cx="8763000" cy="51368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47" t="-2351" r="-1180" b="-2117"/>
            </a:stretch>
          </a:blipFill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837" name="Google Shape;837;p4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838" name="Google Shape;838;p44"/>
          <p:cNvSpPr txBox="1"/>
          <p:nvPr/>
        </p:nvSpPr>
        <p:spPr>
          <a:xfrm>
            <a:off x="1447800" y="1524000"/>
            <a:ext cx="4259243" cy="10378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5"/>
          <p:cNvSpPr txBox="1">
            <a:spLocks noGrp="1"/>
          </p:cNvSpPr>
          <p:nvPr>
            <p:ph type="title"/>
          </p:nvPr>
        </p:nvSpPr>
        <p:spPr>
          <a:xfrm>
            <a:off x="534382" y="1"/>
            <a:ext cx="7886700" cy="66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Computing Entropy of a Single Node</a:t>
            </a:r>
            <a:endParaRPr dirty="0"/>
          </a:p>
        </p:txBody>
      </p:sp>
      <p:sp>
        <p:nvSpPr>
          <p:cNvPr id="850" name="Google Shape;850;p4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graphicFrame>
        <p:nvGraphicFramePr>
          <p:cNvPr id="844" name="Google Shape;844;p45"/>
          <p:cNvGraphicFramePr/>
          <p:nvPr/>
        </p:nvGraphicFramePr>
        <p:xfrm>
          <a:off x="3048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62200" imgH="936625" progId="Word.Document.8">
                  <p:embed/>
                </p:oleObj>
              </mc:Choice>
              <mc:Fallback>
                <p:oleObj r:id="rId3" imgW="2362200" imgH="936625" progId="Word.Document.8">
                  <p:embed/>
                  <p:pic>
                    <p:nvPicPr>
                      <p:cNvPr id="844" name="Google Shape;844;p45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048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" name="Google Shape;845;p45"/>
          <p:cNvGraphicFramePr/>
          <p:nvPr/>
        </p:nvGraphicFramePr>
        <p:xfrm>
          <a:off x="3810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86000" imgH="938213" progId="Word.Document.8">
                  <p:embed/>
                </p:oleObj>
              </mc:Choice>
              <mc:Fallback>
                <p:oleObj r:id="rId5" imgW="2286000" imgH="938213" progId="Word.Document.8">
                  <p:embed/>
                  <p:pic>
                    <p:nvPicPr>
                      <p:cNvPr id="845" name="Google Shape;845;p4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" name="Google Shape;846;p45"/>
          <p:cNvGraphicFramePr/>
          <p:nvPr/>
        </p:nvGraphicFramePr>
        <p:xfrm>
          <a:off x="381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86000" imgH="906462" progId="Word.Document.8">
                  <p:embed/>
                </p:oleObj>
              </mc:Choice>
              <mc:Fallback>
                <p:oleObj r:id="rId7" imgW="2286000" imgH="906462" progId="Word.Document.8">
                  <p:embed/>
                  <p:pic>
                    <p:nvPicPr>
                      <p:cNvPr id="846" name="Google Shape;846;p45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7" name="Google Shape;847;p45"/>
          <p:cNvSpPr txBox="1"/>
          <p:nvPr/>
        </p:nvSpPr>
        <p:spPr>
          <a:xfrm>
            <a:off x="2895600" y="2339975"/>
            <a:ext cx="5943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0/6 = 0     P(C2) = 6/6 = 1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= – 0 log 0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1 log 1 = – 0 – 0 = 0 </a:t>
            </a:r>
            <a:endParaRPr/>
          </a:p>
        </p:txBody>
      </p:sp>
      <p:sp>
        <p:nvSpPr>
          <p:cNvPr id="848" name="Google Shape;848;p45"/>
          <p:cNvSpPr txBox="1"/>
          <p:nvPr/>
        </p:nvSpPr>
        <p:spPr>
          <a:xfrm>
            <a:off x="2971800" y="3733800"/>
            <a:ext cx="61722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1/6          P(C2) = 5/6</a:t>
            </a:r>
            <a:endParaRPr dirty="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= – (1/6) log</a:t>
            </a:r>
            <a:r>
              <a:rPr lang="en-US" sz="2000" b="1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(1/6)</a:t>
            </a:r>
            <a:r>
              <a:rPr lang="en-US" sz="2000" b="1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(5/6) log</a:t>
            </a:r>
            <a:r>
              <a:rPr lang="en-US" sz="2000" b="1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(5/6) = 0.65</a:t>
            </a:r>
            <a:endParaRPr dirty="0"/>
          </a:p>
        </p:txBody>
      </p:sp>
      <p:sp>
        <p:nvSpPr>
          <p:cNvPr id="849" name="Google Shape;849;p45"/>
          <p:cNvSpPr txBox="1"/>
          <p:nvPr/>
        </p:nvSpPr>
        <p:spPr>
          <a:xfrm>
            <a:off x="2971800" y="5105400"/>
            <a:ext cx="61722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2/6          P(C2) = 4/6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= – (2/6) log</a:t>
            </a:r>
            <a:r>
              <a:rPr lang="en-US" sz="2000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(4/6) log</a:t>
            </a:r>
            <a:r>
              <a:rPr lang="en-US" sz="2000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(4/6) = 0.92</a:t>
            </a:r>
            <a:endParaRPr/>
          </a:p>
        </p:txBody>
      </p:sp>
      <p:sp>
        <p:nvSpPr>
          <p:cNvPr id="851" name="Google Shape;851;p45"/>
          <p:cNvSpPr txBox="1"/>
          <p:nvPr/>
        </p:nvSpPr>
        <p:spPr>
          <a:xfrm>
            <a:off x="1797910" y="1119376"/>
            <a:ext cx="4259243" cy="103784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Computing Information Gain After Splitting</a:t>
            </a:r>
            <a:endParaRPr/>
          </a:p>
        </p:txBody>
      </p:sp>
      <p:sp>
        <p:nvSpPr>
          <p:cNvPr id="857" name="Google Shape;857;p46"/>
          <p:cNvSpPr txBox="1">
            <a:spLocks noGrp="1"/>
          </p:cNvSpPr>
          <p:nvPr>
            <p:ph type="body" idx="1"/>
          </p:nvPr>
        </p:nvSpPr>
        <p:spPr>
          <a:xfrm>
            <a:off x="381000" y="1143000"/>
            <a:ext cx="8382000" cy="4953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16" t="-1476" r="-1744"/>
            </a:stretch>
          </a:blipFill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858" name="Google Shape;858;p4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859" name="Google Shape;859;p46"/>
          <p:cNvSpPr txBox="1"/>
          <p:nvPr/>
        </p:nvSpPr>
        <p:spPr>
          <a:xfrm>
            <a:off x="1533140" y="1600200"/>
            <a:ext cx="4924810" cy="8717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8"/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40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+mn-lt"/>
              </a:rPr>
              <a:t>Gain Ratio: Gain Ratio attempts to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lessen the bias of Information Gain on highly branched predictors</a:t>
            </a:r>
            <a:r>
              <a:rPr lang="en-US" sz="2400" dirty="0">
                <a:latin typeface="+mn-lt"/>
              </a:rPr>
              <a:t> by introducing a normalizing term called the Split Info</a:t>
            </a:r>
            <a:endParaRPr sz="2400" dirty="0">
              <a:latin typeface="+mn-lt"/>
            </a:endParaRPr>
          </a:p>
        </p:txBody>
      </p:sp>
      <p:sp>
        <p:nvSpPr>
          <p:cNvPr id="873" name="Google Shape;873;p48"/>
          <p:cNvSpPr txBox="1">
            <a:spLocks noGrp="1"/>
          </p:cNvSpPr>
          <p:nvPr>
            <p:ph type="body" idx="1"/>
          </p:nvPr>
        </p:nvSpPr>
        <p:spPr>
          <a:xfrm>
            <a:off x="0" y="1628774"/>
            <a:ext cx="8964891" cy="41624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2" t="-23385"/>
            </a:stretch>
          </a:blipFill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 </a:t>
            </a:r>
            <a:endParaRPr dirty="0"/>
          </a:p>
        </p:txBody>
      </p:sp>
      <p:sp>
        <p:nvSpPr>
          <p:cNvPr id="874" name="Google Shape;874;p4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875" name="Google Shape;875;p48"/>
          <p:cNvSpPr txBox="1"/>
          <p:nvPr/>
        </p:nvSpPr>
        <p:spPr>
          <a:xfrm>
            <a:off x="1219200" y="1752600"/>
            <a:ext cx="6818662" cy="8717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5ECC3A-B8D2-1E74-8858-A0E4DAAD16B0}"/>
                  </a:ext>
                </a:extLst>
              </p:cNvPr>
              <p:cNvSpPr txBox="1"/>
              <p:nvPr/>
            </p:nvSpPr>
            <p:spPr>
              <a:xfrm>
                <a:off x="0" y="5606534"/>
                <a:ext cx="914399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Penalize the number of splits/partitions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# of splits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	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plit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info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	G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ain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Ratio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5ECC3A-B8D2-1E74-8858-A0E4DAAD1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06534"/>
                <a:ext cx="9143999" cy="830997"/>
              </a:xfrm>
              <a:prstGeom prst="rect">
                <a:avLst/>
              </a:prstGeom>
              <a:blipFill>
                <a:blip r:embed="rId5"/>
                <a:stretch>
                  <a:fillRect l="-1000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Gain Ratio</a:t>
            </a:r>
            <a:endParaRPr/>
          </a:p>
        </p:txBody>
      </p:sp>
      <p:sp>
        <p:nvSpPr>
          <p:cNvPr id="881" name="Google Shape;881;p49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382000" cy="5105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2" t="-596"/>
            </a:stretch>
          </a:blipFill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888" name="Google Shape;888;p4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graphicFrame>
        <p:nvGraphicFramePr>
          <p:cNvPr id="882" name="Google Shape;882;p49"/>
          <p:cNvGraphicFramePr/>
          <p:nvPr/>
        </p:nvGraphicFramePr>
        <p:xfrm>
          <a:off x="3657600" y="4110038"/>
          <a:ext cx="2570163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70163" imgH="1757362" progId="Word.Document.8">
                  <p:embed/>
                </p:oleObj>
              </mc:Choice>
              <mc:Fallback>
                <p:oleObj r:id="rId4" imgW="2570163" imgH="1757362" progId="Word.Document.8">
                  <p:embed/>
                  <p:pic>
                    <p:nvPicPr>
                      <p:cNvPr id="882" name="Google Shape;882;p4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657600" y="4110038"/>
                        <a:ext cx="2570163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3" name="Google Shape;883;p49"/>
          <p:cNvGraphicFramePr/>
          <p:nvPr/>
        </p:nvGraphicFramePr>
        <p:xfrm>
          <a:off x="6421438" y="4105275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70162" imgH="1757363" progId="Word.Document.8">
                  <p:embed/>
                </p:oleObj>
              </mc:Choice>
              <mc:Fallback>
                <p:oleObj r:id="rId6" imgW="2570162" imgH="1757363" progId="Word.Document.8">
                  <p:embed/>
                  <p:pic>
                    <p:nvPicPr>
                      <p:cNvPr id="883" name="Google Shape;883;p49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6421438" y="4105275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" name="Google Shape;884;p49"/>
          <p:cNvGraphicFramePr/>
          <p:nvPr/>
        </p:nvGraphicFramePr>
        <p:xfrm>
          <a:off x="304800" y="4110038"/>
          <a:ext cx="304800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048000" imgH="1570037" progId="Word.Document.8">
                  <p:embed/>
                </p:oleObj>
              </mc:Choice>
              <mc:Fallback>
                <p:oleObj r:id="rId8" imgW="3048000" imgH="1570037" progId="Word.Document.8">
                  <p:embed/>
                  <p:pic>
                    <p:nvPicPr>
                      <p:cNvPr id="884" name="Google Shape;884;p49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/>
                      <a:stretch/>
                    </p:blipFill>
                    <p:spPr>
                      <a:xfrm>
                        <a:off x="304800" y="4110038"/>
                        <a:ext cx="3048000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5" name="Google Shape;885;p49"/>
          <p:cNvSpPr txBox="1"/>
          <p:nvPr/>
        </p:nvSpPr>
        <p:spPr>
          <a:xfrm>
            <a:off x="914400" y="5681663"/>
            <a:ext cx="1755775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SplitINFO = 1.52</a:t>
            </a:r>
            <a:endParaRPr/>
          </a:p>
        </p:txBody>
      </p:sp>
      <p:sp>
        <p:nvSpPr>
          <p:cNvPr id="886" name="Google Shape;886;p49"/>
          <p:cNvSpPr txBox="1"/>
          <p:nvPr/>
        </p:nvSpPr>
        <p:spPr>
          <a:xfrm>
            <a:off x="3886200" y="5681663"/>
            <a:ext cx="1755775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SplitINFO = 0.72</a:t>
            </a:r>
            <a:endParaRPr/>
          </a:p>
        </p:txBody>
      </p:sp>
      <p:sp>
        <p:nvSpPr>
          <p:cNvPr id="887" name="Google Shape;887;p49"/>
          <p:cNvSpPr txBox="1"/>
          <p:nvPr/>
        </p:nvSpPr>
        <p:spPr>
          <a:xfrm>
            <a:off x="6629400" y="5638800"/>
            <a:ext cx="1755775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SplitINFO = 0.97</a:t>
            </a:r>
            <a:endParaRPr/>
          </a:p>
        </p:txBody>
      </p:sp>
      <p:sp>
        <p:nvSpPr>
          <p:cNvPr id="889" name="Google Shape;889;p49"/>
          <p:cNvSpPr txBox="1"/>
          <p:nvPr/>
        </p:nvSpPr>
        <p:spPr>
          <a:xfrm>
            <a:off x="1219200" y="1752600"/>
            <a:ext cx="6818662" cy="87171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Measure of Impurity: Classification Error</a:t>
            </a:r>
            <a:endParaRPr/>
          </a:p>
        </p:txBody>
      </p:sp>
      <p:sp>
        <p:nvSpPr>
          <p:cNvPr id="895" name="Google Shape;895;p5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blipFill rotWithShape="1">
            <a:blip r:embed="rId3">
              <a:alphaModFix/>
            </a:blip>
            <a:stretch>
              <a:fillRect l="-512" t="-1293"/>
            </a:stretch>
          </a:blipFill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896" name="Google Shape;896;p5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897" name="Google Shape;897;p50"/>
          <p:cNvSpPr txBox="1"/>
          <p:nvPr/>
        </p:nvSpPr>
        <p:spPr>
          <a:xfrm>
            <a:off x="1524000" y="2133600"/>
            <a:ext cx="4304768" cy="5636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Computing Error of a Single Node</a:t>
            </a:r>
            <a:endParaRPr/>
          </a:p>
        </p:txBody>
      </p:sp>
      <p:sp>
        <p:nvSpPr>
          <p:cNvPr id="909" name="Google Shape;909;p5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graphicFrame>
        <p:nvGraphicFramePr>
          <p:cNvPr id="903" name="Google Shape;903;p51"/>
          <p:cNvGraphicFramePr/>
          <p:nvPr/>
        </p:nvGraphicFramePr>
        <p:xfrm>
          <a:off x="3048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62200" imgH="936625" progId="Word.Document.8">
                  <p:embed/>
                </p:oleObj>
              </mc:Choice>
              <mc:Fallback>
                <p:oleObj r:id="rId3" imgW="2362200" imgH="936625" progId="Word.Document.8">
                  <p:embed/>
                  <p:pic>
                    <p:nvPicPr>
                      <p:cNvPr id="903" name="Google Shape;903;p5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048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" name="Google Shape;904;p51"/>
          <p:cNvGraphicFramePr/>
          <p:nvPr/>
        </p:nvGraphicFramePr>
        <p:xfrm>
          <a:off x="3810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86000" imgH="938213" progId="Word.Document.8">
                  <p:embed/>
                </p:oleObj>
              </mc:Choice>
              <mc:Fallback>
                <p:oleObj r:id="rId5" imgW="2286000" imgH="938213" progId="Word.Document.8">
                  <p:embed/>
                  <p:pic>
                    <p:nvPicPr>
                      <p:cNvPr id="904" name="Google Shape;904;p5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" name="Google Shape;905;p51"/>
          <p:cNvGraphicFramePr/>
          <p:nvPr/>
        </p:nvGraphicFramePr>
        <p:xfrm>
          <a:off x="381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86000" imgH="906462" progId="Word.Document.8">
                  <p:embed/>
                </p:oleObj>
              </mc:Choice>
              <mc:Fallback>
                <p:oleObj r:id="rId7" imgW="2286000" imgH="906462" progId="Word.Document.8">
                  <p:embed/>
                  <p:pic>
                    <p:nvPicPr>
                      <p:cNvPr id="905" name="Google Shape;905;p5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6" name="Google Shape;906;p51"/>
          <p:cNvSpPr txBox="1"/>
          <p:nvPr/>
        </p:nvSpPr>
        <p:spPr>
          <a:xfrm>
            <a:off x="2895600" y="2339975"/>
            <a:ext cx="5943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0/6 = 0     P(C2) = 6/6 = 1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 – max (0, 1) = 1 – 1 = 0 </a:t>
            </a:r>
            <a:endParaRPr/>
          </a:p>
        </p:txBody>
      </p:sp>
      <p:sp>
        <p:nvSpPr>
          <p:cNvPr id="907" name="Google Shape;907;p51"/>
          <p:cNvSpPr txBox="1"/>
          <p:nvPr/>
        </p:nvSpPr>
        <p:spPr>
          <a:xfrm>
            <a:off x="2971800" y="3733800"/>
            <a:ext cx="51054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1/6          P(C2) = 5/6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 – max (1/6, 5/6) = 1 – 5/6 = 1/6</a:t>
            </a:r>
            <a:endParaRPr/>
          </a:p>
        </p:txBody>
      </p:sp>
      <p:sp>
        <p:nvSpPr>
          <p:cNvPr id="908" name="Google Shape;908;p51"/>
          <p:cNvSpPr txBox="1"/>
          <p:nvPr/>
        </p:nvSpPr>
        <p:spPr>
          <a:xfrm>
            <a:off x="2971800" y="5105400"/>
            <a:ext cx="61722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2/6          P(C2) = 4/6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 – max (2/6, 4/6) = 1 – 4/6 = 1/3</a:t>
            </a:r>
            <a:endParaRPr/>
          </a:p>
        </p:txBody>
      </p:sp>
      <p:sp>
        <p:nvSpPr>
          <p:cNvPr id="910" name="Google Shape;910;p51"/>
          <p:cNvSpPr txBox="1"/>
          <p:nvPr/>
        </p:nvSpPr>
        <p:spPr>
          <a:xfrm>
            <a:off x="1753132" y="1465636"/>
            <a:ext cx="4304768" cy="56368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among Impurity Measures</a:t>
            </a:r>
            <a:endParaRPr/>
          </a:p>
        </p:txBody>
      </p:sp>
      <p:sp>
        <p:nvSpPr>
          <p:cNvPr id="918" name="Google Shape;918;p5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pic>
        <p:nvPicPr>
          <p:cNvPr id="916" name="Google Shape;91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800" y="1714500"/>
            <a:ext cx="62484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52"/>
          <p:cNvSpPr txBox="1"/>
          <p:nvPr/>
        </p:nvSpPr>
        <p:spPr>
          <a:xfrm>
            <a:off x="409280" y="44450"/>
            <a:ext cx="873472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a 2-class problem: Binary Classification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Misclassification Error vs Gini Index</a:t>
            </a:r>
            <a:endParaRPr/>
          </a:p>
        </p:txBody>
      </p:sp>
      <p:sp>
        <p:nvSpPr>
          <p:cNvPr id="935" name="Google Shape;935;p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924" name="Google Shape;924;p53"/>
          <p:cNvSpPr/>
          <p:nvPr/>
        </p:nvSpPr>
        <p:spPr>
          <a:xfrm>
            <a:off x="3124200" y="1295400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A?</a:t>
            </a:r>
            <a:endParaRPr sz="24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5" name="Google Shape;925;p53"/>
          <p:cNvCxnSpPr/>
          <p:nvPr/>
        </p:nvCxnSpPr>
        <p:spPr>
          <a:xfrm flipH="1">
            <a:off x="2549525" y="1752600"/>
            <a:ext cx="11080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6" name="Google Shape;926;p53"/>
          <p:cNvCxnSpPr/>
          <p:nvPr/>
        </p:nvCxnSpPr>
        <p:spPr>
          <a:xfrm>
            <a:off x="3657600" y="1752600"/>
            <a:ext cx="11842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7" name="Google Shape;927;p53"/>
          <p:cNvSpPr txBox="1"/>
          <p:nvPr/>
        </p:nvSpPr>
        <p:spPr>
          <a:xfrm>
            <a:off x="2276475" y="1868488"/>
            <a:ext cx="539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928" name="Google Shape;928;p53"/>
          <p:cNvSpPr txBox="1"/>
          <p:nvPr/>
        </p:nvSpPr>
        <p:spPr>
          <a:xfrm>
            <a:off x="4765675" y="1868488"/>
            <a:ext cx="463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929" name="Google Shape;929;p53"/>
          <p:cNvSpPr/>
          <p:nvPr/>
        </p:nvSpPr>
        <p:spPr>
          <a:xfrm>
            <a:off x="2133600" y="24780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N1</a:t>
            </a:r>
            <a:endParaRPr/>
          </a:p>
        </p:txBody>
      </p:sp>
      <p:sp>
        <p:nvSpPr>
          <p:cNvPr id="930" name="Google Shape;930;p53"/>
          <p:cNvSpPr/>
          <p:nvPr/>
        </p:nvSpPr>
        <p:spPr>
          <a:xfrm>
            <a:off x="4321175" y="24780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N2</a:t>
            </a:r>
            <a:endParaRPr/>
          </a:p>
        </p:txBody>
      </p:sp>
      <p:graphicFrame>
        <p:nvGraphicFramePr>
          <p:cNvPr id="931" name="Google Shape;931;p53"/>
          <p:cNvGraphicFramePr/>
          <p:nvPr/>
        </p:nvGraphicFramePr>
        <p:xfrm>
          <a:off x="6243638" y="1217613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68500" imgH="1893887" progId="Word.Document.8">
                  <p:embed/>
                </p:oleObj>
              </mc:Choice>
              <mc:Fallback>
                <p:oleObj r:id="rId3" imgW="1968500" imgH="1893887" progId="Word.Document.8">
                  <p:embed/>
                  <p:pic>
                    <p:nvPicPr>
                      <p:cNvPr id="931" name="Google Shape;931;p5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243638" y="1217613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" name="Google Shape;932;p53"/>
          <p:cNvGraphicFramePr/>
          <p:nvPr/>
        </p:nvGraphicFramePr>
        <p:xfrm>
          <a:off x="2971800" y="37338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05000" imgH="1471613" progId="Word.Document.8">
                  <p:embed/>
                </p:oleObj>
              </mc:Choice>
              <mc:Fallback>
                <p:oleObj r:id="rId5" imgW="1905000" imgH="1471613" progId="Word.Document.8">
                  <p:embed/>
                  <p:pic>
                    <p:nvPicPr>
                      <p:cNvPr id="932" name="Google Shape;932;p5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2971800" y="37338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3" name="Google Shape;933;p53"/>
          <p:cNvSpPr txBox="1"/>
          <p:nvPr/>
        </p:nvSpPr>
        <p:spPr>
          <a:xfrm>
            <a:off x="304800" y="3581400"/>
            <a:ext cx="2438400" cy="207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Gini(N1)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(3/3)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(0/3)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 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Gini(N2)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(4/7)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(3/7)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0.489</a:t>
            </a:r>
            <a:endParaRPr/>
          </a:p>
        </p:txBody>
      </p:sp>
      <p:sp>
        <p:nvSpPr>
          <p:cNvPr id="934" name="Google Shape;934;p53"/>
          <p:cNvSpPr txBox="1"/>
          <p:nvPr/>
        </p:nvSpPr>
        <p:spPr>
          <a:xfrm>
            <a:off x="5638800" y="3810000"/>
            <a:ext cx="2438400" cy="237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Gini(Children)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3/10 * 0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+ 7/10 * 0.489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0.342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Gini improves but error remains the same!!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Misclassification Error vs Gini Index</a:t>
            </a:r>
            <a:endParaRPr/>
          </a:p>
        </p:txBody>
      </p:sp>
      <p:sp>
        <p:nvSpPr>
          <p:cNvPr id="952" name="Google Shape;952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941" name="Google Shape;941;p54"/>
          <p:cNvSpPr/>
          <p:nvPr/>
        </p:nvSpPr>
        <p:spPr>
          <a:xfrm>
            <a:off x="3124200" y="1295400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A?</a:t>
            </a:r>
            <a:endParaRPr sz="24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2" name="Google Shape;942;p54"/>
          <p:cNvCxnSpPr/>
          <p:nvPr/>
        </p:nvCxnSpPr>
        <p:spPr>
          <a:xfrm flipH="1">
            <a:off x="2549525" y="1752600"/>
            <a:ext cx="11080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3" name="Google Shape;943;p54"/>
          <p:cNvCxnSpPr/>
          <p:nvPr/>
        </p:nvCxnSpPr>
        <p:spPr>
          <a:xfrm>
            <a:off x="3657600" y="1752600"/>
            <a:ext cx="11842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4" name="Google Shape;944;p54"/>
          <p:cNvSpPr txBox="1"/>
          <p:nvPr/>
        </p:nvSpPr>
        <p:spPr>
          <a:xfrm>
            <a:off x="2276475" y="1868488"/>
            <a:ext cx="539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945" name="Google Shape;945;p54"/>
          <p:cNvSpPr txBox="1"/>
          <p:nvPr/>
        </p:nvSpPr>
        <p:spPr>
          <a:xfrm>
            <a:off x="4765675" y="1868488"/>
            <a:ext cx="463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946" name="Google Shape;946;p54"/>
          <p:cNvSpPr/>
          <p:nvPr/>
        </p:nvSpPr>
        <p:spPr>
          <a:xfrm>
            <a:off x="2133600" y="24780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N1</a:t>
            </a:r>
            <a:endParaRPr/>
          </a:p>
        </p:txBody>
      </p:sp>
      <p:sp>
        <p:nvSpPr>
          <p:cNvPr id="947" name="Google Shape;947;p54"/>
          <p:cNvSpPr/>
          <p:nvPr/>
        </p:nvSpPr>
        <p:spPr>
          <a:xfrm>
            <a:off x="4321175" y="24780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N2</a:t>
            </a:r>
            <a:endParaRPr/>
          </a:p>
        </p:txBody>
      </p:sp>
      <p:graphicFrame>
        <p:nvGraphicFramePr>
          <p:cNvPr id="948" name="Google Shape;948;p54"/>
          <p:cNvGraphicFramePr/>
          <p:nvPr/>
        </p:nvGraphicFramePr>
        <p:xfrm>
          <a:off x="6243638" y="1217613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68500" imgH="1893887" progId="Word.Document.8">
                  <p:embed/>
                </p:oleObj>
              </mc:Choice>
              <mc:Fallback>
                <p:oleObj r:id="rId3" imgW="1968500" imgH="1893887" progId="Word.Document.8">
                  <p:embed/>
                  <p:pic>
                    <p:nvPicPr>
                      <p:cNvPr id="948" name="Google Shape;948;p5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243638" y="1217613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" name="Google Shape;949;p54"/>
          <p:cNvGraphicFramePr/>
          <p:nvPr/>
        </p:nvGraphicFramePr>
        <p:xfrm>
          <a:off x="838200" y="37338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05000" imgH="1471613" progId="Word.Document.8">
                  <p:embed/>
                </p:oleObj>
              </mc:Choice>
              <mc:Fallback>
                <p:oleObj r:id="rId5" imgW="1905000" imgH="1471613" progId="Word.Document.8">
                  <p:embed/>
                  <p:pic>
                    <p:nvPicPr>
                      <p:cNvPr id="949" name="Google Shape;949;p5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838200" y="37338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0" name="Google Shape;950;p54"/>
          <p:cNvGraphicFramePr/>
          <p:nvPr/>
        </p:nvGraphicFramePr>
        <p:xfrm>
          <a:off x="3962400" y="3733800"/>
          <a:ext cx="18669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866900" imgH="1460500" progId="Word.Document.8">
                  <p:embed/>
                </p:oleObj>
              </mc:Choice>
              <mc:Fallback>
                <p:oleObj r:id="rId7" imgW="1866900" imgH="1460500" progId="Word.Document.8">
                  <p:embed/>
                  <p:pic>
                    <p:nvPicPr>
                      <p:cNvPr id="950" name="Google Shape;950;p54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3962400" y="3733800"/>
                        <a:ext cx="18669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1" name="Google Shape;951;p54"/>
          <p:cNvSpPr txBox="1"/>
          <p:nvPr/>
        </p:nvSpPr>
        <p:spPr>
          <a:xfrm>
            <a:off x="1149350" y="5624513"/>
            <a:ext cx="608965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Misclassification error for all three cases = 0.3 ! 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539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Decision Tree Based Classification</a:t>
            </a:r>
            <a:endParaRPr dirty="0"/>
          </a:p>
        </p:txBody>
      </p:sp>
      <p:sp>
        <p:nvSpPr>
          <p:cNvPr id="958" name="Google Shape;958;p55"/>
          <p:cNvSpPr txBox="1">
            <a:spLocks noGrp="1"/>
          </p:cNvSpPr>
          <p:nvPr>
            <p:ph idx="1"/>
          </p:nvPr>
        </p:nvSpPr>
        <p:spPr>
          <a:xfrm>
            <a:off x="0" y="970962"/>
            <a:ext cx="9144000" cy="588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 dirty="0"/>
              <a:t>Advantages:</a:t>
            </a:r>
            <a:endParaRPr dirty="0"/>
          </a:p>
          <a:p>
            <a:pPr marL="800100" lvl="1" indent="-342900" algn="l" rtl="0">
              <a:spcBef>
                <a:spcPts val="58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 dirty="0"/>
              <a:t>Relatively inexpensive to construct</a:t>
            </a:r>
            <a:endParaRPr dirty="0"/>
          </a:p>
          <a:p>
            <a:pPr marL="800100" lvl="1" indent="-342900" algn="l" rtl="0">
              <a:spcBef>
                <a:spcPts val="58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 dirty="0"/>
              <a:t>Extremely fast at classifying unknown records</a:t>
            </a:r>
            <a:endParaRPr dirty="0"/>
          </a:p>
          <a:p>
            <a:pPr marL="800100" lvl="1" indent="-342900" algn="l" rtl="0">
              <a:spcBef>
                <a:spcPts val="58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 dirty="0"/>
              <a:t>Easy to interpret for small-sized trees</a:t>
            </a:r>
            <a:endParaRPr dirty="0"/>
          </a:p>
          <a:p>
            <a:pPr marL="800100" lvl="1" indent="-342900" algn="l" rtl="0">
              <a:spcBef>
                <a:spcPts val="58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 dirty="0"/>
              <a:t>Robust to noise (especially when methods to avoid overfitting are employed)</a:t>
            </a:r>
            <a:endParaRPr dirty="0"/>
          </a:p>
          <a:p>
            <a:pPr marL="800100" lvl="1" indent="-342900" algn="l" rtl="0">
              <a:spcBef>
                <a:spcPts val="58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 dirty="0"/>
              <a:t>Can easily handle redundant attributes</a:t>
            </a:r>
            <a:endParaRPr dirty="0"/>
          </a:p>
          <a:p>
            <a:pPr marL="800100" lvl="1" indent="-342900" algn="l" rtl="0">
              <a:spcBef>
                <a:spcPts val="58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 dirty="0"/>
              <a:t>Can easily handle irrelevant attributes (unless the attributes are </a:t>
            </a:r>
            <a:r>
              <a:rPr lang="en-US" sz="1800" dirty="0">
                <a:solidFill>
                  <a:srgbClr val="FF0000"/>
                </a:solidFill>
              </a:rPr>
              <a:t>interacting</a:t>
            </a:r>
            <a:r>
              <a:rPr lang="en-US" sz="1800" dirty="0"/>
              <a:t>)</a:t>
            </a:r>
            <a:endParaRPr dirty="0"/>
          </a:p>
          <a:p>
            <a:pPr marL="292100" lvl="0" indent="-292100" algn="l" rtl="0">
              <a:spcBef>
                <a:spcPts val="64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 dirty="0"/>
              <a:t>Disadvantages: </a:t>
            </a:r>
            <a:r>
              <a:rPr lang="en-US" sz="2200" dirty="0"/>
              <a:t>.</a:t>
            </a:r>
            <a:endParaRPr dirty="0"/>
          </a:p>
          <a:p>
            <a:pPr marL="800100" lvl="1" indent="-342900" algn="l" rtl="0">
              <a:spcBef>
                <a:spcPts val="58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 dirty="0"/>
              <a:t>Due to the greedy nature of splitting criterion,  </a:t>
            </a:r>
            <a:r>
              <a:rPr lang="en-US" sz="1800" dirty="0">
                <a:solidFill>
                  <a:srgbClr val="FF0000"/>
                </a:solidFill>
              </a:rPr>
              <a:t>interacting</a:t>
            </a:r>
            <a:r>
              <a:rPr lang="en-US" sz="1800" dirty="0"/>
              <a:t> attributes (that can distinguish between classes together but not individually) may be passed over in favor of other attributed that are less discriminating.</a:t>
            </a:r>
            <a:endParaRPr dirty="0"/>
          </a:p>
          <a:p>
            <a:pPr marL="800100" lvl="1" indent="-342900" algn="l" rtl="0">
              <a:spcBef>
                <a:spcPts val="58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 dirty="0"/>
              <a:t>Each decision boundary involves only a single attribute</a:t>
            </a:r>
            <a:endParaRPr dirty="0"/>
          </a:p>
        </p:txBody>
      </p:sp>
      <p:sp>
        <p:nvSpPr>
          <p:cNvPr id="959" name="Google Shape;959;p5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4215</TotalTime>
  <Words>2733</Words>
  <Application>Microsoft Office PowerPoint</Application>
  <PresentationFormat>On-screen Show (4:3)</PresentationFormat>
  <Paragraphs>523</Paragraphs>
  <Slides>53</Slides>
  <Notes>50</Notes>
  <HiddenSlides>11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Calibri</vt:lpstr>
      <vt:lpstr>source-serif-pro</vt:lpstr>
      <vt:lpstr>Cambria Math</vt:lpstr>
      <vt:lpstr>Calibri Light</vt:lpstr>
      <vt:lpstr>Arial</vt:lpstr>
      <vt:lpstr>Times New Roman</vt:lpstr>
      <vt:lpstr>Noto Sans Symbols</vt:lpstr>
      <vt:lpstr>Office Theme</vt:lpstr>
      <vt:lpstr>Microsoft Word 97 - 2003 Document</vt:lpstr>
      <vt:lpstr>Visio.Drawing.6</vt:lpstr>
      <vt:lpstr>Document</vt:lpstr>
      <vt:lpstr>Classifier: Decision Tree</vt:lpstr>
      <vt:lpstr>Classification: Definition</vt:lpstr>
      <vt:lpstr>General Approach for Building Classification Model</vt:lpstr>
      <vt:lpstr>Classification Techniques</vt:lpstr>
      <vt:lpstr>Example of a Decision Tree</vt:lpstr>
      <vt:lpstr>Apply Model to Test Data</vt:lpstr>
      <vt:lpstr>Another Example of Decision Tree: Same Training dataset</vt:lpstr>
      <vt:lpstr>Measures of Node Impurity</vt:lpstr>
      <vt:lpstr>Example of a Decision Tree</vt:lpstr>
      <vt:lpstr>Decision Tree Hyperparameters sklearn</vt:lpstr>
      <vt:lpstr>Bias and Variance</vt:lpstr>
      <vt:lpstr>Overfit and Underfit</vt:lpstr>
      <vt:lpstr>Decision Tree Classification Task</vt:lpstr>
      <vt:lpstr>Decision Tree Induction</vt:lpstr>
      <vt:lpstr>General Structure of Hunt’s Algorithm</vt:lpstr>
      <vt:lpstr>Hunt’s Algorithm</vt:lpstr>
      <vt:lpstr>Hunt’s Algorithm</vt:lpstr>
      <vt:lpstr>Hunt’s Algorithm</vt:lpstr>
      <vt:lpstr>Hunt’s Algorithm</vt:lpstr>
      <vt:lpstr>Design Issues of Decision Tree Induction</vt:lpstr>
      <vt:lpstr>Methods for Expressing Test Conditions</vt:lpstr>
      <vt:lpstr>Test Condition for Nominal Attributes</vt:lpstr>
      <vt:lpstr>Test Condition for Ordinal Attributes</vt:lpstr>
      <vt:lpstr>Test Condition for Continuous Attributes</vt:lpstr>
      <vt:lpstr>Splitting Based on Continuous Attributes</vt:lpstr>
      <vt:lpstr>How to determine the Best Split</vt:lpstr>
      <vt:lpstr>How to determine the Best Split</vt:lpstr>
      <vt:lpstr>Measures of Node Impurity</vt:lpstr>
      <vt:lpstr>Finding the Best Split</vt:lpstr>
      <vt:lpstr>Finding the Best Split</vt:lpstr>
      <vt:lpstr>Measure of Impurity: GINI</vt:lpstr>
      <vt:lpstr>Measure of Impurity: GINI</vt:lpstr>
      <vt:lpstr>Computing Gini Index of a Single Node</vt:lpstr>
      <vt:lpstr>Computing Gini Index for a Collection of Nodes</vt:lpstr>
      <vt:lpstr>Binary Attributes: Computing GINI Index</vt:lpstr>
      <vt:lpstr>Categorical Attributes: Computing Gini Index</vt:lpstr>
      <vt:lpstr>Continuous Attributes: Computing Gini Index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Measure of Impurity: Entropy</vt:lpstr>
      <vt:lpstr>Computing Entropy of a Single Node</vt:lpstr>
      <vt:lpstr>Computing Information Gain After Splitting</vt:lpstr>
      <vt:lpstr>Gain Ratio: Gain Ratio attempts to lessen the bias of Information Gain on highly branched predictors by introducing a normalizing term called the Split Info</vt:lpstr>
      <vt:lpstr>Gain Ratio</vt:lpstr>
      <vt:lpstr>Measure of Impurity: Classification Error</vt:lpstr>
      <vt:lpstr>Computing Error of a Single Node</vt:lpstr>
      <vt:lpstr>Comparison among Impurity Measures</vt:lpstr>
      <vt:lpstr>Misclassification Error vs Gini Index</vt:lpstr>
      <vt:lpstr>Misclassification Error vs Gini Index</vt:lpstr>
      <vt:lpstr>Decision Tree Based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Classifier: Decision Tree</dc:title>
  <dc:creator>anujkarpatne@gmail.com</dc:creator>
  <cp:lastModifiedBy>Riasat Khan</cp:lastModifiedBy>
  <cp:revision>2</cp:revision>
  <dcterms:created xsi:type="dcterms:W3CDTF">2018-02-14T20:41:00Z</dcterms:created>
  <dcterms:modified xsi:type="dcterms:W3CDTF">2025-02-08T12:44:19Z</dcterms:modified>
</cp:coreProperties>
</file>