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0" r:id="rId4"/>
    <p:sldId id="257" r:id="rId5"/>
    <p:sldId id="262" r:id="rId6"/>
    <p:sldId id="264" r:id="rId7"/>
    <p:sldId id="275" r:id="rId8"/>
    <p:sldId id="274" r:id="rId9"/>
    <p:sldId id="259" r:id="rId10"/>
    <p:sldId id="263" r:id="rId11"/>
    <p:sldId id="265" r:id="rId12"/>
    <p:sldId id="276" r:id="rId13"/>
    <p:sldId id="268" r:id="rId14"/>
    <p:sldId id="269" r:id="rId15"/>
    <p:sldId id="270" r:id="rId16"/>
    <p:sldId id="271" r:id="rId17"/>
    <p:sldId id="272" r:id="rId18"/>
    <p:sldId id="278" r:id="rId19"/>
    <p:sldId id="266" r:id="rId20"/>
    <p:sldId id="273" r:id="rId21"/>
    <p:sldId id="277" r:id="rId22"/>
  </p:sldIdLst>
  <p:sldSz cx="9144000" cy="5143500" type="screen16x9"/>
  <p:notesSz cx="7099300" cy="10234613"/>
  <p:custDataLst>
    <p:tags r:id="rId2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4289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6857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0286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3715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714457" algn="l" defTabSz="685783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057348" algn="l" defTabSz="685783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400240" algn="l" defTabSz="685783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2743132" algn="l" defTabSz="685783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9999"/>
    <a:srgbClr val="CC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822F0-0A2C-4B79-8CA1-E969D9170083}" v="119" dt="2025-04-05T14:43:58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5000" autoAdjust="0"/>
  </p:normalViewPr>
  <p:slideViewPr>
    <p:cSldViewPr>
      <p:cViewPr varScale="1">
        <p:scale>
          <a:sx n="110" d="100"/>
          <a:sy n="110" d="100"/>
        </p:scale>
        <p:origin x="552" y="82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126822F0-0A2C-4B79-8CA1-E969D9170083}"/>
    <pc:docChg chg="undo custSel addSld delSld modSld sldOrd">
      <pc:chgData name="Riasat Khan" userId="826ac62dfbb52e43" providerId="LiveId" clId="{126822F0-0A2C-4B79-8CA1-E969D9170083}" dt="2025-04-05T14:43:58.007" v="1132" actId="6549"/>
      <pc:docMkLst>
        <pc:docMk/>
      </pc:docMkLst>
      <pc:sldChg chg="delSp mod">
        <pc:chgData name="Riasat Khan" userId="826ac62dfbb52e43" providerId="LiveId" clId="{126822F0-0A2C-4B79-8CA1-E969D9170083}" dt="2022-12-06T07:48:13.978" v="0" actId="478"/>
        <pc:sldMkLst>
          <pc:docMk/>
          <pc:sldMk cId="0" sldId="256"/>
        </pc:sldMkLst>
      </pc:sldChg>
      <pc:sldChg chg="modSp">
        <pc:chgData name="Riasat Khan" userId="826ac62dfbb52e43" providerId="LiveId" clId="{126822F0-0A2C-4B79-8CA1-E969D9170083}" dt="2022-12-06T09:10:32.573" v="235" actId="207"/>
        <pc:sldMkLst>
          <pc:docMk/>
          <pc:sldMk cId="1921922" sldId="257"/>
        </pc:sldMkLst>
      </pc:sldChg>
      <pc:sldChg chg="addSp delSp modSp mod delAnim modAnim">
        <pc:chgData name="Riasat Khan" userId="826ac62dfbb52e43" providerId="LiveId" clId="{126822F0-0A2C-4B79-8CA1-E969D9170083}" dt="2022-12-06T15:53:47.796" v="667" actId="20577"/>
        <pc:sldMkLst>
          <pc:docMk/>
          <pc:sldMk cId="2023427246" sldId="259"/>
        </pc:sldMkLst>
      </pc:sldChg>
      <pc:sldChg chg="addSp modSp mod modAnim">
        <pc:chgData name="Riasat Khan" userId="826ac62dfbb52e43" providerId="LiveId" clId="{126822F0-0A2C-4B79-8CA1-E969D9170083}" dt="2022-12-06T16:43:28.244" v="905" actId="207"/>
        <pc:sldMkLst>
          <pc:docMk/>
          <pc:sldMk cId="2996239330" sldId="260"/>
        </pc:sldMkLst>
      </pc:sldChg>
      <pc:sldChg chg="addSp delSp modSp mod ord delAnim modAnim">
        <pc:chgData name="Riasat Khan" userId="826ac62dfbb52e43" providerId="LiveId" clId="{126822F0-0A2C-4B79-8CA1-E969D9170083}" dt="2025-04-05T14:41:20.059" v="1128" actId="20577"/>
        <pc:sldMkLst>
          <pc:docMk/>
          <pc:sldMk cId="3306116811" sldId="262"/>
        </pc:sldMkLst>
        <pc:spChg chg="del">
          <ac:chgData name="Riasat Khan" userId="826ac62dfbb52e43" providerId="LiveId" clId="{126822F0-0A2C-4B79-8CA1-E969D9170083}" dt="2025-04-05T14:39:01.132" v="1097" actId="478"/>
          <ac:spMkLst>
            <pc:docMk/>
            <pc:sldMk cId="3306116811" sldId="262"/>
            <ac:spMk id="8" creationId="{1AA2A202-CB7E-15E9-3B81-668B60AE552A}"/>
          </ac:spMkLst>
        </pc:spChg>
        <pc:spChg chg="mod">
          <ac:chgData name="Riasat Khan" userId="826ac62dfbb52e43" providerId="LiveId" clId="{126822F0-0A2C-4B79-8CA1-E969D9170083}" dt="2025-04-05T14:41:20.059" v="1128" actId="20577"/>
          <ac:spMkLst>
            <pc:docMk/>
            <pc:sldMk cId="3306116811" sldId="262"/>
            <ac:spMk id="12" creationId="{F844536E-A204-1AAA-13E0-95BAFD96CF8C}"/>
          </ac:spMkLst>
        </pc:spChg>
        <pc:picChg chg="add mod modCrop">
          <ac:chgData name="Riasat Khan" userId="826ac62dfbb52e43" providerId="LiveId" clId="{126822F0-0A2C-4B79-8CA1-E969D9170083}" dt="2025-04-05T14:40:03.487" v="1111" actId="14100"/>
          <ac:picMkLst>
            <pc:docMk/>
            <pc:sldMk cId="3306116811" sldId="262"/>
            <ac:picMk id="6" creationId="{9152B8C8-9D83-DAEC-68BB-46FE45FEEE69}"/>
          </ac:picMkLst>
        </pc:picChg>
        <pc:cxnChg chg="del">
          <ac:chgData name="Riasat Khan" userId="826ac62dfbb52e43" providerId="LiveId" clId="{126822F0-0A2C-4B79-8CA1-E969D9170083}" dt="2025-04-05T14:39:02.092" v="1098" actId="478"/>
          <ac:cxnSpMkLst>
            <pc:docMk/>
            <pc:sldMk cId="3306116811" sldId="262"/>
            <ac:cxnSpMk id="10" creationId="{54441406-374A-C530-146C-C8625AA04815}"/>
          </ac:cxnSpMkLst>
        </pc:cxnChg>
        <pc:cxnChg chg="del mod">
          <ac:chgData name="Riasat Khan" userId="826ac62dfbb52e43" providerId="LiveId" clId="{126822F0-0A2C-4B79-8CA1-E969D9170083}" dt="2025-04-05T14:39:03.532" v="1099" actId="478"/>
          <ac:cxnSpMkLst>
            <pc:docMk/>
            <pc:sldMk cId="3306116811" sldId="262"/>
            <ac:cxnSpMk id="14" creationId="{3E89ACC4-6D7C-4161-F3CF-8D31BE9D0662}"/>
          </ac:cxnSpMkLst>
        </pc:cxnChg>
        <pc:cxnChg chg="del">
          <ac:chgData name="Riasat Khan" userId="826ac62dfbb52e43" providerId="LiveId" clId="{126822F0-0A2C-4B79-8CA1-E969D9170083}" dt="2025-04-05T14:39:15.927" v="1103" actId="478"/>
          <ac:cxnSpMkLst>
            <pc:docMk/>
            <pc:sldMk cId="3306116811" sldId="262"/>
            <ac:cxnSpMk id="16" creationId="{593F2688-5416-D992-9B70-B68BF0BE57E3}"/>
          </ac:cxnSpMkLst>
        </pc:cxnChg>
      </pc:sldChg>
      <pc:sldChg chg="mod modShow">
        <pc:chgData name="Riasat Khan" userId="826ac62dfbb52e43" providerId="LiveId" clId="{126822F0-0A2C-4B79-8CA1-E969D9170083}" dt="2022-12-06T15:38:41.879" v="452" actId="729"/>
        <pc:sldMkLst>
          <pc:docMk/>
          <pc:sldMk cId="3219575220" sldId="263"/>
        </pc:sldMkLst>
      </pc:sldChg>
      <pc:sldChg chg="ord">
        <pc:chgData name="Riasat Khan" userId="826ac62dfbb52e43" providerId="LiveId" clId="{126822F0-0A2C-4B79-8CA1-E969D9170083}" dt="2022-12-06T15:46:46.616" v="575"/>
        <pc:sldMkLst>
          <pc:docMk/>
          <pc:sldMk cId="443372952" sldId="264"/>
        </pc:sldMkLst>
      </pc:sldChg>
      <pc:sldChg chg="addSp modSp mod modAnim">
        <pc:chgData name="Riasat Khan" userId="826ac62dfbb52e43" providerId="LiveId" clId="{126822F0-0A2C-4B79-8CA1-E969D9170083}" dt="2025-04-05T14:43:58.007" v="1132" actId="6549"/>
        <pc:sldMkLst>
          <pc:docMk/>
          <pc:sldMk cId="1092115372" sldId="265"/>
        </pc:sldMkLst>
        <pc:spChg chg="mod">
          <ac:chgData name="Riasat Khan" userId="826ac62dfbb52e43" providerId="LiveId" clId="{126822F0-0A2C-4B79-8CA1-E969D9170083}" dt="2025-04-05T14:43:58.007" v="1132" actId="6549"/>
          <ac:spMkLst>
            <pc:docMk/>
            <pc:sldMk cId="1092115372" sldId="265"/>
            <ac:spMk id="3" creationId="{8A5FED02-8E99-42F0-977E-77BAB292DB72}"/>
          </ac:spMkLst>
        </pc:spChg>
      </pc:sldChg>
      <pc:sldChg chg="delSp modSp mod ord delAnim modAnim">
        <pc:chgData name="Riasat Khan" userId="826ac62dfbb52e43" providerId="LiveId" clId="{126822F0-0A2C-4B79-8CA1-E969D9170083}" dt="2023-05-17T00:07:38.862" v="1057"/>
        <pc:sldMkLst>
          <pc:docMk/>
          <pc:sldMk cId="1357027012" sldId="266"/>
        </pc:sldMkLst>
      </pc:sldChg>
      <pc:sldChg chg="del">
        <pc:chgData name="Riasat Khan" userId="826ac62dfbb52e43" providerId="LiveId" clId="{126822F0-0A2C-4B79-8CA1-E969D9170083}" dt="2022-12-06T15:54:58.006" v="683" actId="47"/>
        <pc:sldMkLst>
          <pc:docMk/>
          <pc:sldMk cId="3517515277" sldId="267"/>
        </pc:sldMkLst>
      </pc:sldChg>
      <pc:sldChg chg="modSp mod">
        <pc:chgData name="Riasat Khan" userId="826ac62dfbb52e43" providerId="LiveId" clId="{126822F0-0A2C-4B79-8CA1-E969D9170083}" dt="2022-12-06T16:06:45.384" v="872" actId="20577"/>
        <pc:sldMkLst>
          <pc:docMk/>
          <pc:sldMk cId="3543816946" sldId="268"/>
        </pc:sldMkLst>
      </pc:sldChg>
      <pc:sldChg chg="modSp mod modShow">
        <pc:chgData name="Riasat Khan" userId="826ac62dfbb52e43" providerId="LiveId" clId="{126822F0-0A2C-4B79-8CA1-E969D9170083}" dt="2023-05-16T23:56:37.477" v="979" actId="20577"/>
        <pc:sldMkLst>
          <pc:docMk/>
          <pc:sldMk cId="519155177" sldId="270"/>
        </pc:sldMkLst>
      </pc:sldChg>
      <pc:sldChg chg="delSp modSp add mod delAnim modAnim">
        <pc:chgData name="Riasat Khan" userId="826ac62dfbb52e43" providerId="LiveId" clId="{126822F0-0A2C-4B79-8CA1-E969D9170083}" dt="2023-05-16T23:57:39.472" v="983" actId="20577"/>
        <pc:sldMkLst>
          <pc:docMk/>
          <pc:sldMk cId="3044226202" sldId="271"/>
        </pc:sldMkLst>
      </pc:sldChg>
      <pc:sldChg chg="modSp mod">
        <pc:chgData name="Riasat Khan" userId="826ac62dfbb52e43" providerId="LiveId" clId="{126822F0-0A2C-4B79-8CA1-E969D9170083}" dt="2024-11-16T13:27:42.944" v="1095"/>
        <pc:sldMkLst>
          <pc:docMk/>
          <pc:sldMk cId="1469072249" sldId="272"/>
        </pc:sldMkLst>
      </pc:sldChg>
      <pc:sldChg chg="modSp mod modAnim">
        <pc:chgData name="Riasat Khan" userId="826ac62dfbb52e43" providerId="LiveId" clId="{126822F0-0A2C-4B79-8CA1-E969D9170083}" dt="2024-05-21T01:13:33.235" v="1076" actId="20577"/>
        <pc:sldMkLst>
          <pc:docMk/>
          <pc:sldMk cId="2873110040" sldId="273"/>
        </pc:sldMkLst>
      </pc:sldChg>
    </pc:docChg>
  </pc:docChgLst>
  <pc:docChgLst>
    <pc:chgData name="Riasat Khan" userId="826ac62dfbb52e43" providerId="LiveId" clId="{EFD2F84D-212E-47C0-944A-14E47D88EFB8}"/>
    <pc:docChg chg="undo custSel modSld">
      <pc:chgData name="Riasat Khan" userId="826ac62dfbb52e43" providerId="LiveId" clId="{EFD2F84D-212E-47C0-944A-14E47D88EFB8}" dt="2022-12-12T01:08:02.871" v="41" actId="14100"/>
      <pc:docMkLst>
        <pc:docMk/>
      </pc:docMkLst>
      <pc:sldChg chg="addSp delSp modSp mod modAnim">
        <pc:chgData name="Riasat Khan" userId="826ac62dfbb52e43" providerId="LiveId" clId="{EFD2F84D-212E-47C0-944A-14E47D88EFB8}" dt="2022-12-12T01:03:12.367" v="24" actId="478"/>
        <pc:sldMkLst>
          <pc:docMk/>
          <pc:sldMk cId="1092115372" sldId="265"/>
        </pc:sldMkLst>
      </pc:sldChg>
      <pc:sldChg chg="addSp modSp mod modAnim">
        <pc:chgData name="Riasat Khan" userId="826ac62dfbb52e43" providerId="LiveId" clId="{EFD2F84D-212E-47C0-944A-14E47D88EFB8}" dt="2022-12-12T01:08:02.871" v="41" actId="14100"/>
        <pc:sldMkLst>
          <pc:docMk/>
          <pc:sldMk cId="3044226202" sldId="271"/>
        </pc:sldMkLst>
      </pc:sldChg>
    </pc:docChg>
  </pc:docChgLst>
  <pc:docChgLst>
    <pc:chgData name="Riasat Khan" userId="826ac62dfbb52e43" providerId="LiveId" clId="{8D53F568-3CC8-4301-BAFB-F2A14A513BBA}"/>
    <pc:docChg chg="undo custSel addSld modSld sldOrd">
      <pc:chgData name="Riasat Khan" userId="826ac62dfbb52e43" providerId="LiveId" clId="{8D53F568-3CC8-4301-BAFB-F2A14A513BBA}" dt="2023-05-17T08:37:11.518" v="499" actId="20577"/>
      <pc:docMkLst>
        <pc:docMk/>
      </pc:docMkLst>
      <pc:sldChg chg="addSp modSp mod">
        <pc:chgData name="Riasat Khan" userId="826ac62dfbb52e43" providerId="LiveId" clId="{8D53F568-3CC8-4301-BAFB-F2A14A513BBA}" dt="2023-05-10T02:07:46.079" v="44" actId="14100"/>
        <pc:sldMkLst>
          <pc:docMk/>
          <pc:sldMk cId="2023427246" sldId="259"/>
        </pc:sldMkLst>
      </pc:sldChg>
      <pc:sldChg chg="modSp mod">
        <pc:chgData name="Riasat Khan" userId="826ac62dfbb52e43" providerId="LiveId" clId="{8D53F568-3CC8-4301-BAFB-F2A14A513BBA}" dt="2023-05-10T02:04:51.316" v="38" actId="20577"/>
        <pc:sldMkLst>
          <pc:docMk/>
          <pc:sldMk cId="3306116811" sldId="262"/>
        </pc:sldMkLst>
      </pc:sldChg>
      <pc:sldChg chg="addSp delSp modSp mod modAnim">
        <pc:chgData name="Riasat Khan" userId="826ac62dfbb52e43" providerId="LiveId" clId="{8D53F568-3CC8-4301-BAFB-F2A14A513BBA}" dt="2023-05-15T06:24:30.915" v="288" actId="478"/>
        <pc:sldMkLst>
          <pc:docMk/>
          <pc:sldMk cId="443372952" sldId="264"/>
        </pc:sldMkLst>
      </pc:sldChg>
      <pc:sldChg chg="addSp delSp modSp mod">
        <pc:chgData name="Riasat Khan" userId="826ac62dfbb52e43" providerId="LiveId" clId="{8D53F568-3CC8-4301-BAFB-F2A14A513BBA}" dt="2023-05-10T02:16:10.064" v="61" actId="478"/>
        <pc:sldMkLst>
          <pc:docMk/>
          <pc:sldMk cId="1092115372" sldId="265"/>
        </pc:sldMkLst>
      </pc:sldChg>
      <pc:sldChg chg="addSp modSp mod modAnim">
        <pc:chgData name="Riasat Khan" userId="826ac62dfbb52e43" providerId="LiveId" clId="{8D53F568-3CC8-4301-BAFB-F2A14A513BBA}" dt="2023-05-17T08:33:28.296" v="477" actId="6549"/>
        <pc:sldMkLst>
          <pc:docMk/>
          <pc:sldMk cId="1357027012" sldId="266"/>
        </pc:sldMkLst>
      </pc:sldChg>
      <pc:sldChg chg="modSp mod">
        <pc:chgData name="Riasat Khan" userId="826ac62dfbb52e43" providerId="LiveId" clId="{8D53F568-3CC8-4301-BAFB-F2A14A513BBA}" dt="2023-05-17T02:13:08.174" v="351" actId="20577"/>
        <pc:sldMkLst>
          <pc:docMk/>
          <pc:sldMk cId="3543816946" sldId="268"/>
        </pc:sldMkLst>
      </pc:sldChg>
      <pc:sldChg chg="modSp mod modAnim">
        <pc:chgData name="Riasat Khan" userId="826ac62dfbb52e43" providerId="LiveId" clId="{8D53F568-3CC8-4301-BAFB-F2A14A513BBA}" dt="2023-05-17T02:16:07.948" v="360"/>
        <pc:sldMkLst>
          <pc:docMk/>
          <pc:sldMk cId="1176363335" sldId="269"/>
        </pc:sldMkLst>
      </pc:sldChg>
      <pc:sldChg chg="addSp delSp modSp mod modAnim">
        <pc:chgData name="Riasat Khan" userId="826ac62dfbb52e43" providerId="LiveId" clId="{8D53F568-3CC8-4301-BAFB-F2A14A513BBA}" dt="2023-05-17T02:18:30.176" v="377" actId="20577"/>
        <pc:sldMkLst>
          <pc:docMk/>
          <pc:sldMk cId="3044226202" sldId="271"/>
        </pc:sldMkLst>
      </pc:sldChg>
      <pc:sldChg chg="modSp mod">
        <pc:chgData name="Riasat Khan" userId="826ac62dfbb52e43" providerId="LiveId" clId="{8D53F568-3CC8-4301-BAFB-F2A14A513BBA}" dt="2023-05-17T02:19:09.983" v="388" actId="20577"/>
        <pc:sldMkLst>
          <pc:docMk/>
          <pc:sldMk cId="1469072249" sldId="272"/>
        </pc:sldMkLst>
      </pc:sldChg>
      <pc:sldChg chg="addSp delSp modSp add mod delAnim modAnim">
        <pc:chgData name="Riasat Khan" userId="826ac62dfbb52e43" providerId="LiveId" clId="{8D53F568-3CC8-4301-BAFB-F2A14A513BBA}" dt="2023-05-10T02:35:17.989" v="155" actId="208"/>
        <pc:sldMkLst>
          <pc:docMk/>
          <pc:sldMk cId="2873110040" sldId="273"/>
        </pc:sldMkLst>
      </pc:sldChg>
      <pc:sldChg chg="modSp add mod modAnim">
        <pc:chgData name="Riasat Khan" userId="826ac62dfbb52e43" providerId="LiveId" clId="{8D53F568-3CC8-4301-BAFB-F2A14A513BBA}" dt="2023-05-15T02:47:07.538" v="234" actId="14100"/>
        <pc:sldMkLst>
          <pc:docMk/>
          <pc:sldMk cId="1587560431" sldId="274"/>
        </pc:sldMkLst>
      </pc:sldChg>
      <pc:sldChg chg="addSp modSp add mod">
        <pc:chgData name="Riasat Khan" userId="826ac62dfbb52e43" providerId="LiveId" clId="{8D53F568-3CC8-4301-BAFB-F2A14A513BBA}" dt="2023-05-15T08:23:47.394" v="338" actId="20577"/>
        <pc:sldMkLst>
          <pc:docMk/>
          <pc:sldMk cId="1807472248" sldId="275"/>
        </pc:sldMkLst>
      </pc:sldChg>
      <pc:sldChg chg="addSp delSp modSp add mod modAnim">
        <pc:chgData name="Riasat Khan" userId="826ac62dfbb52e43" providerId="LiveId" clId="{8D53F568-3CC8-4301-BAFB-F2A14A513BBA}" dt="2023-05-15T02:48:58.412" v="243" actId="14100"/>
        <pc:sldMkLst>
          <pc:docMk/>
          <pc:sldMk cId="386145662" sldId="276"/>
        </pc:sldMkLst>
      </pc:sldChg>
      <pc:sldChg chg="addSp delSp modSp add mod modAnim">
        <pc:chgData name="Riasat Khan" userId="826ac62dfbb52e43" providerId="LiveId" clId="{8D53F568-3CC8-4301-BAFB-F2A14A513BBA}" dt="2023-05-17T02:29:11.752" v="474" actId="14100"/>
        <pc:sldMkLst>
          <pc:docMk/>
          <pc:sldMk cId="1108700812" sldId="277"/>
        </pc:sldMkLst>
      </pc:sldChg>
      <pc:sldChg chg="modSp add ord modAnim">
        <pc:chgData name="Riasat Khan" userId="826ac62dfbb52e43" providerId="LiveId" clId="{8D53F568-3CC8-4301-BAFB-F2A14A513BBA}" dt="2023-05-17T08:37:11.518" v="499" actId="20577"/>
        <pc:sldMkLst>
          <pc:docMk/>
          <pc:sldMk cId="2700970336" sldId="278"/>
        </pc:sldMkLst>
      </pc:sldChg>
    </pc:docChg>
  </pc:docChgLst>
  <pc:docChgLst>
    <pc:chgData name="Riasat Khan" userId="826ac62dfbb52e43" providerId="Windows Live" clId="Web-{B6963F45-EE6B-43F5-9346-51CB8BB102DA}"/>
    <pc:docChg chg="addSld modSld">
      <pc:chgData name="Riasat Khan" userId="826ac62dfbb52e43" providerId="Windows Live" clId="Web-{B6963F45-EE6B-43F5-9346-51CB8BB102DA}" dt="2022-12-07T01:58:04.936" v="104" actId="20577"/>
      <pc:docMkLst>
        <pc:docMk/>
      </pc:docMkLst>
      <pc:sldChg chg="modSp">
        <pc:chgData name="Riasat Khan" userId="826ac62dfbb52e43" providerId="Windows Live" clId="Web-{B6963F45-EE6B-43F5-9346-51CB8BB102DA}" dt="2022-12-07T01:55:26.151" v="44" actId="20577"/>
        <pc:sldMkLst>
          <pc:docMk/>
          <pc:sldMk cId="3044226202" sldId="271"/>
        </pc:sldMkLst>
      </pc:sldChg>
      <pc:sldChg chg="addSp delSp modSp add replId delAnim">
        <pc:chgData name="Riasat Khan" userId="826ac62dfbb52e43" providerId="Windows Live" clId="Web-{B6963F45-EE6B-43F5-9346-51CB8BB102DA}" dt="2022-12-07T01:58:04.936" v="104" actId="20577"/>
        <pc:sldMkLst>
          <pc:docMk/>
          <pc:sldMk cId="1469072249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C47036A7-CA75-4FB0-A0E6-AEEC36B2D2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16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951F94F5-58D1-42ED-AB38-DD97D2E49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70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1pPr>
    <a:lvl2pPr marL="342892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2pPr>
    <a:lvl3pPr marL="685783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3pPr>
    <a:lvl4pPr marL="102867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4pPr>
    <a:lvl5pPr marL="1371566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35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57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07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02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79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65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79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5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783433"/>
            <a:ext cx="9144000" cy="110251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743200"/>
            <a:ext cx="9144000" cy="1143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62938-84EC-488D-9CA4-E38E8D42E5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A05A8-D087-49F8-A68B-53BB47A7E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400"/>
            </a:lvl2pPr>
            <a:lvl3pPr marL="685783" indent="0">
              <a:buNone/>
              <a:defRPr sz="1200"/>
            </a:lvl3pPr>
            <a:lvl4pPr marL="1028675" indent="0">
              <a:buNone/>
              <a:defRPr sz="1100"/>
            </a:lvl4pPr>
            <a:lvl5pPr marL="1371566" indent="0">
              <a:buNone/>
              <a:defRPr sz="1100"/>
            </a:lvl5pPr>
            <a:lvl6pPr marL="1714457" indent="0">
              <a:buNone/>
              <a:defRPr sz="1100"/>
            </a:lvl6pPr>
            <a:lvl7pPr marL="2057348" indent="0">
              <a:buNone/>
              <a:defRPr sz="1100"/>
            </a:lvl7pPr>
            <a:lvl8pPr marL="2400240" indent="0">
              <a:buNone/>
              <a:defRPr sz="1100"/>
            </a:lvl8pPr>
            <a:lvl9pPr marL="2743132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BC673-9CA8-4194-8E34-D666622A5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394BE-C7C4-4CA6-9240-6CDB29B2C9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40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40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894F7-D2D8-4142-8878-126BF2DBE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0470E-5877-48CB-82CD-3CCAD5E83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85F8C-9C5D-49E8-8BBF-F28B73097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204789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076327"/>
            <a:ext cx="2256235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892" indent="0">
              <a:buNone/>
              <a:defRPr sz="900"/>
            </a:lvl2pPr>
            <a:lvl3pPr marL="685783" indent="0">
              <a:buNone/>
              <a:defRPr sz="800"/>
            </a:lvl3pPr>
            <a:lvl4pPr marL="1028675" indent="0">
              <a:buNone/>
              <a:defRPr sz="700"/>
            </a:lvl4pPr>
            <a:lvl5pPr marL="1371566" indent="0">
              <a:buNone/>
              <a:defRPr sz="700"/>
            </a:lvl5pPr>
            <a:lvl6pPr marL="1714457" indent="0">
              <a:buNone/>
              <a:defRPr sz="700"/>
            </a:lvl6pPr>
            <a:lvl7pPr marL="2057348" indent="0">
              <a:buNone/>
              <a:defRPr sz="700"/>
            </a:lvl7pPr>
            <a:lvl8pPr marL="2400240" indent="0">
              <a:buNone/>
              <a:defRPr sz="700"/>
            </a:lvl8pPr>
            <a:lvl9pPr marL="2743132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15B49-E272-4523-8166-1B1831C4B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1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4"/>
            <a:ext cx="41148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892" indent="0">
              <a:buNone/>
              <a:defRPr sz="900"/>
            </a:lvl2pPr>
            <a:lvl3pPr marL="685783" indent="0">
              <a:buNone/>
              <a:defRPr sz="800"/>
            </a:lvl3pPr>
            <a:lvl4pPr marL="1028675" indent="0">
              <a:buNone/>
              <a:defRPr sz="700"/>
            </a:lvl4pPr>
            <a:lvl5pPr marL="1371566" indent="0">
              <a:buNone/>
              <a:defRPr sz="700"/>
            </a:lvl5pPr>
            <a:lvl6pPr marL="1714457" indent="0">
              <a:buNone/>
              <a:defRPr sz="700"/>
            </a:lvl6pPr>
            <a:lvl7pPr marL="2057348" indent="0">
              <a:buNone/>
              <a:defRPr sz="700"/>
            </a:lvl7pPr>
            <a:lvl8pPr marL="2400240" indent="0">
              <a:buNone/>
              <a:defRPr sz="700"/>
            </a:lvl8pPr>
            <a:lvl9pPr marL="2743132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7A090-BAD4-4341-AC7F-A731585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9B4F5-F495-445A-AD57-B1A0CC0A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80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80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13C1C-2065-443A-845F-EE82C0FEF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9050"/>
            <a:ext cx="91440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79" tIns="34289" rIns="68579" bIns="342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47750"/>
            <a:ext cx="8534400" cy="354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4683919"/>
            <a:ext cx="16002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4683919"/>
            <a:ext cx="21717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4683919"/>
            <a:ext cx="16002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529FA7E6-6E6F-4B77-AE36-D459A899D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773431"/>
            <a:ext cx="9144000" cy="4571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79" tIns="34289" rIns="68579" bIns="34289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68" indent="-25716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557199" indent="-21430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100">
          <a:solidFill>
            <a:schemeClr val="tx1"/>
          </a:solidFill>
          <a:latin typeface="Calibri" pitchFamily="34" charset="0"/>
        </a:defRPr>
      </a:lvl2pPr>
      <a:lvl3pPr marL="857228" indent="-17144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>
          <a:solidFill>
            <a:schemeClr val="tx1"/>
          </a:solidFill>
          <a:latin typeface="Calibri" pitchFamily="34" charset="0"/>
        </a:defRPr>
      </a:lvl3pPr>
      <a:lvl4pPr marL="1200120" indent="-171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500">
          <a:solidFill>
            <a:schemeClr val="tx1"/>
          </a:solidFill>
          <a:latin typeface="Calibri" pitchFamily="34" charset="0"/>
        </a:defRPr>
      </a:lvl4pPr>
      <a:lvl5pPr marL="1543012" indent="-17144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Calibri" pitchFamily="34" charset="0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ic Series: Support Vector Machines | Machine Learning, Deep Learning,  and Computer Vision">
            <a:extLst>
              <a:ext uri="{FF2B5EF4-FFF2-40B4-BE49-F238E27FC236}">
                <a16:creationId xmlns:a16="http://schemas.microsoft.com/office/drawing/2014/main" id="{E9278199-9ABC-4552-B885-1F27D7503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1163359"/>
            <a:ext cx="2676525" cy="378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09550"/>
            <a:ext cx="9144000" cy="1102519"/>
          </a:xfrm>
        </p:spPr>
        <p:txBody>
          <a:bodyPr/>
          <a:lstStyle/>
          <a:p>
            <a:pPr eaLnBrk="1" hangingPunct="1"/>
            <a:r>
              <a:rPr lang="en-US"/>
              <a:t>CS </a:t>
            </a:r>
            <a:r>
              <a:rPr lang="en-US" dirty="0"/>
              <a:t>445: Machine Learning</a:t>
            </a:r>
            <a:br>
              <a:rPr lang="en-US" dirty="0"/>
            </a:br>
            <a:endParaRPr lang="en-US" sz="27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804317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Support Vector Machines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143000" y="4686301"/>
            <a:ext cx="4400550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79" tIns="34289" rIns="68579" bIns="34289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D1CE-4111-4F17-9E6F-66E5F52D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 -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9855-115F-4A63-90B4-CC5A75B93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459" y="1074008"/>
            <a:ext cx="3233351" cy="3546873"/>
          </a:xfrm>
        </p:spPr>
        <p:txBody>
          <a:bodyPr/>
          <a:lstStyle/>
          <a:p>
            <a:r>
              <a:rPr lang="en-US" sz="2000" dirty="0"/>
              <a:t>To which class would each decision boundary assign the new instance?</a:t>
            </a:r>
          </a:p>
          <a:p>
            <a:endParaRPr lang="en-US" sz="2000" dirty="0"/>
          </a:p>
          <a:p>
            <a:r>
              <a:rPr lang="en-US" sz="2000" dirty="0"/>
              <a:t>Which decision boundary would you choose to separate data?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857F9-1D1D-4175-BF39-0EA0686C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90" y="1047750"/>
            <a:ext cx="4500259" cy="399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2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93EB-11EC-4EB3-8FA2-54028FA1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050"/>
            <a:ext cx="9144000" cy="914400"/>
          </a:xfrm>
        </p:spPr>
        <p:txBody>
          <a:bodyPr/>
          <a:lstStyle/>
          <a:p>
            <a:r>
              <a:rPr lang="en-US" dirty="0"/>
              <a:t>Support Vector Machines -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56D4D-72DA-4D3A-A0D4-E801E53D1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0" y="742950"/>
            <a:ext cx="4190999" cy="4495800"/>
          </a:xfrm>
        </p:spPr>
        <p:txBody>
          <a:bodyPr/>
          <a:lstStyle/>
          <a:p>
            <a:r>
              <a:rPr lang="en-US" sz="1800" dirty="0"/>
              <a:t>Choose </a:t>
            </a:r>
            <a:r>
              <a:rPr lang="en-US" sz="1800" dirty="0">
                <a:solidFill>
                  <a:srgbClr val="FF0000"/>
                </a:solidFill>
              </a:rPr>
              <a:t>hyperplane</a:t>
            </a:r>
            <a:r>
              <a:rPr lang="en-US" sz="1800" dirty="0"/>
              <a:t> that maximizes the “margin” width</a:t>
            </a:r>
          </a:p>
          <a:p>
            <a:r>
              <a:rPr lang="en-US" sz="1800" dirty="0"/>
              <a:t>Margin </a:t>
            </a:r>
            <a:r>
              <a:rPr lang="en-US" sz="1800" dirty="0">
                <a:sym typeface="Wingdings" panose="05000000000000000000" pitchFamily="2" charset="2"/>
              </a:rPr>
              <a:t> distance between the decision boundary (i.e., parallel to hyperplane) and training instances (“support vectors”) closest to the hyperplane</a:t>
            </a:r>
          </a:p>
          <a:p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SVM: creates BOTH hyperplane AND margin</a:t>
            </a:r>
          </a:p>
          <a:p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Support vectors: controls/defines the margin</a:t>
            </a:r>
          </a:p>
          <a:p>
            <a:r>
              <a:rPr lang="en-US" sz="1800" dirty="0">
                <a:sym typeface="Wingdings" panose="05000000000000000000" pitchFamily="2" charset="2"/>
              </a:rPr>
              <a:t>Create more generalized model: Low variance</a:t>
            </a:r>
          </a:p>
          <a:p>
            <a:r>
              <a:rPr lang="en-US" sz="1800" dirty="0">
                <a:sym typeface="Wingdings" panose="05000000000000000000" pitchFamily="2" charset="2"/>
              </a:rPr>
              <a:t>Linearly separable points</a:t>
            </a:r>
          </a:p>
          <a:p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Maximum margin classifier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87A51-ADCE-4A9C-948C-5B679D0DCE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198"/>
          <a:stretch/>
        </p:blipFill>
        <p:spPr>
          <a:xfrm>
            <a:off x="42593" y="1047750"/>
            <a:ext cx="4834207" cy="3943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5C602-7E3F-33B8-DBBF-FBEBE502FFEE}"/>
              </a:ext>
            </a:extLst>
          </p:cNvPr>
          <p:cNvSpPr txBox="1"/>
          <p:nvPr/>
        </p:nvSpPr>
        <p:spPr>
          <a:xfrm>
            <a:off x="2819400" y="863084"/>
            <a:ext cx="4582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Hyperplane/decision</a:t>
            </a:r>
          </a:p>
          <a:p>
            <a:r>
              <a:rPr lang="en-US" dirty="0">
                <a:solidFill>
                  <a:srgbClr val="FF0000"/>
                </a:solidFill>
              </a:rPr>
              <a:t>boundary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24244-291D-5555-343A-A2F546BABAF6}"/>
              </a:ext>
            </a:extLst>
          </p:cNvPr>
          <p:cNvCxnSpPr>
            <a:stCxn id="6" idx="1"/>
          </p:cNvCxnSpPr>
          <p:nvPr/>
        </p:nvCxnSpPr>
        <p:spPr>
          <a:xfrm flipH="1">
            <a:off x="2623584" y="1186250"/>
            <a:ext cx="195816" cy="509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23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3A2D-68BF-4E26-856A-7183B9F1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63345-326D-4C1A-98C3-CADF56CE5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893" y="875129"/>
            <a:ext cx="3098041" cy="4095749"/>
          </a:xfrm>
        </p:spPr>
        <p:txBody>
          <a:bodyPr/>
          <a:lstStyle/>
          <a:p>
            <a:r>
              <a:rPr lang="en-US" sz="2000" dirty="0"/>
              <a:t>Linear or nonlinear classification, regression, outlier detection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Excellent for small or medium sized datasets</a:t>
            </a:r>
          </a:p>
          <a:p>
            <a:r>
              <a:rPr lang="en-US" sz="2000" dirty="0"/>
              <a:t>Large margin classification - fit the widest possible street between the classes</a:t>
            </a:r>
          </a:p>
          <a:p>
            <a:r>
              <a:rPr lang="en-US" sz="2000" dirty="0"/>
              <a:t>More instances “off-the-street” does not affect decision boundary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45369-E5C5-457E-BEE6-132A2D4F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641" y="875129"/>
            <a:ext cx="5867400" cy="1861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59F3D-71CC-43D1-A872-3AF84364D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641" y="2758766"/>
            <a:ext cx="5715000" cy="193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BDF5-DFBF-4C55-8E1F-1716B97F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Margin vs Soft Margin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C9638-B668-41A2-9897-6512B5D0E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9144000" cy="4305300"/>
          </a:xfrm>
        </p:spPr>
        <p:txBody>
          <a:bodyPr/>
          <a:lstStyle/>
          <a:p>
            <a:r>
              <a:rPr lang="en-US" sz="1800" dirty="0"/>
              <a:t>When the data is linearly separable, and we </a:t>
            </a:r>
            <a:r>
              <a:rPr lang="en-US" sz="1800" dirty="0">
                <a:solidFill>
                  <a:srgbClr val="FF0000"/>
                </a:solidFill>
              </a:rPr>
              <a:t>don’t want to have any misclassifications</a:t>
            </a:r>
            <a:r>
              <a:rPr lang="en-US" sz="1800" dirty="0"/>
              <a:t>, we use SVM with a hard margin. </a:t>
            </a:r>
          </a:p>
          <a:p>
            <a:r>
              <a:rPr lang="en-US" sz="1800" dirty="0"/>
              <a:t>However, when a linear boundary is not feasible, or we want to allow some misclassifications in the hope of achieving </a:t>
            </a:r>
            <a:r>
              <a:rPr lang="en-US" sz="1800" dirty="0">
                <a:solidFill>
                  <a:srgbClr val="FF0000"/>
                </a:solidFill>
              </a:rPr>
              <a:t>better generality</a:t>
            </a:r>
            <a:r>
              <a:rPr lang="en-US" sz="1800" dirty="0"/>
              <a:t>, we can opt for a soft margin for our classifier.</a:t>
            </a:r>
          </a:p>
          <a:p>
            <a:r>
              <a:rPr lang="en-US" sz="1800" dirty="0"/>
              <a:t>Hard margin: No data points are allowed in the margin areas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2B8C8-9D83-DAEC-68BB-46FE45FE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4" r="1586" b="25747"/>
          <a:stretch/>
        </p:blipFill>
        <p:spPr>
          <a:xfrm>
            <a:off x="0" y="2419351"/>
            <a:ext cx="4465320" cy="2724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DAF9F2-987C-194B-2AE7-98C31E6A819A}"/>
              </a:ext>
            </a:extLst>
          </p:cNvPr>
          <p:cNvSpPr txBox="1"/>
          <p:nvPr/>
        </p:nvSpPr>
        <p:spPr>
          <a:xfrm>
            <a:off x="4449904" y="2419350"/>
            <a:ext cx="46393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Hard margin: Hyperplane/decision boundary – Low marginal distance/width – High variance – Not generalizing</a:t>
            </a:r>
          </a:p>
          <a:p>
            <a:r>
              <a:rPr lang="en-US" dirty="0"/>
              <a:t>Low bias – No training error</a:t>
            </a:r>
            <a:r>
              <a:rPr lang="en-US" sz="1800" dirty="0"/>
              <a:t> </a:t>
            </a:r>
          </a:p>
          <a:p>
            <a:r>
              <a:rPr lang="en-US" dirty="0"/>
              <a:t>No misclassification/error is allowed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44536E-A204-1AAA-13E0-95BAFD96CF8C}"/>
                  </a:ext>
                </a:extLst>
              </p:cNvPr>
              <p:cNvSpPr txBox="1"/>
              <p:nvPr/>
            </p:nvSpPr>
            <p:spPr>
              <a:xfrm>
                <a:off x="4465320" y="3836050"/>
                <a:ext cx="463933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</a:rPr>
                  <a:t>Soft margin: Hyperplane/decision boundary – High marginal distance/width – Low variance – Generalizing: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</a:rPr>
                  <a:t> = # of </a:t>
                </a:r>
                <a:r>
                  <a:rPr lang="en-US" dirty="0">
                    <a:solidFill>
                      <a:srgbClr val="FF0000"/>
                    </a:solidFill>
                  </a:rPr>
                  <a:t>misclassification/error allowed</a:t>
                </a:r>
                <a:r>
                  <a:rPr lang="en-US" sz="1800" dirty="0">
                    <a:solidFill>
                      <a:srgbClr val="FF0000"/>
                    </a:solidFill>
                  </a:rPr>
                  <a:t>  </a:t>
                </a:r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44536E-A204-1AAA-13E0-95BAFD96C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20" y="3836050"/>
                <a:ext cx="4639338" cy="1200329"/>
              </a:xfrm>
              <a:prstGeom prst="rect">
                <a:avLst/>
              </a:prstGeom>
              <a:blipFill>
                <a:blip r:embed="rId3"/>
                <a:stretch>
                  <a:fillRect l="-1183" t="-2538" r="-78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611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1717-C23B-46E6-9AFF-01AD0A05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Margin Classifier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FED02-8E99-42F0-977E-77BAB292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9144000" cy="4305300"/>
          </a:xfrm>
        </p:spPr>
        <p:txBody>
          <a:bodyPr/>
          <a:lstStyle/>
          <a:p>
            <a:r>
              <a:rPr lang="en-US" sz="2000" dirty="0"/>
              <a:t>SVM Optimization problem:</a:t>
            </a:r>
          </a:p>
          <a:p>
            <a:endParaRPr lang="en-US" sz="20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C4DD9-440F-4E31-A036-CEE54B211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00150"/>
            <a:ext cx="6439756" cy="2962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FB82C5-1F42-4E3F-A5FE-1FF4B97724D4}"/>
              </a:ext>
            </a:extLst>
          </p:cNvPr>
          <p:cNvSpPr txBox="1"/>
          <p:nvPr/>
        </p:nvSpPr>
        <p:spPr>
          <a:xfrm>
            <a:off x="5197696" y="1809750"/>
            <a:ext cx="3946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Equation of a line: standard/matrix 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80C4E3-4A30-4ECD-AF58-4CFCC0B1F889}"/>
                  </a:ext>
                </a:extLst>
              </p:cNvPr>
              <p:cNvSpPr txBox="1"/>
              <p:nvPr/>
            </p:nvSpPr>
            <p:spPr>
              <a:xfrm>
                <a:off x="0" y="4211419"/>
                <a:ext cx="63703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is the weight vector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= slope/coefficient/gradient</a:t>
                </a:r>
                <a:endParaRPr lang="en-US" sz="1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is the scaler bias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 = intercept/bias/constant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80C4E3-4A30-4ECD-AF58-4CFCC0B1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11419"/>
                <a:ext cx="6370320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37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1717-C23B-46E6-9AFF-01AD0A05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Margin Classifier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FED02-8E99-42F0-977E-77BAB292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9144000" cy="4305300"/>
          </a:xfrm>
        </p:spPr>
        <p:txBody>
          <a:bodyPr/>
          <a:lstStyle/>
          <a:p>
            <a:r>
              <a:rPr lang="en-US" sz="2000" dirty="0"/>
              <a:t>SVM Optimization problem:</a:t>
            </a:r>
          </a:p>
          <a:p>
            <a:endParaRPr lang="en-US" sz="20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C4DD9-440F-4E31-A036-CEE54B211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4910" y="1200150"/>
            <a:ext cx="5608335" cy="29626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2B9310-6441-4159-A530-E29F0EEAB219}"/>
              </a:ext>
            </a:extLst>
          </p:cNvPr>
          <p:cNvCxnSpPr>
            <a:cxnSpLocks/>
          </p:cNvCxnSpPr>
          <p:nvPr/>
        </p:nvCxnSpPr>
        <p:spPr>
          <a:xfrm flipV="1">
            <a:off x="3962400" y="2266951"/>
            <a:ext cx="1143000" cy="8381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4DCC60-6160-49E4-9158-3037F5133025}"/>
              </a:ext>
            </a:extLst>
          </p:cNvPr>
          <p:cNvCxnSpPr>
            <a:cxnSpLocks/>
          </p:cNvCxnSpPr>
          <p:nvPr/>
        </p:nvCxnSpPr>
        <p:spPr>
          <a:xfrm flipV="1">
            <a:off x="3276600" y="2561734"/>
            <a:ext cx="1924477" cy="619616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840016-1482-4817-B5B2-AE7853EB85BB}"/>
              </a:ext>
            </a:extLst>
          </p:cNvPr>
          <p:cNvSpPr txBox="1"/>
          <p:nvPr/>
        </p:nvSpPr>
        <p:spPr>
          <a:xfrm>
            <a:off x="6553200" y="329146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latin typeface="+mj-lt"/>
              </a:rPr>
              <a:t>Goal: maxi</a:t>
            </a:r>
            <a:r>
              <a:rPr lang="en-US" i="0" dirty="0">
                <a:solidFill>
                  <a:srgbClr val="FF0000"/>
                </a:solidFill>
                <a:latin typeface="+mj-lt"/>
              </a:rPr>
              <a:t>mize 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97106C-D334-495E-8604-97526E71692C}"/>
                  </a:ext>
                </a:extLst>
              </p:cNvPr>
              <p:cNvSpPr txBox="1"/>
              <p:nvPr/>
            </p:nvSpPr>
            <p:spPr>
              <a:xfrm>
                <a:off x="0" y="3924623"/>
                <a:ext cx="9144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: Positive margin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/>
                  <a:t>: Negative </a:t>
                </a:r>
                <a:r>
                  <a:rPr lang="en-US" dirty="0"/>
                  <a:t>margin</a:t>
                </a:r>
                <a:r>
                  <a:rPr lang="en-US" sz="1800" dirty="0">
                    <a:solidFill>
                      <a:schemeClr val="tx1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97106C-D334-495E-8604-97526E716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24623"/>
                <a:ext cx="9144000" cy="923330"/>
              </a:xfrm>
              <a:prstGeom prst="rect">
                <a:avLst/>
              </a:prstGeom>
              <a:blipFill>
                <a:blip r:embed="rId3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47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1717-C23B-46E6-9AFF-01AD0A05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Margin Classifier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FED02-8E99-42F0-977E-77BAB292DB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9144000" cy="3756423"/>
              </a:xfrm>
            </p:spPr>
            <p:txBody>
              <a:bodyPr/>
              <a:lstStyle/>
              <a:p>
                <a:r>
                  <a:rPr lang="en-US" sz="2000" dirty="0"/>
                  <a:t>Constrained Optimization problem:</a:t>
                </a:r>
                <a:endParaRPr lang="en-US" sz="2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𝑚𝑎𝑥𝑖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mize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ⅈ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mize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Subject to the following constraint: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d>
                            <m:d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ⅈ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e>
                        </m:d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1 for negative instances, and +1 for positive instances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the weight vector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= slope/coefficient/gradient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the scaler bias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intercept/bias/constant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FED02-8E99-42F0-977E-77BAB292DB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9144000" cy="3756423"/>
              </a:xfrm>
              <a:blipFill>
                <a:blip r:embed="rId2"/>
                <a:stretch>
                  <a:fillRect l="-867" t="-1299" b="-11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56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D00A-C8C0-4B6C-8787-46510227F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E24CA-0A35-4ECE-AA0C-E6DDF99F6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0759"/>
            <a:ext cx="9144000" cy="3546873"/>
          </a:xfrm>
        </p:spPr>
        <p:txBody>
          <a:bodyPr/>
          <a:lstStyle/>
          <a:p>
            <a:r>
              <a:rPr lang="en-US" sz="1800" dirty="0"/>
              <a:t>Can’t strictly enforce all training data to be on the correct side of the decision boundary (hard margin classification) – only works if it’s linearly separable</a:t>
            </a:r>
          </a:p>
          <a:p>
            <a:r>
              <a:rPr lang="en-US" sz="1800" dirty="0"/>
              <a:t>Adversely affected by outliers</a:t>
            </a:r>
          </a:p>
          <a:p>
            <a:r>
              <a:rPr lang="en-US" sz="1800" dirty="0"/>
              <a:t>Keep margin as wide as possible, while limiting margin violations</a:t>
            </a:r>
          </a:p>
          <a:p>
            <a:r>
              <a:rPr lang="en-US" sz="1800" dirty="0">
                <a:solidFill>
                  <a:srgbClr val="FF0000"/>
                </a:solidFill>
              </a:rPr>
              <a:t>C </a:t>
            </a:r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 hyperparameter controlling number of margin violations/</a:t>
            </a:r>
            <a:r>
              <a:rPr lang="en-US" sz="1800" dirty="0">
                <a:solidFill>
                  <a:srgbClr val="FF0000"/>
                </a:solidFill>
              </a:rPr>
              <a:t> allowed misclassification/error</a:t>
            </a:r>
          </a:p>
          <a:p>
            <a:r>
              <a:rPr lang="en-US" sz="1800" dirty="0">
                <a:solidFill>
                  <a:srgbClr val="FF0000"/>
                </a:solidFill>
              </a:rPr>
              <a:t>Penalty for allowed misclassification/error</a:t>
            </a:r>
          </a:p>
          <a:p>
            <a:r>
              <a:rPr lang="en-US" sz="1800" dirty="0">
                <a:solidFill>
                  <a:srgbClr val="FF0000"/>
                </a:solidFill>
              </a:rPr>
              <a:t>Penalty depends on the distance of the misclassification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point from its correct margin = slack variable (</a:t>
            </a:r>
            <a:r>
              <a:rPr lang="el-GR" sz="1800" dirty="0">
                <a:solidFill>
                  <a:srgbClr val="FF0000"/>
                </a:solidFill>
              </a:rPr>
              <a:t>ζ</a:t>
            </a:r>
            <a:r>
              <a:rPr lang="en-US" sz="1800" dirty="0">
                <a:solidFill>
                  <a:srgbClr val="FF0000"/>
                </a:solidFill>
              </a:rPr>
              <a:t>) zeta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6" name="Picture 5" descr="Chart, radar chart, scatter chart&#10;&#10;Description automatically generated">
            <a:extLst>
              <a:ext uri="{FF2B5EF4-FFF2-40B4-BE49-F238E27FC236}">
                <a16:creationId xmlns:a16="http://schemas.microsoft.com/office/drawing/2014/main" id="{8CF2A809-60DC-DF3B-32E5-98B966B29C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19805"/>
          <a:stretch/>
        </p:blipFill>
        <p:spPr>
          <a:xfrm>
            <a:off x="6248400" y="2730789"/>
            <a:ext cx="2743998" cy="2375940"/>
          </a:xfrm>
          <a:prstGeom prst="rect">
            <a:avLst/>
          </a:prstGeom>
        </p:spPr>
      </p:pic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95CDA67A-250D-4265-9128-AED17F69BF8D}"/>
              </a:ext>
            </a:extLst>
          </p:cNvPr>
          <p:cNvCxnSpPr>
            <a:cxnSpLocks/>
          </p:cNvCxnSpPr>
          <p:nvPr/>
        </p:nvCxnSpPr>
        <p:spPr>
          <a:xfrm>
            <a:off x="4953000" y="3486150"/>
            <a:ext cx="2057400" cy="83820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42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E51B-37CE-409D-801A-23572312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836FBA-EF6E-4364-9F2B-53170C595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Slope of the decision function is equal to the norm of the weight vector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sz="2000" b="1" dirty="0"/>
              </a:p>
              <a:p>
                <a:r>
                  <a:rPr lang="en-US" sz="2000" dirty="0"/>
                  <a:t>Smaller weight vector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000" dirty="0"/>
                  <a:t> means larger margin </a:t>
                </a:r>
              </a:p>
              <a:p>
                <a:r>
                  <a:rPr lang="en-US" sz="2000" dirty="0"/>
                  <a:t>Minimize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to get a large margin, while avoiding margin violations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836FBA-EF6E-4364-9F2B-53170C595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9" t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6C14EC2-6582-454A-A583-C49A6F50C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419350"/>
            <a:ext cx="66770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7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1717-C23B-46E6-9AFF-01AD0A05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Classifier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FED02-8E99-42F0-977E-77BAB292DB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Introduce a slack 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/>
                  <a:t>c for each instance – measure of how much the </a:t>
                </a:r>
                <a:r>
                  <a:rPr lang="en-US" sz="2000" dirty="0" err="1"/>
                  <a:t>i</a:t>
                </a:r>
                <a:r>
                  <a:rPr lang="en-US" sz="2000" baseline="30000" dirty="0" err="1"/>
                  <a:t>th</a:t>
                </a:r>
                <a:r>
                  <a:rPr lang="en-US" sz="2000" dirty="0"/>
                  <a:t> instance is allowed to violate the margin: Hinge Loss</a:t>
                </a:r>
                <a:endParaRPr lang="en-US" sz="2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lim>
                      </m:limLow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ⅈ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mize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Subject to the following constraint: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d>
                            <m:d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ⅈ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= Regularization parameter = </a:t>
                </a:r>
                <a:r>
                  <a:rPr lang="en-US" sz="2000" dirty="0"/>
                  <a:t>hyperparameter.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5FED02-8E99-42F0-977E-77BAB292DB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9" t="-859" r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2A90BA3-6DAD-B903-260E-7710160AC337}"/>
              </a:ext>
            </a:extLst>
          </p:cNvPr>
          <p:cNvSpPr/>
          <p:nvPr/>
        </p:nvSpPr>
        <p:spPr>
          <a:xfrm>
            <a:off x="5257800" y="1733550"/>
            <a:ext cx="1295400" cy="99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E14EB1-C57F-2FDD-7557-3CE5567CF5E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553200" y="2228850"/>
            <a:ext cx="76200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11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1717-C23B-46E6-9AFF-01AD0A05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Classifier Objective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519EAE-2BBE-4587-8FE6-3B7222BC2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82" y="971550"/>
            <a:ext cx="5979555" cy="3405187"/>
          </a:xfrm>
        </p:spPr>
      </p:pic>
    </p:spTree>
    <p:extLst>
      <p:ext uri="{BB962C8B-B14F-4D97-AF65-F5344CB8AC3E}">
        <p14:creationId xmlns:p14="http://schemas.microsoft.com/office/powerpoint/2010/main" val="38614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9B181F-3270-4543-839F-C2D65114A88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SVM Kernel: Nonlinear Transformations – 1D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2D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9B181F-3270-4543-839F-C2D65114A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3" r="-67" b="-9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F2AF-D4D3-4681-BD57-F22202BE4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9144000" cy="4305300"/>
          </a:xfrm>
        </p:spPr>
        <p:txBody>
          <a:bodyPr/>
          <a:lstStyle/>
          <a:p>
            <a:r>
              <a:rPr lang="en-US" sz="2000" dirty="0"/>
              <a:t>If data isn’t linearly separable in the original space </a:t>
            </a:r>
            <a:r>
              <a:rPr lang="en-US" sz="2000" dirty="0">
                <a:sym typeface="Wingdings" panose="05000000000000000000" pitchFamily="2" charset="2"/>
              </a:rPr>
              <a:t> map it to a higher dimensional feature space: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Kernel trick: convert low dimension to higher dimension 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56CE4-94BC-48AF-9ACF-19D660EB6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43960"/>
            <a:ext cx="5619750" cy="2699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188E9B4-5786-4F73-A930-43C6C5DAA37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941026" y="1917222"/>
                <a:ext cx="3048000" cy="46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8579" tIns="34289" rIns="68579" bIns="34289" numCol="1" anchor="t" anchorCtr="0" compatLnSpc="1">
                <a:prstTxWarp prst="textNoShape">
                  <a:avLst/>
                </a:prstTxWarp>
              </a:bodyPr>
              <a:lstStyle>
                <a:lvl1pPr marL="257168" indent="-25716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2400">
                    <a:solidFill>
                      <a:schemeClr val="accent2"/>
                    </a:solidFill>
                    <a:latin typeface="Calibri" pitchFamily="34" charset="0"/>
                    <a:ea typeface="+mn-ea"/>
                    <a:cs typeface="+mn-cs"/>
                  </a:defRPr>
                </a:lvl1pPr>
                <a:lvl2pPr marL="557199" indent="-21430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 sz="21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857228" indent="-171446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8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200120" indent="-171446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1543012" indent="-171446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1885903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6pPr>
                <a:lvl7pPr marL="2228795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7pPr>
                <a:lvl8pPr marL="2571686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8pPr>
                <a:lvl9pPr marL="2914577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000" kern="0" dirty="0"/>
                  <a:t>Original data isn’t linearly separable</a:t>
                </a:r>
              </a:p>
              <a:p>
                <a:r>
                  <a:rPr lang="en-US" sz="2000" kern="0" dirty="0"/>
                  <a:t>Apply nonlinear transformation as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kern="0" dirty="0"/>
                  <a:t> </a:t>
                </a:r>
                <a:r>
                  <a:rPr lang="en-US" sz="2000" kern="0" dirty="0">
                    <a:sym typeface="Wingdings" panose="05000000000000000000" pitchFamily="2" charset="2"/>
                  </a:rPr>
                  <a:t> we can draw a linear decision boundary!</a:t>
                </a:r>
              </a:p>
              <a:p>
                <a:r>
                  <a:rPr lang="en-US" sz="2000" kern="0" dirty="0">
                    <a:sym typeface="Wingdings" panose="05000000000000000000" pitchFamily="2" charset="2"/>
                  </a:rPr>
                  <a:t>Several functions  possible to map the data to higher dimensions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188E9B4-5786-4F73-A930-43C6C5DAA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1026" y="1917222"/>
                <a:ext cx="3048000" cy="4660387"/>
              </a:xfrm>
              <a:prstGeom prst="rect">
                <a:avLst/>
              </a:prstGeom>
              <a:blipFill>
                <a:blip r:embed="rId5"/>
                <a:stretch>
                  <a:fillRect l="-2600" t="-1047" r="-4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81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223271-5CFF-4277-A911-1378B1BD30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Nonlinear Transformations – 2D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3D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223271-5CFF-4277-A911-1378B1BD3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13223-049A-4BE6-B688-7169E8E64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Applying a second-degree polynomial mapping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𝜙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𝒙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𝜙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Note: Transformed vector is 3D!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F13223-049A-4BE6-B688-7169E8E64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9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819925-9A1A-49D9-A34E-B2D256562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1" y="2952750"/>
            <a:ext cx="2915802" cy="2190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16562C-9F86-444D-9633-3B78832FA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720957"/>
            <a:ext cx="4946822" cy="242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3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0953-D01B-4CBF-905C-46343B68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9F04-9857-4376-8505-4C35AE84F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Kernel function </a:t>
            </a:r>
            <a:r>
              <a:rPr lang="en-US" sz="1800" dirty="0">
                <a:sym typeface="Wingdings" panose="05000000000000000000" pitchFamily="2" charset="2"/>
              </a:rPr>
              <a:t> takes vectors in the original lower dimensional space as inputs, and returns the dot product of the transformed vectors in the higher dimensional feature space</a:t>
            </a:r>
            <a:r>
              <a:rPr lang="en-US" sz="1800" dirty="0"/>
              <a:t> </a:t>
            </a:r>
          </a:p>
          <a:p>
            <a:r>
              <a:rPr lang="en-US" sz="1800" dirty="0"/>
              <a:t>Consider a couple of 2D vectors </a:t>
            </a:r>
            <a:r>
              <a:rPr lang="en-US" sz="1800" b="1" dirty="0"/>
              <a:t>a, b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9EB9C-4B65-466E-82A0-068BC05E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343150"/>
            <a:ext cx="4703059" cy="20020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D99705E-A43D-46D0-9C2C-65564189E1E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832805" y="1885950"/>
                <a:ext cx="3983741" cy="1652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8579" tIns="34289" rIns="68579" bIns="34289" numCol="1" anchor="t" anchorCtr="0" compatLnSpc="1">
                <a:prstTxWarp prst="textNoShape">
                  <a:avLst/>
                </a:prstTxWarp>
              </a:bodyPr>
              <a:lstStyle>
                <a:lvl1pPr marL="257168" indent="-25716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2400">
                    <a:solidFill>
                      <a:schemeClr val="accent2"/>
                    </a:solidFill>
                    <a:latin typeface="Calibri" pitchFamily="34" charset="0"/>
                    <a:ea typeface="+mn-ea"/>
                    <a:cs typeface="+mn-cs"/>
                  </a:defRPr>
                </a:lvl1pPr>
                <a:lvl2pPr marL="557199" indent="-21430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 sz="21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857228" indent="-171446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8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200120" indent="-171446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1543012" indent="-171446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1885903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6pPr>
                <a:lvl7pPr marL="2228795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7pPr>
                <a:lvl8pPr marL="2571686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8pPr>
                <a:lvl9pPr marL="2914577" indent="-171446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5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1800" kern="0" dirty="0"/>
                  <a:t>Dot product of transformed vectors is equal to the square of the dot product of the original vectors</a:t>
                </a:r>
              </a:p>
              <a:p>
                <a:r>
                  <a:rPr lang="en-US" sz="1800" dirty="0"/>
                  <a:t>The kernel is any function that’s capable of computing the dot product without having to compute (or know at all) the transformation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</m:oMath>
                </a14:m>
                <a:endParaRPr lang="en-US" sz="1800" dirty="0"/>
              </a:p>
              <a:p>
                <a:endParaRPr lang="en-US" sz="2000" kern="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D99705E-A43D-46D0-9C2C-65564189E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2805" y="1885950"/>
                <a:ext cx="3983741" cy="1652291"/>
              </a:xfrm>
              <a:prstGeom prst="rect">
                <a:avLst/>
              </a:prstGeom>
              <a:blipFill>
                <a:blip r:embed="rId4"/>
                <a:stretch>
                  <a:fillRect l="-1531" t="-2583" r="-3063" b="-302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259067F-FB8D-48AB-AEBD-73A2EF63C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681" y="3852417"/>
            <a:ext cx="2514600" cy="127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5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0953-D01B-4CBF-905C-46343B68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D9F04-9857-4376-8505-4C35AE84F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9144000" cy="4305300"/>
              </a:xfrm>
            </p:spPr>
            <p:txBody>
              <a:bodyPr/>
              <a:lstStyle/>
              <a:p>
                <a:pPr marL="256540" indent="-256540"/>
                <a:r>
                  <a:rPr lang="en-US" sz="1800" dirty="0">
                    <a:solidFill>
                      <a:srgbClr val="FF0000"/>
                    </a:solidFill>
                  </a:rPr>
                  <a:t>C</a:t>
                </a:r>
                <a:r>
                  <a:rPr lang="en-US" sz="1800" dirty="0"/>
                  <a:t>: float, default=1.0: Regularization/Hinge Loss parameter</a:t>
                </a:r>
                <a:endParaRPr lang="en-US" dirty="0"/>
              </a:p>
              <a:p>
                <a:pPr marL="256540" indent="-256540"/>
                <a:r>
                  <a:rPr lang="en-US" sz="1800" dirty="0">
                    <a:solidFill>
                      <a:srgbClr val="FF0000"/>
                    </a:solidFill>
                  </a:rPr>
                  <a:t>Kernel</a:t>
                </a:r>
                <a:r>
                  <a:rPr lang="en-US" sz="1800" dirty="0"/>
                  <a:t>: ‘linear’, ‘poly’, ‘</a:t>
                </a:r>
                <a:r>
                  <a:rPr lang="en-US" sz="1800" dirty="0" err="1"/>
                  <a:t>rbf</a:t>
                </a:r>
                <a:r>
                  <a:rPr lang="en-US" sz="1800" dirty="0"/>
                  <a:t>’, ‘sigmoid’, default=’</a:t>
                </a:r>
                <a:r>
                  <a:rPr lang="en-US" sz="1800" dirty="0" err="1"/>
                  <a:t>rbf</a:t>
                </a:r>
                <a:r>
                  <a:rPr lang="en-US" sz="1800" dirty="0"/>
                  <a:t>’</a:t>
                </a:r>
                <a:endParaRPr lang="en-US" sz="1800" dirty="0">
                  <a:cs typeface="Calibri" pitchFamily="34" charset="0"/>
                </a:endParaRPr>
              </a:p>
              <a:p>
                <a:pPr marL="256540" indent="-256540"/>
                <a:r>
                  <a:rPr lang="en-US" sz="1800" dirty="0"/>
                  <a:t>Specifies the kernel type to be used in the algorithm. If none is given, ‘</a:t>
                </a:r>
                <a:r>
                  <a:rPr lang="en-US" sz="1800" dirty="0" err="1"/>
                  <a:t>rbf</a:t>
                </a:r>
                <a:r>
                  <a:rPr lang="en-US" sz="1800" dirty="0"/>
                  <a:t>’ will be used</a:t>
                </a:r>
                <a:endParaRPr lang="en-US" sz="1800" dirty="0">
                  <a:cs typeface="Calibri" pitchFamily="34" charset="0"/>
                </a:endParaRPr>
              </a:p>
              <a:p>
                <a:pPr marL="256540" indent="-256540"/>
                <a:r>
                  <a:rPr lang="en-US" sz="1800" dirty="0">
                    <a:solidFill>
                      <a:srgbClr val="FF0000"/>
                    </a:solidFill>
                  </a:rPr>
                  <a:t>Degree 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</a:rPr>
                  <a:t>)</a:t>
                </a:r>
                <a:r>
                  <a:rPr lang="en-US" sz="1800" dirty="0"/>
                  <a:t>: default=3: Degree of the polynomial kernel function (‘poly’)</a:t>
                </a:r>
                <a:endParaRPr lang="en-US" sz="1800" dirty="0">
                  <a:cs typeface="Calibri" pitchFamily="34" charset="0"/>
                </a:endParaRPr>
              </a:p>
              <a:p>
                <a:pPr marL="256540" indent="-256540"/>
                <a:r>
                  <a:rPr lang="en-US" sz="1800" dirty="0">
                    <a:solidFill>
                      <a:srgbClr val="FF0000"/>
                    </a:solidFill>
                    <a:latin typeface="Calibri"/>
                    <a:cs typeface="Calibri"/>
                  </a:rPr>
                  <a:t>Gamma</a:t>
                </a:r>
                <a:r>
                  <a:rPr lang="en-US" sz="1800" dirty="0">
                    <a:latin typeface="Calibri"/>
                    <a:cs typeface="Calibri"/>
                  </a:rPr>
                  <a:t>: Controls how many data points will be considered for decision boundary</a:t>
                </a:r>
              </a:p>
              <a:p>
                <a:pPr marL="256540" indent="-256540"/>
                <a:r>
                  <a:rPr lang="en-US" sz="1800" dirty="0">
                    <a:latin typeface="Calibri"/>
                    <a:cs typeface="Calibri"/>
                  </a:rPr>
                  <a:t>RBF kernel:</a:t>
                </a:r>
              </a:p>
              <a:p>
                <a:pPr marL="256540" indent="-256540"/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/>
                      </a:rPr>
                      <m:t>𝑟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sz="1800" dirty="0">
                    <a:cs typeface="Calibri"/>
                  </a:rPr>
                  <a:t>= coef0 = Independent bias term in kernel function. It is only significant in ‘poly’ and ‘sigmoid’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D9F04-9857-4376-8505-4C35AE84F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9144000" cy="4305300"/>
              </a:xfrm>
              <a:blipFill>
                <a:blip r:embed="rId3"/>
                <a:stretch>
                  <a:fillRect l="-667" t="-1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5B1B45C6-77C2-3931-E834-6D7F608E8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2419350"/>
            <a:ext cx="2216573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D9E560-0699-4352-8F53-F7FACBBA2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730" y="3486150"/>
            <a:ext cx="308127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2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0953-D01B-4CBF-905C-46343B68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SVM Gamma</a:t>
            </a:r>
            <a:endParaRPr lang="en-US" dirty="0"/>
          </a:p>
        </p:txBody>
      </p:sp>
      <p:pic>
        <p:nvPicPr>
          <p:cNvPr id="4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32829D6-4848-57E1-374C-E24235D8F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6132" y="840244"/>
            <a:ext cx="5963010" cy="261905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F9F370-E02B-36A1-8023-907A600F91B1}"/>
              </a:ext>
            </a:extLst>
          </p:cNvPr>
          <p:cNvSpPr txBox="1"/>
          <p:nvPr/>
        </p:nvSpPr>
        <p:spPr>
          <a:xfrm>
            <a:off x="-2157" y="3852772"/>
            <a:ext cx="91489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Gamma</a:t>
            </a:r>
            <a:r>
              <a:rPr lang="en-US" sz="1800" dirty="0">
                <a:latin typeface="Calibri"/>
                <a:cs typeface="Calibri"/>
              </a:rPr>
              <a:t>: Controls how many data points will be considered for decision boundary</a:t>
            </a:r>
            <a:endParaRPr lang="en-US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High gamma</a:t>
            </a:r>
            <a:r>
              <a:rPr lang="en-US" dirty="0">
                <a:solidFill>
                  <a:srgbClr val="212529"/>
                </a:solidFill>
                <a:latin typeface="Calibri"/>
                <a:cs typeface="Calibri"/>
              </a:rPr>
              <a:t>: Only the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closest</a:t>
            </a:r>
            <a:r>
              <a:rPr lang="en-US" dirty="0">
                <a:solidFill>
                  <a:srgbClr val="212529"/>
                </a:solidFill>
                <a:latin typeface="Calibri"/>
                <a:cs typeface="Calibri"/>
              </a:rPr>
              <a:t> points (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less points</a:t>
            </a:r>
            <a:r>
              <a:rPr lang="en-US" dirty="0">
                <a:solidFill>
                  <a:srgbClr val="212529"/>
                </a:solidFill>
                <a:latin typeface="Calibri"/>
                <a:cs typeface="Calibri"/>
              </a:rPr>
              <a:t>) will be used to draw the decision boundary</a:t>
            </a:r>
            <a:endParaRPr lang="en-US" dirty="0">
              <a:solidFill>
                <a:srgbClr val="000000"/>
              </a:solidFill>
              <a:latin typeface="Calibri"/>
              <a:cs typeface="Arial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rgbClr val="FF0000"/>
                </a:solidFill>
                <a:latin typeface="Calibri"/>
                <a:cs typeface="Arial"/>
              </a:rPr>
              <a:t>Low gamma</a:t>
            </a:r>
            <a:r>
              <a:rPr lang="en-US" dirty="0">
                <a:solidFill>
                  <a:srgbClr val="212529"/>
                </a:solidFill>
                <a:latin typeface="Calibri"/>
                <a:cs typeface="Arial"/>
              </a:rPr>
              <a:t>: </a:t>
            </a:r>
            <a:r>
              <a:rPr lang="en-US" dirty="0">
                <a:solidFill>
                  <a:srgbClr val="FF0000"/>
                </a:solidFill>
                <a:latin typeface="Calibri"/>
                <a:cs typeface="Arial"/>
              </a:rPr>
              <a:t>Far away </a:t>
            </a:r>
            <a:r>
              <a:rPr lang="en-US" dirty="0">
                <a:solidFill>
                  <a:srgbClr val="212529"/>
                </a:solidFill>
                <a:latin typeface="Calibri"/>
                <a:cs typeface="Arial"/>
              </a:rPr>
              <a:t>points (</a:t>
            </a:r>
            <a:r>
              <a:rPr lang="en-US" dirty="0">
                <a:solidFill>
                  <a:srgbClr val="FF0000"/>
                </a:solidFill>
                <a:latin typeface="Calibri"/>
                <a:cs typeface="Arial"/>
              </a:rPr>
              <a:t>more points</a:t>
            </a:r>
            <a:r>
              <a:rPr lang="en-US" dirty="0">
                <a:solidFill>
                  <a:srgbClr val="212529"/>
                </a:solidFill>
                <a:latin typeface="Calibri"/>
                <a:cs typeface="Arial"/>
              </a:rPr>
              <a:t>) will be used to draw the decision boundary</a:t>
            </a: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9072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1085-D0BC-44D5-8D9D-FAED5FB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4723291" cy="3756423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Reverse objective from classification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try to fit as many instances as possible between the margin, while limiting margin violations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Margin/Width of the street is controlled by a hyperparameter (max error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sz="2000" dirty="0"/>
                  <a:t>For nonlinear regression tasks, use kernelized SVM model in SVR</a:t>
                </a:r>
              </a:p>
              <a:p>
                <a:r>
                  <a:rPr lang="en-US" sz="2000" dirty="0"/>
                  <a:t>Concerned about reducing error to a certain degree</a:t>
                </a:r>
              </a:p>
              <a:p>
                <a:r>
                  <a:rPr lang="en-US" dirty="0"/>
                  <a:t>Tune epsilon to gain the desired accuracy of our model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4723291" cy="3756423"/>
              </a:xfrm>
              <a:blipFill>
                <a:blip r:embed="rId2"/>
                <a:stretch>
                  <a:fillRect l="-2194" t="-1461" b="-13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6B3674-60C5-4217-BBBB-699FF068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91" y="895350"/>
            <a:ext cx="4410075" cy="20919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D2A05B-0CEA-426A-9ADC-B1D2A83DA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60" y="3105150"/>
            <a:ext cx="4427240" cy="199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7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1085-D0BC-44D5-8D9D-FAED5FB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4723291" cy="3756423"/>
              </a:xfrm>
            </p:spPr>
            <p:txBody>
              <a:bodyPr/>
              <a:lstStyle/>
              <a:p>
                <a:r>
                  <a:rPr lang="en-US" sz="2000" dirty="0"/>
                  <a:t>For nonlinear regression tasks, use kernelized SVM model in SVR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Hard margin SVR objective: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ⅈ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mize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Hard SVR Constraint: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̃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rgbClr val="FF0000"/>
                    </a:solidFill>
                  </a:rPr>
                  <a:t>Hyperparameter</a:t>
                </a:r>
                <a:r>
                  <a:rPr lang="en-US" sz="2000" dirty="0"/>
                  <a:t> = maximum error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4723291" cy="3756423"/>
              </a:xfrm>
              <a:blipFill>
                <a:blip r:embed="rId2"/>
                <a:stretch>
                  <a:fillRect l="-1677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6B3674-60C5-4217-BBBB-699FF068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91" y="895350"/>
            <a:ext cx="4410075" cy="20919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D2A05B-0CEA-426A-9ADC-B1D2A83DA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60" y="3105150"/>
            <a:ext cx="4427240" cy="199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2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1085-D0BC-44D5-8D9D-FAED5FB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47750"/>
                <a:ext cx="5257799" cy="3546873"/>
              </a:xfrm>
            </p:spPr>
            <p:txBody>
              <a:bodyPr/>
              <a:lstStyle/>
              <a:p>
                <a:r>
                  <a:rPr lang="en-US" sz="2000">
                    <a:solidFill>
                      <a:schemeClr val="tx1"/>
                    </a:solidFill>
                  </a:rPr>
                  <a:t>Soft </a:t>
                </a:r>
                <a:r>
                  <a:rPr lang="en-US" sz="2000" dirty="0">
                    <a:solidFill>
                      <a:schemeClr val="tx1"/>
                    </a:solidFill>
                  </a:rPr>
                  <a:t>margin SVR objective: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lim>
                    </m:limLow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ⅈ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mize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sz="2000" dirty="0"/>
              </a:p>
              <a:p>
                <a:r>
                  <a:rPr lang="en-US" sz="2000" dirty="0"/>
                  <a:t>Soft SVR Constraint: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47750"/>
                <a:ext cx="5257799" cy="3546873"/>
              </a:xfrm>
              <a:blipFill>
                <a:blip r:embed="rId2"/>
                <a:stretch>
                  <a:fillRect l="-1508" t="-3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581CFDE-59B6-4C61-A72B-B025F58E1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838200"/>
            <a:ext cx="4477049" cy="248336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218C7D-67FA-46FD-ACD3-C302785F7320}"/>
              </a:ext>
            </a:extLst>
          </p:cNvPr>
          <p:cNvCxnSpPr>
            <a:cxnSpLocks/>
          </p:cNvCxnSpPr>
          <p:nvPr/>
        </p:nvCxnSpPr>
        <p:spPr>
          <a:xfrm>
            <a:off x="3124200" y="2419350"/>
            <a:ext cx="213359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11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1085-D0BC-44D5-8D9D-FAED5FB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For Outlier/ Anomaly Detection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38200"/>
                <a:ext cx="9144000" cy="3756423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One-Class SVM: unsupervised model for anomaly or outlier detection. 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Unlike the regular supervised SVM, the one-class SVM does not have target labels for the model training process. 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Learns the boundary for the normal data points and identifies the data outside the border to be anomalies</a:t>
                </a:r>
              </a:p>
              <a:p>
                <a:r>
                  <a:rPr lang="en-US" sz="2000" dirty="0"/>
                  <a:t>Hyperparameter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𝑛𝑢</m:t>
                    </m:r>
                  </m:oMath>
                </a14:m>
                <a:r>
                  <a:rPr lang="en-US" sz="2000" dirty="0"/>
                  <a:t> is to specify the percentage of anomalies.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𝑛𝑢</m:t>
                    </m:r>
                  </m:oMath>
                </a14:m>
                <a:r>
                  <a:rPr lang="en-US" sz="2000" dirty="0"/>
                  <a:t>=0.01 means that we have around 1% outliers in the dataset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# of outlier = 6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2473F-79A8-4427-A353-2D44CC67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8200"/>
                <a:ext cx="9144000" cy="3756423"/>
              </a:xfrm>
              <a:blipFill>
                <a:blip r:embed="rId2"/>
                <a:stretch>
                  <a:fillRect l="-867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581CFDE-59B6-4C61-A72B-B025F58E1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600" y="2952292"/>
            <a:ext cx="2809240" cy="219120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2BE34E-C357-46AD-BA13-1CD7F0B84EE5}"/>
              </a:ext>
            </a:extLst>
          </p:cNvPr>
          <p:cNvCxnSpPr>
            <a:cxnSpLocks/>
          </p:cNvCxnSpPr>
          <p:nvPr/>
        </p:nvCxnSpPr>
        <p:spPr>
          <a:xfrm flipV="1">
            <a:off x="1905000" y="3105150"/>
            <a:ext cx="5562600" cy="3048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D0E68E-413C-4354-A0E7-5D642C614AE6}"/>
              </a:ext>
            </a:extLst>
          </p:cNvPr>
          <p:cNvCxnSpPr>
            <a:cxnSpLocks/>
          </p:cNvCxnSpPr>
          <p:nvPr/>
        </p:nvCxnSpPr>
        <p:spPr>
          <a:xfrm>
            <a:off x="1905000" y="3562350"/>
            <a:ext cx="472440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337200-4362-46A4-96B8-04C6030CB847}"/>
              </a:ext>
            </a:extLst>
          </p:cNvPr>
          <p:cNvCxnSpPr>
            <a:cxnSpLocks/>
          </p:cNvCxnSpPr>
          <p:nvPr/>
        </p:nvCxnSpPr>
        <p:spPr>
          <a:xfrm>
            <a:off x="1447800" y="3714750"/>
            <a:ext cx="6400800" cy="11430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70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err="1" smtClean="0"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dan-berkeley-nlp-v1</Template>
  <TotalTime>48433</TotalTime>
  <Words>1215</Words>
  <Application>Microsoft Office PowerPoint</Application>
  <PresentationFormat>On-screen Show (16:9)</PresentationFormat>
  <Paragraphs>124</Paragraphs>
  <Slides>21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</vt:lpstr>
      <vt:lpstr>Arial,Sans-Serif</vt:lpstr>
      <vt:lpstr>Calibri</vt:lpstr>
      <vt:lpstr>Cambria Math</vt:lpstr>
      <vt:lpstr>Wingdings</vt:lpstr>
      <vt:lpstr>dan-berkeley-nlp-v1</vt:lpstr>
      <vt:lpstr>CS 445: Machine Learning </vt:lpstr>
      <vt:lpstr>Support Vector Machine - Motivation</vt:lpstr>
      <vt:lpstr>Support Vector Machines - Motivation</vt:lpstr>
      <vt:lpstr>Support Vector Machine</vt:lpstr>
      <vt:lpstr>Hard Margin vs Soft Margin SVM</vt:lpstr>
      <vt:lpstr>Hard Margin Classifier Objective</vt:lpstr>
      <vt:lpstr>Hard Margin Classifier Objective</vt:lpstr>
      <vt:lpstr>Hard Margin Classifier Objective</vt:lpstr>
      <vt:lpstr>Soft Margin Classification</vt:lpstr>
      <vt:lpstr>Training Objective</vt:lpstr>
      <vt:lpstr>Soft Margin Classifier Objective</vt:lpstr>
      <vt:lpstr>Soft Margin Classifier Objective</vt:lpstr>
      <vt:lpstr>SVM Kernel: Nonlinear Transformations – 1D → 2D</vt:lpstr>
      <vt:lpstr>Nonlinear Transformations – 2D → 3D</vt:lpstr>
      <vt:lpstr>Kernel Trick</vt:lpstr>
      <vt:lpstr>SVM Hyperparameters</vt:lpstr>
      <vt:lpstr>SVM Gamma</vt:lpstr>
      <vt:lpstr>Support Vector Regression</vt:lpstr>
      <vt:lpstr>Support Vector Regression</vt:lpstr>
      <vt:lpstr>Support Vector Regression</vt:lpstr>
      <vt:lpstr>SVM For Outlier/ Anomaly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Riasat Khan</cp:lastModifiedBy>
  <cp:revision>1731</cp:revision>
  <cp:lastPrinted>2014-01-21T07:51:01Z</cp:lastPrinted>
  <dcterms:created xsi:type="dcterms:W3CDTF">2004-08-27T04:16:05Z</dcterms:created>
  <dcterms:modified xsi:type="dcterms:W3CDTF">2025-04-05T14:44:01Z</dcterms:modified>
</cp:coreProperties>
</file>