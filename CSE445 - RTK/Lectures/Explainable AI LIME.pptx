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sat Khan" userId="826ac62dfbb52e43" providerId="LiveId" clId="{E74F27F5-CBF2-4461-AE5D-BF8AAC0EAA6A}"/>
    <pc:docChg chg="custSel modSld">
      <pc:chgData name="Riasat Khan" userId="826ac62dfbb52e43" providerId="LiveId" clId="{E74F27F5-CBF2-4461-AE5D-BF8AAC0EAA6A}" dt="2023-05-22T02:36:54.981" v="33" actId="207"/>
      <pc:docMkLst>
        <pc:docMk/>
      </pc:docMkLst>
      <pc:sldChg chg="modSp mod">
        <pc:chgData name="Riasat Khan" userId="826ac62dfbb52e43" providerId="LiveId" clId="{E74F27F5-CBF2-4461-AE5D-BF8AAC0EAA6A}" dt="2023-05-22T02:36:54.981" v="33" actId="207"/>
        <pc:sldMkLst>
          <pc:docMk/>
          <pc:sldMk cId="706212990" sldId="260"/>
        </pc:sldMkLst>
        <pc:spChg chg="mod">
          <ac:chgData name="Riasat Khan" userId="826ac62dfbb52e43" providerId="LiveId" clId="{E74F27F5-CBF2-4461-AE5D-BF8AAC0EAA6A}" dt="2023-05-22T02:36:54.981" v="33" actId="207"/>
          <ac:spMkLst>
            <pc:docMk/>
            <pc:sldMk cId="706212990" sldId="260"/>
            <ac:spMk id="3" creationId="{9AB4F970-B4B1-43D5-A600-F42AABA1DE44}"/>
          </ac:spMkLst>
        </pc:spChg>
        <pc:picChg chg="mod">
          <ac:chgData name="Riasat Khan" userId="826ac62dfbb52e43" providerId="LiveId" clId="{E74F27F5-CBF2-4461-AE5D-BF8AAC0EAA6A}" dt="2023-05-22T02:36:51.708" v="32" actId="14100"/>
          <ac:picMkLst>
            <pc:docMk/>
            <pc:sldMk cId="706212990" sldId="260"/>
            <ac:picMk id="5" creationId="{62409F58-DF0F-47F0-AD7F-45804A59C244}"/>
          </ac:picMkLst>
        </pc:picChg>
      </pc:sldChg>
      <pc:sldChg chg="modSp mod">
        <pc:chgData name="Riasat Khan" userId="826ac62dfbb52e43" providerId="LiveId" clId="{E74F27F5-CBF2-4461-AE5D-BF8AAC0EAA6A}" dt="2023-05-22T02:29:49.792" v="31" actId="14100"/>
        <pc:sldMkLst>
          <pc:docMk/>
          <pc:sldMk cId="3193866825" sldId="262"/>
        </pc:sldMkLst>
        <pc:spChg chg="mod">
          <ac:chgData name="Riasat Khan" userId="826ac62dfbb52e43" providerId="LiveId" clId="{E74F27F5-CBF2-4461-AE5D-BF8AAC0EAA6A}" dt="2023-05-22T02:08:08.138" v="28" actId="20577"/>
          <ac:spMkLst>
            <pc:docMk/>
            <pc:sldMk cId="3193866825" sldId="262"/>
            <ac:spMk id="3" creationId="{9AB4F970-B4B1-43D5-A600-F42AABA1DE44}"/>
          </ac:spMkLst>
        </pc:spChg>
        <pc:picChg chg="mod">
          <ac:chgData name="Riasat Khan" userId="826ac62dfbb52e43" providerId="LiveId" clId="{E74F27F5-CBF2-4461-AE5D-BF8AAC0EAA6A}" dt="2023-05-22T02:29:49.792" v="31" actId="14100"/>
          <ac:picMkLst>
            <pc:docMk/>
            <pc:sldMk cId="3193866825" sldId="262"/>
            <ac:picMk id="5" creationId="{62409F58-DF0F-47F0-AD7F-45804A59C24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381E8-009C-48B9-B444-9B96E431A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EA1DFA-C72C-438B-A6A2-1B32939C44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9359A-32CD-4E7F-A0FB-9BC710EFD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ECF0-2BF4-4A52-A202-BAE1105F238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CDC64-66B4-49AF-8074-296AB27EE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FFF1E-BB72-492F-AD60-8150B1119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251-3AEA-402C-B872-77CEB6EE1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6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EF7C9-76BF-4197-B780-F8718A67F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A221D-6363-4B39-86AD-DDCC6B164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6F713-53B4-4017-9169-79E89FBAE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ECF0-2BF4-4A52-A202-BAE1105F238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776CA-C7CA-4E3F-B0D7-FF37D8DF7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6FA0B-3319-4F62-A923-0CF522388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251-3AEA-402C-B872-77CEB6EE1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18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684D-003F-4AED-8750-451B87694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CF04A-FFCC-43F8-9AD9-A92CE223A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00DF9-451B-4D1A-A2BD-80C15C6D1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ECF0-2BF4-4A52-A202-BAE1105F238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35B42-6567-4A92-AAF6-58DCC3944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C6A40-FE70-49DC-A925-9E034CA25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251-3AEA-402C-B872-77CEB6EE1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7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0077B-9139-410A-B6D1-C2591573A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B7922-3E2D-4876-BE37-176ABB2E55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DFB3F-F5F5-4279-9285-824BA0991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701F8-0785-439C-A763-3113445F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ECF0-2BF4-4A52-A202-BAE1105F238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675EE7-50D1-4943-9DC0-3A3198491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1727E-66BD-4F63-8569-4F8E413D2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251-3AEA-402C-B872-77CEB6EE1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009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DB15D-FE31-46C5-B4A8-126ED6E4C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9364C-F9C7-4398-A791-0771DEC4F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58D06A-F703-4264-A01E-EBEAFB0EF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53D13B-3BA1-4B3A-AB18-18EAAD9622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358B6E-E2B7-4910-802F-0E5233942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49A9BA-D7B5-4B65-A93B-E9FA2275C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ECF0-2BF4-4A52-A202-BAE1105F238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F5B669-83B7-4DC7-88AD-A05C58582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7B4597-53BA-401E-959E-39B704DE2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251-3AEA-402C-B872-77CEB6EE1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31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96B6C-6BFE-40A8-B5D6-F7A0D091E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E9CFA2-ECF2-45E2-8D42-EB9F2E890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ECF0-2BF4-4A52-A202-BAE1105F238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324098-DEC7-431E-AB94-80702D1FA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0CC92E-1BDB-413E-8294-CCAACFEC8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251-3AEA-402C-B872-77CEB6EE1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940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33A9A-9578-48BF-8B15-454CF2AA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ECF0-2BF4-4A52-A202-BAE1105F238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A4F166-35DF-48E4-8122-5692317BB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70FA7-8C4D-4567-9B9C-B64836443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251-3AEA-402C-B872-77CEB6EE1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7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CE333-AE37-47AA-AD3A-0BCAD1D7D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162EB-B4F0-4938-B34C-3792B3923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DD351-B0C9-47FD-AF58-759ECFB37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22074-CE8A-43FA-B7A3-A8C16B5DF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ECF0-2BF4-4A52-A202-BAE1105F238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95EB4-75BA-437A-8C8C-64CC963A9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F6F06-AA81-4473-AF48-E435E7A0A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251-3AEA-402C-B872-77CEB6EE1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22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D3E6D-3C52-43F8-B25E-6441A5DC1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C777B4-D602-4932-8461-45590E7218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AB010-8089-461B-BC35-C50182A72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17684-ADDF-4F8E-926C-5056F3BA4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ECF0-2BF4-4A52-A202-BAE1105F238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19A02-AF00-411D-B966-59E363C78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491EE-89D5-44A8-8331-BCA15F3DC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251-3AEA-402C-B872-77CEB6EE1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312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2C350-38D4-4A91-BE92-CFC00B0C9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FE9939-84A2-4866-B61D-2EA522B44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C6B51-8E61-4614-8612-5EF0243D9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ECF0-2BF4-4A52-A202-BAE1105F238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38134-1EBA-413D-A62E-83E345212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EFE0B-67DE-48CF-B1C7-1C7438D66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251-3AEA-402C-B872-77CEB6EE1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572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2A11CF-35A1-4A6D-B265-F0CE91EB79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0E7F2B-1BF5-459B-88ED-5CDF67259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08B4-FDCA-4188-8ECF-734D3F0F9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ECF0-2BF4-4A52-A202-BAE1105F238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E226A-23BF-4EE2-BD2A-899810666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CD183-82FB-4068-BFD7-42E8C7ED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D8251-3AEA-402C-B872-77CEB6EE1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73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4A3CE-084A-49E6-9533-98AE3D0E6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54F20B-AD72-4DDF-807F-BA274FF84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034F8-EEF4-48C6-95FA-92EFFB2D7D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6ECF0-2BF4-4A52-A202-BAE1105F2388}" type="datetimeFigureOut">
              <a:rPr lang="en-US" smtClean="0"/>
              <a:t>5/22/2023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59229-EEB4-4D2F-BA8B-CA47BD3EF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E1D2-5412-405D-A8C6-B5DB6FB104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D8251-3AEA-402C-B872-77CEB6EE1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48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52D7D-0CAE-4258-8B38-C45C9C421E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Explainable AI LIME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9F5123-79C4-4A43-BFB3-4AFD128426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168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D5DE9-CC3B-4A86-8578-5D34E33AD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177" y="0"/>
            <a:ext cx="10515600" cy="1325563"/>
          </a:xfrm>
        </p:spPr>
        <p:txBody>
          <a:bodyPr/>
          <a:lstStyle/>
          <a:p>
            <a:r>
              <a:rPr lang="en-US" dirty="0"/>
              <a:t>Explainable AI (XAI)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4F970-B4B1-43D5-A600-F42AABA1D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2658"/>
            <a:ext cx="12192000" cy="5755341"/>
          </a:xfrm>
        </p:spPr>
        <p:txBody>
          <a:bodyPr>
            <a:normAutofit/>
          </a:bodyPr>
          <a:lstStyle/>
          <a:p>
            <a:r>
              <a:rPr lang="en-US" dirty="0"/>
              <a:t>Explainable AI (XAI) helps explain a AI model’s decision-making process</a:t>
            </a:r>
          </a:p>
          <a:p>
            <a:r>
              <a:rPr lang="en-US" dirty="0"/>
              <a:t>Some of the most famous XAI techniques include SHAP (Shapley Additive </a:t>
            </a:r>
            <a:r>
              <a:rPr lang="en-US" dirty="0" err="1"/>
              <a:t>exPlanations</a:t>
            </a:r>
            <a:r>
              <a:rPr lang="en-US" dirty="0"/>
              <a:t>), </a:t>
            </a:r>
            <a:r>
              <a:rPr lang="en-US" dirty="0" err="1"/>
              <a:t>DeepSHAP</a:t>
            </a:r>
            <a:r>
              <a:rPr lang="en-US" dirty="0"/>
              <a:t>, </a:t>
            </a:r>
            <a:r>
              <a:rPr lang="en-US" dirty="0" err="1"/>
              <a:t>DeepLIFT</a:t>
            </a:r>
            <a:r>
              <a:rPr lang="en-US" dirty="0"/>
              <a:t>, </a:t>
            </a:r>
            <a:r>
              <a:rPr lang="en-US" dirty="0" err="1"/>
              <a:t>CXplain</a:t>
            </a:r>
            <a:r>
              <a:rPr lang="en-US" dirty="0"/>
              <a:t>, and LIME</a:t>
            </a:r>
          </a:p>
          <a:p>
            <a:r>
              <a:rPr lang="en-US" dirty="0"/>
              <a:t>Explainable AI methods, such as LIME, allow to explain and interpret the predictions of machine learning models</a:t>
            </a:r>
          </a:p>
          <a:p>
            <a:r>
              <a:rPr lang="en-US" dirty="0"/>
              <a:t>Interpretability means understanding why certain predictions are made by a model. Knowing these reasons increases the acceptance of and confidence in machine learning models</a:t>
            </a:r>
          </a:p>
          <a:p>
            <a:r>
              <a:rPr lang="en-US" dirty="0"/>
              <a:t>A ML model predicts with 70% accuracy that a patient has lung cancer. Though the model might have given the correct diagnosis, a doctor can’t really advise a patient confidently as he/she doesn’t know the reasoning behind the said model’s diagnosis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985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D5DE9-CC3B-4A86-8578-5D34E33AD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177" y="0"/>
            <a:ext cx="10515600" cy="1325563"/>
          </a:xfrm>
        </p:spPr>
        <p:txBody>
          <a:bodyPr/>
          <a:lstStyle/>
          <a:p>
            <a:r>
              <a:rPr lang="en-US" dirty="0"/>
              <a:t>Explainable AI (XAI)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4F970-B4B1-43D5-A600-F42AABA1D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2658"/>
            <a:ext cx="12192000" cy="5755341"/>
          </a:xfrm>
        </p:spPr>
        <p:txBody>
          <a:bodyPr>
            <a:normAutofit/>
          </a:bodyPr>
          <a:lstStyle/>
          <a:p>
            <a:r>
              <a:rPr lang="en-US" dirty="0"/>
              <a:t>XAI can then help in medicine to detect disease using images. </a:t>
            </a:r>
          </a:p>
          <a:p>
            <a:r>
              <a:rPr lang="en-US" dirty="0"/>
              <a:t>Explainable Artificial Intelligence (XAI) tools quickly and easily highlight the areas in images that are crucial for classification, thus providing the attending doctor with significant support in making decisions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6A50F4-79B6-431D-B2EF-285B8DA89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964" y="2576838"/>
            <a:ext cx="2510036" cy="428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99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D5DE9-CC3B-4A86-8578-5D34E33AD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177" y="0"/>
            <a:ext cx="10515600" cy="1325563"/>
          </a:xfrm>
        </p:spPr>
        <p:txBody>
          <a:bodyPr/>
          <a:lstStyle/>
          <a:p>
            <a:r>
              <a:rPr lang="en-US" dirty="0"/>
              <a:t>LIME XAI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4F970-B4B1-43D5-A600-F42AABA1D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2658"/>
            <a:ext cx="12192000" cy="5755341"/>
          </a:xfrm>
        </p:spPr>
        <p:txBody>
          <a:bodyPr>
            <a:normAutofit/>
          </a:bodyPr>
          <a:lstStyle/>
          <a:p>
            <a:r>
              <a:rPr lang="en-US" dirty="0"/>
              <a:t>Local Interpretable Model-agnostic Explanations (LIME)</a:t>
            </a:r>
          </a:p>
          <a:p>
            <a:r>
              <a:rPr lang="en-US" dirty="0"/>
              <a:t>Model agnosticism refers to the property of LIME using which it can </a:t>
            </a:r>
            <a:r>
              <a:rPr lang="en-US" dirty="0">
                <a:solidFill>
                  <a:srgbClr val="FF0000"/>
                </a:solidFill>
              </a:rPr>
              <a:t>give explanations for any given supervised learning model</a:t>
            </a:r>
          </a:p>
          <a:p>
            <a:r>
              <a:rPr lang="en-US" dirty="0"/>
              <a:t>Local explanations mean that LIME gives explanations that are locally faithful within the surroundings of the observation/sample being explained</a:t>
            </a:r>
          </a:p>
          <a:p>
            <a:r>
              <a:rPr lang="en-US" dirty="0"/>
              <a:t>LIME gives a local interpretable </a:t>
            </a:r>
            <a:r>
              <a:rPr lang="en-US" dirty="0">
                <a:solidFill>
                  <a:srgbClr val="FF0000"/>
                </a:solidFill>
              </a:rPr>
              <a:t>simpler linear surrogate model </a:t>
            </a:r>
            <a:r>
              <a:rPr lang="en-US" dirty="0"/>
              <a:t>into the local area of a complex model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409F58-DF0F-47F0-AD7F-45804A59C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318" y="3859305"/>
            <a:ext cx="7700682" cy="299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12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D5DE9-CC3B-4A86-8578-5D34E33AD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177" y="0"/>
            <a:ext cx="10515600" cy="1325563"/>
          </a:xfrm>
        </p:spPr>
        <p:txBody>
          <a:bodyPr/>
          <a:lstStyle/>
          <a:p>
            <a:r>
              <a:rPr lang="en-US" dirty="0"/>
              <a:t>LIME XAI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4F970-B4B1-43D5-A600-F42AABA1D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2658"/>
            <a:ext cx="12192000" cy="5755341"/>
          </a:xfrm>
        </p:spPr>
        <p:txBody>
          <a:bodyPr>
            <a:normAutofit/>
          </a:bodyPr>
          <a:lstStyle/>
          <a:p>
            <a:r>
              <a:rPr lang="en-US" dirty="0"/>
              <a:t>Local Interpretable Model-agnostic Explanations (LIME)</a:t>
            </a:r>
          </a:p>
          <a:p>
            <a:r>
              <a:rPr lang="en-US" dirty="0"/>
              <a:t>Model agnosticism refers to the property of LIME using which it can </a:t>
            </a:r>
            <a:r>
              <a:rPr lang="en-US" dirty="0">
                <a:solidFill>
                  <a:srgbClr val="FF0000"/>
                </a:solidFill>
              </a:rPr>
              <a:t>give explanations for any given supervised learning model</a:t>
            </a:r>
          </a:p>
          <a:p>
            <a:r>
              <a:rPr lang="en-US" dirty="0"/>
              <a:t>Local explanations mean that LIME gives explanations that are locally faithful within the surroundings of the observation/sample being explained</a:t>
            </a:r>
          </a:p>
          <a:p>
            <a:r>
              <a:rPr lang="en-US" dirty="0"/>
              <a:t>LIME gives a local interpretable simpler linear surrogate model into the local area of a complex model</a:t>
            </a:r>
          </a:p>
          <a:p>
            <a:r>
              <a:rPr lang="en-US" dirty="0"/>
              <a:t>The method explains the </a:t>
            </a:r>
          </a:p>
          <a:p>
            <a:pPr marL="0" indent="0">
              <a:buNone/>
            </a:pPr>
            <a:r>
              <a:rPr lang="en-US" dirty="0"/>
              <a:t>classifier for a specific single </a:t>
            </a:r>
          </a:p>
          <a:p>
            <a:pPr marL="0" indent="0">
              <a:buNone/>
            </a:pPr>
            <a:r>
              <a:rPr lang="en-US" dirty="0"/>
              <a:t>instance and is therefore </a:t>
            </a:r>
          </a:p>
          <a:p>
            <a:pPr marL="0" indent="0">
              <a:buNone/>
            </a:pPr>
            <a:r>
              <a:rPr lang="en-US" dirty="0"/>
              <a:t>suitable for local explanation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409F58-DF0F-47F0-AD7F-45804A59C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979" y="3765176"/>
            <a:ext cx="7700682" cy="308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72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D5DE9-CC3B-4A86-8578-5D34E33AD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177" y="0"/>
            <a:ext cx="10515600" cy="1325563"/>
          </a:xfrm>
        </p:spPr>
        <p:txBody>
          <a:bodyPr/>
          <a:lstStyle/>
          <a:p>
            <a:r>
              <a:rPr lang="en-US" dirty="0"/>
              <a:t>LIME XAI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4F970-B4B1-43D5-A600-F42AABA1D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2658"/>
            <a:ext cx="12192000" cy="5755341"/>
          </a:xfrm>
        </p:spPr>
        <p:txBody>
          <a:bodyPr>
            <a:normAutofit/>
          </a:bodyPr>
          <a:lstStyle/>
          <a:p>
            <a:r>
              <a:rPr lang="en-US" dirty="0"/>
              <a:t>LIME provides locally faithful explanations around the neighborhood of the instance being explained. By default, it considers 5000 samples(</a:t>
            </a:r>
            <a:r>
              <a:rPr lang="en-US" dirty="0" err="1"/>
              <a:t>num_samples</a:t>
            </a:r>
            <a:r>
              <a:rPr lang="en-US" dirty="0"/>
              <a:t>). Then it obtains the target variable for these 5000 samples using the prediction model, whose decisions it’s trying to explain.</a:t>
            </a:r>
          </a:p>
          <a:p>
            <a:r>
              <a:rPr lang="en-US" dirty="0"/>
              <a:t>Feature Selection from the surrogate dataset: After obtaining the surrogate dataset, it weighs each row according to how close they are to the original sample/observation. Then it uses a feature selection technique to obtain the top important features (Feature 2).</a:t>
            </a:r>
          </a:p>
          <a:p>
            <a:r>
              <a:rPr lang="en-US" dirty="0"/>
              <a:t>LIME also employs a Ridge Regression model on the samples using only the obtained features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409F58-DF0F-47F0-AD7F-45804A59C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15199" y="4814047"/>
            <a:ext cx="4836461" cy="182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866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444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Explainable AI LIME</vt:lpstr>
      <vt:lpstr>Explainable AI (XAI)</vt:lpstr>
      <vt:lpstr>Explainable AI (XAI)</vt:lpstr>
      <vt:lpstr>LIME XAI</vt:lpstr>
      <vt:lpstr>LIME XAI</vt:lpstr>
      <vt:lpstr>LIME XAI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AI LIME</dc:title>
  <dc:creator>Riasat Khan</dc:creator>
  <cp:lastModifiedBy>Riasat Khan</cp:lastModifiedBy>
  <cp:revision>2</cp:revision>
  <dcterms:created xsi:type="dcterms:W3CDTF">2023-05-22T01:50:58Z</dcterms:created>
  <dcterms:modified xsi:type="dcterms:W3CDTF">2023-05-22T02:36:56Z</dcterms:modified>
</cp:coreProperties>
</file>